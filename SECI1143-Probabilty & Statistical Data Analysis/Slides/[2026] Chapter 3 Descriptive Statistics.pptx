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g"/>
  <Default Extension="bin" ContentType="application/vnd.openxmlformats-officedocument.oleObject"/>
  <Default Extension="wmf" ContentType="image/wmf"/>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4" r:id="rId1"/>
  </p:sldMasterIdLst>
  <p:notesMasterIdLst>
    <p:notesMasterId r:id="rId2"/>
  </p:notesMasterIdLst>
  <p:handoutMasterIdLst>
    <p:handoutMasterId r:id="rId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x="12192000" cy="6858000"/>
  <p:notesSz cx="6857895" cy="9143861"/>
  <p:kinsoku lang="zh-CN" invalStChars="!%),.:;?]}¨·ˇˉ་―‖’”…‰∶、。〃々〉》」』】〕〗！＂＇％），．：；？］｀｜｝～￠" invalEndChars="([{·‘“〈《「『【〔〖（．［｛￡￥"/>
  <p:defaultTextStyle>
    <a:defPPr>
      <a:defRPr lang="zh-CN"/>
    </a:defPPr>
    <a:lvl1pPr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1pPr>
    <a:lvl2pPr marL="4572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2pPr>
    <a:lvl3pPr marL="9144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3pPr>
    <a:lvl4pPr marL="13716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4pPr>
    <a:lvl5pPr marL="18288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5pPr>
    <a:lvl6pPr marL="22860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6pPr>
    <a:lvl7pPr marL="27432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7pPr>
    <a:lvl8pPr marL="32004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8pPr>
    <a:lvl9pPr marL="32004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4694" autoAdjust="0"/>
  </p:normalViewPr>
  <p:slideViewPr>
    <p:cSldViewPr>
      <p:cViewPr varScale="1">
        <p:scale>
          <a:sx n="179" d="100"/>
          <a:sy n="179" d="100"/>
        </p:scale>
        <p:origin x="0" y="0"/>
      </p:cViewPr>
      <p:guideLst>
        <p:guide orient="horz" pos="2160"/>
        <p:guide pos="384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5" d="100"/>
          <a:sy n="45"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theme" Target="theme/theme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 name="Text box"/>
          <p:cNvSpPr>
            <a:spLocks noGrp="1"/>
          </p:cNvSpPr>
          <p:nvPr>
            <p:ph type="hdr"/>
          </p:nvPr>
        </p:nvSpPr>
        <p:spPr>
          <a:xfrm rot="0">
            <a:off x="0" y="0"/>
            <a:ext cx="2971799" cy="457200"/>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MS PGothic" pitchFamily="34" charset="-128"/>
              <a:cs typeface="ＭＳ Ｐゴシック" pitchFamily="0" charset="-128"/>
            </a:endParaRPr>
          </a:p>
        </p:txBody>
      </p:sp>
      <p:sp>
        <p:nvSpPr>
          <p:cNvPr id="19" name="Text box"/>
          <p:cNvSpPr>
            <a:spLocks noGrp="1"/>
          </p:cNvSpPr>
          <p:nvPr>
            <p:ph type="dt" idx="1"/>
          </p:nvPr>
        </p:nvSpPr>
        <p:spPr>
          <a:xfrm rot="0">
            <a:off x="3884613" y="0"/>
            <a:ext cx="2971800" cy="457200"/>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ＭＳ Ｐゴシック" pitchFamily="0" charset="-128"/>
                <a:cs typeface="Calibri" pitchFamily="0" charset="0"/>
              </a:rPr>
              <a:t>4/7/2026</a:t>
            </a:fld>
            <a:endParaRPr lang="zh-CN" altLang="en-US" sz="1200">
              <a:latin typeface="Calibri" pitchFamily="0" charset="0"/>
              <a:ea typeface="ＭＳ Ｐゴシック" pitchFamily="0" charset="-128"/>
              <a:cs typeface="Calibri" pitchFamily="0" charset="0"/>
            </a:endParaRPr>
          </a:p>
        </p:txBody>
      </p:sp>
      <p:sp>
        <p:nvSpPr>
          <p:cNvPr id="20" name="Text box"/>
          <p:cNvSpPr>
            <a:spLocks noGrp="1"/>
          </p:cNvSpPr>
          <p:nvPr>
            <p:ph type="ftr" idx="2"/>
          </p:nvPr>
        </p:nvSpPr>
        <p:spPr>
          <a:xfrm rot="0">
            <a:off x="0" y="8685213"/>
            <a:ext cx="2971799" cy="457200"/>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MS PGothic" pitchFamily="34" charset="-128"/>
              <a:cs typeface="ＭＳ Ｐゴシック" pitchFamily="0" charset="-128"/>
            </a:endParaRPr>
          </a:p>
        </p:txBody>
      </p:sp>
      <p:sp>
        <p:nvSpPr>
          <p:cNvPr id="21" name="Text box"/>
          <p:cNvSpPr>
            <a:spLocks noGrp="1"/>
          </p:cNvSpPr>
          <p:nvPr>
            <p:ph type="sldNum" idx="3"/>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&lt;#&gt;</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007060577"/>
      </p:ext>
    </p:extLst>
  </p:cSld>
  <p:clrMap bg1="lt1" tx1="dk1" bg2="lt2" tx2="dk2" accent1="accent1" accent2="accent2" accent3="accent3" accent4="accent4" accent5="accent5" accent6="accent6" hlink="hlink" folHlink="folHlink"/>
  <p:hf sldNum="1"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9 0 1024, 9 0 1024, 9 0 1024, 8 1 1024, 7 2 1024, 6 2 1024, 5 3 1024, 5 4 1024, 4 4 1024, 4 5 1024, 4 5 1024, 3 5 1024, 2 6 1024, 1 7 1024, 1 8 1024, 0 8 1024, 0 9 1024, 0 9 1024, 1 9 1024, 2 9 1024, 3 9 1024, 4 9 1024, 5 10 1024, 6 10 1024, 7 11 1024, 8 12 1024, 9 12 1024, 11 13 1024, 12 13 1024, 12 14 1024, 13 14 1024, 14 14 1024, 14 14 1024, 15 15 1024, 15 15 1024, 15 15 1024, 15 15 1024,</inkml:trace>
  <inkml:annotation type="path"> 139 0 1, 139 0 1, 139 0 1, 123 15 1, 108 30 1, 92 30 1, 77 45 1, 77 60 1, 61 60 1, 61 75 1, 61 75 1, 46 75 1, 30 90 1, 15 106 1, 15 121 1, 0 121 1, 0 136 1, 0 136 1, 15 136 1, 30 136 1, 46 136 1, 61 136 1, 77 151 1, 92 151 1, 108 166 1, 123 181 1, 139 181 1, 170 197 1, 185 197 1, 185 212 1, 201 212 1, 216 212 1, 216 212 1, 232 227 1, 232 227 1, 232 227 1, 232 227 1</inkml:annotation>
  <inkml:annotation type="data">AEYcA4CABAAAACAeHQIiIgMJROelkAFFGkgUBQE4EXCo00EKIyWC+b51EsUliAEtiyiCEWLKhZQl
iyykoIL+G5P4blAAAAAA
</inkml:annotation>
  <inkml:annotation type="types">AAEBAQEBAQEBAQEBAQEBAQEBAQEBAQEBAQEBAQEBAQEBAQEBAQ==
</inkml:annotation>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17 1024, 1 17 1024, 2 16 1024, 3 16 1024, 4 16 1024, 5 15 1024, 6 15 1024, 7 15 1024, 7 15 1024, 8 15 1024, 8 15 1024, 9 15 1024, 9 15 1024, 10 15 1024, 10 15 1024, 11 15 1024, 12 15 1024, 12 15 1024, 13 15 1024, 14 14 1024, 15 14 1024, 16 13 1024, 18 13 1024, 19 12 1024, 20 12 1024, 22 11 1024, 23 11 1024, 25 11 1024, 26 10 1024, 27 10 1024, 28 9 1024, 30 9 1024, 32 8 1024, 34 7 1024, 37 5 1024, 41 4 1024, 43 2 1024, 45 1 1024, 46 1 1024, 47 0 1024, 48 0 1024, 49 0 1024, 49 0 1024, 49 0 1024, 49 0 1024,</inkml:trace>
  <inkml:annotation type="path"> 0 253 1, 15 253 1, 30 239 1, 45 239 1, 60 239 1, 76 224 1, 91 224 1, 106 224 1, 106 224 1, 121 224 1, 121 224 1, 136 224 1, 136 224 1, 152 224 1, 152 224 1, 167 224 1, 182 224 1, 182 224 1, 197 224 1, 212 209 1, 228 209 1, 243 194 1, 273 194 1, 288 179 1, 304 179 1, 334 164 1, 349 164 1, 380 164 1, 395 149 1, 410 149 1, 425 134 1, 456 134 1, 486 119 1, 516 104 1, 562 74 1, 608 59 1, 638 29 1, 668 14 1, 684 14 1, 699 0 1, 714 0 1, 729 0 1, 729 0 1, 729 0 1, 729 0 1</inkml:annotation>
  <inkml:annotation type="data">AE4cA4CABAAAAGIiHQJkJgMJROelkAFFGkgUBQE4EXCo00EKKy2CQCyyyxYJUspCTVFAgvwN+B7F
gAFllliyyrLJYACC/huT+G5QAAAAAAA=
</inkml:annotation>
  <inkml:annotation type="types">AAEBAQEBAQEBAQEBAQEBAQEBAQEBAQEBAQEBAQEBAQEBAQEBAQEBAQEBAQEB
</inkml:annotation>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0 1024, 0 0 1024, 1 0 1024, 2 0 1024, 3 0 1024, 4 1 1024, 6 1 1024, 7 2 1024, 8 2 1024, 10 3 1024, 11 3 1024, 13 3 1024, 14 4 1024, 16 4 1024, 17 5 1024, 18 5 1024, 19 6 1024, 20 6 1024, 21 6 1024, 22 6 1024, 23 6 1024, 24 7 1024, 25 7 1024, 26 7 1024, 27 7 1024, 28 8 1024, 29 8 1024, 30 8 1024, 31 8 1024, 32 8 1024, 32 8 1024, 33 8 1024, 33 8 1024, 33 8 1024, 34 8 1024, 35 8 1024, 36 8 1024, 37 8 1024, 38 8 1024, 39 8 1024, 40 8 1024, 40 9 1024, 41 9 1024, 41 9 1024, 41 9 1024,</inkml:trace>
  <inkml:annotation type="path"> 0 0 1, 0 0 1, 15 0 1, 30 0 1, 45 0 1, 60 15 1, 90 15 1, 106 30 1, 121 30 1, 151 45 1, 166 45 1, 197 45 1, 212 60 1, 242 60 1, 257 75 1, 272 75 1, 287 90 1, 303 90 1, 318 90 1, 333 90 1, 348 90 1, 363 105 1, 378 105 1, 394 105 1, 409 105 1, 424 120 1, 439 120 1, 454 120 1, 469 120 1, 484 120 1, 484 120 1, 500 120 1, 500 120 1, 500 120 1, 515 120 1, 530 120 1, 545 120 1, 560 120 1, 575 120 1, 591 120 1, 606 120 1, 606 135 1, 621 135 1, 621 135 1, 621 135 1</inkml:annotation>
  <inkml:annotation type="data">AEccA4CABAAAAFQSHQJWFgMJROelkAFFGkgUBQE4EXCo00EKJC2CIJUssoAAsqAWUIIEssqWWUSk
oABKAIL+G5P4blAAAAAAAA==
</inkml:annotation>
  <inkml:annotation type="types">AAEBAQEBAQEBAQEBAQEBAQEBAQEBAQEBAQEBAQEBAQEBAQEBAQEBAQEBAQEB
</inkml:annotation>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4 0 1024, 5 1 1024, 6 1 1024, 6 2 1024, 7 3 1024, 7 4 1024, 8 4 1024, 8 5 1024, 8 5 1024, 9 6 1024, 9 6 1024, 9 6 1024, 9 6 1024, 9 7 1024, 10 7 1024, 10 7 1024, 10 8 1024, 11 8 1024, 11 9 1024, 11 9 1024, 11 9 1024, 12 9 1024, 12 10 1024, 12 10 1024, 12 10 1024, 12 11 1024, 12 11 1024, 12 11 1024, 12 12 1024, 12 12 1024, 11 12 1024, 11 13 1024, 11 13 1024, 10 13 1024, 10 13 1024, 9 14 1024, 9 14 1024, 8 14 1024, 7 15 1024, 7 15 1024, 6 15 1024, 6 16 1024, 5 16 1024, 4 17 1024, 3 17 1024, 3 17 1024, 2 18 1024, 2 18 1024, 1 19 1024, 1 19 1024, 0 19 1024, 0 19 1024,</inkml:trace>
  <inkml:annotation type="path"> 60 0 1, 75 15 1, 90 15 1, 90 30 1, 105 45 1, 105 61 1, 120 61 1, 120 76 1, 120 76 1, 136 91 1, 136 91 1, 136 91 1, 136 91 1, 136 106 1, 151 106 1, 151 106 1, 151 122 1, 166 122 1, 166 137 1, 166 137 1, 166 137 1, 181 137 1, 181 152 1, 181 152 1, 181 152 1, 181 168 1, 181 168 1, 181 168 1, 181 183 1, 181 183 1, 166 183 1, 166 198 1, 166 198 1, 151 198 1, 151 198 1, 136 213 1, 136 213 1, 120 213 1, 105 229 1, 105 229 1, 90 229 1, 90 244 1, 75 244 1, 60 259 1, 45 259 1, 45 259 1, 30 274 1, 30 274 1, 15 290 1, 15 290 1, 0 290 1, 0 290 1</inkml:annotation>
  <inkml:annotation type="data">AFIcA4CABAAAABgoHQIcKgMJROelkAFFGkgUBQE4EXCo00EKLzSC8dWWVKJUpKAsWWVLKSyywIJL
CyykqWUlSpUpKlSypZSC/huT+G5QAAAAAAAA
</inkml:annotation>
  <inkml:annotation type="types">AAEBAQEBAQEBAQEBAQEBAQEBAQEBAQEBAQEBAQEBAQEBAQEBAQEBAQEBAQEBAQEBAQEBAQ==
</inkml:annotation>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8 0 1024, 7 0 1024, 7 1 1024, 6 1 1024, 5 2 1024, 4 4 1024, 4 5 1024, 3 5 1024, 3 6 1024, 2 6 1024, 2 6 1024, 2 7 1024, 2 7 1024, 2 7 1024, 2 7 1024, 1 8 1024, 1 8 1024, 1 8 1024, 1 8 1024, 0 9 1024, 0 9 1024, 0 9 1024, 0 9 1024, 0 9 1024, 0 9 1024, 1 9 1024, 1 9 1024, 2 9 1024, 2 9 1024, 3 9 1024, 3 9 1024, 4 9 1024, 4 9 1024, 5 9 1024, 5 9 1024, 6 9 1024, 6 9 1024, 7 10 1024, 7 10 1024, 8 11 1024, 9 11 1024, 9 12 1024, 10 13 1024, 11 13 1024, 11 13 1024, 12 14 1024, 12 14 1024, 12 14 1024, 13 14 1024, 13 15 1024, 13 15 1024, 13 15 1024, 14 15 1024, 14 16 1024, 14 16 1024, 14 16 1024, 15 16 1024, 15 17 1024,</inkml:trace>
  <inkml:annotation type="path"> 118 0 1, 103 0 1, 103 14 1, 88 14 1, 73 29 1, 59 59 1, 59 73 1, 44 73 1, 44 88 1, 29 88 1, 29 88 1, 29 103 1, 29 103 1, 29 103 1, 29 103 1, 14 118 1, 14 118 1, 14 118 1, 14 118 1, 0 132 1, 0 132 1, 0 132 1, 0 132 1, 0 132 1, 0 132 1, 14 132 1, 14 132 1, 29 132 1, 29 132 1, 44 132 1, 44 132 1, 59 132 1, 59 132 1, 73 132 1, 73 132 1, 88 132 1, 88 132 1, 103 147 1, 103 147 1, 118 162 1, 133 162 1, 133 177 1, 147 192 1, 162 192 1, 162 192 1, 177 206 1, 177 206 1, 177 206 1, 192 206 1, 192 221 1, 192 221 1, 192 221 1, 206 221 1, 206 236 1, 206 236 1, 206 236 1, 221 236 1, 221 251 1</inkml:annotation>
  <inkml:annotation type="data">AFUcA4CABAAAAB4iHQIiJgMJROelkAFFGkgUBQE4EXCo00EKMjqC+T55SWWBYWBLLLLLLLFiypSU
lIIlktlSkpKAAEssVKSkpIL+G5P4blAAAAAAAAAA
</inkml:annotation>
  <inkml:annotation type="types">AAEBAQEBAQEBAQEBAQEBAQEBAQEBAQEBAQEBAQEBAQEBAQEBAQEBAQEBAQEBAQEBAQEBAQEBAQEB
AQ==
</inkml:annotation>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5 1024, 0 5 1024, 1 5 1024, 2 5 1024, 3 5 1024, 4 5 1024, 5 5 1024, 6 5 1024, 7 5 1024, 8 4 1024, 9 4 1024, 10 4 1024, 12 4 1024, 13 4 1024, 15 4 1024, 16 3 1024, 18 3 1024, 19 3 1024, 21 3 1024, 22 3 1024, 24 3 1024, 25 3 1024, 27 2 1024, 29 2 1024, 30 2 1024, 32 2 1024, 34 1 1024, 36 1 1024, 38 1 1024, 40 1 1024, 43 1 1024, 45 0 1024, 47 0 1024, 49 0 1024, 51 0 1024, 52 0 1024, 53 0 1024, 54 0 1024, 54 0 1024, 55 0 1024, 55 0 1024, 56 0 1024, 56 0 1024, 56 0 1024, 56 0 1024, 57 0 1024,</inkml:trace>
  <inkml:annotation type="path"> 0 77 1, 0 77 1, 15 77 1, 30 77 1, 45 77 1, 60 77 1, 75 77 1, 90 77 1, 105 77 1, 120 61 1, 135 61 1, 150 61 1, 180 61 1, 195 61 1, 225 61 1, 240 46 1, 270 46 1, 285 46 1, 315 46 1, 330 46 1, 360 46 1, 375 46 1, 405 30 1, 435 30 1, 450 30 1, 480 30 1, 510 15 1, 540 15 1, 570 15 1, 600 15 1, 645 15 1, 675 0 1, 705 0 1, 735 0 1, 765 0 1, 780 0 1, 795 0 1, 811 0 1, 811 0 1, 826 0 1, 826 0 1, 841 0 1, 841 0 1, 841 0 1, 841 0 1, 856 0 1</inkml:annotation>
  <inkml:annotation type="data">AEgcA4CABAAAAHIMHQJ2DgMJROelkAFFGkgUBQE4EXCo00EKJS6CIAJZZZZYsCUUsspAgvXsBYFg
LCwWAACC/huT+G5QAAAAAAA=
</inkml:annotation>
  <inkml:annotation type="types">AAEBAQEBAQEBAQEBAQEBAQEBAQEBAQEBAQEBAQEBAQEBAQEBAQEBAQEBAQEBAQ==
</inkml:annotation>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0 1 1024, 1 1 1024, 2 1 1024, 4 1 1024, 6 1 1024, 8 1 1024, 10 1 1024, 12 1 1024, 13 0 1024, 15 0 1024, 16 0 1024, 17 0 1024, 18 0 1024, 18 0 1024, 19 0 1024, 19 0 1024, 20 0 1024,</inkml:trace>
  <inkml:annotation type="path"> 0 14 1, 14 14 1, 29 14 1, 59 14 1, 89 14 1, 119 14 1, 149 14 1, 179 14 1, 194 0 1, 224 0 1, 239 0 1, 254 0 1, 269 0 1, 269 0 1, 284 0 1, 284 0 1, 299 0 1</inkml:annotation>
  <inkml:annotation type="data">ADgcA4CABAAAACgCHQI0DgMJROelkAFFGkgUBQE4EXCo00EKFRGCRAspZYCClAsAAIL+G5P4blAA
AA==
</inkml:annotation>
  <inkml:annotation type="types">AAEBAQEBAQEBAQEBAQEBAQE=
</inkml:annotation>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11 0 1024, 11 0 1024, 9 0 1024, 9 0 1024, 8 0 1024, 8 0 1024, 7 0 1024, 7 0 1024, 6 0 1024, 5 0 1024, 5 0 1024, 4 0 1024, 4 0 1024, 3 0 1024, 2 0 1024, 2 0 1024, 1 0 1024, 1 0 1024, 1 0 1024, 0 0 1024, 0 0 1024, 0 1 1024, 0 1 1024, 0 1 1024, 0 2 1024, 0 2 1024, 0 2 1024, 0 3 1024, 1 3 1024, 1 4 1024, 1 4 1024, 1 5 1024, 1 6 1024, 2 6 1024, 2 7 1024, 2 8 1024, 2 9 1024, 2 9 1024, 3 10 1024, 3 11 1024, 3 11 1024, 3 12 1024, 3 13 1024, 3 14 1024, 3 15 1024, 3 16 1024, 4 17 1024, 4 18 1024, 4 19 1024, 4 21 1024, 4 22 1024, 4 23 1024, 4 24 1024, 4 25 1024, 4 26 1024, 4 27 1024, 4 27 1024, 4 28 1024, 4 28 1024, 4 29 1024,</inkml:trace>
  <inkml:annotation type="path"> 158 0 1, 158 0 1, 142 0 1, 142 0 1, 126 0 1, 126 0 1, 110 0 1, 110 0 1, 94 0 1, 79 0 1, 79 0 1, 63 0 1, 63 0 1, 47 0 1, 31 0 1, 31 0 1, 15 0 1, 15 0 1, 15 0 1, 0 0 1, 0 0 1, 0 14 1, 0 14 1, 0 14 1, 0 29 1, 0 29 1, 0 29 1, 0 44 1, 15 44 1, 15 59 1, 15 59 1, 15 74 1, 15 89 1, 31 89 1, 31 104 1, 31 119 1, 31 134 1, 31 134 1, 47 148 1, 47 163 1, 47 163 1, 47 178 1, 47 193 1, 47 208 1, 47 223 1, 47 238 1, 63 253 1, 63 268 1, 63 283 1, 63 312 1, 63 327 1, 63 342 1, 63 357 1, 63 372 1, 63 387 1, 63 402 1, 63 402 1, 63 417 1, 63 417 1, 63 432 1</inkml:annotation>
  <inkml:annotation type="data">AFEcA4CABAAAABY6HQIYPgMJROelkAFFGkgUBQE4EXCo00EKLjyC+r69yyypZUsWAJRKJQJQAIIA
AASpUssWFiwBKCywgv4bk/huUAAAAAAAAAA=
</inkml:annotation>
  <inkml:annotation type="types">AAEBAQEBAQEBAQEBAQEBAQEBAQEBAQEBAQEBAQEBAQEBAQEBAQEBAQEBAQEBAQEBAQEBAQEBAQEB
AQEB
</inkml:annotation>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0 0 1024, 0 0 1024, 0 1 1024, 0 1 1024, 0 2 1024, 0 3 1024, 0 3 1024, 0 4 1024, 0 4 1024, 0 5 1024, 0 6 1024, 0 6 1024, 0 7 1024, 0 7 1024, 0 7 1024, 0 8 1024, 0 8 1024, 0 8 1024, 0 8 1024,</inkml:trace>
  <inkml:annotation type="path"> 0 0 1, 0 0 1, 0 14 1, 0 14 1, 0 29 1, 0 44 1, 0 44 1, 0 59 1, 0 59 1, 0 74 1, 0 89 1, 0 89 1, 0 104 1, 0 104 1, 0 104 1, 0 119 1, 0 119 1, 0 119 1, 0 119 1</inkml:annotation>
  <inkml:annotation type="data">ADgcA4CABAAAAAASHQIMHgMJROelkAFFGkgUBQE4EXCo00EKFROCAAAAgiWLLFlSgIL+G5P4blAA
AA==
</inkml:annotation>
  <inkml:annotation type="types">AAEBAQEBAQEBAQEBAQEBAQEBAQ==
</inkml:annotation>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0 0 1024, 0 0 1024, 1 0 1024, 2 0 1024, 3 0 1024, 5 0 1024, 7 0 1024, 8 0 1024, 9 0 1024, 10 0 1024, 11 0 1024, 11 0 1024, 11 0 1024, 12 0 1024, 12 0 1024, 13 0 1024, 13 0 1024, 14 0 1024, 15 0 1024, 16 0 1024, 17 0 1024, 18 0 1024, 18 0 1024, 19 0 1024, 19 0 1024, 19 0 1024,</inkml:trace>
  <inkml:annotation type="path"> 0 0 1, 0 0 1, 14 0 1, 29 0 1, 44 0 1, 74 0 1, 104 0 1, 119 0 1, 134 0 1, 149 0 1, 164 0 1, 164 0 1, 164 0 1, 179 0 1, 179 0 1, 194 0 1, 194 0 1, 209 0 1, 224 0 1, 239 0 1, 254 0 1, 269 0 1, 269 0 1, 284 0 1, 284 0 1, 284 0 1</inkml:annotation>
  <inkml:annotation type="data">ADscA4CABAAAACYAHQIyDAMJROelkAFFGkgUBQE4EXCo00EKGBqCIRRUssCygIIAAAAAgv4bk/hu
UAAAAA==
</inkml:annotation>
  <inkml:annotation type="types">AAEBAQEBAQEBAQEBAQEBAQEBAQEBAQEBAQE=
</inkml:annotation>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12 3 1024, 11 3 1024, 11 3 1024, 10 3 1024, 10 2 1024, 9 2 1024, 8 2 1024, 8 1 1024, 7 1 1024, 6 1 1024, 5 1 1024, 5 1 1024, 4 0 1024, 3 0 1024, 3 0 1024, 2 0 1024, 2 0 1024, 1 0 1024, 1 0 1024, 0 0 1024, 0 0 1024, 0 0 1024, 0 1 1024, 0 1 1024, 0 1 1024, 0 2 1024, 0 3 1024, 0 3 1024, 0 4 1024, 0 5 1024, 0 6 1024, 0 7 1024, 0 8 1024, 0 9 1024, 0 10 1024, 0 11 1024, 0 12 1024, 0 13 1024, 0 14 1024, 0 16 1024, 0 17 1024, 0 18 1024, 0 20 1024, 0 20 1024, 0 21 1024, 0 22 1024, 0 23 1024, 0 24 1024, 0 24 1024, 0 25 1024, 0 25 1024, 0 26 1024, 0 26 1024, 0 27 1024, 0 27 1024, 0 27 1024,</inkml:trace>
  <inkml:annotation type="path"> 179 46 1, 164 46 1, 164 46 1, 149 46 1, 149 30 1, 134 30 1, 119 30 1, 119 15 1, 104 15 1, 89 15 1, 74 15 1, 74 15 1, 59 0 1, 44 0 1, 44 0 1, 29 0 1, 29 0 1, 14 0 1, 14 0 1, 0 0 1, 0 0 1, 0 0 1, 0 15 1, 0 15 1, 0 15 1, 0 30 1, 0 46 1, 0 46 1, 0 61 1, 0 77 1, 0 92 1, 0 107 1, 0 123 1, 0 138 1, 0 154 1, 0 169 1, 0 184 1, 0 200 1, 0 215 1, 0 246 1, 0 262 1, 0 277 1, 0 292 1, 0 292 1, 0 308 1, 0 323 1, 0 339 1, 0 354 1, 0 354 1, 0 369 1, 0 369 1, 0 385 1, 0 385 1, 0 400 1, 0 400 1, 0 400 1</inkml:annotation>
  <inkml:annotation type="data">AE8cA4CABAAAABg2HQIcOAMJROelkAFFGkgUBQE4EXCo00EKLDiC+z75ZUpKlllgAAAAAILnSxYL
ACVFgASpsFlllIL+G5P4blAAAAAAAAAA
</inkml:annotation>
  <inkml:annotation type="types">AAEBAQEBAQEBAQEBAQEBAQEBAQEBAQEBAQEBAQEBAQEBAQEBAQEBAQEBAQEBAQEBAQEBAQEBAQE=
</inkml:annotation>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3 1024, 0 4 1024, 0 4 1024, 0 4 1024, 1 4 1024, 1 4 1024, 1 5 1024, 1 5 1024, 1 6 1024, 1 6 1024, 2 6 1024, 2 7 1024, 2 7 1024, 2 7 1024, 3 7 1024, 3 8 1024, 3 8 1024, 4 8 1024, 4 9 1024, 4 9 1024, 4 9 1024, 5 10 1024, 5 10 1024, 5 10 1024, 6 10 1024, 6 10 1024, 6 10 1024, 6 10 1024, 7 10 1024, 7 10 1024, 7 10 1024, 9 10 1024, 9 10 1024, 9 10 1024, 9 10 1024, 9 10 1024, 9 9 1024, 9 9 1024, 9 9 1024, 9 8 1024, 9 8 1024, 9 7 1024, 9 7 1024, 9 6 1024, 9 6 1024, 9 5 1024, 9 4 1024, 9 4 1024, 9 3 1024, 9 2 1024, 9 1 1024, 7 1 1024, 7 0 1024, 7 0 1024, 6 0 1024, 6 0 1024, 6 0 1024, 5 0 1024, 5 0 1024, 5 0 1024, 4 0 1024, 4 0 1024, 4 0 1024, 3 0 1024, 3 0 1024, 3 1 1024, 3 1 1024, 3 1 1024, 2 1 1024, 2 1 1024, 2 2 1024, 2 2 1024, 1 2 1024, 1 2 1024, 1 2 1024, 1 2 1024, 1 3 1024, 0 3 1024,</inkml:trace>
  <inkml:annotation type="path"> 0 46 1, 0 61 1, 0 61 1, 0 61 1, 16 61 1, 16 61 1, 16 77 1, 16 77 1, 16 92 1, 16 92 1, 32 92 1, 32 107 1, 32 107 1, 32 107 1, 48 107 1, 48 123 1, 48 123 1, 64 123 1, 64 138 1, 64 138 1, 64 138 1, 80 154 1, 80 154 1, 80 154 1, 96 154 1, 96 154 1, 96 154 1, 96 154 1, 112 154 1, 112 154 1, 112 154 1, 128 154 1, 128 154 1, 128 154 1, 128 154 1, 128 154 1, 128 138 1, 128 138 1, 128 138 1, 128 123 1, 128 123 1, 128 107 1, 128 107 1, 128 92 1, 128 92 1, 128 77 1, 128 61 1, 128 61 1, 128 46 1, 128 30 1, 128 15 1, 112 15 1, 112 0 1, 112 0 1, 96 0 1, 96 0 1, 96 0 1, 80 0 1, 80 0 1, 80 0 1, 64 0 1, 64 0 1, 64 0 1, 48 0 1, 48 0 1, 48 15 1, 48 15 1, 48 15 1, 32 15 1, 32 15 1, 32 30 1, 32 30 1, 16 30 1, 16 30 1, 16 30 1, 16 30 1, 16 46 1, 0 46 1</inkml:annotation>
  <inkml:annotation type="data">AFscA4CABAAAABIWHQIUGAMJROelkAFFGkgUBQE4EXCo00EKOE6CCUJSVKSpSVmgAAbixYsWCwsF
gubRLKlJUqUABYsssqUlgAJRKEqC/huT+G5QAAAAAAAAAAAA
</inkml:annotation>
  <inkml:annotation type="types">AAEBAQEBAQEBAQEBAQEBAQEBAQEBAQEBAQEBAQEBAQEBAQEBAQEBAQEBAQEBAQEBAQEBAQEBAQEB
AQEBAQEBAQEBAQEBAQEBAQEBAQEB
</inkml:annotation>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0 1024, 1 0 1024, 1 0 1024, 2 0 1024, 3 0 1024, 3 0 1024, 4 0 1024, 5 0 1024, 6 0 1024, 7 0 1024, 7 0 1024, 8 0 1024, 9 0 1024, 9 0 1024, 10 0 1024, 11 0 1024, 11 0 1024, 12 0 1024, 13 0 1024, 13 0 1024, 14 0 1024, 15 0 1024, 15 0 1024, 16 0 1024, 17 0 1024, 17 0 1024, 18 0 1024, 18 0 1024, 18 0 1024, 19 0 1024, 19 0 1024, 20 0 1024, 20 0 1024, 20 0 1024, 20 0 1024, 21 0 1024, 21 0 1024, 22 0 1024, 22 0 1024, 22 0 1024, 23 0 1024, 23 0 1024, 23 0 1024, 23 0 1024,</inkml:trace>
  <inkml:annotation type="path"> 0 0 1, 14 0 1, 14 0 1, 29 0 1, 44 0 1, 44 0 1, 59 0 1, 74 0 1, 89 0 1, 104 0 1, 104 0 1, 119 0 1, 134 0 1, 134 0 1, 149 0 1, 164 0 1, 164 0 1, 179 0 1, 194 0 1, 194 0 1, 209 0 1, 224 0 1, 224 0 1, 239 0 1, 254 0 1, 254 0 1, 269 0 1, 269 0 1, 269 0 1, 284 0 1, 284 0 1, 299 0 1, 299 0 1, 299 0 1, 299 0 1, 314 0 1, 314 0 1, 329 0 1, 329 0 1, 329 0 1, 344 0 1, 344 0 1, 344 0 1, 344 0 1</inkml:annotation>
  <inkml:annotation type="data">AEUcA4CABAAAADACHQI8DgMJROelkAFFGkgUBQE4EXCo00EKIiyCSxYLFixYsWVLKSypQIIAAAAA
AACC/huT+G5QAAAAAAA=
</inkml:annotation>
  <inkml:annotation type="types">AAEBAQEBAQEBAQEBAQEBAQEBAQEBAQEBAQEBAQEBAQEBAQEBAQEBAQEBAQE=
</inkml:annotation>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11 3 1024, 10 3 1024, 9 3 1024, 9 3 1024, 8 2 1024, 7 2 1024, 6 2 1024, 6 2 1024, 5 1 1024, 4 1 1024, 4 1 1024, 3 1 1024, 3 0 1024, 2 0 1024, 2 0 1024, 1 0 1024, 1 0 1024, 1 0 1024, 0 0 1024, 0 0 1024, 0 0 1024, 0 1 1024, 0 1 1024, 0 1 1024, 0 2 1024, 0 2 1024, 0 3 1024, 0 4 1024, 0 4 1024, 0 5 1024, 0 7 1024, 0 8 1024, 0 9 1024, 0 10 1024, 0 11 1024, 0 13 1024, 0 14 1024, 0 15 1024, 0 16 1024, 0 17 1024, 0 17 1024, 0 18 1024, 0 19 1024, 0 20 1024, 0 21 1024, 0 22 1024, 0 23 1024, 0 24 1024, 0 24 1024, 0 25 1024, 0 26 1024, 0 27 1024, 0 28 1024, 0 29 1024, 0 30 1024, 0 30 1024, 0 31 1024, 0 31 1024, 0 32 1024, 0 32 1024, 0 33 1024, 0 33 1024, 0 33 1024,</inkml:trace>
  <inkml:annotation type="path"> 159 45 1, 145 45 1, 130 45 1, 130 45 1, 116 30 1, 101 30 1, 87 30 1, 87 30 1, 72 15 1, 58 15 1, 58 15 1, 43 15 1, 43 0 1, 29 0 1, 29 0 1, 14 0 1, 14 0 1, 14 0 1, 0 0 1, 0 0 1, 0 0 1, 0 15 1, 0 15 1, 0 15 1, 0 30 1, 0 30 1, 0 45 1, 0 60 1, 0 60 1, 0 75 1, 0 106 1, 0 121 1, 0 136 1, 0 151 1, 0 167 1, 0 197 1, 0 212 1, 0 227 1, 0 242 1, 0 258 1, 0 258 1, 0 273 1, 0 288 1, 0 303 1, 0 318 1, 0 334 1, 0 349 1, 0 364 1, 0 364 1, 0 379 1, 0 394 1, 0 410 1, 0 425 1, 0 440 1, 0 455 1, 0 455 1, 0 470 1, 0 470 1, 0 485 1, 0 485 1, 0 501 1, 0 501 1, 0 501 1</inkml:annotation>
  <inkml:annotation type="data">AFMcA4CABAAAABZEHQIaRgMJROelkAFFGkgUBQE4EXCo00EKMD+C+r7UpKllliwAAAAAAACC50sL
CwBKliyUSiwCwFlllIL+G5P4blAAAAAAAAAAAA==
</inkml:annotation>
  <inkml:annotation type="types">AAEBAQEBAQEBAQEBAQEBAQEBAQEBAQEBAQEBAQEBAQEBAQEBAQEBAQEBAQEBAQEBAQEBAQEBAQEB
AQEBAQEB
</inkml:annotation>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0 0 1024, 1 0 1024, 2 0 1024, 3 0 1024, 5 0 1024, 6 0 1024, 8 0 1024, 10 0 1024, 12 0 1024, 14 0 1024, 16 0 1024, 18 0 1024, 20 0 1024, 21 0 1024, 23 0 1024, 25 0 1024, 27 0 1024, 29 0 1024, 31 0 1024, 33 0 1024, 35 0 1024, 37 0 1024, 38 0 1024, 40 1 1024, 42 1 1024, 43 1 1024, 44 1 1024, 45 1 1024, 46 2 1024, 47 2 1024, 48 2 1024, 48 2 1024, 49 2 1024, 49 3 1024, 50 3 1024, 50 3 1024,</inkml:trace>
  <inkml:annotation type="path"> 0 0 1, 15 0 1, 30 0 1, 45 0 1, 75 0 1, 90 0 1, 120 0 1, 150 0 1, 180 0 1, 210 0 1, 240 0 1, 271 0 1, 301 0 1, 316 0 1, 346 0 1, 376 0 1, 406 0 1, 436 0 1, 466 0 1, 496 0 1, 527 0 1, 557 0 1, 572 0 1, 602 13 1, 632 13 1, 647 13 1, 662 13 1, 677 13 1, 692 27 1, 707 27 1, 722 27 1, 722 27 1, 737 27 1, 737 41 1, 752 41 1, 752 41 1</inkml:annotation>
  <inkml:annotation type="data">AD8cA4CABAAAAGQGHQJoCgMJROelkAFFGkgUBQE4EXCo00EKHCSCQlgFgCxQWWWCAAABKJRKgv4b
k/huUAAAAAA=
</inkml:annotation>
  <inkml:annotation type="types">AAEBAQEBAQEBAQEBAQEBAQEBAQEBAQEBAQEBAQEBAQEBAQEB
</inkml:annotation>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3 0 1024, 4 0 1024, 4 0 1024, 5 0 1024, 5 0 1024, 6 1 1024, 7 1 1024, 7 2 1024, 8 2 1024, 9 3 1024, 9 3 1024, 10 4 1024, 10 4 1024, 11 5 1024, 12 5 1024, 13 6 1024, 15 6 1024, 16 7 1024, 17 8 1024, 18 8 1024, 18 9 1024, 19 9 1024, 19 10 1024, 19 10 1024, 20 10 1024, 20 10 1024, 20 10 1024, 20 11 1024, 20 11 1024, 21 11 1024, 21 11 1024, 21 11 1024, 21 12 1024, 21 12 1024, 21 12 1024, 20 12 1024, 20 13 1024, 19 13 1024, 18 13 1024, 17 13 1024, 16 13 1024, 14 13 1024, 13 13 1024, 11 14 1024, 10 14 1024, 8 14 1024, 6 15 1024, 5 15 1024, 4 16 1024, 3 16 1024, 2 16 1024, 1 16 1024, 1 17 1024, 0 17 1024, 0 17 1024,</inkml:trace>
  <inkml:annotation type="path"> 45 0 1, 60 0 1, 60 0 1, 75 0 1, 75 0 1, 91 14 1, 106 14 1, 106 29 1, 121 29 1, 136 44 1, 136 44 1, 151 59 1, 151 59 1, 167 74 1, 182 74 1, 197 89 1, 227 89 1, 243 104 1, 258 118 1, 273 118 1, 273 133 1, 288 133 1, 288 148 1, 288 148 1, 303 148 1, 303 148 1, 303 148 1, 303 163 1, 303 163 1, 319 163 1, 319 163 1, 319 163 1, 319 178 1, 319 178 1, 319 178 1, 303 178 1, 303 193 1, 288 193 1, 273 193 1, 258 193 1, 243 193 1, 212 193 1, 197 193 1, 167 208 1, 151 208 1, 121 208 1, 91 223 1, 75 223 1, 60 237 1, 45 237 1, 30 237 1, 15 237 1, 15 252 1, 0 252 1, 0 252 1</inkml:annotation>
  <inkml:annotation type="data">AFMcA4CABAAAACwiHQIuJgMJROelkAFFGkgUBQE4EXCo00EKMDeC5tlixZYSllSiULKLLKgSwIIE
ssssssWWUSiUlBKllJSC/huT+G5QAAAAAAAAAA==
</inkml:annotation>
  <inkml:annotation type="types">AAEBAQEBAQEBAQEBAQEBAQEBAQEBAQEBAQEBAQEBAQEBAQEBAQEBAQEBAQEBAQEBAQEBAQEBAQ==
</inkml:annotation>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4-07T09:28:25"/>
    </inkml:context>
    <inkml:brush xml:id="br0">
      <inkml:brushProperty name="width" value="0.026454624" units="cm"/>
      <inkml:brushProperty name="height" value="0.026454624" units="cm"/>
      <inkml:brushProperty name="fitToCurve" value="1"/>
      <inkml:brushProperty name="color" value="#e71224"/>
    </inkml:brush>
  </inkml:definitions>
  <inkml:trace contextRef="#ctx0" brushRef="#br0"> 34 4 1024, 34 4 1024, 33 4 1024, 33 3 1024, 32 3 1024, 31 3 1024, 30 3 1024, 29 3 1024, 28 2 1024, 27 2 1024, 26 2 1024, 25 2 1024, 25 2 1024, 24 2 1024, 23 2 1024, 22 2 1024, 22 2 1024, 21 2 1024, 20 2 1024, 19 2 1024, 19 2 1024, 18 2 1024, 18 2 1024, 17 2 1024, 17 2 1024, 17 2 1024, 16 2 1024, 16 2 1024, 15 2 1024, 15 2 1024, 15 2 1024, 14 2 1024, 14 2 1024, 14 2 1024, 13 2 1024, 13 2 1024, 13 2 1024, 12 2 1024, 12 2 1024, 12 3 1024, 11 3 1024, 11 3 1024, 11 3 1024, 10 4 1024, 10 4 1024, 10 4 1024, 9 4 1024, 9 5 1024, 8 5 1024, 8 6 1024, 8 6 1024, 7 6 1024, 7 7 1024, 6 7 1024, 6 7 1024, 6 8 1024, 6 8 1024, 5 8 1024, 5 9 1024, 5 9 1024, 5 9 1024, 4 10 1024, 4 10 1024, 4 10 1024, 4 11 1024, 3 11 1024, 3 11 1024, 3 12 1024, 3 12 1024, 3 12 1024, 2 13 1024, 2 13 1024, 2 14 1024, 2 14 1024, 2 15 1024, 1 16 1024, 1 16 1024, 1 17 1024, 1 18 1024, 1 19 1024, 0 20 1024, 0 22 1024, 0 23 1024, 0 24 1024, 0 25 1024, 0 26 1024, 0 26 1024, 0 27 1024, 0 28 1024, 0 29 1024, 0 29 1024, 0 30 1024, 0 31 1024, 0 31 1024, 1 31 1024, 1 32 1024, 1 32 1024, 1 33 1024, 2 33 1024, 2 33 1024, 2 34 1024, 2 34 1024, 3 34 1024, 3 34 1024, 3 35 1024, 3 35 1024, 4 35 1024, 4 35 1024, 4 35 1024, 5 35 1024, 5 36 1024, 5 36 1024, 6 36 1024, 6 36 1024, 6 36 1024, 6 36 1024, 7 36 1024, 7 37 1024, 7 37 1024, 8 37 1024, 8 37 1024, 9 37 1024, 9 37 1024, 9 38 1024, 10 38 1024, 10 38 1024, 11 38 1024, 11 39 1024, 12 39 1024, 12 39 1024, 13 39 1024, 13 39 1024, 13 39 1024, 13 39 1024, 14 39 1024, 14 39 1024, 15 39 1024, 15 39 1024, 15 40 1024, 16 40 1024, 16 40 1024, 17 40 1024, 17 40 1024, 17 40 1024, 18 40 1024, 18 40 1024, 19 40 1024, 19 40 1024, 20 40 1024, 20 40 1024, 20 40 1024, 20 40 1024, 21 40 1024, 21 40 1024, 21 40 1024, 22 40 1024, 22 40 1024, 22 40 1024, 23 40 1024, 23 40 1024, 23 40 1024, 24 39 1024, 24 39 1024, 24 39 1024, 25 39 1024, 25 39 1024, 25 38 1024, 25 38 1024, 26 38 1024, 26 38 1024, 26 38 1024, 27 37 1024, 27 37 1024, 27 37 1024, 28 37 1024, 28 37 1024, 28 37 1024, 29 36 1024, 29 36 1024, 29 36 1024, 29 36 1024, 30 36 1024, 30 35 1024, 30 35 1024, 30 35 1024, 31 35 1024, 31 35 1024, 32 35 1024, 32 34 1024, 32 34 1024, 33 34 1024, 33 34 1024, 34 34 1024, 34 33 1024, 34 33 1024, 34 33 1024, 35 33 1024, 35 33 1024, 35 32 1024, 35 32 1024, 36 32 1024, 36 31 1024, 37 31 1024, 37 30 1024, 38 30 1024, 38 29 1024, 39 29 1024, 39 28 1024, 39 28 1024, 40 27 1024, 40 27 1024, 40 26 1024, 40 26 1024, 41 25 1024, 41 25 1024, 41 24 1024, 41 24 1024, 41 23 1024, 41 23 1024, 41 22 1024, 41 22 1024, 42 21 1024, 42 20 1024, 42 20 1024, 42 19 1024, 42 19 1024, 42 18 1024, 42 18 1024, 42 17 1024, 42 17 1024, 42 16 1024, 42 16 1024, 42 15 1024, 42 15 1024, 42 14 1024, 42 14 1024, 42 13 1024, 42 12 1024, 42 12 1024, 42 11 1024, 42 11 1024, 42 10 1024, 42 10 1024, 42 10 1024, 42 9 1024, 42 9 1024, 42 9 1024, 42 8 1024, 41 8 1024, 41 8 1024, 41 7 1024, 41 7 1024, 40 7 1024, 40 7 1024, 40 7 1024, 39 7 1024, 39 7 1024, 39 7 1024, 38 7 1024, 38 7 1024, 38 7 1024, 38 7 1024, 37 7 1024, 37 7 1024, 37 7 1024, 36 7 1024, 36 7 1024, 36 7 1024, 36 7 1024, 35 6 1024, 35 6 1024, 35 5 1024, 34 5 1024, 34 4 1024, 33 3 1024, 33 2 1024, 32 1 1024, 32 1 1024, 32 0 1024, 32 0 1024, 32 0 1024,</inkml:trace>
  <inkml:annotation type="path"> 512 60 1, 512 60 1, 497 60 1, 497 45 1, 482 45 1, 466 45 1, 451 45 1, 436 45 1, 421 30 1, 406 30 1, 391 30 1, 376 30 1, 376 30 1, 361 30 1, 346 30 1, 331 30 1, 331 30 1, 316 30 1, 301 30 1, 286 30 1, 286 30 1, 271 30 1, 271 30 1, 256 30 1, 256 30 1, 256 30 1, 241 30 1, 241 30 1, 225 30 1, 225 30 1, 225 30 1, 210 30 1, 210 30 1, 210 30 1, 195 30 1, 195 30 1, 195 30 1, 180 30 1, 180 30 1, 180 45 1, 165 45 1, 165 45 1, 165 45 1, 150 60 1, 150 60 1, 150 60 1, 135 60 1, 135 75 1, 120 75 1, 120 90 1, 120 90 1, 105 90 1, 105 105 1, 90 105 1, 90 105 1, 90 120 1, 90 120 1, 75 120 1, 75 136 1, 75 136 1, 75 136 1, 60 151 1, 60 151 1, 60 151 1, 60 166 1, 45 166 1, 45 166 1, 45 181 1, 45 181 1, 45 181 1, 30 196 1, 30 196 1, 30 211 1, 30 211 1, 30 226 1, 15 241 1, 15 241 1, 15 257 1, 15 272 1, 15 287 1, 0 302 1, 0 332 1, 0 347 1, 0 362 1, 0 378 1, 0 393 1, 0 393 1, 0 408 1, 0 423 1, 0 438 1, 0 438 1, 0 453 1, 0 468 1, 0 468 1, 15 468 1, 15 483 1, 15 483 1, 15 499 1, 30 499 1, 30 499 1, 30 514 1, 30 514 1, 45 514 1, 45 514 1, 45 529 1, 45 529 1, 60 529 1, 60 529 1, 60 529 1, 75 529 1, 75 544 1, 75 544 1, 90 544 1, 90 544 1, 90 544 1, 90 544 1, 105 544 1, 105 559 1, 105 559 1, 120 559 1, 120 559 1, 135 559 1, 135 559 1, 135 574 1, 150 574 1, 150 574 1, 165 574 1, 165 589 1, 180 589 1, 180 589 1, 195 589 1, 195 589 1, 195 589 1, 195 589 1, 210 589 1, 210 589 1, 225 589 1, 225 589 1, 225 604 1, 241 604 1, 241 604 1, 256 604 1, 256 604 1, 256 604 1, 271 604 1, 271 604 1, 286 604 1, 286 604 1, 301 604 1, 301 604 1, 301 604 1, 301 604 1, 316 604 1, 316 604 1, 316 604 1, 331 604 1, 331 604 1, 331 604 1, 346 604 1, 346 604 1, 346 604 1, 361 589 1, 361 589 1, 361 589 1, 376 589 1, 376 589 1, 376 574 1, 376 574 1, 391 574 1, 391 574 1, 391 574 1, 406 559 1, 406 559 1, 406 559 1, 421 559 1, 421 559 1, 421 559 1, 436 544 1, 436 544 1, 436 544 1, 436 544 1, 451 544 1, 451 529 1, 451 529 1, 451 529 1, 466 529 1, 466 529 1, 482 529 1, 482 514 1, 482 514 1, 497 514 1, 497 514 1, 512 514 1, 512 499 1, 512 499 1, 512 499 1, 527 499 1, 527 499 1, 527 483 1, 527 483 1, 542 483 1, 542 468 1, 557 468 1, 557 453 1, 572 453 1, 572 438 1, 587 438 1, 587 423 1, 587 423 1, 602 408 1, 602 408 1, 602 393 1, 602 393 1, 617 378 1, 617 378 1, 617 362 1, 617 362 1, 617 347 1, 617 347 1, 617 332 1, 617 332 1, 632 317 1, 632 302 1, 632 302 1, 632 287 1, 632 287 1, 632 272 1, 632 272 1, 632 257 1, 632 257 1, 632 241 1, 632 241 1, 632 226 1, 632 226 1, 632 211 1, 632 211 1, 632 196 1, 632 181 1, 632 181 1, 632 166 1, 632 166 1, 632 151 1, 632 151 1, 632 151 1, 632 136 1, 632 136 1, 632 136 1, 632 120 1, 617 120 1, 617 120 1, 617 105 1, 617 105 1, 602 105 1, 602 105 1, 602 105 1, 587 105 1, 587 105 1, 587 105 1, 572 105 1, 572 105 1, 572 105 1, 572 105 1, 557 105 1, 557 105 1, 557 105 1, 542 105 1, 542 105 1, 542 105 1, 542 105 1, 527 90 1, 527 90 1, 527 75 1, 512 75 1, 512 60 1, 497 45 1, 497 30 1, 482 15 1, 482 15 1, 482 0 1, 482 0 1, 482 0 1</inkml:annotation>
  <inkml:annotation type="data">AOQBHAOAgAQAAABUUB0CWFQDCUTnpZABRRpIFAUBOBFwqNNBCsABmQKC/FH4psoCUlJZYssWLFix
YssWWFhYWCwWCwACUlJSVKlJUsqWWWUllSypZZSVKlSpSVKlSkpLKllJSWWWVKSgSgAAALCxYsLF
hYsssACC8eVgsAAAABKSksqVKlSpUqWWLBKLCxUsqUlCUEoSkoAlAAAFgsFgWCwLBYLFllllllll
llSyyyyyypZYsWLAAAWWUSwAgv4bk/huUAAAAAAAAAAAAAAAAAAAAAAAAAAAAAAAAAAAAAAAAAAA
AAAA
</inkml:annotation>
  <inkml:annotation type="types">AAEBAQEBAQEBAQEBAQEBAQEBAQEBAQEBAQEBAQEBAQEBAQEBAQEBAQEBAQEBAQEBAQEBAQEBAQEB
AQEBAQEBAQEBAQEBAQEBAQEBAQEBAQEBAQEBAQEBAQEBAQEBAQEBAQEBAQEBAQEBAQEBAQEBAQEB
AQEBAQEBAQEBAQEBAQEBAQEBAQEBAQEBAQEBAQEBAQEBAQEBAQEBAQEBAQEBAQEBAQEBAQEBAQEB
AQEBAQEBAQEBAQEBAQEBAQEBAQEBAQEBAQEBAQEBAQEBAQEBAQEBAQEBAQEBAQEBAQEBAQEBAQEB
AQEBAQEBAQEBAQEBAQEBAQEBAQEBAQEBAQEBAQEBAQEBAQEBAQEBAQEBAQEBAQEBAQEBAQE=
</inkml:annotation>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&lt;#&gt;</a:t>
            </a:fld>
            <a:endParaRPr lang="zh-CN" altLang="en-US" sz="1200">
              <a:latin typeface="Calibri" pitchFamily="0" charset="0"/>
              <a:ea typeface="ＭＳ Ｐゴシック" pitchFamily="0" charset="-128"/>
              <a:cs typeface="Calibri" pitchFamily="0" charset="0"/>
            </a:endParaRPr>
          </a:p>
        </p:txBody>
      </p:sp>
      <p:sp>
        <p:nvSpPr>
          <p:cNvPr id="12" name="Text box"/>
          <p:cNvSpPr>
            <a:spLocks noGrp="1"/>
          </p:cNvSpPr>
          <p:nvPr>
            <p:ph type="hdr"/>
          </p:nvPr>
        </p:nvSpPr>
        <p:spPr>
          <a:xfrm rot="0">
            <a:off x="0" y="0"/>
            <a:ext cx="2971799" cy="457200"/>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MS PGothic" pitchFamily="34" charset="-128"/>
              <a:cs typeface="ＭＳ Ｐゴシック" pitchFamily="0" charset="-128"/>
            </a:endParaRPr>
          </a:p>
        </p:txBody>
      </p:sp>
      <p:sp>
        <p:nvSpPr>
          <p:cNvPr id="13" name="Text box"/>
          <p:cNvSpPr>
            <a:spLocks noGrp="1"/>
          </p:cNvSpPr>
          <p:nvPr>
            <p:ph type="dt" idx="1"/>
          </p:nvPr>
        </p:nvSpPr>
        <p:spPr>
          <a:xfrm rot="0">
            <a:off x="3884613" y="0"/>
            <a:ext cx="2971800" cy="457200"/>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ＭＳ Ｐゴシック" pitchFamily="0" charset="-128"/>
                <a:cs typeface="Calibri" pitchFamily="0" charset="0"/>
              </a:rPr>
              <a:t>4/7/2026</a:t>
            </a:fld>
            <a:endParaRPr lang="zh-CN" altLang="en-US" sz="1200">
              <a:latin typeface="Calibri" pitchFamily="0" charset="0"/>
              <a:ea typeface="ＭＳ Ｐゴシック" pitchFamily="0" charset="-128"/>
              <a:cs typeface="Calibri" pitchFamily="0" charset="0"/>
            </a:endParaRPr>
          </a:p>
        </p:txBody>
      </p:sp>
      <p:sp>
        <p:nvSpPr>
          <p:cNvPr id="14" name="Object"/>
          <p:cNvSpPr>
            <a:spLocks noGrp="1" noChangeAspect="1"/>
          </p:cNvSpPr>
          <p:nvPr>
            <p:ph type="sldImg" idx="2"/>
          </p:nvPr>
        </p:nvSpPr>
        <p:spPr>
          <a:xfrm rot="0">
            <a:off x="381000" y="685800"/>
            <a:ext cx="6096000" cy="3429000"/>
          </a:xfrm>
          <a:prstGeom prst="rect"/>
          <a:noFill/>
          <a:ln w="12700" cmpd="sng" cap="flat">
            <a:solidFill>
              <a:srgbClr val="000000"/>
            </a:solidFill>
            <a:prstDash val="solid"/>
            <a:round/>
          </a:ln>
        </p:spPr>
      </p:sp>
      <p:sp>
        <p:nvSpPr>
          <p:cNvPr id="15" name="Text box"/>
          <p:cNvSpPr>
            <a:spLocks noGrp="1"/>
          </p:cNvSpPr>
          <p:nvPr>
            <p:ph type="body" idx="3"/>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6" name="Text box"/>
          <p:cNvSpPr>
            <a:spLocks noGrp="1"/>
          </p:cNvSpPr>
          <p:nvPr>
            <p:ph type="ftr" idx="4"/>
          </p:nvPr>
        </p:nvSpPr>
        <p:spPr>
          <a:xfrm rot="0">
            <a:off x="0" y="8685213"/>
            <a:ext cx="2971799" cy="457200"/>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MS PGothic" pitchFamily="34" charset="-128"/>
              <a:cs typeface="ＭＳ Ｐゴシック" pitchFamily="0" charset="-128"/>
            </a:endParaRPr>
          </a:p>
        </p:txBody>
      </p:sp>
    </p:spTree>
    <p:extLst>
      <p:ext uri="{BB962C8B-B14F-4D97-AF65-F5344CB8AC3E}">
        <p14:creationId xmlns:p14="http://schemas.microsoft.com/office/powerpoint/2010/main" val="799271167"/>
      </p:ext>
    </p:extLst>
  </p:cSld>
  <p:clrMap bg1="lt1" tx1="dk1" bg2="lt2" tx2="dk2" accent1="accent1" accent2="accent2" accent3="accent3" accent4="accent4" accent5="accent5" accent6="accent6" hlink="hlink" folHlink="folHlink"/>
  <p:hf sldNum="1" hdr="0" ftr="0" dt="0"/>
  <p:notesStyle>
    <a:lvl1pPr marL="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ＭＳ Ｐゴシック" pitchFamily="0" charset="-128"/>
      </a:defRPr>
    </a:lvl1pPr>
    <a:lvl2pPr marL="4572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2pPr>
    <a:lvl3pPr marL="9144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3pPr>
    <a:lvl4pPr marL="13716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4pPr>
    <a:lvl5pPr marL="18288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a:t>
            </a:fld>
            <a:endParaRPr lang="zh-CN" altLang="en-US" sz="1200">
              <a:latin typeface="Calibri" pitchFamily="0" charset="0"/>
              <a:ea typeface="ＭＳ Ｐゴシック" pitchFamily="0" charset="-128"/>
              <a:cs typeface="Calibri" pitchFamily="0" charset="0"/>
            </a:endParaRPr>
          </a:p>
        </p:txBody>
      </p:sp>
      <p:sp>
        <p:nvSpPr>
          <p:cNvPr id="49" name="Object"/>
          <p:cNvSpPr>
            <a:spLocks noGrp="1" noChangeAspect="1"/>
          </p:cNvSpPr>
          <p:nvPr>
            <p:ph type="sldImg"/>
          </p:nvPr>
        </p:nvSpPr>
        <p:spPr>
          <a:xfrm rot="0">
            <a:off x="381000" y="685800"/>
            <a:ext cx="6096000" cy="3429000"/>
          </a:xfrm>
          <a:prstGeom prst="rect"/>
          <a:noFill/>
          <a:ln w="12700" cmpd="sng" cap="flat">
            <a:noFill/>
            <a:prstDash val="solid"/>
            <a:miter/>
          </a:ln>
        </p:spPr>
      </p:sp>
      <p:sp>
        <p:nvSpPr>
          <p:cNvPr id="5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1" name="Text box"/>
          <p:cNvSpPr txBox="1">
            <a:spLocks/>
          </p:cNvSpPr>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defTabSz="892175">
              <a:lnSpc>
                <a:spcPct val="100000"/>
              </a:lnSpc>
              <a:spcBef>
                <a:spcPts val="0"/>
              </a:spcBef>
              <a:spcAft>
                <a:spcPts val="0"/>
              </a:spcAft>
              <a:buNone/>
            </a:pPr>
            <a:r>
              <a:rPr lang="en-US" altLang="zh-CN" sz="1200" b="0" i="0" u="none" strike="noStrike" kern="1200" cap="none" spc="0" baseline="0">
                <a:solidFill>
                  <a:schemeClr val="tx1"/>
                </a:solidFill>
                <a:latin typeface="Arial" pitchFamily="0" charset="0"/>
                <a:ea typeface="ＭＳ Ｐゴシック" pitchFamily="0" charset="-128"/>
                <a:cs typeface="Calibri" pitchFamily="0" charset="0"/>
              </a:rPr>
              <a:t>prepared by Razana Alwee / edited by Suhaila Mohamad Yusuf</a:t>
            </a:r>
            <a:endParaRPr lang="zh-CN" altLang="en-US" sz="1200" b="0" i="0" u="none" strike="noStrike" kern="1200" cap="none" spc="0" baseline="0">
              <a:solidFill>
                <a:schemeClr val="tx1"/>
              </a:solidFill>
              <a:latin typeface="Arial" pitchFamily="0" charset="0"/>
              <a:ea typeface="ＭＳ Ｐゴシック" pitchFamily="0" charset="-128"/>
              <a:cs typeface="Calibri" pitchFamily="0" charset="0"/>
            </a:endParaRPr>
          </a:p>
        </p:txBody>
      </p:sp>
      <p:sp>
        <p:nvSpPr>
          <p:cNvPr id="5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pPr defTabSz="892175"/>
            <a:fld id="{CAD2D6BD-DE1B-4B5F-8B41-2702339687B9}" type="slidenum">
              <a:rPr lang="en-US" altLang="zh-CN" sz="1200" b="0" i="0" u="none" strike="noStrike" kern="1200" cap="none" spc="0" baseline="0">
                <a:solidFill>
                  <a:schemeClr val="tx1"/>
                </a:solidFill>
                <a:latin typeface="Arial" pitchFamily="0" charset="0"/>
                <a:ea typeface="ＭＳ Ｐゴシック" pitchFamily="0" charset="-128"/>
                <a:cs typeface="Lucida Sans"/>
              </a:rPr>
              <a:t>1</a:t>
            </a:fld>
            <a:endParaRPr lang="zh-CN" altLang="en-US" sz="1200" b="0">
              <a:solidFill>
                <a:schemeClr val="tx1"/>
              </a:solidFill>
              <a:latin typeface="Arial" pitchFamily="0" charset="0"/>
              <a:ea typeface="ＭＳ Ｐゴシック" pitchFamily="0" charset="-128"/>
            </a:endParaRPr>
          </a:p>
        </p:txBody>
      </p:sp>
    </p:spTree>
    <p:extLst>
      <p:ext uri="{BB962C8B-B14F-4D97-AF65-F5344CB8AC3E}">
        <p14:creationId xmlns:p14="http://schemas.microsoft.com/office/powerpoint/2010/main" val="1377818164"/>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71461006"/>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165940572"/>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78511623"/>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81170420"/>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6640608"/>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65338968"/>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98761869"/>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49559712"/>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16939105"/>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02445349"/>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166064111"/>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129891367"/>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110598778"/>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67453280"/>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931883474"/>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66417350"/>
      </p:ext>
    </p:extLst>
  </p:cSld>
  <p:clrMapOvr>
    <a:masterClrMapping/>
  </p:clrMapOvr>
</p:notes>
</file>

<file path=ppt/notesSlides/notesSlide1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39974266"/>
      </p:ext>
    </p:extLst>
  </p:cSld>
  <p:clrMapOvr>
    <a:masterClrMapping/>
  </p:clrMapOvr>
</p:notes>
</file>

<file path=ppt/notesSlides/notesSlide1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78215548"/>
      </p:ext>
    </p:extLst>
  </p:cSld>
  <p:clrMapOvr>
    <a:masterClrMapping/>
  </p:clrMapOvr>
</p:notes>
</file>

<file path=ppt/notesSlides/notesSlide2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40510332"/>
      </p:ext>
    </p:extLst>
  </p:cSld>
  <p:clrMapOvr>
    <a:masterClrMapping/>
  </p:clrMapOvr>
</p:notes>
</file>

<file path=ppt/notesSlides/notesSlide2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63866942"/>
      </p:ext>
    </p:extLst>
  </p:cSld>
  <p:clrMapOvr>
    <a:masterClrMapping/>
  </p:clrMapOvr>
</p:notes>
</file>

<file path=ppt/notesSlides/notesSlide2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780524643"/>
      </p:ext>
    </p:extLst>
  </p:cSld>
  <p:clrMapOvr>
    <a:masterClrMapping/>
  </p:clrMapOvr>
</p:notes>
</file>

<file path=ppt/notesSlides/notesSlide2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40653036"/>
      </p:ext>
    </p:extLst>
  </p:cSld>
  <p:clrMapOvr>
    <a:masterClrMapping/>
  </p:clrMapOvr>
</p:notes>
</file>

<file path=ppt/notesSlides/notesSlide2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82103472"/>
      </p:ext>
    </p:extLst>
  </p:cSld>
  <p:clrMapOvr>
    <a:masterClrMapping/>
  </p:clrMapOvr>
</p:notes>
</file>

<file path=ppt/notesSlides/notesSlide2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903609304"/>
      </p:ext>
    </p:extLst>
  </p:cSld>
  <p:clrMapOvr>
    <a:masterClrMapping/>
  </p:clrMapOvr>
</p:notes>
</file>

<file path=ppt/notesSlides/notesSlide2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26</a:t>
            </a:fld>
            <a:endParaRPr lang="zh-CN" altLang="en-US" sz="1200">
              <a:latin typeface="Calibri" pitchFamily="0" charset="0"/>
              <a:ea typeface="ＭＳ Ｐゴシック" pitchFamily="0" charset="-128"/>
              <a:cs typeface="Calibri" pitchFamily="0" charset="0"/>
            </a:endParaRPr>
          </a:p>
        </p:txBody>
      </p:sp>
      <p:sp>
        <p:nvSpPr>
          <p:cNvPr id="238" name="Object"/>
          <p:cNvSpPr>
            <a:spLocks noGrp="1" noChangeAspect="1"/>
          </p:cNvSpPr>
          <p:nvPr>
            <p:ph type="sldImg"/>
          </p:nvPr>
        </p:nvSpPr>
        <p:spPr>
          <a:xfrm rot="0">
            <a:off x="2286000" y="514350"/>
            <a:ext cx="4572000" cy="2571750"/>
          </a:xfrm>
          <a:prstGeom prst="rect"/>
          <a:noFill/>
          <a:ln w="12700" cmpd="sng" cap="flat">
            <a:noFill/>
            <a:prstDash val="solid"/>
            <a:miter/>
          </a:ln>
        </p:spPr>
      </p:sp>
      <p:sp>
        <p:nvSpPr>
          <p:cNvPr id="239"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r>
              <a:rPr lang="en-US" altLang="zh-CN" sz="1800" b="0" i="0" u="none" strike="noStrike">
                <a:solidFill>
                  <a:srgbClr val="000000"/>
                </a:solidFill>
                <a:latin typeface="Aptos Narrow" pitchFamily="34" charset="0"/>
              </a:rPr>
              <a:t>mean:</a:t>
            </a:r>
            <a:r>
              <a:rPr lang="en-US" altLang="zh-CN"/>
              <a:t> </a:t>
            </a:r>
            <a:r>
              <a:rPr lang="en-US" altLang="zh-CN" sz="1800" b="0" i="0" u="none" strike="noStrike">
                <a:solidFill>
                  <a:srgbClr val="000000"/>
                </a:solidFill>
                <a:latin typeface="Aptos Narrow" pitchFamily="34" charset="0"/>
              </a:rPr>
              <a:t>7.25</a:t>
            </a:r>
            <a:r>
              <a:rPr lang="en-US" altLang="zh-CN"/>
              <a:t> </a:t>
            </a:r>
            <a:endParaRPr lang="en-US" altLang="zh-CN"/>
          </a:p>
          <a:p>
            <a:r>
              <a:rPr lang="en-US" altLang="zh-CN" sz="1200" b="0" i="0" u="none" strike="noStrike">
                <a:solidFill>
                  <a:srgbClr val="000000"/>
                </a:solidFill>
                <a:latin typeface="Aptos Narrow" pitchFamily="34" charset="0"/>
              </a:rPr>
              <a:t>median:</a:t>
            </a:r>
            <a:r>
              <a:rPr lang="en-US" altLang="zh-CN"/>
              <a:t> </a:t>
            </a:r>
            <a:r>
              <a:rPr lang="en-US" altLang="zh-CN" sz="1200" b="0" i="0" u="none" strike="noStrike">
                <a:solidFill>
                  <a:srgbClr val="000000"/>
                </a:solidFill>
                <a:latin typeface="Aptos Narrow" pitchFamily="34" charset="0"/>
              </a:rPr>
              <a:t>7.5</a:t>
            </a:r>
            <a:r>
              <a:rPr lang="en-US" altLang="zh-CN"/>
              <a:t> </a:t>
            </a:r>
            <a:endParaRPr lang="en-US" altLang="zh-CN"/>
          </a:p>
          <a:p>
            <a:r>
              <a:rPr lang="en-US" altLang="zh-CN" sz="1800" b="0" i="0" u="none" strike="noStrike">
                <a:solidFill>
                  <a:srgbClr val="000000"/>
                </a:solidFill>
                <a:latin typeface="Aptos Narrow" pitchFamily="34" charset="0"/>
              </a:rPr>
              <a:t>mode:</a:t>
            </a:r>
            <a:r>
              <a:rPr lang="en-US" altLang="zh-CN"/>
              <a:t> </a:t>
            </a:r>
            <a:r>
              <a:rPr lang="en-US" altLang="zh-CN" sz="1800" b="0" i="0" u="none" strike="noStrike">
                <a:solidFill>
                  <a:srgbClr val="000000"/>
                </a:solidFill>
                <a:latin typeface="Aptos Narrow" pitchFamily="34" charset="0"/>
              </a:rPr>
              <a:t>8</a:t>
            </a:r>
            <a:endParaRPr lang="en-US" altLang="zh-CN" sz="1800" b="0" i="0" u="none" strike="noStrike">
              <a:solidFill>
                <a:srgbClr val="000000"/>
              </a:solidFill>
              <a:latin typeface="Aptos Narrow" pitchFamily="34" charset="0"/>
            </a:endParaRPr>
          </a:p>
          <a:p>
            <a:r>
              <a:rPr lang="en-US" altLang="zh-CN" sz="1800" b="0" i="0" u="none" strike="noStrike">
                <a:solidFill>
                  <a:srgbClr val="000000"/>
                </a:solidFill>
                <a:latin typeface="Aptos Narrow" pitchFamily="34" charset="0"/>
              </a:rPr>
              <a:t>data: 3</a:t>
            </a:r>
            <a:r>
              <a:rPr lang="en-US" altLang="zh-CN"/>
              <a:t> </a:t>
            </a:r>
            <a:r>
              <a:rPr lang="en-US" altLang="zh-CN" sz="1800" b="0" i="0" u="none" strike="noStrike">
                <a:solidFill>
                  <a:srgbClr val="000000"/>
                </a:solidFill>
                <a:latin typeface="Aptos Narrow" pitchFamily="34" charset="0"/>
              </a:rPr>
              <a:t>4</a:t>
            </a:r>
            <a:r>
              <a:rPr lang="en-US" altLang="zh-CN"/>
              <a:t> </a:t>
            </a:r>
            <a:r>
              <a:rPr lang="en-US" altLang="zh-CN" sz="1800" b="0" i="0" u="none" strike="noStrike">
                <a:solidFill>
                  <a:srgbClr val="000000"/>
                </a:solidFill>
                <a:latin typeface="Aptos Narrow" pitchFamily="34" charset="0"/>
              </a:rPr>
              <a:t>4</a:t>
            </a:r>
            <a:r>
              <a:rPr lang="en-US" altLang="zh-CN"/>
              <a:t> </a:t>
            </a:r>
            <a:r>
              <a:rPr lang="en-US" altLang="zh-CN" sz="1800" b="0" i="0" u="none" strike="noStrike">
                <a:solidFill>
                  <a:srgbClr val="000000"/>
                </a:solidFill>
                <a:latin typeface="Aptos Narrow" pitchFamily="34" charset="0"/>
              </a:rPr>
              <a:t>5</a:t>
            </a:r>
            <a:r>
              <a:rPr lang="en-US" altLang="zh-CN"/>
              <a:t> </a:t>
            </a:r>
            <a:r>
              <a:rPr lang="en-US" altLang="zh-CN" sz="1800" b="0" i="0" u="none" strike="noStrike">
                <a:solidFill>
                  <a:srgbClr val="000000"/>
                </a:solidFill>
                <a:latin typeface="Aptos Narrow" pitchFamily="34" charset="0"/>
              </a:rPr>
              <a:t>5</a:t>
            </a:r>
            <a:r>
              <a:rPr lang="en-US" altLang="zh-CN"/>
              <a:t> </a:t>
            </a:r>
            <a:r>
              <a:rPr lang="en-US" altLang="zh-CN" sz="1800" b="0" i="0" u="none" strike="noStrike">
                <a:solidFill>
                  <a:srgbClr val="000000"/>
                </a:solidFill>
                <a:latin typeface="Aptos Narrow" pitchFamily="34" charset="0"/>
              </a:rPr>
              <a:t>5</a:t>
            </a:r>
            <a:r>
              <a:rPr lang="en-US" altLang="zh-CN"/>
              <a:t> </a:t>
            </a:r>
            <a:r>
              <a:rPr lang="en-US" altLang="zh-CN" sz="1800" b="0" i="0" u="none" strike="noStrike">
                <a:solidFill>
                  <a:srgbClr val="000000"/>
                </a:solidFill>
                <a:latin typeface="Aptos Narrow" pitchFamily="34" charset="0"/>
              </a:rPr>
              <a:t>6</a:t>
            </a:r>
            <a:r>
              <a:rPr lang="en-US" altLang="zh-CN"/>
              <a:t> </a:t>
            </a:r>
            <a:r>
              <a:rPr lang="en-US" altLang="zh-CN" sz="1800" b="0" i="0" u="none" strike="noStrike">
                <a:solidFill>
                  <a:srgbClr val="000000"/>
                </a:solidFill>
                <a:latin typeface="Aptos Narrow" pitchFamily="34" charset="0"/>
              </a:rPr>
              <a:t>6</a:t>
            </a:r>
            <a:r>
              <a:rPr lang="en-US" altLang="zh-CN"/>
              <a:t> </a:t>
            </a:r>
            <a:r>
              <a:rPr lang="en-US" altLang="zh-CN" sz="1800" b="0" i="0" u="none" strike="noStrike">
                <a:solidFill>
                  <a:srgbClr val="000000"/>
                </a:solidFill>
                <a:latin typeface="Aptos Narrow" pitchFamily="34" charset="0"/>
              </a:rPr>
              <a:t>7</a:t>
            </a:r>
            <a:r>
              <a:rPr lang="en-US" altLang="zh-CN"/>
              <a:t> </a:t>
            </a:r>
            <a:r>
              <a:rPr lang="en-US" altLang="zh-CN" sz="1800" b="0" i="0" u="none" strike="noStrike">
                <a:solidFill>
                  <a:srgbClr val="000000"/>
                </a:solidFill>
                <a:latin typeface="Aptos Narrow" pitchFamily="34" charset="0"/>
              </a:rPr>
              <a:t>7</a:t>
            </a:r>
            <a:r>
              <a:rPr lang="en-US" altLang="zh-CN"/>
              <a:t> </a:t>
            </a:r>
            <a:r>
              <a:rPr lang="en-US" altLang="zh-CN" sz="1800" b="0" i="0" u="none" strike="noStrike">
                <a:solidFill>
                  <a:srgbClr val="000000"/>
                </a:solidFill>
                <a:latin typeface="Aptos Narrow" pitchFamily="34" charset="0"/>
              </a:rPr>
              <a:t>8</a:t>
            </a:r>
            <a:r>
              <a:rPr lang="en-US" altLang="zh-CN"/>
              <a:t> </a:t>
            </a:r>
            <a:r>
              <a:rPr lang="en-US" altLang="zh-CN" sz="1800" b="0" i="0" u="none" strike="noStrike">
                <a:solidFill>
                  <a:srgbClr val="000000"/>
                </a:solidFill>
                <a:latin typeface="Aptos Narrow" pitchFamily="34" charset="0"/>
              </a:rPr>
              <a:t>8</a:t>
            </a:r>
            <a:r>
              <a:rPr lang="en-US" altLang="zh-CN"/>
              <a:t> </a:t>
            </a:r>
            <a:r>
              <a:rPr lang="en-US" altLang="zh-CN" sz="1800" b="0" i="0" u="none" strike="noStrike">
                <a:solidFill>
                  <a:srgbClr val="000000"/>
                </a:solidFill>
                <a:latin typeface="Aptos Narrow" pitchFamily="34" charset="0"/>
              </a:rPr>
              <a:t>8</a:t>
            </a:r>
            <a:r>
              <a:rPr lang="en-US" altLang="zh-CN"/>
              <a:t> </a:t>
            </a:r>
            <a:r>
              <a:rPr lang="en-US" altLang="zh-CN" sz="1800" b="0" i="0" u="none" strike="noStrike">
                <a:solidFill>
                  <a:srgbClr val="000000"/>
                </a:solidFill>
                <a:latin typeface="Aptos Narrow" pitchFamily="34" charset="0"/>
              </a:rPr>
              <a:t>8</a:t>
            </a:r>
            <a:r>
              <a:rPr lang="en-US" altLang="zh-CN"/>
              <a:t> </a:t>
            </a:r>
            <a:r>
              <a:rPr lang="en-US" altLang="zh-CN" sz="1800" b="0" i="0" u="none" strike="noStrike">
                <a:solidFill>
                  <a:srgbClr val="000000"/>
                </a:solidFill>
                <a:latin typeface="Aptos Narrow" pitchFamily="34" charset="0"/>
              </a:rPr>
              <a:t>8</a:t>
            </a:r>
            <a:r>
              <a:rPr lang="en-US" altLang="zh-CN"/>
              <a:t> </a:t>
            </a:r>
            <a:r>
              <a:rPr lang="en-US" altLang="zh-CN" sz="1800" b="0" i="0" u="none" strike="noStrike">
                <a:solidFill>
                  <a:srgbClr val="000000"/>
                </a:solidFill>
                <a:latin typeface="Aptos Narrow" pitchFamily="34" charset="0"/>
              </a:rPr>
              <a:t>9</a:t>
            </a:r>
            <a:r>
              <a:rPr lang="en-US" altLang="zh-CN"/>
              <a:t> </a:t>
            </a:r>
            <a:r>
              <a:rPr lang="en-US" altLang="zh-CN" sz="1800" b="0" i="0" u="none" strike="noStrike">
                <a:solidFill>
                  <a:srgbClr val="000000"/>
                </a:solidFill>
                <a:latin typeface="Aptos Narrow" pitchFamily="34" charset="0"/>
              </a:rPr>
              <a:t>10</a:t>
            </a:r>
            <a:r>
              <a:rPr lang="en-US" altLang="zh-CN"/>
              <a:t> </a:t>
            </a:r>
            <a:r>
              <a:rPr lang="en-US" altLang="zh-CN" sz="1800" b="0" i="0" u="none" strike="noStrike">
                <a:solidFill>
                  <a:srgbClr val="000000"/>
                </a:solidFill>
                <a:latin typeface="Aptos Narrow" pitchFamily="34" charset="0"/>
              </a:rPr>
              <a:t>10</a:t>
            </a:r>
            <a:r>
              <a:rPr lang="en-US" altLang="zh-CN"/>
              <a:t> </a:t>
            </a:r>
            <a:r>
              <a:rPr lang="en-US" altLang="zh-CN" sz="1800" b="0" i="0" u="none" strike="noStrike">
                <a:solidFill>
                  <a:srgbClr val="000000"/>
                </a:solidFill>
                <a:latin typeface="Aptos Narrow" pitchFamily="34" charset="0"/>
              </a:rPr>
              <a:t>11</a:t>
            </a:r>
            <a:r>
              <a:rPr lang="en-US" altLang="zh-CN"/>
              <a:t> </a:t>
            </a:r>
            <a:r>
              <a:rPr lang="en-US" altLang="zh-CN" sz="1800" b="0" i="0" u="none" strike="noStrike">
                <a:solidFill>
                  <a:srgbClr val="000000"/>
                </a:solidFill>
                <a:latin typeface="Aptos Narrow" pitchFamily="34" charset="0"/>
              </a:rPr>
              <a:t>13</a:t>
            </a:r>
            <a:r>
              <a:rPr lang="en-US" altLang="zh-CN"/>
              <a:t> </a:t>
            </a:r>
            <a:endParaRPr lang="zh-CN" altLang="en-US"/>
          </a:p>
        </p:txBody>
      </p:sp>
      <p:sp>
        <p:nvSpPr>
          <p:cNvPr id="240"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26</a:t>
            </a:fld>
            <a:endParaRPr lang="zh-CN" altLang="en-US"/>
          </a:p>
        </p:txBody>
      </p:sp>
    </p:spTree>
    <p:extLst>
      <p:ext uri="{BB962C8B-B14F-4D97-AF65-F5344CB8AC3E}">
        <p14:creationId xmlns:p14="http://schemas.microsoft.com/office/powerpoint/2010/main" val="2089970427"/>
      </p:ext>
    </p:extLst>
  </p:cSld>
  <p:clrMapOvr>
    <a:masterClrMapping/>
  </p:clrMapOvr>
</p:notes>
</file>

<file path=ppt/notesSlides/notesSlide2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27</a:t>
            </a:fld>
            <a:endParaRPr lang="zh-CN" altLang="en-US" sz="1200">
              <a:latin typeface="Calibri" pitchFamily="0" charset="0"/>
              <a:ea typeface="ＭＳ Ｐゴシック" pitchFamily="0" charset="-128"/>
              <a:cs typeface="Calibri" pitchFamily="0" charset="0"/>
            </a:endParaRPr>
          </a:p>
        </p:txBody>
      </p:sp>
      <p:sp>
        <p:nvSpPr>
          <p:cNvPr id="245" name="Object"/>
          <p:cNvSpPr>
            <a:spLocks noGrp="1" noChangeAspect="1"/>
          </p:cNvSpPr>
          <p:nvPr>
            <p:ph type="sldImg"/>
          </p:nvPr>
        </p:nvSpPr>
        <p:spPr>
          <a:xfrm rot="0">
            <a:off x="2286000" y="514350"/>
            <a:ext cx="4572000" cy="2571750"/>
          </a:xfrm>
          <a:prstGeom prst="rect"/>
          <a:noFill/>
          <a:ln w="12700" cmpd="sng" cap="flat">
            <a:noFill/>
            <a:prstDash val="solid"/>
            <a:miter/>
          </a:ln>
        </p:spPr>
      </p:sp>
      <p:sp>
        <p:nvSpPr>
          <p:cNvPr id="246"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r>
              <a:rPr lang="en-US" altLang="zh-CN" sz="1800" b="0" i="0" u="none" strike="noStrike">
                <a:solidFill>
                  <a:srgbClr val="000000"/>
                </a:solidFill>
                <a:latin typeface="Aptos Narrow" pitchFamily="34" charset="0"/>
              </a:rPr>
              <a:t>X:</a:t>
            </a:r>
            <a:r>
              <a:rPr lang="en-US" altLang="zh-CN"/>
              <a:t> </a:t>
            </a:r>
            <a:r>
              <a:rPr lang="en-US" altLang="zh-CN" sz="1800" b="0" i="0" u="none" strike="noStrike">
                <a:solidFill>
                  <a:srgbClr val="000000"/>
                </a:solidFill>
                <a:latin typeface="Aptos Narrow" pitchFamily="34" charset="0"/>
              </a:rPr>
              <a:t>2001</a:t>
            </a:r>
            <a:r>
              <a:rPr lang="en-US" altLang="zh-CN"/>
              <a:t> </a:t>
            </a:r>
            <a:r>
              <a:rPr lang="en-US" altLang="zh-CN" sz="1800" b="0" i="0" u="none" strike="noStrike">
                <a:solidFill>
                  <a:srgbClr val="000000"/>
                </a:solidFill>
                <a:latin typeface="Aptos Narrow" pitchFamily="34" charset="0"/>
              </a:rPr>
              <a:t>2002</a:t>
            </a:r>
            <a:r>
              <a:rPr lang="en-US" altLang="zh-CN"/>
              <a:t> </a:t>
            </a:r>
            <a:r>
              <a:rPr lang="en-US" altLang="zh-CN" sz="1800" b="0" i="0" u="none" strike="noStrike">
                <a:solidFill>
                  <a:srgbClr val="000000"/>
                </a:solidFill>
                <a:latin typeface="Aptos Narrow" pitchFamily="34" charset="0"/>
              </a:rPr>
              <a:t>2003</a:t>
            </a:r>
            <a:r>
              <a:rPr lang="en-US" altLang="zh-CN"/>
              <a:t> </a:t>
            </a:r>
            <a:r>
              <a:rPr lang="en-US" altLang="zh-CN" sz="1800" b="0" i="0" u="none" strike="noStrike">
                <a:solidFill>
                  <a:srgbClr val="000000"/>
                </a:solidFill>
                <a:latin typeface="Aptos Narrow" pitchFamily="34" charset="0"/>
              </a:rPr>
              <a:t>2004</a:t>
            </a:r>
            <a:r>
              <a:rPr lang="en-US" altLang="zh-CN"/>
              <a:t> </a:t>
            </a:r>
            <a:r>
              <a:rPr lang="en-US" altLang="zh-CN" sz="1800" b="0" i="0" u="none" strike="noStrike">
                <a:solidFill>
                  <a:srgbClr val="000000"/>
                </a:solidFill>
                <a:latin typeface="Aptos Narrow" pitchFamily="34" charset="0"/>
              </a:rPr>
              <a:t>2005</a:t>
            </a:r>
            <a:r>
              <a:rPr lang="en-US" altLang="zh-CN"/>
              <a:t> </a:t>
            </a:r>
            <a:r>
              <a:rPr lang="en-US" altLang="zh-CN" sz="1800" b="0" i="0" u="none" strike="noStrike">
                <a:solidFill>
                  <a:srgbClr val="000000"/>
                </a:solidFill>
                <a:latin typeface="Aptos Narrow" pitchFamily="34" charset="0"/>
              </a:rPr>
              <a:t>2006</a:t>
            </a:r>
            <a:r>
              <a:rPr lang="en-US" altLang="zh-CN"/>
              <a:t> </a:t>
            </a:r>
            <a:r>
              <a:rPr lang="en-US" altLang="zh-CN" sz="1800" b="0" i="0" u="none" strike="noStrike">
                <a:solidFill>
                  <a:srgbClr val="000000"/>
                </a:solidFill>
                <a:latin typeface="Aptos Narrow" pitchFamily="34" charset="0"/>
              </a:rPr>
              <a:t>2007</a:t>
            </a:r>
            <a:r>
              <a:rPr lang="en-US" altLang="zh-CN"/>
              <a:t> </a:t>
            </a:r>
            <a:r>
              <a:rPr lang="en-US" altLang="zh-CN" sz="1800" b="0" i="0" u="none" strike="noStrike">
                <a:solidFill>
                  <a:srgbClr val="000000"/>
                </a:solidFill>
                <a:latin typeface="Aptos Narrow" pitchFamily="34" charset="0"/>
              </a:rPr>
              <a:t>2008</a:t>
            </a:r>
            <a:r>
              <a:rPr lang="en-US" altLang="zh-CN"/>
              <a:t> </a:t>
            </a:r>
            <a:endParaRPr lang="en-US" altLang="zh-CN"/>
          </a:p>
          <a:p>
            <a:r>
              <a:rPr lang="en-US" altLang="zh-CN" sz="1800" b="0" i="0" u="none" strike="noStrike">
                <a:solidFill>
                  <a:srgbClr val="000000"/>
                </a:solidFill>
                <a:latin typeface="Aptos Narrow" pitchFamily="34" charset="0"/>
              </a:rPr>
              <a:t>F:</a:t>
            </a:r>
            <a:r>
              <a:rPr lang="en-US" altLang="zh-CN"/>
              <a:t> </a:t>
            </a:r>
            <a:r>
              <a:rPr lang="en-US" altLang="zh-CN" sz="1800" b="0" i="0" u="none" strike="noStrike">
                <a:solidFill>
                  <a:srgbClr val="000000"/>
                </a:solidFill>
                <a:latin typeface="Aptos Narrow" pitchFamily="34" charset="0"/>
              </a:rPr>
              <a:t>4</a:t>
            </a:r>
            <a:r>
              <a:rPr lang="en-US" altLang="zh-CN"/>
              <a:t> </a:t>
            </a:r>
            <a:r>
              <a:rPr lang="en-US" altLang="zh-CN" sz="1800" b="0" i="0" u="none" strike="noStrike">
                <a:solidFill>
                  <a:srgbClr val="000000"/>
                </a:solidFill>
                <a:latin typeface="Aptos Narrow" pitchFamily="34" charset="0"/>
              </a:rPr>
              <a:t>5</a:t>
            </a:r>
            <a:r>
              <a:rPr lang="en-US" altLang="zh-CN"/>
              <a:t> </a:t>
            </a:r>
            <a:r>
              <a:rPr lang="en-US" altLang="zh-CN" sz="1800" b="0" i="0" u="none" strike="noStrike">
                <a:solidFill>
                  <a:srgbClr val="000000"/>
                </a:solidFill>
                <a:latin typeface="Aptos Narrow" pitchFamily="34" charset="0"/>
              </a:rPr>
              <a:t>4</a:t>
            </a:r>
            <a:r>
              <a:rPr lang="en-US" altLang="zh-CN"/>
              <a:t> </a:t>
            </a:r>
            <a:r>
              <a:rPr lang="en-US" altLang="zh-CN" sz="1800" b="0" i="0" u="none" strike="noStrike">
                <a:solidFill>
                  <a:srgbClr val="000000"/>
                </a:solidFill>
                <a:latin typeface="Aptos Narrow" pitchFamily="34" charset="0"/>
              </a:rPr>
              <a:t>2</a:t>
            </a:r>
            <a:r>
              <a:rPr lang="en-US" altLang="zh-CN"/>
              <a:t> </a:t>
            </a:r>
            <a:r>
              <a:rPr lang="en-US" altLang="zh-CN" sz="1800" b="0" i="0" u="none" strike="noStrike">
                <a:solidFill>
                  <a:srgbClr val="000000"/>
                </a:solidFill>
                <a:latin typeface="Aptos Narrow" pitchFamily="34" charset="0"/>
              </a:rPr>
              <a:t>10</a:t>
            </a:r>
            <a:r>
              <a:rPr lang="en-US" altLang="zh-CN"/>
              <a:t> </a:t>
            </a:r>
            <a:r>
              <a:rPr lang="en-US" altLang="zh-CN" sz="1800" b="0" i="0" u="none" strike="noStrike">
                <a:solidFill>
                  <a:srgbClr val="000000"/>
                </a:solidFill>
                <a:latin typeface="Aptos Narrow" pitchFamily="34" charset="0"/>
              </a:rPr>
              <a:t>5</a:t>
            </a:r>
            <a:r>
              <a:rPr lang="en-US" altLang="zh-CN"/>
              <a:t> </a:t>
            </a:r>
            <a:r>
              <a:rPr lang="en-US" altLang="zh-CN" sz="1800" b="0" i="0" u="none" strike="noStrike">
                <a:solidFill>
                  <a:srgbClr val="000000"/>
                </a:solidFill>
                <a:latin typeface="Aptos Narrow" pitchFamily="34" charset="0"/>
              </a:rPr>
              <a:t>3</a:t>
            </a:r>
            <a:r>
              <a:rPr lang="en-US" altLang="zh-CN"/>
              <a:t> </a:t>
            </a:r>
            <a:r>
              <a:rPr lang="en-US" altLang="zh-CN" sz="1800" b="0" i="0" u="none" strike="noStrike">
                <a:solidFill>
                  <a:srgbClr val="000000"/>
                </a:solidFill>
                <a:latin typeface="Aptos Narrow" pitchFamily="34" charset="0"/>
              </a:rPr>
              <a:t>5</a:t>
            </a:r>
            <a:r>
              <a:rPr lang="en-US" altLang="zh-CN"/>
              <a:t> </a:t>
            </a:r>
            <a:endParaRPr lang="en-US" altLang="zh-CN"/>
          </a:p>
          <a:p>
            <a:r>
              <a:rPr lang="en-US" altLang="zh-CN"/>
              <a:t>(a) </a:t>
            </a:r>
            <a:endParaRPr lang="en-US" altLang="zh-CN"/>
          </a:p>
          <a:p>
            <a:r>
              <a:rPr lang="en-US" altLang="zh-CN" sz="1800" b="0" i="0" u="none" strike="noStrike">
                <a:solidFill>
                  <a:srgbClr val="000000"/>
                </a:solidFill>
                <a:latin typeface="Aptos Narrow" pitchFamily="34" charset="0"/>
              </a:rPr>
              <a:t>CF:</a:t>
            </a:r>
            <a:r>
              <a:rPr lang="en-US" altLang="zh-CN"/>
              <a:t> </a:t>
            </a:r>
            <a:r>
              <a:rPr lang="en-US" altLang="zh-CN" sz="1800" b="0" i="0" u="none" strike="noStrike">
                <a:solidFill>
                  <a:srgbClr val="000000"/>
                </a:solidFill>
                <a:latin typeface="Aptos Narrow" pitchFamily="34" charset="0"/>
              </a:rPr>
              <a:t>4</a:t>
            </a:r>
            <a:r>
              <a:rPr lang="en-US" altLang="zh-CN"/>
              <a:t> </a:t>
            </a:r>
            <a:r>
              <a:rPr lang="en-US" altLang="zh-CN" sz="1800" b="0" i="0" u="none" strike="noStrike">
                <a:solidFill>
                  <a:srgbClr val="000000"/>
                </a:solidFill>
                <a:latin typeface="Aptos Narrow" pitchFamily="34" charset="0"/>
              </a:rPr>
              <a:t>9</a:t>
            </a:r>
            <a:r>
              <a:rPr lang="en-US" altLang="zh-CN"/>
              <a:t> </a:t>
            </a:r>
            <a:r>
              <a:rPr lang="en-US" altLang="zh-CN" sz="1800" b="0" i="0" u="none" strike="noStrike">
                <a:solidFill>
                  <a:srgbClr val="000000"/>
                </a:solidFill>
                <a:latin typeface="Aptos Narrow" pitchFamily="34" charset="0"/>
              </a:rPr>
              <a:t>13</a:t>
            </a:r>
            <a:r>
              <a:rPr lang="en-US" altLang="zh-CN"/>
              <a:t> </a:t>
            </a:r>
            <a:r>
              <a:rPr lang="en-US" altLang="zh-CN" sz="1800" b="0" i="0" u="none" strike="noStrike">
                <a:solidFill>
                  <a:srgbClr val="000000"/>
                </a:solidFill>
                <a:latin typeface="Aptos Narrow" pitchFamily="34" charset="0"/>
              </a:rPr>
              <a:t>15</a:t>
            </a:r>
            <a:r>
              <a:rPr lang="en-US" altLang="zh-CN"/>
              <a:t> </a:t>
            </a:r>
            <a:r>
              <a:rPr lang="en-US" altLang="zh-CN" sz="1800" b="0" i="0" u="none" strike="noStrike">
                <a:solidFill>
                  <a:srgbClr val="000000"/>
                </a:solidFill>
                <a:latin typeface="Aptos Narrow" pitchFamily="34" charset="0"/>
              </a:rPr>
              <a:t>25</a:t>
            </a:r>
            <a:r>
              <a:rPr lang="en-US" altLang="zh-CN"/>
              <a:t> </a:t>
            </a:r>
            <a:r>
              <a:rPr lang="en-US" altLang="zh-CN" sz="1800" b="0" i="0" u="none" strike="noStrike">
                <a:solidFill>
                  <a:srgbClr val="000000"/>
                </a:solidFill>
                <a:latin typeface="Aptos Narrow" pitchFamily="34" charset="0"/>
              </a:rPr>
              <a:t>30</a:t>
            </a:r>
            <a:r>
              <a:rPr lang="en-US" altLang="zh-CN"/>
              <a:t> </a:t>
            </a:r>
            <a:r>
              <a:rPr lang="en-US" altLang="zh-CN" sz="1800" b="0" i="0" u="none" strike="noStrike">
                <a:solidFill>
                  <a:srgbClr val="000000"/>
                </a:solidFill>
                <a:latin typeface="Aptos Narrow" pitchFamily="34" charset="0"/>
              </a:rPr>
              <a:t>33</a:t>
            </a:r>
            <a:r>
              <a:rPr lang="en-US" altLang="zh-CN"/>
              <a:t> </a:t>
            </a:r>
            <a:r>
              <a:rPr lang="en-US" altLang="zh-CN" sz="1800" b="0" i="0" u="none" strike="noStrike">
                <a:solidFill>
                  <a:srgbClr val="000000"/>
                </a:solidFill>
                <a:latin typeface="Aptos Narrow" pitchFamily="34" charset="0"/>
              </a:rPr>
              <a:t>38</a:t>
            </a:r>
            <a:r>
              <a:rPr lang="en-US" altLang="zh-CN"/>
              <a:t> </a:t>
            </a:r>
            <a:endParaRPr lang="en-US" altLang="zh-CN"/>
          </a:p>
          <a:p>
            <a:r>
              <a:rPr lang="en-US" altLang="zh-CN" sz="1800" b="0" i="0" u="none" strike="noStrike">
                <a:solidFill>
                  <a:srgbClr val="000000"/>
                </a:solidFill>
                <a:latin typeface="Aptos Narrow" pitchFamily="34" charset="0"/>
              </a:rPr>
              <a:t>XF:</a:t>
            </a:r>
            <a:r>
              <a:rPr lang="en-US" altLang="zh-CN"/>
              <a:t> </a:t>
            </a:r>
            <a:r>
              <a:rPr lang="en-US" altLang="zh-CN" sz="1800" b="0" i="0" u="none" strike="noStrike">
                <a:solidFill>
                  <a:srgbClr val="000000"/>
                </a:solidFill>
                <a:latin typeface="Aptos Narrow" pitchFamily="34" charset="0"/>
              </a:rPr>
              <a:t>8004</a:t>
            </a:r>
            <a:r>
              <a:rPr lang="en-US" altLang="zh-CN"/>
              <a:t> </a:t>
            </a:r>
            <a:r>
              <a:rPr lang="en-US" altLang="zh-CN" sz="1800" b="0" i="0" u="none" strike="noStrike">
                <a:solidFill>
                  <a:srgbClr val="000000"/>
                </a:solidFill>
                <a:latin typeface="Aptos Narrow" pitchFamily="34" charset="0"/>
              </a:rPr>
              <a:t>10010</a:t>
            </a:r>
            <a:r>
              <a:rPr lang="en-US" altLang="zh-CN"/>
              <a:t> </a:t>
            </a:r>
            <a:r>
              <a:rPr lang="en-US" altLang="zh-CN" sz="1800" b="0" i="0" u="none" strike="noStrike">
                <a:solidFill>
                  <a:srgbClr val="000000"/>
                </a:solidFill>
                <a:latin typeface="Aptos Narrow" pitchFamily="34" charset="0"/>
              </a:rPr>
              <a:t>8012</a:t>
            </a:r>
            <a:r>
              <a:rPr lang="en-US" altLang="zh-CN"/>
              <a:t> </a:t>
            </a:r>
            <a:r>
              <a:rPr lang="en-US" altLang="zh-CN" sz="1800" b="0" i="0" u="none" strike="noStrike">
                <a:solidFill>
                  <a:srgbClr val="000000"/>
                </a:solidFill>
                <a:latin typeface="Aptos Narrow" pitchFamily="34" charset="0"/>
              </a:rPr>
              <a:t>4008</a:t>
            </a:r>
            <a:r>
              <a:rPr lang="en-US" altLang="zh-CN"/>
              <a:t> </a:t>
            </a:r>
            <a:r>
              <a:rPr lang="en-US" altLang="zh-CN" sz="1800" b="0" i="0" u="none" strike="noStrike">
                <a:solidFill>
                  <a:srgbClr val="000000"/>
                </a:solidFill>
                <a:latin typeface="Aptos Narrow" pitchFamily="34" charset="0"/>
              </a:rPr>
              <a:t>20050</a:t>
            </a:r>
            <a:r>
              <a:rPr lang="en-US" altLang="zh-CN"/>
              <a:t> </a:t>
            </a:r>
            <a:r>
              <a:rPr lang="en-US" altLang="zh-CN" sz="1800" b="0" i="0" u="none" strike="noStrike">
                <a:solidFill>
                  <a:srgbClr val="000000"/>
                </a:solidFill>
                <a:latin typeface="Aptos Narrow" pitchFamily="34" charset="0"/>
              </a:rPr>
              <a:t>10030</a:t>
            </a:r>
            <a:r>
              <a:rPr lang="en-US" altLang="zh-CN"/>
              <a:t> </a:t>
            </a:r>
            <a:r>
              <a:rPr lang="en-US" altLang="zh-CN" sz="1800" b="0" i="0" u="none" strike="noStrike">
                <a:solidFill>
                  <a:srgbClr val="000000"/>
                </a:solidFill>
                <a:latin typeface="Aptos Narrow" pitchFamily="34" charset="0"/>
              </a:rPr>
              <a:t>6021</a:t>
            </a:r>
            <a:r>
              <a:rPr lang="en-US" altLang="zh-CN"/>
              <a:t> </a:t>
            </a:r>
            <a:r>
              <a:rPr lang="en-US" altLang="zh-CN" sz="1800" b="0" i="0" u="none" strike="noStrike">
                <a:solidFill>
                  <a:srgbClr val="000000"/>
                </a:solidFill>
                <a:latin typeface="Aptos Narrow" pitchFamily="34" charset="0"/>
              </a:rPr>
              <a:t>10040</a:t>
            </a:r>
            <a:r>
              <a:rPr lang="en-US" altLang="zh-CN"/>
              <a:t> </a:t>
            </a:r>
            <a:endParaRPr lang="en-US" altLang="zh-CN"/>
          </a:p>
          <a:p>
            <a:r>
              <a:rPr lang="en-US" altLang="zh-CN" sz="1800" b="0" i="0" u="none" strike="noStrike">
                <a:solidFill>
                  <a:srgbClr val="000000"/>
                </a:solidFill>
                <a:latin typeface="Aptos Narrow" pitchFamily="34" charset="0"/>
              </a:rPr>
              <a:t>sum(XF):</a:t>
            </a:r>
            <a:r>
              <a:rPr lang="en-US" altLang="zh-CN"/>
              <a:t> </a:t>
            </a:r>
            <a:r>
              <a:rPr lang="en-US" altLang="zh-CN" sz="1800" b="0" i="0" u="none" strike="noStrike">
                <a:solidFill>
                  <a:srgbClr val="000000"/>
                </a:solidFill>
                <a:latin typeface="Aptos Narrow" pitchFamily="34" charset="0"/>
              </a:rPr>
              <a:t>76175</a:t>
            </a:r>
            <a:r>
              <a:rPr lang="en-US" altLang="zh-CN"/>
              <a:t> </a:t>
            </a:r>
            <a:endParaRPr lang="en-US" altLang="zh-CN"/>
          </a:p>
          <a:p>
            <a:r>
              <a:rPr lang="en-US" altLang="zh-CN" sz="1800" b="0" i="0" u="none" strike="noStrike">
                <a:solidFill>
                  <a:srgbClr val="000000"/>
                </a:solidFill>
                <a:latin typeface="Aptos Narrow" pitchFamily="34" charset="0"/>
              </a:rPr>
              <a:t>mean:</a:t>
            </a:r>
            <a:r>
              <a:rPr lang="en-US" altLang="zh-CN" sz="2800"/>
              <a:t> </a:t>
            </a:r>
            <a:r>
              <a:rPr lang="en-US" altLang="zh-CN" sz="1800" b="0" i="0" u="none" strike="noStrike">
                <a:solidFill>
                  <a:srgbClr val="000000"/>
                </a:solidFill>
                <a:latin typeface="Aptos Narrow" pitchFamily="34" charset="0"/>
              </a:rPr>
              <a:t>2004.6053</a:t>
            </a:r>
            <a:endParaRPr lang="en-US" altLang="zh-CN" sz="2800"/>
          </a:p>
          <a:p>
            <a:r>
              <a:rPr lang="en-US" altLang="zh-CN" sz="1800" b="0" i="0" u="none" strike="noStrike">
                <a:solidFill>
                  <a:srgbClr val="000000"/>
                </a:solidFill>
                <a:latin typeface="Aptos Narrow" pitchFamily="34" charset="0"/>
              </a:rPr>
              <a:t>median:</a:t>
            </a:r>
            <a:r>
              <a:rPr lang="en-US" altLang="zh-CN" sz="2800"/>
              <a:t> </a:t>
            </a:r>
            <a:r>
              <a:rPr lang="en-US" altLang="zh-CN" sz="1800" b="0" i="0" u="none" strike="noStrike">
                <a:solidFill>
                  <a:srgbClr val="000000"/>
                </a:solidFill>
                <a:latin typeface="Aptos Narrow" pitchFamily="34" charset="0"/>
              </a:rPr>
              <a:t>2005.4000</a:t>
            </a:r>
            <a:r>
              <a:rPr lang="en-US" altLang="zh-CN" sz="2800"/>
              <a:t> </a:t>
            </a:r>
            <a:endParaRPr lang="en-US" altLang="zh-CN" sz="4000"/>
          </a:p>
          <a:p>
            <a:r>
              <a:rPr lang="en-US" altLang="zh-CN" sz="2800" b="0" i="0" u="none" strike="noStrike">
                <a:solidFill>
                  <a:srgbClr val="000000"/>
                </a:solidFill>
                <a:latin typeface="Aptos Narrow" pitchFamily="34" charset="0"/>
              </a:rPr>
              <a:t>mode:</a:t>
            </a:r>
            <a:r>
              <a:rPr lang="en-US" altLang="zh-CN" sz="4000"/>
              <a:t> </a:t>
            </a:r>
            <a:r>
              <a:rPr lang="en-US" altLang="zh-CN" sz="2800" b="0" i="0" u="none" strike="noStrike">
                <a:solidFill>
                  <a:srgbClr val="000000"/>
                </a:solidFill>
                <a:latin typeface="Aptos Narrow" pitchFamily="34" charset="0"/>
              </a:rPr>
              <a:t>2005.6154</a:t>
            </a:r>
            <a:r>
              <a:rPr lang="en-US" altLang="zh-CN" sz="4000"/>
              <a:t> </a:t>
            </a:r>
            <a:endParaRPr lang="en-US" altLang="zh-CN" sz="2800"/>
          </a:p>
          <a:p>
            <a:r>
              <a:rPr lang="en-US" altLang="zh-CN" sz="2800"/>
              <a:t>(b) mode and mean</a:t>
            </a:r>
            <a:endParaRPr lang="en-US" altLang="zh-CN" sz="2800"/>
          </a:p>
          <a:p>
            <a:r>
              <a:rPr lang="en-US" altLang="zh-CN" sz="2800"/>
              <a:t>(c) median and mode</a:t>
            </a:r>
            <a:endParaRPr lang="en-US" altLang="zh-CN" sz="2800"/>
          </a:p>
          <a:p>
            <a:endParaRPr lang="en-US" altLang="zh-CN" sz="2800"/>
          </a:p>
          <a:p>
            <a:pPr marL="228600" indent="-228600">
              <a:buAutoNum type="alphaLcParenBoth"/>
            </a:pPr>
            <a:r>
              <a:rPr lang="en-US" altLang="zh-CN"/>
              <a:t>Mean </a:t>
            </a:r>
            <a:r>
              <a:rPr lang="en-US" altLang="zh-CN" b="0" i="0" u="none" strike="noStrike">
                <a:solidFill>
                  <a:srgbClr val="404040"/>
                </a:solidFill>
                <a:latin typeface="KaTeX_Main" pitchFamily="0" charset="0"/>
              </a:rPr>
              <a:t>= (4+5+4+2+10+5+3+5​)/8 = 38/8​ </a:t>
            </a:r>
            <a:r>
              <a:rPr lang="en-US" altLang="zh-CN"/>
              <a:t>= 4.75, </a:t>
            </a:r>
            <a:br>
              <a:rPr lang="zh-CN" altLang="en-US"/>
            </a:br>
            <a:r>
              <a:rPr lang="en-US" altLang="zh-CN" b="0" i="0" u="none" strike="noStrike">
                <a:solidFill>
                  <a:srgbClr val="404040"/>
                </a:solidFill>
                <a:latin typeface="KaTeX_Main" pitchFamily="0" charset="0"/>
              </a:rPr>
              <a:t>2,3,4,4,5,5,5,10</a:t>
            </a:r>
            <a:br>
              <a:rPr lang="zh-CN" altLang="en-US" b="0" i="0" u="none" strike="noStrike">
                <a:solidFill>
                  <a:srgbClr val="404040"/>
                </a:solidFill>
                <a:latin typeface="KaTeX_Main" pitchFamily="0" charset="0"/>
              </a:rPr>
            </a:br>
            <a:r>
              <a:rPr lang="en-US" altLang="zh-CN"/>
              <a:t>Median = (4+5)/2 = 4.5, </a:t>
            </a:r>
            <a:br>
              <a:rPr lang="zh-CN" altLang="en-US"/>
            </a:br>
            <a:r>
              <a:rPr lang="en-US" altLang="zh-CN"/>
              <a:t>Mode = 5</a:t>
            </a:r>
            <a:endParaRPr lang="en-US" altLang="zh-CN"/>
          </a:p>
          <a:p>
            <a:r>
              <a:rPr lang="en-US" altLang="zh-CN"/>
              <a:t>(b) Mean or Maximum (10) to argue for improvements.</a:t>
            </a:r>
            <a:endParaRPr lang="en-US" altLang="zh-CN"/>
          </a:p>
          <a:p>
            <a:r>
              <a:rPr lang="en-US" altLang="zh-CN"/>
              <a:t>(c) Median or Mode to argue against spending.</a:t>
            </a:r>
            <a:endParaRPr lang="zh-CN" altLang="en-US"/>
          </a:p>
        </p:txBody>
      </p:sp>
      <p:sp>
        <p:nvSpPr>
          <p:cNvPr id="24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27</a:t>
            </a:fld>
            <a:endParaRPr lang="zh-CN" altLang="en-US"/>
          </a:p>
        </p:txBody>
      </p:sp>
    </p:spTree>
    <p:extLst>
      <p:ext uri="{BB962C8B-B14F-4D97-AF65-F5344CB8AC3E}">
        <p14:creationId xmlns:p14="http://schemas.microsoft.com/office/powerpoint/2010/main" val="563652170"/>
      </p:ext>
    </p:extLst>
  </p:cSld>
  <p:clrMapOvr>
    <a:masterClrMapping/>
  </p:clrMapOvr>
</p:notes>
</file>

<file path=ppt/notesSlides/notesSlide2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28</a:t>
            </a:fld>
            <a:endParaRPr lang="zh-CN" altLang="en-US" sz="1200">
              <a:latin typeface="Calibri" pitchFamily="0" charset="0"/>
              <a:ea typeface="ＭＳ Ｐゴシック" pitchFamily="0" charset="-128"/>
              <a:cs typeface="Calibri" pitchFamily="0" charset="0"/>
            </a:endParaRPr>
          </a:p>
        </p:txBody>
      </p:sp>
      <p:sp>
        <p:nvSpPr>
          <p:cNvPr id="252" name="Object"/>
          <p:cNvSpPr>
            <a:spLocks noGrp="1" noChangeAspect="1"/>
          </p:cNvSpPr>
          <p:nvPr>
            <p:ph type="sldImg"/>
          </p:nvPr>
        </p:nvSpPr>
        <p:spPr>
          <a:xfrm rot="0">
            <a:off x="2286000" y="514350"/>
            <a:ext cx="4572000" cy="2571750"/>
          </a:xfrm>
          <a:prstGeom prst="rect"/>
          <a:noFill/>
          <a:ln w="12700" cmpd="sng" cap="flat">
            <a:noFill/>
            <a:prstDash val="solid"/>
            <a:miter/>
          </a:ln>
        </p:spPr>
      </p:sp>
      <p:sp>
        <p:nvSpPr>
          <p:cNvPr id="253"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r>
              <a:rPr lang="en-US" altLang="zh-CN" b="1" i="0" u="none" strike="noStrike">
                <a:solidFill>
                  <a:srgbClr val="404040"/>
                </a:solidFill>
                <a:latin typeface="DeepSeek-CJK-patch" pitchFamily="0" charset="0"/>
              </a:rPr>
              <a:t>Total number of carrots (N):</a:t>
            </a:r>
            <a:br>
              <a:rPr lang="zh-CN" altLang="en-US"/>
            </a:br>
            <a:r>
              <a:rPr lang="en-US" altLang="zh-CN" b="0" i="0" u="none" strike="noStrike">
                <a:solidFill>
                  <a:srgbClr val="404040"/>
                </a:solidFill>
                <a:latin typeface="KaTeX_Main" pitchFamily="0" charset="0"/>
              </a:rPr>
              <a:t>5+2+6+8+9+11+6+3=505+2+6+8+9+11+6+3=50</a:t>
            </a:r>
            <a:endParaRPr lang="en-US" altLang="zh-CN" b="0" i="0" u="none" strike="noStrike">
              <a:solidFill>
                <a:srgbClr val="404040"/>
              </a:solidFill>
              <a:latin typeface="KaTeX_Main" pitchFamily="0" charset="0"/>
            </a:endParaRPr>
          </a:p>
          <a:p>
            <a:endParaRPr lang="en-US" altLang="zh-CN"/>
          </a:p>
          <a:p>
            <a:r>
              <a:rPr lang="en-US" altLang="zh-CN" b="0" i="0" u="none" strike="noStrike">
                <a:solidFill>
                  <a:srgbClr val="404040"/>
                </a:solidFill>
                <a:latin typeface="KaTeX_Main" pitchFamily="0" charset="0"/>
              </a:rPr>
              <a:t>Mean=8,530/50​=170.6 mm</a:t>
            </a:r>
            <a:endParaRPr lang="en-US" altLang="zh-CN" b="0" i="0" u="none" strike="noStrike">
              <a:solidFill>
                <a:srgbClr val="404040"/>
              </a:solidFill>
              <a:latin typeface="KaTeX_Main" pitchFamily="0" charset="0"/>
            </a:endParaRPr>
          </a:p>
          <a:p>
            <a:endParaRPr lang="en-US" altLang="zh-CN" b="0" i="0" u="none" strike="noStrike">
              <a:solidFill>
                <a:srgbClr val="404040"/>
              </a:solidFill>
              <a:latin typeface="KaTeX_Main" pitchFamily="0" charset="0"/>
            </a:endParaRPr>
          </a:p>
          <a:p>
            <a:r>
              <a:rPr lang="en-US" altLang="zh-CN" b="0" i="0" u="none" strike="noStrike">
                <a:solidFill>
                  <a:srgbClr val="404040"/>
                </a:solidFill>
                <a:latin typeface="DeepSeek-CJK-patch" pitchFamily="0" charset="0"/>
              </a:rPr>
              <a:t>median class: </a:t>
            </a:r>
            <a:r>
              <a:rPr lang="en-US" altLang="zh-CN" b="1" i="0" u="none" strike="noStrike">
                <a:solidFill>
                  <a:srgbClr val="404040"/>
                </a:solidFill>
                <a:latin typeface="DeepSeek-CJK-patch" pitchFamily="0" charset="0"/>
              </a:rPr>
              <a:t>169.5 – 174.5</a:t>
            </a:r>
            <a:r>
              <a:rPr lang="en-US" altLang="zh-CN" b="0" i="0" u="none" strike="noStrike">
                <a:solidFill>
                  <a:srgbClr val="404040"/>
                </a:solidFill>
                <a:latin typeface="DeepSeek-CJK-patch" pitchFamily="0" charset="0"/>
              </a:rPr>
              <a:t> </a:t>
            </a:r>
            <a:endParaRPr lang="en-US" altLang="zh-CN" b="0" i="0" u="none" strike="noStrike">
              <a:solidFill>
                <a:srgbClr val="404040"/>
              </a:solidFill>
              <a:latin typeface="KaTeX_Main" pitchFamily="0" charset="0"/>
            </a:endParaRPr>
          </a:p>
          <a:p>
            <a:pPr marL="171450" indent="-171450" algn="l">
              <a:spcBef>
                <a:spcPts val="300"/>
              </a:spcBef>
              <a:buFont typeface="Arial" pitchFamily="0" charset="0"/>
              <a:buChar char="•"/>
            </a:pPr>
            <a:r>
              <a:rPr lang="en-US" altLang="zh-CN" b="0" i="1" u="none" strike="noStrike">
                <a:solidFill>
                  <a:srgbClr val="404040"/>
                </a:solidFill>
                <a:latin typeface="KaTeX_Math" pitchFamily="0" charset="0"/>
              </a:rPr>
              <a:t>L</a:t>
            </a:r>
            <a:r>
              <a:rPr lang="en-US" altLang="zh-CN" b="0" i="0" u="none" strike="noStrike">
                <a:solidFill>
                  <a:srgbClr val="404040"/>
                </a:solidFill>
                <a:latin typeface="KaTeX_Main" pitchFamily="0" charset="0"/>
              </a:rPr>
              <a:t>=169.5</a:t>
            </a:r>
            <a:endParaRPr lang="en-US" altLang="zh-CN" b="0" i="0" u="none" strike="noStrike">
              <a:solidFill>
                <a:srgbClr val="404040"/>
              </a:solidFill>
              <a:latin typeface="DeepSeek-CJK-patch" pitchFamily="0" charset="0"/>
            </a:endParaRPr>
          </a:p>
          <a:p>
            <a:pPr marL="171450" indent="-171450" algn="l">
              <a:spcBef>
                <a:spcPts val="300"/>
              </a:spcBef>
              <a:buFont typeface="Arial" pitchFamily="0" charset="0"/>
              <a:buChar char="•"/>
            </a:pPr>
            <a:r>
              <a:rPr lang="en-US" altLang="zh-CN" b="0" i="0" u="none" strike="noStrike">
                <a:solidFill>
                  <a:srgbClr val="404040"/>
                </a:solidFill>
                <a:latin typeface="KaTeX_Main" pitchFamily="0" charset="0"/>
              </a:rPr>
              <a:t>F=5+2+6+8=21</a:t>
            </a:r>
            <a:endParaRPr lang="en-US" altLang="zh-CN" b="0" i="0" u="none" strike="noStrike">
              <a:solidFill>
                <a:srgbClr val="404040"/>
              </a:solidFill>
              <a:latin typeface="DeepSeek-CJK-patch" pitchFamily="0" charset="0"/>
            </a:endParaRPr>
          </a:p>
          <a:p>
            <a:pPr marL="171450" indent="-171450" algn="l">
              <a:spcBef>
                <a:spcPts val="300"/>
              </a:spcBef>
              <a:buFont typeface="Arial" pitchFamily="0" charset="0"/>
              <a:buChar char="•"/>
            </a:pPr>
            <a:r>
              <a:rPr lang="en-US" altLang="zh-CN" b="0" i="0" u="none" strike="noStrike">
                <a:solidFill>
                  <a:srgbClr val="404040"/>
                </a:solidFill>
                <a:latin typeface="KaTeX_Main" pitchFamily="0" charset="0"/>
              </a:rPr>
              <a:t>fmed</a:t>
            </a:r>
            <a:r>
              <a:rPr lang="en-US" altLang="zh-CN" b="0" i="0" u="none" strike="noStrike">
                <a:solidFill>
                  <a:srgbClr val="404040"/>
                </a:solidFill>
                <a:latin typeface="KaTeX_Main" pitchFamily="0" charset="0"/>
              </a:rPr>
              <a:t>=9</a:t>
            </a:r>
            <a:endParaRPr lang="en-US" altLang="zh-CN" b="0" i="0" u="none" strike="noStrike">
              <a:solidFill>
                <a:srgbClr val="404040"/>
              </a:solidFill>
              <a:latin typeface="DeepSeek-CJK-patch" pitchFamily="0" charset="0"/>
            </a:endParaRPr>
          </a:p>
          <a:p>
            <a:pPr marL="171450" indent="-171450" algn="l">
              <a:spcBef>
                <a:spcPts val="300"/>
              </a:spcBef>
              <a:buFont typeface="Arial" pitchFamily="0" charset="0"/>
              <a:buChar char="•"/>
            </a:pPr>
            <a:r>
              <a:rPr lang="en-US" altLang="zh-CN" b="0" i="0" u="none" strike="noStrike">
                <a:solidFill>
                  <a:srgbClr val="404040"/>
                </a:solidFill>
                <a:latin typeface="KaTeX_Main" pitchFamily="0" charset="0"/>
              </a:rPr>
              <a:t>w=5</a:t>
            </a:r>
            <a:endParaRPr lang="en-US" altLang="zh-CN" b="0" i="0" u="none" strike="noStrike">
              <a:solidFill>
                <a:srgbClr val="404040"/>
              </a:solidFill>
              <a:latin typeface="KaTeX_Main" pitchFamily="0" charset="0"/>
            </a:endParaRPr>
          </a:p>
          <a:p>
            <a:pPr algn="l">
              <a:spcBef>
                <a:spcPts val="300"/>
              </a:spcBef>
            </a:pPr>
            <a:r>
              <a:rPr lang="en-US" altLang="zh-CN" b="0" i="0" u="none" strike="noStrike">
                <a:solidFill>
                  <a:srgbClr val="404040"/>
                </a:solidFill>
                <a:latin typeface="KaTeX_Main" pitchFamily="0" charset="0"/>
              </a:rPr>
              <a:t>Median=169.5+</a:t>
            </a:r>
            <a:r>
              <a:rPr lang="en-US" altLang="zh-CN" b="0" i="0" u="none" strike="noStrike">
                <a:solidFill>
                  <a:srgbClr val="404040"/>
                </a:solidFill>
                <a:latin typeface="KaTeX_Size3" pitchFamily="0" charset="0"/>
              </a:rPr>
              <a:t>(</a:t>
            </a:r>
            <a:r>
              <a:rPr lang="en-US" altLang="zh-CN" b="0" i="0" u="none" strike="noStrike">
                <a:solidFill>
                  <a:srgbClr val="404040"/>
                </a:solidFill>
                <a:latin typeface="KaTeX_Main" pitchFamily="0" charset="0"/>
              </a:rPr>
              <a:t>25−21​</a:t>
            </a:r>
            <a:r>
              <a:rPr lang="en-US" altLang="zh-CN" b="0" i="0" u="none" strike="noStrike">
                <a:solidFill>
                  <a:srgbClr val="404040"/>
                </a:solidFill>
                <a:latin typeface="KaTeX_Size3" pitchFamily="0" charset="0"/>
              </a:rPr>
              <a:t>)/9</a:t>
            </a:r>
            <a:r>
              <a:rPr lang="en-US" altLang="zh-CN" b="0" i="0" u="none" strike="noStrike">
                <a:solidFill>
                  <a:srgbClr val="404040"/>
                </a:solidFill>
                <a:latin typeface="KaTeX_Main" pitchFamily="0" charset="0"/>
              </a:rPr>
              <a:t>×5=169.5+2.22=171.72 mm</a:t>
            </a:r>
            <a:endParaRPr lang="en-US" altLang="zh-CN" b="0" i="0" u="none" strike="noStrike">
              <a:solidFill>
                <a:srgbClr val="404040"/>
              </a:solidFill>
              <a:latin typeface="KaTeX_Main" pitchFamily="0" charset="0"/>
            </a:endParaRPr>
          </a:p>
          <a:p>
            <a:pPr algn="l">
              <a:spcBef>
                <a:spcPts val="300"/>
              </a:spcBef>
            </a:pPr>
            <a:endParaRPr lang="en-US" altLang="zh-CN" b="0" i="0" u="none" strike="noStrike">
              <a:solidFill>
                <a:srgbClr val="404040"/>
              </a:solidFill>
              <a:latin typeface="KaTeX_Main" pitchFamily="0" charset="0"/>
            </a:endParaRPr>
          </a:p>
          <a:p>
            <a:pPr algn="l"/>
            <a:r>
              <a:rPr lang="en-US" altLang="zh-CN" b="1" i="0" u="none" strike="noStrike">
                <a:solidFill>
                  <a:srgbClr val="404040"/>
                </a:solidFill>
                <a:latin typeface="DeepSeek-CJK-patch" pitchFamily="0" charset="0"/>
              </a:rPr>
              <a:t>Modal class</a:t>
            </a:r>
            <a:r>
              <a:rPr lang="en-US" altLang="zh-CN" b="0" i="0" u="none" strike="noStrike">
                <a:solidFill>
                  <a:srgbClr val="404040"/>
                </a:solidFill>
                <a:latin typeface="DeepSeek-CJK-patch" pitchFamily="0" charset="0"/>
              </a:rPr>
              <a:t>: Highest frequency = </a:t>
            </a:r>
            <a:r>
              <a:rPr lang="en-US" altLang="zh-CN" b="1" i="0" u="none" strike="noStrike">
                <a:solidFill>
                  <a:srgbClr val="404040"/>
                </a:solidFill>
                <a:latin typeface="DeepSeek-CJK-patch" pitchFamily="0" charset="0"/>
              </a:rPr>
              <a:t>174.5 – 179.5</a:t>
            </a:r>
            <a:r>
              <a:rPr lang="en-US" altLang="zh-CN" b="0" i="0" u="none" strike="noStrike">
                <a:solidFill>
                  <a:srgbClr val="404040"/>
                </a:solidFill>
                <a:latin typeface="DeepSeek-CJK-patch" pitchFamily="0" charset="0"/>
              </a:rPr>
              <a:t>.</a:t>
            </a:r>
            <a:endParaRPr lang="en-US" altLang="zh-CN" b="0" i="0" u="none" strike="noStrike">
              <a:solidFill>
                <a:srgbClr val="404040"/>
              </a:solidFill>
              <a:latin typeface="DeepSeek-CJK-patch" pitchFamily="0" charset="0"/>
            </a:endParaRPr>
          </a:p>
          <a:p>
            <a:pPr marL="285750" indent="-285750" algn="l">
              <a:spcBef>
                <a:spcPts val="300"/>
              </a:spcBef>
              <a:buFont typeface="Arial" pitchFamily="0" charset="0"/>
              <a:buChar char="•"/>
            </a:pPr>
            <a:r>
              <a:rPr lang="en-US" altLang="zh-CN" b="0" i="0" u="none" strike="noStrike">
                <a:solidFill>
                  <a:srgbClr val="404040"/>
                </a:solidFill>
                <a:latin typeface="KaTeX_Main" pitchFamily="0" charset="0"/>
              </a:rPr>
              <a:t>L=174.5</a:t>
            </a:r>
            <a:endParaRPr lang="en-US" altLang="zh-CN" b="0" i="0" u="none" strike="noStrike">
              <a:solidFill>
                <a:srgbClr val="404040"/>
              </a:solidFill>
              <a:latin typeface="DeepSeek-CJK-patch" pitchFamily="0" charset="0"/>
            </a:endParaRPr>
          </a:p>
          <a:p>
            <a:pPr marL="285750" indent="-285750" algn="l">
              <a:spcBef>
                <a:spcPts val="300"/>
              </a:spcBef>
              <a:buFont typeface="Arial" pitchFamily="0" charset="0"/>
              <a:buChar char="•"/>
            </a:pPr>
            <a:r>
              <a:rPr lang="en-US" altLang="zh-CN" b="0" i="1" u="none" strike="noStrike">
                <a:solidFill>
                  <a:srgbClr val="404040"/>
                </a:solidFill>
                <a:latin typeface="KaTeX_Math" pitchFamily="0" charset="0"/>
              </a:rPr>
              <a:t>f</a:t>
            </a:r>
            <a:r>
              <a:rPr lang="en-US" altLang="zh-CN" b="0" i="0" u="none" strike="noStrike">
                <a:solidFill>
                  <a:srgbClr val="404040"/>
                </a:solidFill>
                <a:latin typeface="KaTeX_Main" pitchFamily="0" charset="0"/>
              </a:rPr>
              <a:t>0​=9</a:t>
            </a:r>
            <a:r>
              <a:rPr lang="en-US" altLang="zh-CN" b="0" i="0" u="none" strike="noStrike">
                <a:solidFill>
                  <a:srgbClr val="404040"/>
                </a:solidFill>
                <a:latin typeface="DeepSeek-CJK-patch" pitchFamily="0" charset="0"/>
              </a:rPr>
              <a:t> (169.5 – 174.5)</a:t>
            </a:r>
            <a:endParaRPr lang="en-US" altLang="zh-CN" b="0" i="0" u="none" strike="noStrike">
              <a:solidFill>
                <a:srgbClr val="404040"/>
              </a:solidFill>
              <a:latin typeface="DeepSeek-CJK-patch" pitchFamily="0" charset="0"/>
            </a:endParaRPr>
          </a:p>
          <a:p>
            <a:pPr marL="285750" indent="-285750" algn="l">
              <a:spcBef>
                <a:spcPts val="300"/>
              </a:spcBef>
              <a:buFont typeface="Arial" pitchFamily="0" charset="0"/>
              <a:buChar char="•"/>
            </a:pPr>
            <a:r>
              <a:rPr lang="en-US" altLang="zh-CN" b="0" i="1" u="none" strike="noStrike">
                <a:solidFill>
                  <a:srgbClr val="404040"/>
                </a:solidFill>
                <a:latin typeface="KaTeX_Math" pitchFamily="0" charset="0"/>
              </a:rPr>
              <a:t>f</a:t>
            </a:r>
            <a:r>
              <a:rPr lang="en-US" altLang="zh-CN" b="0" i="0" u="none" strike="noStrike">
                <a:solidFill>
                  <a:srgbClr val="404040"/>
                </a:solidFill>
                <a:latin typeface="KaTeX_Main" pitchFamily="0" charset="0"/>
              </a:rPr>
              <a:t>2​=6</a:t>
            </a:r>
            <a:r>
              <a:rPr lang="en-US" altLang="zh-CN" b="0" i="0" u="none" strike="noStrike">
                <a:solidFill>
                  <a:srgbClr val="404040"/>
                </a:solidFill>
                <a:latin typeface="DeepSeek-CJK-patch" pitchFamily="0" charset="0"/>
              </a:rPr>
              <a:t> (179.5 – 184.5)</a:t>
            </a:r>
            <a:endParaRPr lang="en-US" altLang="zh-CN" b="0" i="0" u="none" strike="noStrike">
              <a:solidFill>
                <a:srgbClr val="404040"/>
              </a:solidFill>
              <a:latin typeface="DeepSeek-CJK-patch" pitchFamily="0" charset="0"/>
            </a:endParaRPr>
          </a:p>
          <a:p>
            <a:pPr marL="285750" indent="-285750" algn="l">
              <a:spcBef>
                <a:spcPts val="300"/>
              </a:spcBef>
              <a:buFont typeface="Arial" pitchFamily="0" charset="0"/>
              <a:buChar char="•"/>
            </a:pPr>
            <a:r>
              <a:rPr lang="en-US" altLang="zh-CN" b="0" i="1" u="none" strike="noStrike">
                <a:solidFill>
                  <a:srgbClr val="404040"/>
                </a:solidFill>
                <a:latin typeface="KaTeX_Math" pitchFamily="0" charset="0"/>
              </a:rPr>
              <a:t>w</a:t>
            </a:r>
            <a:r>
              <a:rPr lang="en-US" altLang="zh-CN" b="0" i="0" u="none" strike="noStrike">
                <a:solidFill>
                  <a:srgbClr val="404040"/>
                </a:solidFill>
                <a:latin typeface="KaTeX_Main" pitchFamily="0" charset="0"/>
              </a:rPr>
              <a:t>=5</a:t>
            </a:r>
            <a:endParaRPr lang="en-US" altLang="zh-CN" b="0" i="0" u="none" strike="noStrike">
              <a:solidFill>
                <a:srgbClr val="404040"/>
              </a:solidFill>
              <a:latin typeface="DeepSeek-CJK-patch" pitchFamily="0" charset="0"/>
            </a:endParaRPr>
          </a:p>
          <a:p>
            <a:r>
              <a:rPr lang="en-US" altLang="zh-CN" b="0" i="0" u="none" strike="noStrike">
                <a:solidFill>
                  <a:srgbClr val="404040"/>
                </a:solidFill>
                <a:latin typeface="KaTeX_Main" pitchFamily="0" charset="0"/>
              </a:rPr>
              <a:t>Mode=174.5+((11−9)/(22−9−6))×5=174.5+((2/7)×5)=174.5+1.43=175.93 mm</a:t>
            </a:r>
            <a:br>
              <a:rPr lang="zh-CN" altLang="en-US"/>
            </a:br>
            <a:endParaRPr lang="en-US" altLang="zh-CN" b="0" i="0" u="none" strike="noStrike">
              <a:solidFill>
                <a:srgbClr val="404040"/>
              </a:solidFill>
              <a:latin typeface="KaTeX_Main" pitchFamily="0" charset="0"/>
            </a:endParaRPr>
          </a:p>
          <a:p>
            <a:pPr algn="l">
              <a:spcBef>
                <a:spcPts val="300"/>
              </a:spcBef>
            </a:pPr>
            <a:endParaRPr lang="zh-CN" altLang="en-US" b="0" i="0" u="none" strike="noStrike">
              <a:solidFill>
                <a:srgbClr val="404040"/>
              </a:solidFill>
              <a:latin typeface="DeepSeek-CJK-patch" pitchFamily="0" charset="0"/>
            </a:endParaRPr>
          </a:p>
        </p:txBody>
      </p:sp>
      <p:sp>
        <p:nvSpPr>
          <p:cNvPr id="254"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28</a:t>
            </a:fld>
            <a:endParaRPr lang="zh-CN" altLang="en-US"/>
          </a:p>
        </p:txBody>
      </p:sp>
    </p:spTree>
    <p:extLst>
      <p:ext uri="{BB962C8B-B14F-4D97-AF65-F5344CB8AC3E}">
        <p14:creationId xmlns:p14="http://schemas.microsoft.com/office/powerpoint/2010/main" val="999673991"/>
      </p:ext>
    </p:extLst>
  </p:cSld>
  <p:clrMapOvr>
    <a:masterClrMapping/>
  </p:clrMapOvr>
</p:notes>
</file>

<file path=ppt/notesSlides/notesSlide2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82881356"/>
      </p:ext>
    </p:extLst>
  </p:cSld>
  <p:clrMapOvr>
    <a:masterClrMapping/>
  </p:clrMapOvr>
</p:notes>
</file>

<file path=ppt/notesSlides/notesSlide3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97739383"/>
      </p:ext>
    </p:extLst>
  </p:cSld>
  <p:clrMapOvr>
    <a:masterClrMapping/>
  </p:clrMapOvr>
</p:notes>
</file>

<file path=ppt/notesSlides/notesSlide3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930000723"/>
      </p:ext>
    </p:extLst>
  </p:cSld>
  <p:clrMapOvr>
    <a:masterClrMapping/>
  </p:clrMapOvr>
</p:notes>
</file>

<file path=ppt/notesSlides/notesSlide3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28028686"/>
      </p:ext>
    </p:extLst>
  </p:cSld>
  <p:clrMapOvr>
    <a:masterClrMapping/>
  </p:clrMapOvr>
</p:notes>
</file>

<file path=ppt/notesSlides/notesSlide3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66150870"/>
      </p:ext>
    </p:extLst>
  </p:cSld>
  <p:clrMapOvr>
    <a:masterClrMapping/>
  </p:clrMapOvr>
</p:notes>
</file>

<file path=ppt/notesSlides/notesSlide3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1288161"/>
      </p:ext>
    </p:extLst>
  </p:cSld>
  <p:clrMapOvr>
    <a:masterClrMapping/>
  </p:clrMapOvr>
</p:notes>
</file>

<file path=ppt/notesSlides/notesSlide3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91756007"/>
      </p:ext>
    </p:extLst>
  </p:cSld>
  <p:clrMapOvr>
    <a:masterClrMapping/>
  </p:clrMapOvr>
</p:notes>
</file>

<file path=ppt/notesSlides/notesSlide3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13901321"/>
      </p:ext>
    </p:extLst>
  </p:cSld>
  <p:clrMapOvr>
    <a:masterClrMapping/>
  </p:clrMapOvr>
</p:notes>
</file>

<file path=ppt/notesSlides/notesSlide3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952644721"/>
      </p:ext>
    </p:extLst>
  </p:cSld>
  <p:clrMapOvr>
    <a:masterClrMapping/>
  </p:clrMapOvr>
</p:notes>
</file>

<file path=ppt/notesSlides/notesSlide3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077582245"/>
      </p:ext>
    </p:extLst>
  </p:cSld>
  <p:clrMapOvr>
    <a:masterClrMapping/>
  </p:clrMapOvr>
</p:notes>
</file>

<file path=ppt/notesSlides/notesSlide3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288975687"/>
      </p:ext>
    </p:extLst>
  </p:cSld>
  <p:clrMapOvr>
    <a:masterClrMapping/>
  </p:clrMapOvr>
</p:notes>
</file>

<file path=ppt/notesSlides/notesSlide4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94000886"/>
      </p:ext>
    </p:extLst>
  </p:cSld>
  <p:clrMapOvr>
    <a:masterClrMapping/>
  </p:clrMapOvr>
</p:notes>
</file>

<file path=ppt/notesSlides/notesSlide4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228733424"/>
      </p:ext>
    </p:extLst>
  </p:cSld>
  <p:clrMapOvr>
    <a:masterClrMapping/>
  </p:clrMapOvr>
</p:notes>
</file>

<file path=ppt/notesSlides/notesSlide4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42</a:t>
            </a:fld>
            <a:endParaRPr lang="zh-CN" altLang="en-US" sz="1200">
              <a:latin typeface="Calibri" pitchFamily="0" charset="0"/>
              <a:ea typeface="ＭＳ Ｐゴシック" pitchFamily="0" charset="-128"/>
              <a:cs typeface="Calibri" pitchFamily="0" charset="0"/>
            </a:endParaRPr>
          </a:p>
        </p:txBody>
      </p:sp>
      <p:sp>
        <p:nvSpPr>
          <p:cNvPr id="320" name="Object"/>
          <p:cNvSpPr>
            <a:spLocks noGrp="1" noChangeAspect="1"/>
          </p:cNvSpPr>
          <p:nvPr>
            <p:ph type="sldImg"/>
          </p:nvPr>
        </p:nvSpPr>
        <p:spPr>
          <a:xfrm rot="0">
            <a:off x="2286000" y="514350"/>
            <a:ext cx="4572000" cy="2571750"/>
          </a:xfrm>
          <a:prstGeom prst="rect"/>
          <a:noFill/>
          <a:ln w="12700" cmpd="sng" cap="flat">
            <a:noFill/>
            <a:prstDash val="solid"/>
            <a:miter/>
          </a:ln>
        </p:spPr>
      </p:sp>
      <p:sp>
        <p:nvSpPr>
          <p:cNvPr id="321"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pPr marL="228600" indent="-228600">
              <a:buAutoNum type="alphaLcParenBoth"/>
            </a:pPr>
            <a:r>
              <a:rPr lang="en-US" altLang="zh-CN"/>
              <a:t>(</a:t>
            </a:r>
            <a:r>
              <a:rPr lang="en-US" altLang="zh-CN"/>
              <a:t>i</a:t>
            </a:r>
            <a:r>
              <a:rPr lang="en-US" altLang="zh-CN"/>
              <a:t>) 44.44 (ii) 11.11</a:t>
            </a:r>
            <a:endParaRPr lang="en-US" altLang="zh-CN"/>
          </a:p>
          <a:p>
            <a:pPr marL="228600" indent="-228600">
              <a:buAutoNum type="alphaLcParenBoth"/>
            </a:pPr>
            <a:r>
              <a:rPr lang="en-US" altLang="zh-CN"/>
              <a:t>(</a:t>
            </a:r>
            <a:r>
              <a:rPr lang="en-US" altLang="zh-CN"/>
              <a:t>i</a:t>
            </a:r>
            <a:r>
              <a:rPr lang="en-US" altLang="zh-CN"/>
              <a:t>) 0.8161 (ii) 0.8161 (iii) 0.8110 (iv) 0.8079</a:t>
            </a:r>
            <a:endParaRPr lang="zh-CN" altLang="en-US"/>
          </a:p>
        </p:txBody>
      </p:sp>
      <p:sp>
        <p:nvSpPr>
          <p:cNvPr id="32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42</a:t>
            </a:fld>
            <a:endParaRPr lang="zh-CN" altLang="en-US"/>
          </a:p>
        </p:txBody>
      </p:sp>
    </p:spTree>
    <p:extLst>
      <p:ext uri="{BB962C8B-B14F-4D97-AF65-F5344CB8AC3E}">
        <p14:creationId xmlns:p14="http://schemas.microsoft.com/office/powerpoint/2010/main" val="907717524"/>
      </p:ext>
    </p:extLst>
  </p:cSld>
  <p:clrMapOvr>
    <a:masterClrMapping/>
  </p:clrMapOvr>
</p:notes>
</file>

<file path=ppt/notesSlides/notesSlide4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86216826"/>
      </p:ext>
    </p:extLst>
  </p:cSld>
  <p:clrMapOvr>
    <a:masterClrMapping/>
  </p:clrMapOvr>
</p:notes>
</file>

<file path=ppt/notesSlides/notesSlide4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19376742"/>
      </p:ext>
    </p:extLst>
  </p:cSld>
  <p:clrMapOvr>
    <a:masterClrMapping/>
  </p:clrMapOvr>
</p:notes>
</file>

<file path=ppt/notesSlides/notesSlide4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45089078"/>
      </p:ext>
    </p:extLst>
  </p:cSld>
  <p:clrMapOvr>
    <a:masterClrMapping/>
  </p:clrMapOvr>
</p:notes>
</file>

<file path=ppt/notesSlides/notesSlide4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97759222"/>
      </p:ext>
    </p:extLst>
  </p:cSld>
  <p:clrMapOvr>
    <a:masterClrMapping/>
  </p:clrMapOvr>
</p:notes>
</file>

<file path=ppt/notesSlides/notesSlide4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73919932"/>
      </p:ext>
    </p:extLst>
  </p:cSld>
  <p:clrMapOvr>
    <a:masterClrMapping/>
  </p:clrMapOvr>
</p:notes>
</file>

<file path=ppt/notesSlides/notesSlide4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69579681"/>
      </p:ext>
    </p:extLst>
  </p:cSld>
  <p:clrMapOvr>
    <a:masterClrMapping/>
  </p:clrMapOvr>
</p:notes>
</file>

<file path=ppt/notesSlides/notesSlide4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206920431"/>
      </p:ext>
    </p:extLst>
  </p:cSld>
  <p:clrMapOvr>
    <a:masterClrMapping/>
  </p:clrMapOvr>
</p:notes>
</file>

<file path=ppt/notesSlides/notesSlide5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50</a:t>
            </a:fld>
            <a:endParaRPr lang="zh-CN" altLang="en-US" sz="1200">
              <a:latin typeface="Calibri" pitchFamily="0" charset="0"/>
              <a:ea typeface="ＭＳ Ｐゴシック" pitchFamily="0" charset="-128"/>
              <a:cs typeface="Calibri" pitchFamily="0" charset="0"/>
            </a:endParaRPr>
          </a:p>
        </p:txBody>
      </p:sp>
      <p:sp>
        <p:nvSpPr>
          <p:cNvPr id="347" name="Object"/>
          <p:cNvSpPr>
            <a:spLocks noGrp="1" noChangeAspect="1"/>
          </p:cNvSpPr>
          <p:nvPr>
            <p:ph type="sldImg"/>
          </p:nvPr>
        </p:nvSpPr>
        <p:spPr>
          <a:xfrm rot="0">
            <a:off x="2286000" y="514350"/>
            <a:ext cx="4572000" cy="2571750"/>
          </a:xfrm>
          <a:prstGeom prst="rect"/>
          <a:noFill/>
          <a:ln w="12700" cmpd="sng" cap="flat">
            <a:noFill/>
            <a:prstDash val="solid"/>
            <a:miter/>
          </a:ln>
        </p:spPr>
      </p:sp>
      <p:sp>
        <p:nvSpPr>
          <p:cNvPr id="348"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pPr algn="l"/>
            <a:r>
              <a:rPr lang="en-US" altLang="zh-CN" b="1" i="0" u="none" strike="noStrike">
                <a:solidFill>
                  <a:srgbClr val="404040"/>
                </a:solidFill>
                <a:latin typeface="DeepSeek-CJK-patch" pitchFamily="0" charset="0"/>
              </a:rPr>
              <a:t>When to Use Them Together</a:t>
            </a:r>
            <a:endParaRPr lang="en-US" altLang="zh-CN" b="1" i="0" u="none" strike="noStrike">
              <a:solidFill>
                <a:srgbClr val="404040"/>
              </a:solidFill>
              <a:latin typeface="DeepSeek-CJK-patch" pitchFamily="0" charset="0"/>
            </a:endParaRPr>
          </a:p>
          <a:p>
            <a:pPr algn="l">
              <a:spcAft>
                <a:spcPts val="300"/>
              </a:spcAft>
              <a:buAutoNum type="arabicPeriod"/>
            </a:pPr>
            <a:r>
              <a:rPr lang="en-US" altLang="zh-CN" b="1" i="0" u="none" strike="noStrike">
                <a:solidFill>
                  <a:srgbClr val="404040"/>
                </a:solidFill>
                <a:latin typeface="DeepSeek-CJK-patch" pitchFamily="0" charset="0"/>
              </a:rPr>
              <a:t>Data Exploration</a:t>
            </a:r>
            <a:r>
              <a:rPr lang="en-US" altLang="zh-CN" b="0" i="0" u="none" strike="noStrike">
                <a:solidFill>
                  <a:srgbClr val="404040"/>
                </a:solidFill>
                <a:latin typeface="DeepSeek-CJK-patch" pitchFamily="0" charset="0"/>
              </a:rPr>
              <a:t>:</a:t>
            </a:r>
            <a:endParaRPr lang="en-US" altLang="zh-CN" b="0" i="0" u="none" strike="noStrike">
              <a:solidFill>
                <a:srgbClr val="404040"/>
              </a:solidFill>
              <a:latin typeface="DeepSeek-CJK-patch" pitchFamily="0" charset="0"/>
            </a:endParaRPr>
          </a:p>
          <a:p>
            <a:pPr lvl="1" marL="742950" indent="-285750" algn="l">
              <a:spcBef>
                <a:spcPts val="300"/>
              </a:spcBef>
              <a:buAutoNum type="arabicPeriod"/>
            </a:pPr>
            <a:r>
              <a:rPr lang="en-US" altLang="zh-CN" b="0" i="0" u="none" strike="noStrike">
                <a:solidFill>
                  <a:srgbClr val="404040"/>
                </a:solidFill>
                <a:latin typeface="DeepSeek-CJK-patch" pitchFamily="0" charset="0"/>
              </a:rPr>
              <a:t>Skewness + kurtosis reveal if data is normal (bell-curved).</a:t>
            </a:r>
            <a:endParaRPr lang="en-US" altLang="zh-CN" b="0" i="0" u="none" strike="noStrike">
              <a:solidFill>
                <a:srgbClr val="404040"/>
              </a:solidFill>
              <a:latin typeface="DeepSeek-CJK-patch" pitchFamily="0" charset="0"/>
            </a:endParaRPr>
          </a:p>
          <a:p>
            <a:pPr lvl="1" marL="742950" indent="-285750" algn="l">
              <a:spcBef>
                <a:spcPts val="300"/>
              </a:spcBef>
              <a:buAutoNum type="arabicPeriod"/>
            </a:pPr>
            <a:r>
              <a:rPr lang="en-US" altLang="zh-CN" b="0" i="0" u="none" strike="noStrike">
                <a:solidFill>
                  <a:srgbClr val="404040"/>
                </a:solidFill>
                <a:latin typeface="DeepSeek-CJK-patch" pitchFamily="0" charset="0"/>
              </a:rPr>
              <a:t>Example: If skewness ≈ 0 and kurtosis ≈ 3, data is likely normal.</a:t>
            </a:r>
            <a:endParaRPr lang="en-US" altLang="zh-CN" b="0" i="0" u="none" strike="noStrike">
              <a:solidFill>
                <a:srgbClr val="404040"/>
              </a:solidFill>
              <a:latin typeface="DeepSeek-CJK-patch" pitchFamily="0" charset="0"/>
            </a:endParaRPr>
          </a:p>
          <a:p>
            <a:pPr algn="l">
              <a:spcBef>
                <a:spcPts val="300"/>
              </a:spcBef>
              <a:spcAft>
                <a:spcPts val="300"/>
              </a:spcAft>
              <a:buAutoNum type="arabicPeriod"/>
            </a:pPr>
            <a:r>
              <a:rPr lang="en-US" altLang="zh-CN" b="1" i="0" u="none" strike="noStrike">
                <a:solidFill>
                  <a:srgbClr val="404040"/>
                </a:solidFill>
                <a:latin typeface="DeepSeek-CJK-patch" pitchFamily="0" charset="0"/>
              </a:rPr>
              <a:t>Statistical Testing</a:t>
            </a:r>
            <a:r>
              <a:rPr lang="en-US" altLang="zh-CN" b="0" i="0" u="none" strike="noStrike">
                <a:solidFill>
                  <a:srgbClr val="404040"/>
                </a:solidFill>
                <a:latin typeface="DeepSeek-CJK-patch" pitchFamily="0" charset="0"/>
              </a:rPr>
              <a:t>: Many tests (e.g., ANOVA) assume normality. Skewness/kurtosis help validate this.</a:t>
            </a:r>
            <a:endParaRPr lang="en-US" altLang="zh-CN" b="0" i="0" u="none" strike="noStrike">
              <a:solidFill>
                <a:srgbClr val="404040"/>
              </a:solidFill>
              <a:latin typeface="DeepSeek-CJK-patch" pitchFamily="0" charset="0"/>
            </a:endParaRPr>
          </a:p>
          <a:p>
            <a:pPr algn="l">
              <a:spcBef>
                <a:spcPts val="300"/>
              </a:spcBef>
              <a:spcAft>
                <a:spcPts val="300"/>
              </a:spcAft>
              <a:buAutoNum type="arabicPeriod"/>
            </a:pPr>
            <a:r>
              <a:rPr lang="en-US" altLang="zh-CN" b="1" i="0" u="none" strike="noStrike">
                <a:solidFill>
                  <a:srgbClr val="404040"/>
                </a:solidFill>
                <a:latin typeface="DeepSeek-CJK-patch" pitchFamily="0" charset="0"/>
              </a:rPr>
              <a:t>Algorithm Selection</a:t>
            </a:r>
            <a:r>
              <a:rPr lang="en-US" altLang="zh-CN" b="0" i="0" u="none" strike="noStrike">
                <a:solidFill>
                  <a:srgbClr val="404040"/>
                </a:solidFill>
                <a:latin typeface="DeepSeek-CJK-patch" pitchFamily="0" charset="0"/>
              </a:rPr>
              <a:t>: Decision trees handle skewed data well; neural networks may need normalized data.</a:t>
            </a:r>
            <a:endParaRPr lang="en-US" altLang="zh-CN" b="0" i="0" u="none" strike="noStrike">
              <a:solidFill>
                <a:srgbClr val="404040"/>
              </a:solidFill>
              <a:latin typeface="DeepSeek-CJK-patch" pitchFamily="0" charset="0"/>
            </a:endParaRPr>
          </a:p>
          <a:p>
            <a:endParaRPr lang="en-US" altLang="zh-CN"/>
          </a:p>
          <a:p>
            <a:endParaRPr lang="zh-CN" altLang="en-US"/>
          </a:p>
        </p:txBody>
      </p:sp>
      <p:sp>
        <p:nvSpPr>
          <p:cNvPr id="349"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50</a:t>
            </a:fld>
            <a:endParaRPr lang="zh-CN" altLang="en-US"/>
          </a:p>
        </p:txBody>
      </p:sp>
    </p:spTree>
    <p:extLst>
      <p:ext uri="{BB962C8B-B14F-4D97-AF65-F5344CB8AC3E}">
        <p14:creationId xmlns:p14="http://schemas.microsoft.com/office/powerpoint/2010/main" val="1019567968"/>
      </p:ext>
    </p:extLst>
  </p:cSld>
  <p:clrMapOvr>
    <a:masterClrMapping/>
  </p:clrMapOvr>
</p:notes>
</file>

<file path=ppt/notesSlides/notesSlide5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51</a:t>
            </a:fld>
            <a:endParaRPr lang="zh-CN" altLang="en-US" sz="1200">
              <a:latin typeface="Calibri" pitchFamily="0" charset="0"/>
              <a:ea typeface="ＭＳ Ｐゴシック" pitchFamily="0" charset="-128"/>
              <a:cs typeface="Calibri" pitchFamily="0" charset="0"/>
            </a:endParaRPr>
          </a:p>
        </p:txBody>
      </p:sp>
      <p:sp>
        <p:nvSpPr>
          <p:cNvPr id="353" name="Object"/>
          <p:cNvSpPr>
            <a:spLocks noGrp="1" noChangeAspect="1"/>
          </p:cNvSpPr>
          <p:nvPr>
            <p:ph type="sldImg"/>
          </p:nvPr>
        </p:nvSpPr>
        <p:spPr>
          <a:xfrm rot="0">
            <a:off x="2286000" y="514350"/>
            <a:ext cx="4572000" cy="2571750"/>
          </a:xfrm>
          <a:prstGeom prst="rect"/>
          <a:noFill/>
          <a:ln w="12700" cmpd="sng" cap="flat">
            <a:noFill/>
            <a:prstDash val="solid"/>
            <a:miter/>
          </a:ln>
        </p:spPr>
      </p:sp>
      <p:sp>
        <p:nvSpPr>
          <p:cNvPr id="354"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55"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51</a:t>
            </a:fld>
            <a:endParaRPr lang="zh-CN" altLang="en-US"/>
          </a:p>
        </p:txBody>
      </p:sp>
    </p:spTree>
    <p:extLst>
      <p:ext uri="{BB962C8B-B14F-4D97-AF65-F5344CB8AC3E}">
        <p14:creationId xmlns:p14="http://schemas.microsoft.com/office/powerpoint/2010/main" val="2103798731"/>
      </p:ext>
    </p:extLst>
  </p:cSld>
  <p:clrMapOvr>
    <a:masterClrMapping/>
  </p:clrMapOvr>
</p:notes>
</file>

<file path=ppt/notesSlides/notesSlide5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52</a:t>
            </a:fld>
            <a:endParaRPr lang="zh-CN" altLang="en-US" sz="1200">
              <a:latin typeface="Calibri" pitchFamily="0" charset="0"/>
              <a:ea typeface="ＭＳ Ｐゴシック" pitchFamily="0" charset="-128"/>
              <a:cs typeface="Calibri" pitchFamily="0" charset="0"/>
            </a:endParaRPr>
          </a:p>
        </p:txBody>
      </p:sp>
      <p:sp>
        <p:nvSpPr>
          <p:cNvPr id="359" name="Object"/>
          <p:cNvSpPr>
            <a:spLocks noGrp="1" noChangeAspect="1"/>
          </p:cNvSpPr>
          <p:nvPr>
            <p:ph type="sldImg"/>
          </p:nvPr>
        </p:nvSpPr>
        <p:spPr>
          <a:xfrm rot="0">
            <a:off x="2286000" y="514350"/>
            <a:ext cx="4572000" cy="2571750"/>
          </a:xfrm>
          <a:prstGeom prst="rect"/>
          <a:noFill/>
          <a:ln w="12700" cmpd="sng" cap="flat">
            <a:noFill/>
            <a:prstDash val="solid"/>
            <a:miter/>
          </a:ln>
        </p:spPr>
      </p:sp>
      <p:sp>
        <p:nvSpPr>
          <p:cNvPr id="36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61"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52</a:t>
            </a:fld>
            <a:endParaRPr lang="zh-CN" altLang="en-US"/>
          </a:p>
        </p:txBody>
      </p:sp>
    </p:spTree>
    <p:extLst>
      <p:ext uri="{BB962C8B-B14F-4D97-AF65-F5344CB8AC3E}">
        <p14:creationId xmlns:p14="http://schemas.microsoft.com/office/powerpoint/2010/main" val="128616135"/>
      </p:ext>
    </p:extLst>
  </p:cSld>
  <p:clrMapOvr>
    <a:masterClrMapping/>
  </p:clrMapOvr>
</p:notes>
</file>

<file path=ppt/notesSlides/notesSlide5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08220539"/>
      </p:ext>
    </p:extLst>
  </p:cSld>
  <p:clrMapOvr>
    <a:masterClrMapping/>
  </p:clrMapOvr>
</p:notes>
</file>

<file path=ppt/notesSlides/notesSlide5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52435977"/>
      </p:ext>
    </p:extLst>
  </p:cSld>
  <p:clrMapOvr>
    <a:masterClrMapping/>
  </p:clrMapOvr>
</p:notes>
</file>

<file path=ppt/notesSlides/notesSlide5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29624384"/>
      </p:ext>
    </p:extLst>
  </p:cSld>
  <p:clrMapOvr>
    <a:masterClrMapping/>
  </p:clrMapOvr>
</p:notes>
</file>

<file path=ppt/notesSlides/notesSlide5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92162309"/>
      </p:ext>
    </p:extLst>
  </p:cSld>
  <p:clrMapOvr>
    <a:masterClrMapping/>
  </p:clrMapOvr>
</p:notes>
</file>

<file path=ppt/notesSlides/notesSlide5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55409883"/>
      </p:ext>
    </p:extLst>
  </p:cSld>
  <p:clrMapOvr>
    <a:masterClrMapping/>
  </p:clrMapOvr>
</p:notes>
</file>

<file path=ppt/notesSlides/notesSlide5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70536864"/>
      </p:ext>
    </p:extLst>
  </p:cSld>
  <p:clrMapOvr>
    <a:masterClrMapping/>
  </p:clrMapOvr>
</p:notes>
</file>

<file path=ppt/notesSlides/notesSlide5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54059229"/>
      </p:ext>
    </p:extLst>
  </p:cSld>
  <p:clrMapOvr>
    <a:masterClrMapping/>
  </p:clrMapOvr>
</p:notes>
</file>

<file path=ppt/notesSlides/notesSlide6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97936768"/>
      </p:ext>
    </p:extLst>
  </p:cSld>
  <p:clrMapOvr>
    <a:masterClrMapping/>
  </p:clrMapOvr>
</p:notes>
</file>

<file path=ppt/notesSlides/notesSlide6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78550083"/>
      </p:ext>
    </p:extLst>
  </p:cSld>
  <p:clrMapOvr>
    <a:masterClrMapping/>
  </p:clrMapOvr>
</p:notes>
</file>

<file path=ppt/notesSlides/notesSlide6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44384326"/>
      </p:ext>
    </p:extLst>
  </p:cSld>
  <p:clrMapOvr>
    <a:masterClrMapping/>
  </p:clrMapOvr>
</p:notes>
</file>

<file path=ppt/notesSlides/notesSlide6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18987761"/>
      </p:ext>
    </p:extLst>
  </p:cSld>
  <p:clrMapOvr>
    <a:masterClrMapping/>
  </p:clrMapOvr>
</p:notes>
</file>

<file path=ppt/notesSlides/notesSlide6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928269342"/>
      </p:ext>
    </p:extLst>
  </p:cSld>
  <p:clrMapOvr>
    <a:masterClrMapping/>
  </p:clrMapOvr>
</p:notes>
</file>

<file path=ppt/notesSlides/notesSlide6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93856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 Id="rId3" Type="http://schemas.openxmlformats.org/officeDocument/2006/relationships/image" Target="../media/pimg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237471"/>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51961706"/>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24735542"/>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78556011"/>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29455829"/>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10058064"/>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72088605"/>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537278090"/>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61768579"/>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29193387"/>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22379946"/>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36" name="Combination"/>
          <p:cNvGrpSpPr>
            <a:grpSpLocks/>
          </p:cNvGrpSpPr>
          <p:nvPr/>
        </p:nvGrpSpPr>
        <p:grpSpPr>
          <a:xfrm>
            <a:off x="11728422" y="0"/>
            <a:ext cx="158778" cy="6858000"/>
            <a:chOff x="11728422" y="0"/>
            <a:chExt cx="158778" cy="6858000"/>
          </a:xfrm>
        </p:grpSpPr>
        <p:sp>
          <p:nvSpPr>
            <p:cNvPr id="34"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35" name="Rectangles"/>
            <p:cNvSpPr>
              <a:spLocks/>
            </p:cNvSpPr>
            <p:nvPr/>
          </p:nvSpPr>
          <p:spPr>
            <a:xfrm rot="0">
              <a:off x="11728422" y="0"/>
              <a:ext cx="158778" cy="6858000"/>
            </a:xfrm>
            <a:prstGeom prst="rect"/>
            <a:noFill/>
            <a:ln w="12700" cmpd="sng" cap="flat">
              <a:noFill/>
              <a:prstDash val="solid"/>
              <a:round/>
            </a:ln>
          </p:spPr>
        </p:sp>
      </p:grpSp>
      <p:sp>
        <p:nvSpPr>
          <p:cNvPr id="33"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32"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2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2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4"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4/7/2026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25" name="Text box"/>
          <p:cNvSpPr>
            <a:spLocks noGrp="1"/>
          </p:cNvSpPr>
          <p:nvPr>
            <p:ph type="ftr" idx="11"/>
          </p:nvPr>
        </p:nvSpPr>
        <p:spPr>
          <a:xfrm rot="0">
            <a:off x="4165600" y="6356351"/>
            <a:ext cx="3860799" cy="365125"/>
          </a:xfrm>
          <a:prstGeom prst="rect"/>
          <a:noFill/>
          <a:ln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26" name="Text box"/>
          <p:cNvSpPr>
            <a:spLocks noGrp="1"/>
          </p:cNvSpPr>
          <p:nvPr>
            <p:ph type="sldNum" idx="12"/>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grpSp>
        <p:nvGrpSpPr>
          <p:cNvPr id="29" name="Combination"/>
          <p:cNvGrpSpPr>
            <a:grpSpLocks/>
          </p:cNvGrpSpPr>
          <p:nvPr/>
        </p:nvGrpSpPr>
        <p:grpSpPr>
          <a:xfrm>
            <a:off x="11728422" y="0"/>
            <a:ext cx="158778" cy="6858000"/>
            <a:chOff x="11728422" y="0"/>
            <a:chExt cx="158778" cy="6858000"/>
          </a:xfrm>
        </p:grpSpPr>
        <p:sp>
          <p:nvSpPr>
            <p:cNvPr id="27"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28" name="Rectangles"/>
            <p:cNvSpPr>
              <a:spLocks/>
            </p:cNvSpPr>
            <p:nvPr/>
          </p:nvSpPr>
          <p:spPr>
            <a:xfrm rot="0">
              <a:off x="11728422" y="0"/>
              <a:ext cx="158778" cy="6858000"/>
            </a:xfrm>
            <a:prstGeom prst="rect"/>
            <a:noFill/>
            <a:ln w="12700" cmpd="sng" cap="flat">
              <a:noFill/>
              <a:prstDash val="solid"/>
              <a:round/>
            </a:ln>
          </p:spPr>
        </p:sp>
      </p:grpSp>
      <p:sp>
        <p:nvSpPr>
          <p:cNvPr id="30"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3">
              <a:alphaModFix amt="0"/>
            </a:blip>
            <a:stretch/>
          </a:blipFill>
          <a:ln cmpd="sng" cap="flat">
            <a:noFill/>
            <a:prstDash val="solid"/>
            <a:round/>
          </a:ln>
        </p:spPr>
      </p:sp>
      <p:sp>
        <p:nvSpPr>
          <p:cNvPr id="31" name="Rectangles"/>
          <p:cNvSpPr>
            <a:spLocks/>
          </p:cNvSpPr>
          <p:nvPr/>
        </p:nvSpPr>
        <p:spPr>
          <a:xfrm rot="0">
            <a:off x="609476" y="6356352"/>
            <a:ext cx="3860799" cy="39814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04937972"/>
      </p:ext>
    </p:extLst>
  </p:cSld>
  <p:clrMapOvr>
    <a:masterClrMapping/>
  </p:clrMapOvr>
  <p:hf sldNum="0"/>
</p:sldLayout>
</file>

<file path=ppt/slideLayouts/slideLayout13.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68" name="Combination"/>
          <p:cNvGrpSpPr>
            <a:grpSpLocks/>
          </p:cNvGrpSpPr>
          <p:nvPr/>
        </p:nvGrpSpPr>
        <p:grpSpPr>
          <a:xfrm>
            <a:off x="11728422" y="0"/>
            <a:ext cx="158778" cy="6858000"/>
            <a:chOff x="11728422" y="0"/>
            <a:chExt cx="158778" cy="6858000"/>
          </a:xfrm>
        </p:grpSpPr>
        <p:sp>
          <p:nvSpPr>
            <p:cNvPr id="66"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67" name="Rectangles"/>
            <p:cNvSpPr>
              <a:spLocks/>
            </p:cNvSpPr>
            <p:nvPr/>
          </p:nvSpPr>
          <p:spPr>
            <a:xfrm rot="0">
              <a:off x="11728422" y="0"/>
              <a:ext cx="158778" cy="6858000"/>
            </a:xfrm>
            <a:prstGeom prst="rect"/>
            <a:noFill/>
            <a:ln w="12700" cmpd="sng" cap="flat">
              <a:noFill/>
              <a:prstDash val="solid"/>
              <a:round/>
            </a:ln>
          </p:spPr>
        </p:sp>
      </p:grpSp>
      <p:sp>
        <p:nvSpPr>
          <p:cNvPr id="65"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64"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58" name="Text box"/>
          <p:cNvSpPr>
            <a:spLocks noGrp="1"/>
          </p:cNvSpPr>
          <p:nvPr>
            <p:ph type="title"/>
          </p:nvPr>
        </p:nvSpPr>
        <p:spPr>
          <a:xfrm rot="0">
            <a:off x="4673600" y="533400"/>
            <a:ext cx="6908800" cy="6858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59" name="Text box"/>
          <p:cNvSpPr>
            <a:spLocks noGrp="1"/>
          </p:cNvSpPr>
          <p:nvPr>
            <p:ph type="body" idx="1"/>
          </p:nvPr>
        </p:nvSpPr>
        <p:spPr>
          <a:xfrm rot="0">
            <a:off x="609600" y="1828800"/>
            <a:ext cx="5384800" cy="41910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0" name="Text box"/>
          <p:cNvSpPr>
            <a:spLocks noGrp="1"/>
          </p:cNvSpPr>
          <p:nvPr>
            <p:ph type="body" idx="2"/>
          </p:nvPr>
        </p:nvSpPr>
        <p:spPr>
          <a:xfrm rot="0">
            <a:off x="6197600" y="1828800"/>
            <a:ext cx="5384800" cy="20193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1" name="Text box"/>
          <p:cNvSpPr>
            <a:spLocks noGrp="1"/>
          </p:cNvSpPr>
          <p:nvPr>
            <p:ph type="body" idx="3"/>
          </p:nvPr>
        </p:nvSpPr>
        <p:spPr>
          <a:xfrm rot="0">
            <a:off x="6197600" y="4000499"/>
            <a:ext cx="5384800" cy="20193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2"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MS PGothic" pitchFamily="34" charset="-128"/>
                <a:cs typeface="Calibri" pitchFamily="0" charset="0"/>
              </a:rPr>
              <a:t>4/7/2026</a:t>
            </a:fld>
            <a:endParaRPr lang="zh-CN" altLang="en-US" sz="1200">
              <a:solidFill>
                <a:srgbClr val="898989"/>
              </a:solidFill>
              <a:latin typeface="Calibri" pitchFamily="0" charset="0"/>
              <a:ea typeface="MS PGothic" pitchFamily="34" charset="-128"/>
              <a:cs typeface="Calibri" pitchFamily="0" charset="0"/>
            </a:endParaRPr>
          </a:p>
        </p:txBody>
      </p:sp>
      <p:sp>
        <p:nvSpPr>
          <p:cNvPr id="63" name="Text box"/>
          <p:cNvSpPr>
            <a:spLocks noGrp="1"/>
          </p:cNvSpPr>
          <p:nvPr>
            <p:ph type="sldNum" idx="11"/>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MS PGothic" pitchFamily="34" charset="-128"/>
                <a:cs typeface="Calibri" pitchFamily="0" charset="0"/>
              </a:rPr>
              <a:t>&lt;#&gt;</a:t>
            </a:fld>
            <a:endParaRPr lang="zh-CN" altLang="en-US" sz="1200">
              <a:solidFill>
                <a:srgbClr val="898989"/>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513684972"/>
      </p:ext>
    </p:extLst>
  </p:cSld>
  <p:clrMapOvr>
    <a:masterClrMapping/>
  </p:clrMapOvr>
  <p:hf sldNum="0"/>
</p:sldLayout>
</file>

<file path=ppt/slideLayouts/slideLayout14.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92" name="Combination"/>
          <p:cNvGrpSpPr>
            <a:grpSpLocks/>
          </p:cNvGrpSpPr>
          <p:nvPr/>
        </p:nvGrpSpPr>
        <p:grpSpPr>
          <a:xfrm>
            <a:off x="11728422" y="0"/>
            <a:ext cx="158778" cy="6858000"/>
            <a:chOff x="11728422" y="0"/>
            <a:chExt cx="158778" cy="6858000"/>
          </a:xfrm>
        </p:grpSpPr>
        <p:sp>
          <p:nvSpPr>
            <p:cNvPr id="90"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91" name="Rectangles"/>
            <p:cNvSpPr>
              <a:spLocks/>
            </p:cNvSpPr>
            <p:nvPr/>
          </p:nvSpPr>
          <p:spPr>
            <a:xfrm rot="0">
              <a:off x="11728422" y="0"/>
              <a:ext cx="158778" cy="6858000"/>
            </a:xfrm>
            <a:prstGeom prst="rect"/>
            <a:noFill/>
            <a:ln w="12700" cmpd="sng" cap="flat">
              <a:noFill/>
              <a:prstDash val="solid"/>
              <a:round/>
            </a:ln>
          </p:spPr>
        </p:sp>
      </p:grpSp>
      <p:sp>
        <p:nvSpPr>
          <p:cNvPr id="89"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88"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82" name="Text box"/>
          <p:cNvSpPr>
            <a:spLocks noGrp="1"/>
          </p:cNvSpPr>
          <p:nvPr>
            <p:ph type="title"/>
          </p:nvPr>
        </p:nvSpPr>
        <p:spPr>
          <a:xfrm rot="0">
            <a:off x="4673600" y="533400"/>
            <a:ext cx="6908800" cy="6858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83" name="Text box"/>
          <p:cNvSpPr>
            <a:spLocks noGrp="1"/>
          </p:cNvSpPr>
          <p:nvPr>
            <p:ph type="body" idx="1"/>
          </p:nvPr>
        </p:nvSpPr>
        <p:spPr>
          <a:xfrm rot="0">
            <a:off x="609600" y="1828800"/>
            <a:ext cx="5384800" cy="41910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84" name="Text box"/>
          <p:cNvSpPr>
            <a:spLocks noGrp="1"/>
          </p:cNvSpPr>
          <p:nvPr>
            <p:ph type="body" idx="2"/>
          </p:nvPr>
        </p:nvSpPr>
        <p:spPr>
          <a:xfrm rot="0">
            <a:off x="6197600" y="1828800"/>
            <a:ext cx="5384800" cy="41910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85"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4/7/2026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86" name="Text box"/>
          <p:cNvSpPr>
            <a:spLocks noGrp="1"/>
          </p:cNvSpPr>
          <p:nvPr>
            <p:ph type="ftr" idx="11"/>
          </p:nvPr>
        </p:nvSpPr>
        <p:spPr>
          <a:xfrm rot="0">
            <a:off x="4165600" y="6356351"/>
            <a:ext cx="3860799" cy="365125"/>
          </a:xfrm>
          <a:prstGeom prst="rect"/>
          <a:noFill/>
          <a:ln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87" name="Text box"/>
          <p:cNvSpPr>
            <a:spLocks noGrp="1"/>
          </p:cNvSpPr>
          <p:nvPr>
            <p:ph type="sldNum" idx="12"/>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93453675"/>
      </p:ext>
    </p:extLst>
  </p:cSld>
  <p:clrMapOvr>
    <a:masterClrMapping/>
  </p:clrMapOvr>
  <p:hf sldNum="0"/>
</p:sldLayout>
</file>

<file path=ppt/slideLayouts/slideLayout15.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107" name="Combination"/>
          <p:cNvGrpSpPr>
            <a:grpSpLocks/>
          </p:cNvGrpSpPr>
          <p:nvPr/>
        </p:nvGrpSpPr>
        <p:grpSpPr>
          <a:xfrm>
            <a:off x="11728422" y="0"/>
            <a:ext cx="158778" cy="6858000"/>
            <a:chOff x="11728422" y="0"/>
            <a:chExt cx="158778" cy="6858000"/>
          </a:xfrm>
        </p:grpSpPr>
        <p:sp>
          <p:nvSpPr>
            <p:cNvPr id="105"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106" name="Rectangles"/>
            <p:cNvSpPr>
              <a:spLocks/>
            </p:cNvSpPr>
            <p:nvPr/>
          </p:nvSpPr>
          <p:spPr>
            <a:xfrm rot="0">
              <a:off x="11728422" y="0"/>
              <a:ext cx="158778" cy="6858000"/>
            </a:xfrm>
            <a:prstGeom prst="rect"/>
            <a:noFill/>
            <a:ln w="12700" cmpd="sng" cap="flat">
              <a:noFill/>
              <a:prstDash val="solid"/>
              <a:round/>
            </a:ln>
          </p:spPr>
        </p:sp>
      </p:grpSp>
      <p:sp>
        <p:nvSpPr>
          <p:cNvPr id="104"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103"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9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98" name="Text box"/>
          <p:cNvSpPr>
            <a:spLocks noGrp="1"/>
          </p:cNvSpPr>
          <p:nvPr>
            <p:ph type="body" idx="1"/>
          </p:nvPr>
        </p:nvSpPr>
        <p:spPr>
          <a:xfrm rot="0">
            <a:off x="609600" y="1600201"/>
            <a:ext cx="5384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sz="2800"/>
              <a:t>Click to edit Master text styles</a:t>
            </a:r>
            <a:endParaRPr lang="en-US" altLang="zh-CN" sz="2800"/>
          </a:p>
          <a:p>
            <a:pPr lvl="1"/>
            <a:r>
              <a:rPr lang="en-US" altLang="zh-CN" sz="2400"/>
              <a:t>Second level</a:t>
            </a:r>
            <a:endParaRPr lang="en-US" altLang="zh-CN" sz="2400"/>
          </a:p>
          <a:p>
            <a:pPr lvl="2"/>
            <a:r>
              <a:rPr lang="en-US" altLang="zh-CN" sz="2000"/>
              <a:t>Third level</a:t>
            </a:r>
            <a:endParaRPr lang="en-US" altLang="zh-CN" sz="2000"/>
          </a:p>
          <a:p>
            <a:pPr lvl="3"/>
            <a:r>
              <a:rPr lang="en-US" altLang="zh-CN" sz="1800"/>
              <a:t>Fourth level</a:t>
            </a:r>
            <a:endParaRPr lang="en-US" altLang="zh-CN" sz="1800"/>
          </a:p>
          <a:p>
            <a:pPr lvl="4"/>
            <a:r>
              <a:rPr lang="en-US" altLang="zh-CN" sz="1800"/>
              <a:t>Fifth level</a:t>
            </a:r>
            <a:endParaRPr lang="zh-CN" altLang="en-US" sz="1800"/>
          </a:p>
        </p:txBody>
      </p:sp>
      <p:sp>
        <p:nvSpPr>
          <p:cNvPr id="99" name="Text box"/>
          <p:cNvSpPr>
            <a:spLocks noGrp="1"/>
          </p:cNvSpPr>
          <p:nvPr>
            <p:ph type="body" idx="2"/>
          </p:nvPr>
        </p:nvSpPr>
        <p:spPr>
          <a:xfrm rot="0">
            <a:off x="6197600" y="1600201"/>
            <a:ext cx="5384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sz="2800"/>
              <a:t>Click to edit Master text styles</a:t>
            </a:r>
            <a:endParaRPr lang="en-US" altLang="zh-CN" sz="2800"/>
          </a:p>
          <a:p>
            <a:pPr lvl="1"/>
            <a:r>
              <a:rPr lang="en-US" altLang="zh-CN" sz="2400"/>
              <a:t>Second level</a:t>
            </a:r>
            <a:endParaRPr lang="en-US" altLang="zh-CN" sz="2400"/>
          </a:p>
          <a:p>
            <a:pPr lvl="2"/>
            <a:r>
              <a:rPr lang="en-US" altLang="zh-CN" sz="2000"/>
              <a:t>Third level</a:t>
            </a:r>
            <a:endParaRPr lang="en-US" altLang="zh-CN" sz="2000"/>
          </a:p>
          <a:p>
            <a:pPr lvl="3"/>
            <a:r>
              <a:rPr lang="en-US" altLang="zh-CN" sz="1800"/>
              <a:t>Fourth level</a:t>
            </a:r>
            <a:endParaRPr lang="en-US" altLang="zh-CN" sz="1800"/>
          </a:p>
          <a:p>
            <a:pPr lvl="4"/>
            <a:r>
              <a:rPr lang="en-US" altLang="zh-CN" sz="1800"/>
              <a:t>Fifth level</a:t>
            </a:r>
            <a:endParaRPr lang="zh-CN" altLang="en-US" sz="1800"/>
          </a:p>
        </p:txBody>
      </p:sp>
      <p:sp>
        <p:nvSpPr>
          <p:cNvPr id="100"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4/7/2026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101" name="Text box"/>
          <p:cNvSpPr>
            <a:spLocks noGrp="1"/>
          </p:cNvSpPr>
          <p:nvPr>
            <p:ph type="ftr" idx="11"/>
          </p:nvPr>
        </p:nvSpPr>
        <p:spPr>
          <a:xfrm rot="0">
            <a:off x="4165600" y="6356351"/>
            <a:ext cx="3860799" cy="365125"/>
          </a:xfrm>
          <a:prstGeom prst="rect"/>
          <a:noFill/>
          <a:ln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102" name="Text box"/>
          <p:cNvSpPr>
            <a:spLocks noGrp="1"/>
          </p:cNvSpPr>
          <p:nvPr>
            <p:ph type="sldNum" idx="12"/>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19328177"/>
      </p:ext>
    </p:extLst>
  </p:cSld>
  <p:clrMapOvr>
    <a:masterClrMapping/>
  </p:clrMapOvr>
  <p:hf sldNum="0"/>
</p:sldLayout>
</file>

<file path=ppt/slideLayouts/slideLayout16.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131" name="Combination"/>
          <p:cNvGrpSpPr>
            <a:grpSpLocks/>
          </p:cNvGrpSpPr>
          <p:nvPr/>
        </p:nvGrpSpPr>
        <p:grpSpPr>
          <a:xfrm>
            <a:off x="11728422" y="0"/>
            <a:ext cx="158778" cy="6858000"/>
            <a:chOff x="11728422" y="0"/>
            <a:chExt cx="158778" cy="6858000"/>
          </a:xfrm>
        </p:grpSpPr>
        <p:sp>
          <p:nvSpPr>
            <p:cNvPr id="129"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130" name="Rectangles"/>
            <p:cNvSpPr>
              <a:spLocks/>
            </p:cNvSpPr>
            <p:nvPr/>
          </p:nvSpPr>
          <p:spPr>
            <a:xfrm rot="0">
              <a:off x="11728422" y="0"/>
              <a:ext cx="158778" cy="6858000"/>
            </a:xfrm>
            <a:prstGeom prst="rect"/>
            <a:noFill/>
            <a:ln w="12700" cmpd="sng" cap="flat">
              <a:noFill/>
              <a:prstDash val="solid"/>
              <a:round/>
            </a:ln>
          </p:spPr>
        </p:sp>
      </p:grpSp>
      <p:sp>
        <p:nvSpPr>
          <p:cNvPr id="128"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127" name="Rectangles"/>
          <p:cNvSpPr>
            <a:spLocks/>
          </p:cNvSpPr>
          <p:nvPr/>
        </p:nvSpPr>
        <p:spPr>
          <a:xfrm rot="0">
            <a:off x="609476" y="6356352"/>
            <a:ext cx="3860799" cy="323164"/>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120" name="Text box"/>
          <p:cNvSpPr>
            <a:spLocks noGrp="1"/>
          </p:cNvSpPr>
          <p:nvPr>
            <p:ph type="title"/>
          </p:nvPr>
        </p:nvSpPr>
        <p:spPr>
          <a:xfrm rot="0">
            <a:off x="4673600" y="533400"/>
            <a:ext cx="6908800" cy="6858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121" name="Text box"/>
          <p:cNvSpPr>
            <a:spLocks noGrp="1"/>
          </p:cNvSpPr>
          <p:nvPr>
            <p:ph type="body" idx="1"/>
          </p:nvPr>
        </p:nvSpPr>
        <p:spPr>
          <a:xfrm rot="0">
            <a:off x="609600" y="1828800"/>
            <a:ext cx="5384800" cy="41910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22" name="Text box"/>
          <p:cNvSpPr>
            <a:spLocks noGrp="1"/>
          </p:cNvSpPr>
          <p:nvPr>
            <p:ph type="body" idx="2"/>
          </p:nvPr>
        </p:nvSpPr>
        <p:spPr>
          <a:xfrm rot="0">
            <a:off x="6197600" y="1828800"/>
            <a:ext cx="5384800" cy="20193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23" name="Text box"/>
          <p:cNvSpPr>
            <a:spLocks noGrp="1"/>
          </p:cNvSpPr>
          <p:nvPr>
            <p:ph type="body" idx="3"/>
          </p:nvPr>
        </p:nvSpPr>
        <p:spPr>
          <a:xfrm rot="0">
            <a:off x="6197600" y="4000499"/>
            <a:ext cx="5384800" cy="20193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24"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4/7/2026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125" name="Text box"/>
          <p:cNvSpPr>
            <a:spLocks noGrp="1"/>
          </p:cNvSpPr>
          <p:nvPr>
            <p:ph type="ftr" idx="11"/>
          </p:nvPr>
        </p:nvSpPr>
        <p:spPr>
          <a:xfrm rot="0">
            <a:off x="4165600" y="6356351"/>
            <a:ext cx="3860799" cy="365125"/>
          </a:xfrm>
          <a:prstGeom prst="rect"/>
          <a:noFill/>
          <a:ln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126" name="Text box"/>
          <p:cNvSpPr>
            <a:spLocks noGrp="1"/>
          </p:cNvSpPr>
          <p:nvPr>
            <p:ph type="sldNum" idx="12"/>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4892280"/>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image" Target="../media/pimg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4/7/2026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5" name="Text box"/>
          <p:cNvSpPr>
            <a:spLocks noGrp="1"/>
          </p:cNvSpPr>
          <p:nvPr>
            <p:ph type="ftr" idx="3"/>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6" name="Text box"/>
          <p:cNvSpPr>
            <a:spLocks noGrp="1"/>
          </p:cNvSpPr>
          <p:nvPr>
            <p:ph type="sldNum" idx="4"/>
          </p:nvPr>
        </p:nvSpPr>
        <p:spPr>
          <a:xfrm rot="0">
            <a:off x="8737600" y="6356351"/>
            <a:ext cx="2844799"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grpSp>
        <p:nvGrpSpPr>
          <p:cNvPr id="9" name="Combination"/>
          <p:cNvGrpSpPr>
            <a:grpSpLocks/>
          </p:cNvGrpSpPr>
          <p:nvPr/>
        </p:nvGrpSpPr>
        <p:grpSpPr>
          <a:xfrm>
            <a:off x="11728422" y="0"/>
            <a:ext cx="158778" cy="6858000"/>
            <a:chOff x="11728422" y="0"/>
            <a:chExt cx="158778" cy="6858000"/>
          </a:xfrm>
        </p:grpSpPr>
        <p:sp>
          <p:nvSpPr>
            <p:cNvPr id="7"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8" name="Rectangles"/>
            <p:cNvSpPr>
              <a:spLocks/>
            </p:cNvSpPr>
            <p:nvPr/>
          </p:nvSpPr>
          <p:spPr>
            <a:xfrm rot="0">
              <a:off x="11728422" y="0"/>
              <a:ext cx="158778" cy="6858000"/>
            </a:xfrm>
            <a:prstGeom prst="rect"/>
            <a:noFill/>
            <a:ln w="12700" cmpd="sng" cap="flat">
              <a:noFill/>
              <a:prstDash val="solid"/>
              <a:round/>
            </a:ln>
          </p:spPr>
        </p:sp>
      </p:grpSp>
      <p:sp>
        <p:nvSpPr>
          <p:cNvPr id="10"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1">
              <a:alphaModFix amt="0"/>
            </a:blip>
            <a:stretch/>
          </a:blipFill>
          <a:ln cmpd="sng" cap="flat">
            <a:noFill/>
            <a:prstDash val="solid"/>
            <a:round/>
          </a:ln>
        </p:spPr>
      </p:sp>
      <p:sp>
        <p:nvSpPr>
          <p:cNvPr id="11" name="Rectangles"/>
          <p:cNvSpPr>
            <a:spLocks/>
          </p:cNvSpPr>
          <p:nvPr/>
        </p:nvSpPr>
        <p:spPr>
          <a:xfrm rot="0">
            <a:off x="609476" y="6356352"/>
            <a:ext cx="3860799" cy="323164"/>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84291806"/>
      </p:ext>
    </p:extLst>
  </p:cSld>
  <p:clrMap bg1="lt1" tx1="dk1" bg2="lt2" tx2="dk2" accent1="accent1" accent2="accent2" accent3="accent3" accent4="accent4" accent5="accent5" accent6="accent6" hlink="hlink" folHlink="fol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Lst>
  <p:hf sldNum="0" hdr="0" ftr="0" dt="0"/>
  <p:txStyles>
    <p:titleStyle>
      <a:lvl1pPr algn="ctr" defTabSz="914400" eaLnBrk="0" fontAlgn="base" hangingPunct="0">
        <a:spcBef>
          <a:spcPts val="0"/>
        </a:spcBef>
        <a:spcAft>
          <a:spcPts val="0"/>
        </a:spcAft>
        <a:buNone/>
        <a:defRPr sz="4400" kern="1200">
          <a:solidFill>
            <a:schemeClr val="tx1"/>
          </a:solidFill>
          <a:latin typeface="Calibri" pitchFamily="0" charset="0"/>
          <a:ea typeface="ＭＳ Ｐゴシック" pitchFamily="0" charset="-128"/>
          <a:cs typeface="ＭＳ Ｐゴシック" pitchFamily="0" charset="-128"/>
        </a:defRPr>
      </a:lvl1pPr>
    </p:titleStyle>
    <p:bodyStyle>
      <a:lvl1pPr marL="342900" indent="-342900" algn="l" defTabSz="914400" eaLnBrk="0" fontAlgn="base" hangingPunct="0">
        <a:spcBef>
          <a:spcPct val="20000"/>
        </a:spcBef>
        <a:spcAft>
          <a:spcPts val="0"/>
        </a:spcAft>
        <a:buFont typeface="Arial" pitchFamily="0" charset="0"/>
        <a:buChar char="•"/>
        <a:defRPr sz="3200" kern="1200">
          <a:solidFill>
            <a:schemeClr val="tx1"/>
          </a:solidFill>
          <a:latin typeface="Calibri" pitchFamily="0" charset="0"/>
          <a:ea typeface="ＭＳ Ｐゴシック" pitchFamily="0" charset="-128"/>
          <a:cs typeface="ＭＳ Ｐゴシック" pitchFamily="0" charset="-128"/>
        </a:defRPr>
      </a:lvl1pPr>
      <a:lvl2pPr marL="742950" indent="-285750" algn="l" defTabSz="914400" eaLnBrk="0" fontAlgn="base" hangingPunct="0">
        <a:spcBef>
          <a:spcPct val="20000"/>
        </a:spcBef>
        <a:spcAft>
          <a:spcPts val="0"/>
        </a:spcAft>
        <a:buFont typeface="Arial" pitchFamily="0" charset="0"/>
        <a:buChar char="–"/>
        <a:defRPr sz="2800" kern="1200">
          <a:solidFill>
            <a:schemeClr val="tx1"/>
          </a:solidFill>
          <a:latin typeface="Calibri" pitchFamily="0" charset="0"/>
          <a:ea typeface="ＭＳ Ｐゴシック" pitchFamily="0" charset="-128"/>
          <a:cs typeface="Calibri" pitchFamily="0" charset="0"/>
        </a:defRPr>
      </a:lvl2pPr>
      <a:lvl3pPr marL="1143000" indent="-228600" algn="l" defTabSz="914400" eaLnBrk="0" fontAlgn="base" hangingPunct="0">
        <a:spcBef>
          <a:spcPct val="20000"/>
        </a:spcBef>
        <a:spcAft>
          <a:spcPts val="0"/>
        </a:spcAft>
        <a:buFont typeface="Arial" pitchFamily="0" charset="0"/>
        <a:buChar char="•"/>
        <a:defRPr sz="2400" kern="1200">
          <a:solidFill>
            <a:schemeClr val="tx1"/>
          </a:solidFill>
          <a:latin typeface="Calibri" pitchFamily="0" charset="0"/>
          <a:ea typeface="ＭＳ Ｐゴシック" pitchFamily="0" charset="-128"/>
          <a:cs typeface="Calibri" pitchFamily="0" charset="0"/>
        </a:defRPr>
      </a:lvl3pPr>
      <a:lvl4pPr marL="1600200" indent="-228600" algn="l" defTabSz="914400" eaLnBrk="0" fontAlgn="base" hangingPunct="0">
        <a:spcBef>
          <a:spcPct val="20000"/>
        </a:spcBef>
        <a:spcAft>
          <a:spcPts val="0"/>
        </a:spcAft>
        <a:buFont typeface="Arial" pitchFamily="0" charset="0"/>
        <a:buChar char="–"/>
        <a:defRPr sz="2000" kern="1200">
          <a:solidFill>
            <a:schemeClr val="tx1"/>
          </a:solidFill>
          <a:latin typeface="Calibri" pitchFamily="0" charset="0"/>
          <a:ea typeface="ＭＳ Ｐゴシック" pitchFamily="0" charset="-128"/>
          <a:cs typeface="Calibri" pitchFamily="0" charset="0"/>
        </a:defRPr>
      </a:lvl4pPr>
      <a:lvl5pPr marL="2057400" indent="-228600" algn="l" defTabSz="914400" eaLnBrk="0" fontAlgn="base" hangingPunct="0">
        <a:spcBef>
          <a:spcPct val="20000"/>
        </a:spcBef>
        <a:spcAft>
          <a:spcPts val="0"/>
        </a:spcAft>
        <a:buFont typeface="Arial" pitchFamily="0" charset="0"/>
        <a:buChar char="»"/>
        <a:defRPr sz="2000" kern="1200">
          <a:solidFill>
            <a:schemeClr val="tx1"/>
          </a:solidFill>
          <a:latin typeface="Calibri" pitchFamily="0" charset="0"/>
          <a:ea typeface="ＭＳ Ｐゴシック" pitchFamily="0" charset="-128"/>
          <a:cs typeface="Calibri" pitchFamily="0" charset="0"/>
        </a:defRPr>
      </a:lvl5pPr>
      <a:lvl6pPr marL="25146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6pPr>
      <a:lvl7pPr marL="29718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7pPr>
      <a:lvl8pPr marL="34290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8pPr>
      <a:lvl9pPr marL="34290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pimg2.jpg"/><Relationship Id="rId2" Type="http://schemas.openxmlformats.org/officeDocument/2006/relationships/image" Target="../media/pimg1.png"/><Relationship Id="rId3" Type="http://schemas.openxmlformats.org/officeDocument/2006/relationships/slideLayout" Target="../slideLayouts/slideLayout1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1.wmf"/><Relationship Id="rId3" Type="http://schemas.openxmlformats.org/officeDocument/2006/relationships/oleObject" Target="../embeddings/oleObject2.bin"/><Relationship Id="rId4" Type="http://schemas.openxmlformats.org/officeDocument/2006/relationships/image" Target="../media/2.wmf"/><Relationship Id="rId5" Type="http://schemas.openxmlformats.org/officeDocument/2006/relationships/slideLayout" Target="../slideLayouts/slideLayout1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oleObject" Target="../embeddings/oleObject3.bin"/><Relationship Id="rId2" Type="http://schemas.openxmlformats.org/officeDocument/2006/relationships/image" Target="../media/3.wmf"/><Relationship Id="rId3" Type="http://schemas.openxmlformats.org/officeDocument/2006/relationships/slideLayout" Target="../slideLayouts/slideLayout1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oleObject" Target="../embeddings/oleObject4.bin"/><Relationship Id="rId2" Type="http://schemas.openxmlformats.org/officeDocument/2006/relationships/image" Target="../media/4.wmf"/><Relationship Id="rId3" Type="http://schemas.openxmlformats.org/officeDocument/2006/relationships/image" Target="../media/5.png"/><Relationship Id="rId4" Type="http://schemas.openxmlformats.org/officeDocument/2006/relationships/image" Target="../media/6.png"/><Relationship Id="rId5" Type="http://schemas.openxmlformats.org/officeDocument/2006/relationships/slideLayout" Target="../slideLayouts/slideLayout1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oleObject" Target="../embeddings/oleObject5.bin"/><Relationship Id="rId2" Type="http://schemas.openxmlformats.org/officeDocument/2006/relationships/image" Target="../media/7.wmf"/><Relationship Id="rId3" Type="http://schemas.openxmlformats.org/officeDocument/2006/relationships/image" Target="../media/8.png"/><Relationship Id="rId4" Type="http://schemas.openxmlformats.org/officeDocument/2006/relationships/image" Target="../media/9.png"/><Relationship Id="rId5" Type="http://schemas.openxmlformats.org/officeDocument/2006/relationships/slideLayout" Target="../slideLayouts/slideLayout16.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10.wmf"/><Relationship Id="rId2" Type="http://schemas.openxmlformats.org/officeDocument/2006/relationships/slideLayout" Target="../slideLayouts/slideLayout1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10.wmf"/><Relationship Id="rId2" Type="http://schemas.openxmlformats.org/officeDocument/2006/relationships/oleObject" Target="../embeddings/oleObject6.bin"/><Relationship Id="rId3" Type="http://schemas.openxmlformats.org/officeDocument/2006/relationships/image" Target="../media/11.wmf"/><Relationship Id="rId4" Type="http://schemas.openxmlformats.org/officeDocument/2006/relationships/customXml" Target="../ink/ink1.xml"/><Relationship Id="rId5" Type="http://schemas.openxmlformats.org/officeDocument/2006/relationships/customXml" Target="../ink/ink2.xml"/><Relationship Id="rId6" Type="http://schemas.openxmlformats.org/officeDocument/2006/relationships/image" Target="../media/12.png"/><Relationship Id="rId7" Type="http://schemas.openxmlformats.org/officeDocument/2006/relationships/image" Target="../media/13.png"/><Relationship Id="rId8" Type="http://schemas.openxmlformats.org/officeDocument/2006/relationships/customXml" Target="../ink/ink3.xml"/><Relationship Id="rId9" Type="http://schemas.openxmlformats.org/officeDocument/2006/relationships/customXml" Target="../ink/ink4.xml"/><Relationship Id="rId10" Type="http://schemas.openxmlformats.org/officeDocument/2006/relationships/image" Target="../media/14.png"/><Relationship Id="rId11" Type="http://schemas.openxmlformats.org/officeDocument/2006/relationships/image" Target="../media/15.png"/><Relationship Id="rId12" Type="http://schemas.openxmlformats.org/officeDocument/2006/relationships/slideLayout" Target="../slideLayouts/slideLayout16.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16.png"/><Relationship Id="rId2" Type="http://schemas.openxmlformats.org/officeDocument/2006/relationships/slideLayout" Target="../slideLayouts/slideLayout1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17.png"/><Relationship Id="rId2" Type="http://schemas.openxmlformats.org/officeDocument/2006/relationships/slideLayout" Target="../slideLayouts/slideLayout1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18.png"/><Relationship Id="rId2" Type="http://schemas.openxmlformats.org/officeDocument/2006/relationships/slideLayout" Target="../slideLayouts/slideLayout1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19.jpeg"/><Relationship Id="rId2" Type="http://schemas.openxmlformats.org/officeDocument/2006/relationships/customXml" Target="../ink/ink5.xml"/><Relationship Id="rId3" Type="http://schemas.openxmlformats.org/officeDocument/2006/relationships/customXml" Target="../ink/ink6.xml"/><Relationship Id="rId4" Type="http://schemas.openxmlformats.org/officeDocument/2006/relationships/image" Target="../media/20.png"/><Relationship Id="rId5" Type="http://schemas.openxmlformats.org/officeDocument/2006/relationships/image" Target="../media/21.png"/><Relationship Id="rId6" Type="http://schemas.openxmlformats.org/officeDocument/2006/relationships/customXml" Target="../ink/ink7.xml"/><Relationship Id="rId7" Type="http://schemas.openxmlformats.org/officeDocument/2006/relationships/customXml" Target="../ink/ink8.xml"/><Relationship Id="rId8" Type="http://schemas.openxmlformats.org/officeDocument/2006/relationships/customXml" Target="../ink/ink9.xml"/><Relationship Id="rId9" Type="http://schemas.openxmlformats.org/officeDocument/2006/relationships/image" Target="../media/22.png"/><Relationship Id="rId10" Type="http://schemas.openxmlformats.org/officeDocument/2006/relationships/image" Target="../media/23.png"/><Relationship Id="rId11" Type="http://schemas.openxmlformats.org/officeDocument/2006/relationships/image" Target="../media/24.png"/><Relationship Id="rId12" Type="http://schemas.openxmlformats.org/officeDocument/2006/relationships/customXml" Target="../ink/ink10.xml"/><Relationship Id="rId13" Type="http://schemas.openxmlformats.org/officeDocument/2006/relationships/customXml" Target="../ink/ink11.xml"/><Relationship Id="rId14" Type="http://schemas.openxmlformats.org/officeDocument/2006/relationships/customXml" Target="../ink/ink12.xml"/><Relationship Id="rId15" Type="http://schemas.openxmlformats.org/officeDocument/2006/relationships/image" Target="../media/25.png"/><Relationship Id="rId16" Type="http://schemas.openxmlformats.org/officeDocument/2006/relationships/image" Target="../media/26.png"/><Relationship Id="rId17" Type="http://schemas.openxmlformats.org/officeDocument/2006/relationships/image" Target="../media/27.png"/><Relationship Id="rId18" Type="http://schemas.openxmlformats.org/officeDocument/2006/relationships/customXml" Target="../ink/ink13.xml"/><Relationship Id="rId19" Type="http://schemas.openxmlformats.org/officeDocument/2006/relationships/customXml" Target="../ink/ink14.xml"/><Relationship Id="rId20" Type="http://schemas.openxmlformats.org/officeDocument/2006/relationships/image" Target="../media/28.png"/><Relationship Id="rId21" Type="http://schemas.openxmlformats.org/officeDocument/2006/relationships/image" Target="../media/29.png"/><Relationship Id="rId22" Type="http://schemas.openxmlformats.org/officeDocument/2006/relationships/image" Target="../media/30.png"/><Relationship Id="rId23" Type="http://schemas.openxmlformats.org/officeDocument/2006/relationships/customXml" Target="../ink/ink15.xml"/><Relationship Id="rId24" Type="http://schemas.openxmlformats.org/officeDocument/2006/relationships/customXml" Target="../ink/ink16.xml"/><Relationship Id="rId25" Type="http://schemas.openxmlformats.org/officeDocument/2006/relationships/customXml" Target="../ink/ink17.xml"/><Relationship Id="rId26" Type="http://schemas.openxmlformats.org/officeDocument/2006/relationships/image" Target="../media/31.png"/><Relationship Id="rId27" Type="http://schemas.openxmlformats.org/officeDocument/2006/relationships/image" Target="../media/32.png"/><Relationship Id="rId28" Type="http://schemas.openxmlformats.org/officeDocument/2006/relationships/image" Target="../media/33.png"/><Relationship Id="rId29" Type="http://schemas.openxmlformats.org/officeDocument/2006/relationships/slideLayout" Target="../slideLayouts/slideLayout12.xml"/><Relationship Id="rId3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34.png"/><Relationship Id="rId2" Type="http://schemas.openxmlformats.org/officeDocument/2006/relationships/image" Target="../media/35.png"/><Relationship Id="rId3" Type="http://schemas.openxmlformats.org/officeDocument/2006/relationships/image" Target="../media/36.png"/><Relationship Id="rId4" Type="http://schemas.openxmlformats.org/officeDocument/2006/relationships/slideLayout" Target="../slideLayouts/slideLayout1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37.jpeg"/><Relationship Id="rId2" Type="http://schemas.openxmlformats.org/officeDocument/2006/relationships/slideLayout" Target="../slideLayouts/slideLayout1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38.png"/><Relationship Id="rId2" Type="http://schemas.openxmlformats.org/officeDocument/2006/relationships/image" Target="../media/39.png"/><Relationship Id="rId3" Type="http://schemas.openxmlformats.org/officeDocument/2006/relationships/image" Target="../media/40.png"/><Relationship Id="rId4" Type="http://schemas.openxmlformats.org/officeDocument/2006/relationships/slideLayout" Target="../slideLayouts/slideLayout1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oleObject" Target="../embeddings/oleObject7.bin"/><Relationship Id="rId2" Type="http://schemas.openxmlformats.org/officeDocument/2006/relationships/image" Target="../media/41.wmf"/><Relationship Id="rId3" Type="http://schemas.openxmlformats.org/officeDocument/2006/relationships/slideLayout" Target="../slideLayouts/slideLayout1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42.png"/><Relationship Id="rId2" Type="http://schemas.openxmlformats.org/officeDocument/2006/relationships/image" Target="../media/43.png"/><Relationship Id="rId3" Type="http://schemas.openxmlformats.org/officeDocument/2006/relationships/slideLayout" Target="../slideLayouts/slideLayout1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44.png"/><Relationship Id="rId2" Type="http://schemas.openxmlformats.org/officeDocument/2006/relationships/slideLayout" Target="../slideLayouts/slideLayout1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oleObject" Target="../embeddings/oleObject8.bin"/><Relationship Id="rId2" Type="http://schemas.openxmlformats.org/officeDocument/2006/relationships/image" Target="../media/45.wmf"/><Relationship Id="rId3" Type="http://schemas.openxmlformats.org/officeDocument/2006/relationships/slideLayout" Target="../slideLayouts/slideLayout1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oleObject" Target="../embeddings/oleObject9.bin"/><Relationship Id="rId2" Type="http://schemas.openxmlformats.org/officeDocument/2006/relationships/image" Target="../media/46.wmf"/><Relationship Id="rId3" Type="http://schemas.openxmlformats.org/officeDocument/2006/relationships/image" Target="../media/47.png"/><Relationship Id="rId4" Type="http://schemas.openxmlformats.org/officeDocument/2006/relationships/image" Target="../media/48.png"/><Relationship Id="rId5" Type="http://schemas.openxmlformats.org/officeDocument/2006/relationships/image" Target="../media/49.png"/><Relationship Id="rId6" Type="http://schemas.openxmlformats.org/officeDocument/2006/relationships/image" Target="../media/50.png"/><Relationship Id="rId7" Type="http://schemas.openxmlformats.org/officeDocument/2006/relationships/image" Target="../media/51.png"/><Relationship Id="rId8" Type="http://schemas.openxmlformats.org/officeDocument/2006/relationships/image" Target="../media/52.png"/><Relationship Id="rId9" Type="http://schemas.openxmlformats.org/officeDocument/2006/relationships/image" Target="../media/53.png"/><Relationship Id="rId10" Type="http://schemas.openxmlformats.org/officeDocument/2006/relationships/slideLayout" Target="../slideLayouts/slideLayout12.xml"/><Relationship Id="rId1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54.png"/><Relationship Id="rId2" Type="http://schemas.openxmlformats.org/officeDocument/2006/relationships/slideLayout" Target="../slideLayouts/slideLayout1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55.jpeg"/><Relationship Id="rId2" Type="http://schemas.openxmlformats.org/officeDocument/2006/relationships/slideLayout" Target="../slideLayouts/slideLayout1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56.png"/><Relationship Id="rId2" Type="http://schemas.openxmlformats.org/officeDocument/2006/relationships/slideLayout" Target="../slideLayouts/slideLayout1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oleObject" Target="../embeddings/oleObject10.bin"/><Relationship Id="rId2" Type="http://schemas.openxmlformats.org/officeDocument/2006/relationships/image" Target="../media/57.wmf"/><Relationship Id="rId3" Type="http://schemas.openxmlformats.org/officeDocument/2006/relationships/oleObject" Target="../embeddings/oleObject11.bin"/><Relationship Id="rId4" Type="http://schemas.openxmlformats.org/officeDocument/2006/relationships/image" Target="../media/58.wmf"/><Relationship Id="rId5" Type="http://schemas.openxmlformats.org/officeDocument/2006/relationships/slideLayout" Target="../slideLayouts/slideLayout12.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oleObject" Target="../embeddings/oleObject12.bin"/><Relationship Id="rId2" Type="http://schemas.openxmlformats.org/officeDocument/2006/relationships/image" Target="../media/59.wmf"/><Relationship Id="rId3" Type="http://schemas.openxmlformats.org/officeDocument/2006/relationships/slideLayout" Target="../slideLayouts/slideLayout12.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60.png"/><Relationship Id="rId2" Type="http://schemas.openxmlformats.org/officeDocument/2006/relationships/slideLayout" Target="../slideLayouts/slideLayout1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61.png"/><Relationship Id="rId2" Type="http://schemas.openxmlformats.org/officeDocument/2006/relationships/slideLayout" Target="../slideLayouts/slideLayout1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61.png"/><Relationship Id="rId2" Type="http://schemas.openxmlformats.org/officeDocument/2006/relationships/slideLayout" Target="../slideLayouts/slideLayout1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62.png"/><Relationship Id="rId2" Type="http://schemas.openxmlformats.org/officeDocument/2006/relationships/slideLayout" Target="../slideLayouts/slideLayout1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63.png"/><Relationship Id="rId2" Type="http://schemas.openxmlformats.org/officeDocument/2006/relationships/slideLayout" Target="../slideLayouts/slideLayout1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64.png"/><Relationship Id="rId2" Type="http://schemas.openxmlformats.org/officeDocument/2006/relationships/slideLayout" Target="../slideLayouts/slideLayout1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65.jpeg"/><Relationship Id="rId2" Type="http://schemas.openxmlformats.org/officeDocument/2006/relationships/slideLayout" Target="../slideLayouts/slideLayout1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oleObject" Target="../embeddings/oleObject13.bin"/><Relationship Id="rId2" Type="http://schemas.openxmlformats.org/officeDocument/2006/relationships/image" Target="../media/66.wmf"/><Relationship Id="rId3" Type="http://schemas.openxmlformats.org/officeDocument/2006/relationships/slideLayout" Target="../slideLayouts/slideLayout12.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67.jpeg"/><Relationship Id="rId2" Type="http://schemas.openxmlformats.org/officeDocument/2006/relationships/slideLayout" Target="../slideLayouts/slideLayout1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68.png"/><Relationship Id="rId2" Type="http://schemas.openxmlformats.org/officeDocument/2006/relationships/slideLayout" Target="../slideLayouts/slideLayout12.xml"/><Relationship Id="rId3" Type="http://schemas.openxmlformats.org/officeDocument/2006/relationships/notesSlide" Target="../notesSlides/notesSlide65.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 name="Text box"/>
          <p:cNvSpPr>
            <a:spLocks noGrp="1"/>
          </p:cNvSpPr>
          <p:nvPr>
            <p:ph type="sldNum" idx="12"/>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1</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38" name="曲线"/>
          <p:cNvSpPr>
            <a:spLocks/>
          </p:cNvSpPr>
          <p:nvPr/>
        </p:nvSpPr>
        <p:spPr>
          <a:xfrm rot="0">
            <a:off x="0" y="0"/>
            <a:ext cx="12192000" cy="6858000"/>
          </a:xfrm>
          <a:custGeom>
            <a:gdLst>
              <a:gd name="T1" fmla="*/ 0 w 21600"/>
              <a:gd name="T2" fmla="*/ 0 h 21600"/>
              <a:gd name="T3" fmla="*/ 21600 w 21600"/>
              <a:gd name="T4" fmla="*/ 21600 h 21600"/>
            </a:gdLst>
            <a:rect l="T1" t="T2" r="T3" b="T4"/>
            <a:pathLst>
              <a:path w="21600" h="21600">
                <a:moveTo>
                  <a:pt x="146" y="0"/>
                </a:moveTo>
                <a:lnTo>
                  <a:pt x="21453" y="0"/>
                </a:lnTo>
                <a:cubicBezTo>
                  <a:pt x="21492" y="0"/>
                  <a:pt x="21529" y="22"/>
                  <a:pt x="21557" y="63"/>
                </a:cubicBezTo>
                <a:cubicBezTo>
                  <a:pt x="21584" y="104"/>
                  <a:pt x="21600" y="159"/>
                  <a:pt x="21600" y="217"/>
                </a:cubicBezTo>
                <a:lnTo>
                  <a:pt x="21600" y="21382"/>
                </a:lnTo>
                <a:cubicBezTo>
                  <a:pt x="21600" y="21440"/>
                  <a:pt x="21584" y="21495"/>
                  <a:pt x="21557" y="21536"/>
                </a:cubicBezTo>
                <a:cubicBezTo>
                  <a:pt x="21529" y="21577"/>
                  <a:pt x="21492" y="21600"/>
                  <a:pt x="21453" y="21600"/>
                </a:cubicBezTo>
                <a:lnTo>
                  <a:pt x="146" y="21600"/>
                </a:lnTo>
                <a:cubicBezTo>
                  <a:pt x="107" y="21600"/>
                  <a:pt x="70" y="21577"/>
                  <a:pt x="42" y="21536"/>
                </a:cubicBezTo>
                <a:cubicBezTo>
                  <a:pt x="15" y="21495"/>
                  <a:pt x="0" y="21440"/>
                  <a:pt x="0" y="21382"/>
                </a:cubicBezTo>
                <a:lnTo>
                  <a:pt x="0" y="217"/>
                </a:lnTo>
                <a:cubicBezTo>
                  <a:pt x="0" y="159"/>
                  <a:pt x="15" y="104"/>
                  <a:pt x="42" y="63"/>
                </a:cubicBezTo>
                <a:cubicBezTo>
                  <a:pt x="70" y="22"/>
                  <a:pt x="107" y="0"/>
                  <a:pt x="146" y="0"/>
                </a:cubicBezTo>
                <a:close/>
              </a:path>
            </a:pathLst>
          </a:custGeom>
          <a:blipFill rotWithShape="1">
            <a:blip r:embed="rId1">
              <a:alphaModFix amt="40000"/>
            </a:blip>
            <a:stretch>
              <a:fillRect l="-9963" t="2" r="-9976" b="-5291"/>
            </a:stretch>
          </a:blipFill>
          <a:ln cmpd="sng" cap="flat">
            <a:noFill/>
            <a:prstDash val="solid"/>
            <a:round/>
          </a:ln>
        </p:spPr>
      </p:sp>
      <p:grpSp>
        <p:nvGrpSpPr>
          <p:cNvPr id="41" name="Combination"/>
          <p:cNvGrpSpPr>
            <a:grpSpLocks/>
          </p:cNvGrpSpPr>
          <p:nvPr/>
        </p:nvGrpSpPr>
        <p:grpSpPr>
          <a:xfrm>
            <a:off x="11707824" y="0"/>
            <a:ext cx="179377" cy="6858000"/>
            <a:chOff x="11707824" y="0"/>
            <a:chExt cx="179377" cy="6858000"/>
          </a:xfrm>
        </p:grpSpPr>
        <p:sp>
          <p:nvSpPr>
            <p:cNvPr id="39" name="曲线"/>
            <p:cNvSpPr>
              <a:spLocks/>
            </p:cNvSpPr>
            <p:nvPr/>
          </p:nvSpPr>
          <p:spPr>
            <a:xfrm rot="0">
              <a:off x="11707824" y="118468"/>
              <a:ext cx="1793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40" name="Rectangles"/>
            <p:cNvSpPr>
              <a:spLocks/>
            </p:cNvSpPr>
            <p:nvPr/>
          </p:nvSpPr>
          <p:spPr>
            <a:xfrm rot="0">
              <a:off x="11707824" y="0"/>
              <a:ext cx="179377" cy="6858000"/>
            </a:xfrm>
            <a:prstGeom prst="rect"/>
            <a:noFill/>
            <a:ln w="12700" cmpd="sng" cap="flat">
              <a:noFill/>
              <a:prstDash val="solid"/>
              <a:round/>
            </a:ln>
          </p:spPr>
        </p:sp>
      </p:grpSp>
      <p:sp>
        <p:nvSpPr>
          <p:cNvPr id="42" name="Rectangles"/>
          <p:cNvSpPr>
            <a:spLocks/>
          </p:cNvSpPr>
          <p:nvPr/>
        </p:nvSpPr>
        <p:spPr>
          <a:xfrm rot="0">
            <a:off x="609600" y="6356351"/>
            <a:ext cx="3671100"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43" name="Rectangles"/>
          <p:cNvSpPr>
            <a:spLocks/>
          </p:cNvSpPr>
          <p:nvPr/>
        </p:nvSpPr>
        <p:spPr>
          <a:xfrm rot="0">
            <a:off x="1" y="1524000"/>
            <a:ext cx="12192000" cy="1712168"/>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0" hangingPunct="0">
              <a:lnSpc>
                <a:spcPct val="100000"/>
              </a:lnSpc>
              <a:spcBef>
                <a:spcPts val="0"/>
              </a:spcBef>
              <a:spcAft>
                <a:spcPts val="0"/>
              </a:spcAft>
              <a:buNone/>
            </a:pPr>
            <a:r>
              <a:rPr lang="en-US" altLang="zh-CN" sz="66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rPr>
              <a:t>S</a:t>
            </a:r>
            <a:r>
              <a:rPr lang="en-US" altLang="zh-CN" sz="66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rPr>
              <a:t>eci1143</a:t>
            </a:r>
            <a:endParaRPr lang="en-US" altLang="zh-CN" sz="66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endParaRPr>
          </a:p>
          <a:p>
            <a:pPr marL="0" indent="0" algn="ctr" eaLnBrk="0" hangingPunct="0">
              <a:lnSpc>
                <a:spcPct val="100000"/>
              </a:lnSpc>
              <a:spcBef>
                <a:spcPts val="0"/>
              </a:spcBef>
              <a:spcAft>
                <a:spcPts val="0"/>
              </a:spcAft>
              <a:buNone/>
            </a:pPr>
            <a:r>
              <a:rPr lang="en-US" altLang="zh-CN" sz="40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rPr>
              <a:t>Probability &amp; statistical data analysis</a:t>
            </a:r>
            <a:endParaRPr lang="zh-CN" altLang="en-US" sz="40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endParaRPr>
          </a:p>
        </p:txBody>
      </p:sp>
      <p:sp>
        <p:nvSpPr>
          <p:cNvPr id="44" name="Rectangles"/>
          <p:cNvSpPr>
            <a:spLocks/>
          </p:cNvSpPr>
          <p:nvPr/>
        </p:nvSpPr>
        <p:spPr>
          <a:xfrm rot="0">
            <a:off x="2208213" y="3236168"/>
            <a:ext cx="7777162" cy="2455911"/>
          </a:xfrm>
          <a:prstGeom prst="rect"/>
          <a:noFill/>
          <a:ln w="12700" cmpd="sng" cap="flat">
            <a:no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4800" b="1" i="0" u="none" strike="noStrike" kern="1200" cap="none" spc="0" baseline="0">
                <a:solidFill>
                  <a:schemeClr val="tx1"/>
                </a:solidFill>
                <a:latin typeface="Calibri" pitchFamily="0" charset="0"/>
                <a:ea typeface="ＭＳ Ｐゴシック" pitchFamily="0" charset="-128"/>
                <a:cs typeface="Calibri" pitchFamily="0" charset="0"/>
              </a:rPr>
              <a:t>CHAPTER 3</a:t>
            </a:r>
            <a:endParaRPr lang="en-US" altLang="zh-CN" sz="4800" b="1"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ctr" eaLnBrk="1" hangingPunct="1">
              <a:lnSpc>
                <a:spcPct val="100000"/>
              </a:lnSpc>
              <a:spcBef>
                <a:spcPts val="0"/>
              </a:spcBef>
              <a:spcAft>
                <a:spcPts val="0"/>
              </a:spcAft>
              <a:buNone/>
            </a:pPr>
            <a:endParaRPr lang="en-US" altLang="zh-CN" sz="5400" b="1"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ctr" eaLnBrk="1" hangingPunct="1">
              <a:lnSpc>
                <a:spcPct val="100000"/>
              </a:lnSpc>
              <a:spcBef>
                <a:spcPts val="0"/>
              </a:spcBef>
              <a:spcAft>
                <a:spcPts val="0"/>
              </a:spcAft>
              <a:buNone/>
            </a:pPr>
            <a:r>
              <a:rPr lang="en-US" altLang="zh-CN" sz="5400" b="1" i="0" u="none" strike="noStrike" kern="1200" cap="none" spc="0" baseline="0">
                <a:solidFill>
                  <a:schemeClr val="tx1"/>
                </a:solidFill>
                <a:latin typeface="Calibri" pitchFamily="0" charset="0"/>
                <a:ea typeface="ＭＳ Ｐゴシック" pitchFamily="0" charset="-128"/>
                <a:cs typeface="Calibri" pitchFamily="0" charset="0"/>
              </a:rPr>
              <a:t>Descriptive Statistics</a:t>
            </a:r>
            <a:endParaRPr lang="zh-CN" altLang="en-US" sz="5400" b="1" i="0" u="none" strike="noStrike" kern="1200" cap="none" spc="0" baseline="0">
              <a:solidFill>
                <a:schemeClr val="tx1"/>
              </a:solidFill>
              <a:latin typeface="Calibri" pitchFamily="0" charset="0"/>
              <a:ea typeface="ＭＳ Ｐゴシック" pitchFamily="0" charset="-128"/>
              <a:cs typeface="Calibri" pitchFamily="0" charset="0"/>
            </a:endParaRPr>
          </a:p>
        </p:txBody>
      </p:sp>
      <p:grpSp>
        <p:nvGrpSpPr>
          <p:cNvPr id="47" name="Combination"/>
          <p:cNvGrpSpPr>
            <a:grpSpLocks/>
          </p:cNvGrpSpPr>
          <p:nvPr/>
        </p:nvGrpSpPr>
        <p:grpSpPr>
          <a:xfrm>
            <a:off x="11728422" y="0"/>
            <a:ext cx="158778" cy="6858000"/>
            <a:chOff x="11728422" y="0"/>
            <a:chExt cx="158778" cy="6858000"/>
          </a:xfrm>
        </p:grpSpPr>
        <p:sp>
          <p:nvSpPr>
            <p:cNvPr id="45"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46" name="Rectangles"/>
            <p:cNvSpPr>
              <a:spLocks/>
            </p:cNvSpPr>
            <p:nvPr/>
          </p:nvSpPr>
          <p:spPr>
            <a:xfrm rot="0">
              <a:off x="11728422" y="0"/>
              <a:ext cx="158778" cy="6858000"/>
            </a:xfrm>
            <a:prstGeom prst="rect"/>
            <a:noFill/>
            <a:ln w="12700" cmpd="sng" cap="flat">
              <a:noFill/>
              <a:prstDash val="solid"/>
              <a:round/>
            </a:ln>
          </p:spPr>
        </p:sp>
      </p:grpSp>
      <p:sp>
        <p:nvSpPr>
          <p:cNvPr id="48"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Tree>
    <p:extLst>
      <p:ext uri="{BB962C8B-B14F-4D97-AF65-F5344CB8AC3E}">
        <p14:creationId xmlns:p14="http://schemas.microsoft.com/office/powerpoint/2010/main" val="2065035985"/>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3" name="Rectangles"/>
          <p:cNvSpPr>
            <a:spLocks/>
          </p:cNvSpPr>
          <p:nvPr/>
        </p:nvSpPr>
        <p:spPr>
          <a:xfrm rot="0">
            <a:off x="3244893" y="2060849"/>
            <a:ext cx="6027292" cy="2548890"/>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eaLnBrk="1" hangingPunct="1">
              <a:lnSpc>
                <a:spcPct val="100000"/>
              </a:lnSpc>
              <a:spcBef>
                <a:spcPts val="0"/>
              </a:spcBef>
              <a:spcAft>
                <a:spcPts val="0"/>
              </a:spcAft>
              <a:buNone/>
            </a:pPr>
            <a:r>
              <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rPr>
              <a:t>Measures </a:t>
            </a:r>
            <a:endPar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endParaRPr>
          </a:p>
          <a:p>
            <a:pPr marL="0" indent="0" algn="ctr" eaLnBrk="1" hangingPunct="1">
              <a:lnSpc>
                <a:spcPct val="100000"/>
              </a:lnSpc>
              <a:spcBef>
                <a:spcPts val="0"/>
              </a:spcBef>
              <a:spcAft>
                <a:spcPts val="0"/>
              </a:spcAft>
              <a:buNone/>
            </a:pPr>
            <a:r>
              <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rPr>
              <a:t>of </a:t>
            </a:r>
            <a:endPar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endParaRPr>
          </a:p>
          <a:p>
            <a:pPr marL="0" indent="0" algn="ctr" eaLnBrk="1" hangingPunct="1">
              <a:lnSpc>
                <a:spcPct val="100000"/>
              </a:lnSpc>
              <a:spcBef>
                <a:spcPts val="0"/>
              </a:spcBef>
              <a:spcAft>
                <a:spcPts val="0"/>
              </a:spcAft>
              <a:buNone/>
            </a:pPr>
            <a:r>
              <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rPr>
              <a:t>Central Tendency</a:t>
            </a:r>
            <a:endParaRPr lang="zh-CN" altLang="en-US"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endParaRPr>
          </a:p>
        </p:txBody>
      </p:sp>
      <p:sp>
        <p:nvSpPr>
          <p:cNvPr id="54" name="Text box"/>
          <p:cNvSpPr>
            <a:spLocks noGrp="1"/>
          </p:cNvSpPr>
          <p:nvPr>
            <p:ph type="sldNum" idx="12"/>
          </p:nvPr>
        </p:nvSpPr>
        <p:spPr>
          <a:xfrm rot="0">
            <a:off x="5808664" y="6519863"/>
            <a:ext cx="466724"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0" charset="0"/>
                <a:ea typeface="MS PGothic" pitchFamily="34" charset="-128"/>
                <a:cs typeface="Calibri" pitchFamily="0" charset="0"/>
              </a:rPr>
              <a:t>2</a:t>
            </a:fld>
            <a:endParaRPr lang="zh-CN" altLang="en-US" sz="1200" b="0" i="0" u="none" strike="noStrike" kern="1200" cap="none" spc="0" baseline="0">
              <a:solidFill>
                <a:srgbClr val="FFFFFF"/>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988129942"/>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 name="Text box"/>
          <p:cNvSpPr>
            <a:spLocks noGrp="1"/>
          </p:cNvSpPr>
          <p:nvPr>
            <p:ph type="sldNum" idx="12"/>
          </p:nvPr>
        </p:nvSpPr>
        <p:spPr>
          <a:xfrm rot="0">
            <a:off x="5591174" y="6492876"/>
            <a:ext cx="6937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56" name="Text box"/>
          <p:cNvSpPr>
            <a:spLocks noGrp="1"/>
          </p:cNvSpPr>
          <p:nvPr>
            <p:ph type="title"/>
          </p:nvPr>
        </p:nvSpPr>
        <p:spPr>
          <a:xfrm rot="0">
            <a:off x="3886200" y="356616"/>
            <a:ext cx="6272784" cy="786384"/>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3200" b="1" i="0" u="none" strike="noStrike" kern="1200" cap="none" spc="0" baseline="0">
                <a:solidFill>
                  <a:schemeClr val="tx1"/>
                </a:solidFill>
                <a:latin typeface="Calibri" pitchFamily="0" charset="0"/>
                <a:ea typeface="ＭＳ Ｐゴシック" pitchFamily="0" charset="-128"/>
                <a:cs typeface="Calibri" pitchFamily="0" charset="0"/>
              </a:rPr>
              <a:t>Measurement of Central Tendency</a:t>
            </a:r>
            <a:endParaRPr lang="zh-CN" altLang="en-US" sz="32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57" name="Text box"/>
          <p:cNvSpPr>
            <a:spLocks noGrp="1"/>
          </p:cNvSpPr>
          <p:nvPr>
            <p:ph type="body" idx="1"/>
          </p:nvPr>
        </p:nvSpPr>
        <p:spPr>
          <a:xfrm rot="0">
            <a:off x="1847850" y="1484784"/>
            <a:ext cx="8434388" cy="4465166"/>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A measure of central tendency of a distribution is a numerical value that describes the central position of the data or how the data tend to build up in the center.</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Measurements: </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lvl="1" marL="742950" indent="-285750" algn="just" eaLnBrk="1" hangingPunct="1">
              <a:lnSpc>
                <a:spcPct val="100000"/>
              </a:lnSpc>
              <a:spcBef>
                <a:spcPct val="20000"/>
              </a:spcBef>
              <a:spcAft>
                <a:spcPts val="0"/>
              </a:spcAft>
              <a:buFont typeface="Wingdings" pitchFamily="0" charset="2"/>
              <a:buChar char="Ø"/>
            </a:pPr>
            <a:r>
              <a:rPr lang="en-US" altLang="zh-CN" sz="2400" b="0" i="0" u="none" strike="noStrike" kern="1200" cap="none" spc="0" baseline="0">
                <a:solidFill>
                  <a:schemeClr val="tx1"/>
                </a:solidFill>
                <a:latin typeface="Calibri" pitchFamily="0" charset="0"/>
                <a:ea typeface="ＭＳ Ｐゴシック" pitchFamily="0" charset="-128"/>
                <a:cs typeface="Lucida Sans"/>
              </a:rPr>
              <a:t> Mean</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Wingdings" pitchFamily="0" charset="2"/>
              <a:buChar char="Ø"/>
            </a:pPr>
            <a:r>
              <a:rPr lang="en-US" altLang="zh-CN" sz="2400" b="0" i="0" u="none" strike="noStrike" kern="1200" cap="none" spc="0" baseline="0">
                <a:solidFill>
                  <a:schemeClr val="tx1"/>
                </a:solidFill>
                <a:latin typeface="Calibri" pitchFamily="0" charset="0"/>
                <a:ea typeface="ＭＳ Ｐゴシック" pitchFamily="0" charset="-128"/>
                <a:cs typeface="Lucida Sans"/>
              </a:rPr>
              <a:t> Mode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Wingdings" pitchFamily="0" charset="2"/>
              <a:buChar char="Ø"/>
            </a:pPr>
            <a:r>
              <a:rPr lang="en-US" altLang="zh-CN" sz="2400" b="0" i="0" u="none" strike="noStrike" kern="1200" cap="none" spc="0" baseline="0">
                <a:solidFill>
                  <a:schemeClr val="tx1"/>
                </a:solidFill>
                <a:latin typeface="Calibri" pitchFamily="0" charset="0"/>
                <a:ea typeface="ＭＳ Ｐゴシック" pitchFamily="0" charset="-128"/>
                <a:cs typeface="Lucida Sans"/>
              </a:rPr>
              <a:t> Median</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616583249"/>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9" name="Rectangles"/>
          <p:cNvSpPr>
            <a:spLocks noGrp="1"/>
          </p:cNvSpPr>
          <p:nvPr>
            <p:ph type="sldNum" idx="12"/>
          </p:nvPr>
        </p:nvSpPr>
        <p:spPr>
          <a:xfrm rot="0">
            <a:off x="8737600" y="6356351"/>
            <a:ext cx="2844799"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MS PGothic" pitchFamily="34" charset="-128"/>
                <a:cs typeface="Arial" pitchFamily="0" charset="0"/>
              </a:rPr>
              <a:t>4</a:t>
            </a:fld>
            <a:endParaRPr lang="zh-CN" altLang="en-US" sz="1000" b="0" i="0" u="none" strike="noStrike" kern="1200" cap="none" spc="0" baseline="0">
              <a:solidFill>
                <a:schemeClr val="bg1"/>
              </a:solidFill>
              <a:latin typeface="Arial" pitchFamily="0" charset="0"/>
              <a:ea typeface="MS PGothic" pitchFamily="34" charset="-128"/>
              <a:cs typeface="Arial" pitchFamily="0" charset="0"/>
            </a:endParaRPr>
          </a:p>
        </p:txBody>
      </p:sp>
      <p:sp>
        <p:nvSpPr>
          <p:cNvPr id="70" name="Text box"/>
          <p:cNvSpPr>
            <a:spLocks noGrp="1"/>
          </p:cNvSpPr>
          <p:nvPr>
            <p:ph type="title"/>
          </p:nvPr>
        </p:nvSpPr>
        <p:spPr>
          <a:xfrm rot="0">
            <a:off x="3886200"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Mean</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71" name="Text box"/>
          <p:cNvSpPr>
            <a:spLocks noGrp="1"/>
          </p:cNvSpPr>
          <p:nvPr>
            <p:ph type="body" idx="1"/>
          </p:nvPr>
        </p:nvSpPr>
        <p:spPr>
          <a:xfrm rot="0">
            <a:off x="1992313" y="1524000"/>
            <a:ext cx="8142287" cy="4008438"/>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Mean is the sum of the observations divided by the number of observations.</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It is the most common measure of central tendency,</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graphicFrame>
        <p:nvGraphicFramePr>
          <p:cNvPr id="72" name="Object"/>
          <p:cNvGraphicFramePr>
            <a:graphicFrameLocks noChangeAspect="1"/>
          </p:cNvGraphicFramePr>
          <p:nvPr/>
        </p:nvGraphicFramePr>
        <p:xfrm>
          <a:off x="4800600" y="3284539"/>
          <a:ext cx="1396999" cy="1216025"/>
        </p:xfrm>
        <a:graphic>
          <a:graphicData uri="http://schemas.openxmlformats.org/presentationml/2006/ole">
            <mc:AlternateContent xmlns:mc="http://schemas.openxmlformats.org/markup-compatibility/2006">
              <mc:Choice xmlns:v="urn:schemas-microsoft-com:vml" Requires="v">
                <p:oleObj spid="" name="package" r:id="rId1" imgW="22352000" imgH="19507200" progId="package">
                  <p:embed/>
                </p:oleObj>
              </mc:Choice>
              <mc:Fallback>
                <p:oleObj name="package" r:id="rId1" imgW="22352000" imgH="19507200" progId="package">
                  <p:embed/>
                  <p:pic>
                    <p:nvPicPr>
                      <p:cNvPr id="72" name="Object"/>
                      <p:cNvPicPr>
                        <a:picLocks noChangeAspect="1"/>
                      </p:cNvPicPr>
                      <p:nvPr/>
                    </p:nvPicPr>
                    <p:blipFill>
                      <a:blip r:embed="rId2" cstate="print"/>
                      <a:stretch>
                        <a:fillRect/>
                      </a:stretch>
                    </p:blipFill>
                    <p:spPr>
                      <a:xfrm rot="0">
                        <a:off x="4800600" y="3284539"/>
                        <a:ext cx="1396999" cy="1216025"/>
                      </a:xfrm>
                      <a:prstGeom prst="rect"/>
                      <a:noFill/>
                      <a:ln cmpd="sng" cap="flat">
                        <a:noFill/>
                        <a:prstDash val="solid"/>
                        <a:miter/>
                      </a:ln>
                    </p:spPr>
                  </p:pic>
                </p:oleObj>
              </mc:Fallback>
            </mc:AlternateContent>
          </a:graphicData>
        </a:graphic>
      </p:graphicFrame>
      <p:sp>
        <p:nvSpPr>
          <p:cNvPr id="73" name="Rectangles"/>
          <p:cNvSpPr>
            <a:spLocks/>
          </p:cNvSpPr>
          <p:nvPr/>
        </p:nvSpPr>
        <p:spPr>
          <a:xfrm rot="0">
            <a:off x="2422526" y="3773488"/>
            <a:ext cx="2258949" cy="453390"/>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1" i="0" u="none" strike="noStrike" kern="1200" cap="none" spc="0" baseline="0">
                <a:solidFill>
                  <a:schemeClr val="tx1"/>
                </a:solidFill>
                <a:latin typeface="Arial" pitchFamily="0" charset="0"/>
                <a:ea typeface="MS PGothic" pitchFamily="34" charset="-128"/>
                <a:cs typeface="Calibri" pitchFamily="0" charset="0"/>
              </a:rPr>
              <a:t>Sample mean:</a:t>
            </a:r>
            <a:endParaRPr lang="zh-CN" altLang="en-US" sz="2400" b="1" i="0" u="none" strike="noStrike" kern="1200" cap="none" spc="0" baseline="0">
              <a:solidFill>
                <a:schemeClr val="tx1"/>
              </a:solidFill>
              <a:latin typeface="Arial" pitchFamily="0" charset="0"/>
              <a:ea typeface="MS PGothic" pitchFamily="34" charset="-128"/>
              <a:cs typeface="Calibri" pitchFamily="0" charset="0"/>
            </a:endParaRPr>
          </a:p>
        </p:txBody>
      </p:sp>
      <p:sp>
        <p:nvSpPr>
          <p:cNvPr id="74" name="Rectangles"/>
          <p:cNvSpPr>
            <a:spLocks/>
          </p:cNvSpPr>
          <p:nvPr/>
        </p:nvSpPr>
        <p:spPr>
          <a:xfrm rot="0">
            <a:off x="2438400" y="5181600"/>
            <a:ext cx="2728340" cy="45338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1" i="0" u="none" strike="noStrike" kern="1200" cap="none" spc="0" baseline="0">
                <a:solidFill>
                  <a:schemeClr val="tx1"/>
                </a:solidFill>
                <a:latin typeface="Arial" pitchFamily="0" charset="0"/>
                <a:ea typeface="MS PGothic" pitchFamily="34" charset="-128"/>
                <a:cs typeface="Calibri" pitchFamily="0" charset="0"/>
              </a:rPr>
              <a:t>Population mean:</a:t>
            </a:r>
            <a:endParaRPr lang="zh-CN" altLang="en-US" sz="2400" b="1" i="0" u="none" strike="noStrike" kern="1200" cap="none" spc="0" baseline="0">
              <a:solidFill>
                <a:schemeClr val="tx1"/>
              </a:solidFill>
              <a:latin typeface="Arial" pitchFamily="0" charset="0"/>
              <a:ea typeface="MS PGothic" pitchFamily="34" charset="-128"/>
              <a:cs typeface="Calibri" pitchFamily="0" charset="0"/>
            </a:endParaRPr>
          </a:p>
        </p:txBody>
      </p:sp>
      <p:graphicFrame>
        <p:nvGraphicFramePr>
          <p:cNvPr id="75" name="Object"/>
          <p:cNvGraphicFramePr>
            <a:graphicFrameLocks noChangeAspect="1"/>
          </p:cNvGraphicFramePr>
          <p:nvPr/>
        </p:nvGraphicFramePr>
        <p:xfrm>
          <a:off x="5183188" y="4660901"/>
          <a:ext cx="1344612" cy="1216025"/>
        </p:xfrm>
        <a:graphic>
          <a:graphicData uri="http://schemas.openxmlformats.org/presentationml/2006/ole">
            <mc:AlternateContent xmlns:mc="http://schemas.openxmlformats.org/markup-compatibility/2006">
              <mc:Choice xmlns:v="urn:schemas-microsoft-com:vml" Requires="v">
                <p:oleObj spid="" name="package" r:id="rId3" imgW="21539200" imgH="19507200" progId="package">
                  <p:embed/>
                </p:oleObj>
              </mc:Choice>
              <mc:Fallback>
                <p:oleObj name="package" r:id="rId3" imgW="21539200" imgH="19507200" progId="package">
                  <p:embed/>
                  <p:pic>
                    <p:nvPicPr>
                      <p:cNvPr id="75" name="Object"/>
                      <p:cNvPicPr>
                        <a:picLocks noChangeAspect="1"/>
                      </p:cNvPicPr>
                      <p:nvPr/>
                    </p:nvPicPr>
                    <p:blipFill>
                      <a:blip r:embed="rId4" cstate="print"/>
                      <a:stretch>
                        <a:fillRect/>
                      </a:stretch>
                    </p:blipFill>
                    <p:spPr>
                      <a:xfrm rot="0">
                        <a:off x="5183188" y="4660901"/>
                        <a:ext cx="1344612" cy="1216025"/>
                      </a:xfrm>
                      <a:prstGeom prst="rect"/>
                      <a:noFill/>
                      <a:ln cmpd="sng" cap="flat">
                        <a:noFill/>
                        <a:prstDash val="solid"/>
                        <a:miter/>
                      </a:ln>
                    </p:spPr>
                  </p:pic>
                </p:oleObj>
              </mc:Fallback>
            </mc:AlternateContent>
          </a:graphicData>
        </a:graphic>
      </p:graphicFrame>
    </p:spTree>
    <p:extLst>
      <p:ext uri="{BB962C8B-B14F-4D97-AF65-F5344CB8AC3E}">
        <p14:creationId xmlns:p14="http://schemas.microsoft.com/office/powerpoint/2010/main" val="2060286067"/>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6" name="Text box"/>
          <p:cNvSpPr>
            <a:spLocks noGrp="1"/>
          </p:cNvSpPr>
          <p:nvPr>
            <p:ph type="sldNum" idx="12"/>
          </p:nvPr>
        </p:nvSpPr>
        <p:spPr>
          <a:xfrm rot="0">
            <a:off x="5735638"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5</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77" name="Text box"/>
          <p:cNvSpPr>
            <a:spLocks noGrp="1"/>
          </p:cNvSpPr>
          <p:nvPr>
            <p:ph type="title"/>
          </p:nvPr>
        </p:nvSpPr>
        <p:spPr>
          <a:xfrm rot="0">
            <a:off x="2927649" y="274639"/>
            <a:ext cx="6346825" cy="7778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78"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Data: </a:t>
            </a:r>
            <a:r>
              <a:rPr lang="en-US" altLang="zh-CN" sz="2800" b="1" i="0" u="none" strike="noStrike" kern="1200" cap="none" spc="0" baseline="0">
                <a:solidFill>
                  <a:schemeClr val="tx1"/>
                </a:solidFill>
                <a:latin typeface="Calibri" pitchFamily="0" charset="0"/>
                <a:ea typeface="ＭＳ Ｐゴシック" pitchFamily="0" charset="-128"/>
                <a:cs typeface="Lucida Sans"/>
              </a:rPr>
              <a:t>13, 18, 13, 14, 13, 16, 14, 21, 13</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mean is 15</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79" name="Rectangles"/>
          <p:cNvSpPr>
            <a:spLocks/>
          </p:cNvSpPr>
          <p:nvPr/>
        </p:nvSpPr>
        <p:spPr>
          <a:xfrm rot="0">
            <a:off x="2350270" y="2266871"/>
            <a:ext cx="8595741" cy="974089"/>
          </a:xfrm>
          <a:prstGeom prst="rect"/>
          <a:solidFill>
            <a:srgbClr val="FFFFFF"/>
          </a:solidFill>
          <a:ln w="25400" cmpd="sng" cap="flat">
            <a:solidFill>
              <a:srgbClr val="4F81BD"/>
            </a:solidFill>
            <a:prstDash val="solid"/>
            <a:round/>
          </a:ln>
        </p:spPr>
        <p:txBody>
          <a:bodyPr vert="horz" wrap="none" lIns="91440" tIns="45720" rIns="91440" bIns="45720" anchor="ctr"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rgbClr val="000000"/>
                </a:solidFill>
                <a:latin typeface="Calibri" pitchFamily="0" charset="0"/>
                <a:ea typeface="MS PGothic" pitchFamily="34" charset="-128"/>
                <a:cs typeface="Calibri" pitchFamily="0" charset="0"/>
              </a:rPr>
              <a:t>Calculation: </a:t>
            </a:r>
            <a:endParaRPr lang="en-US" altLang="zh-CN" sz="2800" b="0" i="0" u="none" strike="noStrike" kern="1200" cap="none" spc="0" baseline="0">
              <a:solidFill>
                <a:srgbClr val="000000"/>
              </a:solidFill>
              <a:latin typeface="Calibri" pitchFamily="0" charset="0"/>
              <a:ea typeface="MS PGothic" pitchFamily="34" charset="-128"/>
              <a:cs typeface="Calibri" pitchFamily="0" charset="0"/>
            </a:endParaRPr>
          </a:p>
          <a:p>
            <a:pPr marL="0" indent="0" algn="l" eaLnBrk="1" hangingPunct="1">
              <a:lnSpc>
                <a:spcPct val="100000"/>
              </a:lnSpc>
              <a:spcBef>
                <a:spcPts val="0"/>
              </a:spcBef>
              <a:spcAft>
                <a:spcPts val="0"/>
              </a:spcAft>
              <a:buNone/>
            </a:pPr>
            <a:r>
              <a:rPr lang="en-US" altLang="zh-CN" sz="2800" b="0" i="0" u="none" strike="noStrike" kern="1200" cap="none" spc="0" baseline="0">
                <a:solidFill>
                  <a:srgbClr val="000000"/>
                </a:solidFill>
                <a:latin typeface="Calibri" pitchFamily="0" charset="0"/>
                <a:ea typeface="MS PGothic" pitchFamily="34" charset="-128"/>
                <a:cs typeface="Calibri" pitchFamily="0" charset="0"/>
              </a:rPr>
              <a:t>(13 + 18 + 13 + 14 + 13 + 16 + 14 + 21 + 13) ÷ 9 = 15</a:t>
            </a:r>
            <a:endParaRPr lang="zh-CN" altLang="en-US" sz="2800" b="0" i="0" u="none" strike="noStrike" kern="1200" cap="none" spc="0" baseline="0">
              <a:solidFill>
                <a:srgbClr val="000000"/>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155698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0"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6</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81" name="Text box"/>
          <p:cNvSpPr>
            <a:spLocks noGrp="1"/>
          </p:cNvSpPr>
          <p:nvPr>
            <p:ph type="body" idx="1"/>
          </p:nvPr>
        </p:nvSpPr>
        <p:spPr>
          <a:xfrm rot="0">
            <a:off x="1981200" y="1268413"/>
            <a:ext cx="8229600" cy="4525961"/>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mean is unique for every set of data.</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Meaningful for interval and ratio data.</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Can be affected by outliers – rare observations that are radically different from the rest.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Example:   </a:t>
            </a:r>
            <a:r>
              <a:rPr lang="en-US" altLang="zh-CN" sz="2800" b="1" i="0" u="none" strike="noStrike" kern="1200" cap="none" spc="0" baseline="0">
                <a:solidFill>
                  <a:schemeClr val="tx1"/>
                </a:solidFill>
                <a:latin typeface="Calibri" pitchFamily="0" charset="0"/>
                <a:ea typeface="ＭＳ Ｐゴシック" pitchFamily="0" charset="-128"/>
                <a:cs typeface="Lucida Sans"/>
              </a:rPr>
              <a:t>3, 4, 6, 4, 7, 3, 6, 5, </a:t>
            </a:r>
            <a:r>
              <a:rPr lang="en-US" altLang="zh-CN" sz="2800" b="1" i="0" u="none" strike="noStrike" kern="1200" cap="none" spc="0" baseline="0">
                <a:solidFill>
                  <a:srgbClr val="FF0000"/>
                </a:solidFill>
                <a:latin typeface="Calibri" pitchFamily="0" charset="0"/>
                <a:ea typeface="ＭＳ Ｐゴシック" pitchFamily="0" charset="-128"/>
                <a:cs typeface="Lucida Sans"/>
              </a:rPr>
              <a:t>1500</a:t>
            </a:r>
            <a:endParaRPr lang="en-US" altLang="zh-CN" sz="2800" b="1" i="0" u="none" strike="noStrike" kern="1200" cap="none" spc="0" baseline="0">
              <a:solidFill>
                <a:srgbClr val="FF0000"/>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Mean: </a:t>
            </a:r>
            <a:r>
              <a:rPr lang="en-US" altLang="zh-CN" sz="2800" b="1" i="0" u="none" strike="noStrike" kern="1200" cap="none" spc="0" baseline="0">
                <a:solidFill>
                  <a:schemeClr val="tx1"/>
                </a:solidFill>
                <a:latin typeface="Calibri" pitchFamily="0" charset="0"/>
                <a:ea typeface="ＭＳ Ｐゴシック" pitchFamily="0" charset="-128"/>
                <a:cs typeface="Lucida Sans"/>
              </a:rPr>
              <a:t>170.89</a:t>
            </a:r>
            <a:endParaRPr lang="zh-CN" altLang="en-US" sz="2800" b="1"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719858465"/>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3" name="Text box"/>
          <p:cNvSpPr>
            <a:spLocks noGrp="1"/>
          </p:cNvSpPr>
          <p:nvPr>
            <p:ph type="sldNum" idx="12"/>
          </p:nvPr>
        </p:nvSpPr>
        <p:spPr>
          <a:xfrm rot="0">
            <a:off x="5808662"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7</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94" name="Text box"/>
          <p:cNvSpPr>
            <a:spLocks noGrp="1"/>
          </p:cNvSpPr>
          <p:nvPr>
            <p:ph type="title"/>
          </p:nvPr>
        </p:nvSpPr>
        <p:spPr>
          <a:xfrm rot="0">
            <a:off x="3886200"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Mean of Grouped Data</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95" name="Text box"/>
          <p:cNvSpPr>
            <a:spLocks noGrp="1"/>
          </p:cNvSpPr>
          <p:nvPr>
            <p:ph type="body" idx="1"/>
          </p:nvPr>
        </p:nvSpPr>
        <p:spPr>
          <a:xfrm rot="0">
            <a:off x="1919289" y="1412875"/>
            <a:ext cx="8497887" cy="4824413"/>
          </a:xfrm>
          <a:prstGeom prst="rect"/>
          <a:noFill/>
          <a:ln w="12700" cmpd="sng" cap="flat">
            <a:noFill/>
            <a:prstDash val="solid"/>
            <a:round/>
          </a:ln>
        </p:spPr>
        <p:txBody>
          <a:bodyPr vert="horz" wrap="square" lIns="91440" tIns="45720" rIns="91440" bIns="45720" anchor="t" anchorCtr="0">
            <a:prstTxWarp prst="textNoShape"/>
          </a:bodyPr>
          <a:lstStyle/>
          <a:p>
            <a:pPr marL="0" indent="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formula for the mean of grouped data,</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where,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0" i="1" u="none" strike="noStrike" kern="1200" cap="none" spc="0" baseline="0">
                <a:solidFill>
                  <a:schemeClr val="tx1"/>
                </a:solidFill>
                <a:latin typeface="Calibri" pitchFamily="0" charset="0"/>
                <a:ea typeface="ＭＳ Ｐゴシック" pitchFamily="0" charset="-128"/>
                <a:cs typeface="Lucida Sans"/>
              </a:rPr>
              <a:t>f</a:t>
            </a:r>
            <a:r>
              <a:rPr lang="en-US" altLang="zh-CN" sz="2800" b="0" i="1" u="none" strike="noStrike" kern="1200" cap="none" spc="0" baseline="-25000">
                <a:solidFill>
                  <a:schemeClr val="tx1"/>
                </a:solidFill>
                <a:latin typeface="Calibri" pitchFamily="0" charset="0"/>
                <a:ea typeface="ＭＳ Ｐゴシック" pitchFamily="0" charset="-128"/>
                <a:cs typeface="Lucida Sans"/>
              </a:rPr>
              <a:t>i</a:t>
            </a:r>
            <a:r>
              <a:rPr lang="en-US" altLang="zh-CN" sz="2800" b="0" i="1" u="none" strike="noStrike" kern="1200" cap="none" spc="0" baseline="0">
                <a:solidFill>
                  <a:schemeClr val="tx1"/>
                </a:solidFill>
                <a:latin typeface="Calibri" pitchFamily="0" charset="0"/>
                <a:ea typeface="ＭＳ Ｐゴシック" pitchFamily="0" charset="-128"/>
                <a:cs typeface="Lucida Sans"/>
              </a:rPr>
              <a:t> </a:t>
            </a:r>
            <a:r>
              <a:rPr lang="en-US" altLang="zh-CN" sz="2800" b="0" i="0" u="none" strike="noStrike" kern="1200" cap="none" spc="0" baseline="0">
                <a:solidFill>
                  <a:schemeClr val="tx1"/>
                </a:solidFill>
                <a:latin typeface="Calibri" pitchFamily="0" charset="0"/>
                <a:ea typeface="ＭＳ Ｐゴシック" pitchFamily="0" charset="-128"/>
                <a:cs typeface="Lucida Sans"/>
              </a:rPr>
              <a:t>: frequency in a class or frequency of an observed value.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0" i="1" u="none" strike="noStrike" kern="1200" cap="none" spc="0" baseline="0">
                <a:solidFill>
                  <a:schemeClr val="tx1"/>
                </a:solidFill>
                <a:latin typeface="Calibri" pitchFamily="0" charset="0"/>
                <a:ea typeface="ＭＳ Ｐゴシック" pitchFamily="0" charset="-128"/>
                <a:cs typeface="Lucida Sans"/>
              </a:rPr>
              <a:t>X</a:t>
            </a:r>
            <a:r>
              <a:rPr lang="en-US" altLang="zh-CN" sz="2800" b="0" i="1" u="none" strike="noStrike" kern="1200" cap="none" spc="0" baseline="-25000">
                <a:solidFill>
                  <a:schemeClr val="tx1"/>
                </a:solidFill>
                <a:latin typeface="Calibri" pitchFamily="0" charset="0"/>
                <a:ea typeface="ＭＳ Ｐゴシック" pitchFamily="0" charset="-128"/>
                <a:cs typeface="Lucida Sans"/>
              </a:rPr>
              <a:t>i</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 </a:t>
            </a:r>
            <a:r>
              <a:rPr lang="en-US" altLang="zh-CN" sz="2800" b="0" i="0" u="none" strike="noStrike" kern="1200" cap="none" spc="0" baseline="0">
                <a:solidFill>
                  <a:schemeClr val="tx1"/>
                </a:solidFill>
                <a:latin typeface="Calibri" pitchFamily="0" charset="0"/>
                <a:ea typeface="ＭＳ Ｐゴシック" pitchFamily="0" charset="-128"/>
                <a:cs typeface="Lucida Sans"/>
              </a:rPr>
              <a:t>: class midpoint or an observed value.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0" i="1" u="none" strike="noStrike" kern="1200" cap="none" spc="0" baseline="0">
                <a:solidFill>
                  <a:schemeClr val="tx1"/>
                </a:solidFill>
                <a:latin typeface="Calibri" pitchFamily="0" charset="0"/>
                <a:ea typeface="ＭＳ Ｐゴシック" pitchFamily="0" charset="-128"/>
                <a:cs typeface="Lucida Sans"/>
              </a:rPr>
              <a:t>n</a:t>
            </a:r>
            <a:r>
              <a:rPr lang="en-US" altLang="zh-CN" sz="2800" b="0" i="0" u="none" strike="noStrike" kern="1200" cap="none" spc="0" baseline="0">
                <a:solidFill>
                  <a:schemeClr val="tx1"/>
                </a:solidFill>
                <a:latin typeface="Calibri" pitchFamily="0" charset="0"/>
                <a:ea typeface="ＭＳ Ｐゴシック" pitchFamily="0" charset="-128"/>
                <a:cs typeface="Lucida Sans"/>
              </a:rPr>
              <a:t> : number of classes or number of observed values.</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96" name="Object"/>
          <p:cNvGraphicFramePr>
            <a:graphicFrameLocks noChangeAspect="1"/>
          </p:cNvGraphicFramePr>
          <p:nvPr/>
        </p:nvGraphicFramePr>
        <p:xfrm>
          <a:off x="2927351" y="1978025"/>
          <a:ext cx="6069012" cy="1595438"/>
        </p:xfrm>
        <a:graphic>
          <a:graphicData uri="http://schemas.openxmlformats.org/presentationml/2006/ole">
            <mc:AlternateContent xmlns:mc="http://schemas.openxmlformats.org/markup-compatibility/2006">
              <mc:Choice xmlns:v="urn:schemas-microsoft-com:vml" Requires="v">
                <p:oleObj spid="" name="package" r:id="rId1" imgW="78841600" imgH="20726400" progId="package">
                  <p:embed/>
                </p:oleObj>
              </mc:Choice>
              <mc:Fallback>
                <p:oleObj name="package" r:id="rId1" imgW="78841600" imgH="20726400" progId="package">
                  <p:embed/>
                  <p:pic>
                    <p:nvPicPr>
                      <p:cNvPr id="96" name="Object"/>
                      <p:cNvPicPr>
                        <a:picLocks noChangeAspect="1"/>
                      </p:cNvPicPr>
                      <p:nvPr/>
                    </p:nvPicPr>
                    <p:blipFill>
                      <a:blip r:embed="rId2" cstate="print"/>
                      <a:stretch>
                        <a:fillRect/>
                      </a:stretch>
                    </p:blipFill>
                    <p:spPr>
                      <a:xfrm rot="0">
                        <a:off x="2927351" y="1978025"/>
                        <a:ext cx="6069012" cy="1595438"/>
                      </a:xfrm>
                      <a:prstGeom prst="rect"/>
                      <a:noFill/>
                      <a:ln cmpd="sng" cap="flat">
                        <a:noFill/>
                        <a:prstDash val="solid"/>
                        <a:miter/>
                      </a:ln>
                    </p:spPr>
                  </p:pic>
                </p:oleObj>
              </mc:Fallback>
            </mc:AlternateContent>
          </a:graphicData>
        </a:graphic>
      </p:graphicFrame>
    </p:spTree>
    <p:extLst>
      <p:ext uri="{BB962C8B-B14F-4D97-AF65-F5344CB8AC3E}">
        <p14:creationId xmlns:p14="http://schemas.microsoft.com/office/powerpoint/2010/main" val="599555771"/>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08"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8</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09" name="Text box"/>
          <p:cNvSpPr>
            <a:spLocks noGrp="1"/>
          </p:cNvSpPr>
          <p:nvPr>
            <p:ph type="title"/>
          </p:nvPr>
        </p:nvSpPr>
        <p:spPr>
          <a:xfrm rot="0">
            <a:off x="2918098" y="274862"/>
            <a:ext cx="6418262" cy="7778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graphicFrame>
        <p:nvGraphicFramePr>
          <p:cNvPr id="110" name="Sheet"/>
          <p:cNvGraphicFramePr>
            <a:graphicFrameLocks noGrp="1"/>
          </p:cNvGraphicFramePr>
          <p:nvPr>
            <p:ph type="body" idx="1"/>
            <p:extLst>
              <p:ext uri="{D42A27DB-BD31-4B8C-83A1-F6EECF244321}"/>
            </p:extLst>
          </p:nvPr>
        </p:nvGraphicFramePr>
        <p:xfrm>
          <a:off x="2495600" y="1844824"/>
          <a:ext cx="6999311" cy="1521619"/>
        </p:xfrm>
        <a:graphic>
          <a:graphicData uri="http://schemas.openxmlformats.org/drawingml/2006/table">
            <a:tbl>
              <a:tblPr bandRow="1">
                <a:noFill/>
              </a:tblPr>
              <a:tblGrid>
                <a:gridCol w="1460487"/>
                <a:gridCol w="786269"/>
                <a:gridCol w="792073"/>
                <a:gridCol w="792073"/>
                <a:gridCol w="792073"/>
                <a:gridCol w="792073"/>
                <a:gridCol w="792073"/>
                <a:gridCol w="792073"/>
              </a:tblGrid>
              <a:tr h="759340">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Number of children (</a:t>
                      </a:r>
                      <a:r>
                        <a:rPr lang="en-US" altLang="zh-CN" sz="2000" b="1" i="1" u="none" strike="noStrike" kern="1200" cap="none" spc="0" baseline="0">
                          <a:solidFill>
                            <a:schemeClr val="tx1"/>
                          </a:solidFill>
                          <a:latin typeface="Calibri" pitchFamily="0" charset="0"/>
                          <a:ea typeface="MS PGothic" pitchFamily="34" charset="-128"/>
                          <a:cs typeface="MS PGothic" pitchFamily="34" charset="-128"/>
                        </a:rPr>
                        <a:t>X</a:t>
                      </a:r>
                      <a:r>
                        <a:rPr lang="en-US" altLang="zh-CN" sz="2000" b="1" i="1" u="none" strike="noStrike" kern="1200" cap="none" spc="0" baseline="-25000">
                          <a:solidFill>
                            <a:schemeClr val="tx1"/>
                          </a:solidFill>
                          <a:latin typeface="Calibri" pitchFamily="0" charset="0"/>
                          <a:ea typeface="MS PGothic" pitchFamily="34" charset="-128"/>
                          <a:cs typeface="MS PGothic" pitchFamily="34" charset="-128"/>
                        </a:rPr>
                        <a:t>i</a:t>
                      </a: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a:t>
                      </a:r>
                      <a:r>
                        <a:rPr lang="en-US" altLang="zh-CN" sz="2000" b="1" i="1" u="none" strike="noStrike" kern="1200" cap="none" spc="0" baseline="-25000">
                          <a:solidFill>
                            <a:schemeClr val="tx1"/>
                          </a:solidFill>
                          <a:latin typeface="Calibri" pitchFamily="0" charset="0"/>
                          <a:ea typeface="MS PGothic" pitchFamily="34" charset="-128"/>
                          <a:cs typeface="MS PGothic" pitchFamily="34" charset="-128"/>
                        </a:rPr>
                        <a:t> </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1</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2</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3</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4</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5</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6</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7</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762264">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Frequency</a:t>
                      </a:r>
                      <a:endParaRPr lang="en-US" altLang="zh-CN" sz="2000" b="1"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a:t>
                      </a:r>
                      <a:r>
                        <a:rPr lang="en-US" altLang="zh-CN" sz="2000" b="1" i="1" u="none" strike="noStrike" kern="1200" cap="none" spc="0" baseline="0">
                          <a:solidFill>
                            <a:schemeClr val="tx1"/>
                          </a:solidFill>
                          <a:latin typeface="Calibri" pitchFamily="0" charset="0"/>
                          <a:ea typeface="MS PGothic" pitchFamily="34" charset="-128"/>
                          <a:cs typeface="MS PGothic" pitchFamily="34" charset="-128"/>
                        </a:rPr>
                        <a:t>f</a:t>
                      </a:r>
                      <a:r>
                        <a:rPr lang="en-US" altLang="zh-CN" sz="2000" b="1" i="1" u="none" strike="noStrike" kern="1200" cap="none" spc="0" baseline="-25000">
                          <a:solidFill>
                            <a:schemeClr val="tx1"/>
                          </a:solidFill>
                          <a:latin typeface="Calibri" pitchFamily="0" charset="0"/>
                          <a:ea typeface="MS PGothic" pitchFamily="34" charset="-128"/>
                          <a:cs typeface="MS PGothic" pitchFamily="34" charset="-128"/>
                        </a:rPr>
                        <a:t>i</a:t>
                      </a: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5</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12</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8</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3</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0</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0</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1</a:t>
                      </a:r>
                      <a:endParaRPr lang="zh-CN" altLang="en-US" sz="2000" b="1"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32" marR="91440" marB="45732"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r>
            </a:tbl>
          </a:graphicData>
        </a:graphic>
      </p:graphicFrame>
      <p:sp>
        <p:nvSpPr>
          <p:cNvPr id="111" name="Rectangles"/>
          <p:cNvSpPr>
            <a:spLocks/>
          </p:cNvSpPr>
          <p:nvPr/>
        </p:nvSpPr>
        <p:spPr>
          <a:xfrm rot="0">
            <a:off x="1976438" y="3434998"/>
            <a:ext cx="8583612" cy="1805939"/>
          </a:xfrm>
          <a:prstGeom prst="rect"/>
          <a:noFill/>
          <a:ln w="12700" cmpd="sng" cap="flat">
            <a:noFill/>
            <a:prstDash val="solid"/>
            <a:round/>
          </a:ln>
        </p:spPr>
        <p:txBody>
          <a:bodyPr vert="horz" wrap="square" lIns="91440" tIns="45720" rIns="91440" bIns="45720" anchor="ctr"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a:t>
            </a:r>
            <a:r>
              <a:rPr lang="en-US" altLang="zh-CN" sz="2800" b="1" i="0" u="none" strike="noStrike" kern="1200" cap="none" spc="0" baseline="0">
                <a:solidFill>
                  <a:schemeClr val="tx1"/>
                </a:solidFill>
                <a:latin typeface="Calibri" pitchFamily="0" charset="0"/>
                <a:ea typeface="MS PGothic" pitchFamily="34" charset="-128"/>
                <a:cs typeface="Calibri" pitchFamily="0" charset="0"/>
              </a:rPr>
              <a:t>Solution:</a:t>
            </a:r>
            <a:endParaRPr lang="en-US" altLang="zh-CN" sz="2800" b="1" i="0" u="none" strike="noStrike" kern="1200" cap="none" spc="0" baseline="0">
              <a:solidFill>
                <a:schemeClr val="tx1"/>
              </a:solidFill>
              <a:latin typeface="Calibri" pitchFamily="0" charset="0"/>
              <a:ea typeface="MS PGothic" pitchFamily="34" charset="-128"/>
              <a:cs typeface="Calibri" pitchFamily="0" charset="0"/>
            </a:endParaRPr>
          </a:p>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a:t>
            </a:r>
            <a:r>
              <a:rPr lang="en-US" altLang="zh-CN" sz="2800" b="0" i="0" u="none" strike="noStrike" kern="1200" cap="none" spc="0" baseline="0">
                <a:solidFill>
                  <a:schemeClr val="tx1"/>
                </a:solidFill>
                <a:latin typeface="Calibri" pitchFamily="0" charset="0"/>
                <a:ea typeface="MS PGothic" pitchFamily="34" charset="-128"/>
                <a:cs typeface="Calibri" pitchFamily="0" charset="0"/>
                <a:sym typeface="Symbol" pitchFamily="18" charset="2"/>
              </a:rPr>
              <a:t> </a:t>
            </a:r>
            <a:r>
              <a:rPr lang="en-US" altLang="zh-CN" sz="2800" b="0" i="1" u="none" strike="noStrike" kern="1200" cap="none" spc="0" baseline="0">
                <a:solidFill>
                  <a:schemeClr val="tx1"/>
                </a:solidFill>
                <a:latin typeface="Calibri" pitchFamily="0" charset="0"/>
                <a:ea typeface="MS PGothic" pitchFamily="34" charset="-128"/>
                <a:cs typeface="Calibri" pitchFamily="0" charset="0"/>
              </a:rPr>
              <a:t>f</a:t>
            </a:r>
            <a:r>
              <a:rPr lang="en-US" altLang="zh-CN" sz="2800" b="0" i="1" u="none" strike="noStrike" kern="1200" cap="none" spc="0" baseline="-25000">
                <a:solidFill>
                  <a:schemeClr val="tx1"/>
                </a:solidFill>
                <a:latin typeface="Calibri" pitchFamily="0" charset="0"/>
                <a:ea typeface="MS PGothic" pitchFamily="34" charset="-128"/>
                <a:cs typeface="Calibri" pitchFamily="0" charset="0"/>
              </a:rPr>
              <a:t>i</a:t>
            </a:r>
            <a:r>
              <a:rPr lang="en-US" altLang="zh-CN" sz="2800" b="0" i="1" u="none" strike="noStrike" kern="1200" cap="none" spc="0" baseline="0">
                <a:solidFill>
                  <a:schemeClr val="tx1"/>
                </a:solidFill>
                <a:latin typeface="Calibri" pitchFamily="0" charset="0"/>
                <a:ea typeface="MS PGothic" pitchFamily="34" charset="-128"/>
                <a:cs typeface="Calibri" pitchFamily="0" charset="0"/>
              </a:rPr>
              <a:t>X</a:t>
            </a:r>
            <a:r>
              <a:rPr lang="en-US" altLang="zh-CN" sz="2800" b="0" i="1" u="none" strike="noStrike" kern="1200" cap="none" spc="0" baseline="-25000">
                <a:solidFill>
                  <a:schemeClr val="tx1"/>
                </a:solidFill>
                <a:latin typeface="Calibri" pitchFamily="0" charset="0"/>
                <a:ea typeface="MS PGothic" pitchFamily="34" charset="-128"/>
                <a:cs typeface="Calibri" pitchFamily="0" charset="0"/>
              </a:rPr>
              <a:t>i</a:t>
            </a:r>
            <a:r>
              <a:rPr lang="en-US" altLang="zh-CN" sz="2800" b="0" i="1" u="none" strike="noStrike" kern="1200" cap="none" spc="0" baseline="-25000">
                <a:solidFill>
                  <a:schemeClr val="tx1"/>
                </a:solidFill>
                <a:latin typeface="Calibri" pitchFamily="0" charset="0"/>
                <a:ea typeface="MS PGothic" pitchFamily="34" charset="-128"/>
                <a:cs typeface="Calibri" pitchFamily="0" charset="0"/>
              </a:rPr>
              <a:t>  </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5(1) + 12(2) + 8(3) + 3(4) + 0(5)+ 0(6) + 1(7) = 72 </a:t>
            </a: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0" indent="0" algn="l" eaLnBrk="1" hangingPunct="1">
              <a:lnSpc>
                <a:spcPct val="100000"/>
              </a:lnSpc>
              <a:spcBef>
                <a:spcPts val="0"/>
              </a:spcBef>
              <a:spcAft>
                <a:spcPts val="0"/>
              </a:spcAft>
              <a:buNone/>
            </a:pP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p:graphicFrame>
        <p:nvGraphicFramePr>
          <p:cNvPr id="112" name="Object"/>
          <p:cNvGraphicFramePr>
            <a:graphicFrameLocks noChangeAspect="1"/>
          </p:cNvGraphicFramePr>
          <p:nvPr/>
        </p:nvGraphicFramePr>
        <p:xfrm>
          <a:off x="4367809" y="4797153"/>
          <a:ext cx="3336925" cy="1368425"/>
        </p:xfrm>
        <a:graphic>
          <a:graphicData uri="http://schemas.openxmlformats.org/presentationml/2006/ole">
            <mc:AlternateContent xmlns:mc="http://schemas.openxmlformats.org/markup-compatibility/2006">
              <mc:Choice xmlns:v="urn:schemas-microsoft-com:vml" Requires="v">
                <p:oleObj spid="" name="package" r:id="rId1" imgW="47548800" imgH="19507200" progId="package">
                  <p:embed/>
                </p:oleObj>
              </mc:Choice>
              <mc:Fallback>
                <p:oleObj name="package" r:id="rId1" imgW="47548800" imgH="19507200" progId="package">
                  <p:embed/>
                  <p:pic>
                    <p:nvPicPr>
                      <p:cNvPr id="112" name="Object"/>
                      <p:cNvPicPr>
                        <a:picLocks noChangeAspect="1"/>
                      </p:cNvPicPr>
                      <p:nvPr/>
                    </p:nvPicPr>
                    <p:blipFill>
                      <a:blip r:embed="rId2" cstate="print"/>
                      <a:stretch>
                        <a:fillRect/>
                      </a:stretch>
                    </p:blipFill>
                    <p:spPr>
                      <a:xfrm rot="0">
                        <a:off x="4367809" y="4797153"/>
                        <a:ext cx="3336925" cy="1368425"/>
                      </a:xfrm>
                      <a:prstGeom prst="rect"/>
                      <a:noFill/>
                      <a:ln cmpd="sng" cap="flat">
                        <a:noFill/>
                        <a:prstDash val="solid"/>
                        <a:miter/>
                      </a:ln>
                    </p:spPr>
                  </p:pic>
                </p:oleObj>
              </mc:Fallback>
            </mc:AlternateContent>
          </a:graphicData>
        </a:graphic>
      </p:graphicFrame>
      <p:sp>
        <p:nvSpPr>
          <p:cNvPr id="113" name="Rectangles"/>
          <p:cNvSpPr>
            <a:spLocks/>
          </p:cNvSpPr>
          <p:nvPr/>
        </p:nvSpPr>
        <p:spPr>
          <a:xfrm rot="0">
            <a:off x="1919288" y="1166813"/>
            <a:ext cx="7176387" cy="5200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Find the mean value for the following data:</a:t>
            </a: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p:pic>
        <p:nvPicPr>
          <p:cNvPr id="114" name="Images"/>
          <p:cNvPicPr>
            <a:picLocks/>
          </p:cNvPicPr>
          <p:nvPr/>
        </p:nvPicPr>
        <p:blipFill>
          <a:blip r:embed="rId3" cstate="print"/>
          <a:stretch>
            <a:fillRect/>
          </a:stretch>
        </p:blipFill>
        <p:spPr>
          <a:xfrm rot="0">
            <a:off x="7201873" y="5506785"/>
            <a:ext cx="563040" cy="239149"/>
          </a:xfrm>
          <a:prstGeom prst="rect"/>
          <a:noFill/>
          <a:ln w="12700" cmpd="sng" cap="flat">
            <a:noFill/>
            <a:prstDash val="solid"/>
            <a:miter/>
          </a:ln>
        </p:spPr>
      </p:pic>
      <p:pic>
        <p:nvPicPr>
          <p:cNvPr id="115" name="Images"/>
          <p:cNvPicPr>
            <a:picLocks/>
          </p:cNvPicPr>
          <p:nvPr/>
        </p:nvPicPr>
        <p:blipFill>
          <a:blip r:embed="rId4" cstate="print"/>
          <a:stretch>
            <a:fillRect/>
          </a:stretch>
        </p:blipFill>
        <p:spPr>
          <a:xfrm rot="0">
            <a:off x="7200034" y="5706823"/>
            <a:ext cx="612796" cy="257400"/>
          </a:xfrm>
          <a:prstGeom prst="rect"/>
          <a:noFill/>
          <a:ln w="12700" cmpd="sng" cap="flat">
            <a:noFill/>
            <a:prstDash val="solid"/>
            <a:miter/>
          </a:ln>
        </p:spPr>
      </p:pic>
    </p:spTree>
    <p:extLst>
      <p:ext uri="{BB962C8B-B14F-4D97-AF65-F5344CB8AC3E}">
        <p14:creationId xmlns:p14="http://schemas.microsoft.com/office/powerpoint/2010/main" val="4630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checkerboard(across)">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2"/>
                                        </p:tgtEl>
                                        <p:attrNameLst>
                                          <p:attrName>style.visibility</p:attrName>
                                        </p:attrNameLst>
                                      </p:cBhvr>
                                      <p:to>
                                        <p:strVal val="visible"/>
                                      </p:to>
                                    </p:set>
                                    <p:anim calcmode="lin" valueType="num">
                                      <p:cBhvr additive="base">
                                        <p:cTn id="12" dur="500" fill="hold"/>
                                        <p:tgtEl>
                                          <p:spTgt spid="112"/>
                                        </p:tgtEl>
                                        <p:attrNameLst>
                                          <p:attrName>ppt_x</p:attrName>
                                        </p:attrNameLst>
                                      </p:cBhvr>
                                      <p:tavLst>
                                        <p:tav tm="0">
                                          <p:val>
                                            <p:strVal val="#ppt_x"/>
                                          </p:val>
                                        </p:tav>
                                        <p:tav tm="100000">
                                          <p:val>
                                            <p:strVal val="#ppt_x"/>
                                          </p:val>
                                        </p:tav>
                                      </p:tavLst>
                                    </p:anim>
                                    <p:anim calcmode="lin" valueType="num">
                                      <p:cBhvr additive="base">
                                        <p:cTn id="13"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Lst>
  </p:timing>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16"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9</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17" name="Text box"/>
          <p:cNvSpPr>
            <a:spLocks noGrp="1"/>
          </p:cNvSpPr>
          <p:nvPr>
            <p:ph type="title"/>
          </p:nvPr>
        </p:nvSpPr>
        <p:spPr>
          <a:xfrm rot="0">
            <a:off x="2927648" y="274292"/>
            <a:ext cx="6418263" cy="706437"/>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graphicFrame>
        <p:nvGraphicFramePr>
          <p:cNvPr id="118" name="Sheet"/>
          <p:cNvGraphicFramePr>
            <a:graphicFrameLocks noGrp="1"/>
          </p:cNvGraphicFramePr>
          <p:nvPr>
            <p:ph type="body" idx="1"/>
            <p:extLst>
              <p:ext uri="{D42A27DB-BD31-4B8C-83A1-F6EECF244321}"/>
            </p:extLst>
          </p:nvPr>
        </p:nvGraphicFramePr>
        <p:xfrm>
          <a:off x="3291071" y="1988840"/>
          <a:ext cx="5370513" cy="3656483"/>
        </p:xfrm>
        <a:graphic>
          <a:graphicData uri="http://schemas.openxmlformats.org/drawingml/2006/table">
            <a:tbl>
              <a:tblPr bandRow="1">
                <a:noFill/>
              </a:tblPr>
              <a:tblGrid>
                <a:gridCol w="2684462"/>
                <a:gridCol w="2686049"/>
              </a:tblGrid>
              <a:tr h="559871">
                <a:tc>
                  <a:txBody>
                    <a:bodyPr/>
                    <a:lstStyle/>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Class interval</a:t>
                      </a:r>
                      <a:endParaRPr lang="zh-CN" altLang="en-US" sz="28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Frequency</a:t>
                      </a:r>
                      <a:endParaRPr lang="zh-CN" altLang="en-US" sz="28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2293937">
                <a:tc>
                  <a:txBody>
                    <a:bodyPr/>
                    <a:lstStyle/>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40.5 – 45.5</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45.5 – 50.5</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50.5 – 55.5</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55.5 – 60.5</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60.5 – 65.5</a:t>
                      </a:r>
                      <a:endParaRPr lang="zh-CN" altLang="en-US" sz="28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7</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10</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15</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12</a:t>
                      </a:r>
                      <a:endParaRPr lang="en-US" altLang="zh-CN" sz="28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6</a:t>
                      </a:r>
                      <a:endParaRPr lang="zh-CN" altLang="en-US" sz="28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530220">
                <a:tc>
                  <a:txBody>
                    <a:bodyPr/>
                    <a:lstStyle/>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Total </a:t>
                      </a:r>
                      <a:endParaRPr lang="zh-CN" altLang="en-US" sz="28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MS PGothic" pitchFamily="34" charset="-128"/>
                        </a:rPr>
                        <a:t>50</a:t>
                      </a:r>
                      <a:endParaRPr lang="zh-CN" altLang="en-US" sz="28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r>
            </a:tbl>
          </a:graphicData>
        </a:graphic>
      </p:graphicFrame>
      <p:sp>
        <p:nvSpPr>
          <p:cNvPr id="119" name="Rectangles"/>
          <p:cNvSpPr>
            <a:spLocks/>
          </p:cNvSpPr>
          <p:nvPr/>
        </p:nvSpPr>
        <p:spPr>
          <a:xfrm rot="0">
            <a:off x="2208213" y="1311275"/>
            <a:ext cx="6453369" cy="52321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Find the mean value for the following data:</a:t>
            </a: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98528179"/>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2"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10</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33" name="Text box"/>
          <p:cNvSpPr>
            <a:spLocks noGrp="1"/>
          </p:cNvSpPr>
          <p:nvPr>
            <p:ph type="title"/>
          </p:nvPr>
        </p:nvSpPr>
        <p:spPr>
          <a:xfrm rot="0">
            <a:off x="3503712" y="260648"/>
            <a:ext cx="5181599" cy="6858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graphicFrame>
        <p:nvGraphicFramePr>
          <p:cNvPr id="134" name="Object"/>
          <p:cNvGraphicFramePr>
            <a:graphicFrameLocks noChangeAspect="1"/>
          </p:cNvGraphicFramePr>
          <p:nvPr/>
        </p:nvGraphicFramePr>
        <p:xfrm>
          <a:off x="4495801" y="4648201"/>
          <a:ext cx="3190875" cy="1216025"/>
        </p:xfrm>
        <a:graphic>
          <a:graphicData uri="http://schemas.openxmlformats.org/presentationml/2006/ole">
            <mc:AlternateContent xmlns:mc="http://schemas.openxmlformats.org/markup-compatibility/2006">
              <mc:Choice xmlns:v="urn:schemas-microsoft-com:vml" Requires="v">
                <p:oleObj spid="" name="package" r:id="rId1" imgW="51206400" imgH="19507200" progId="package">
                  <p:embed/>
                </p:oleObj>
              </mc:Choice>
              <mc:Fallback>
                <p:oleObj name="package" r:id="rId1" imgW="51206400" imgH="19507200" progId="package">
                  <p:embed/>
                  <p:pic>
                    <p:nvPicPr>
                      <p:cNvPr id="134" name="Object"/>
                      <p:cNvPicPr>
                        <a:picLocks noChangeAspect="1"/>
                      </p:cNvPicPr>
                      <p:nvPr/>
                    </p:nvPicPr>
                    <p:blipFill>
                      <a:blip r:embed="rId2" cstate="print"/>
                      <a:stretch>
                        <a:fillRect/>
                      </a:stretch>
                    </p:blipFill>
                    <p:spPr>
                      <a:xfrm rot="0">
                        <a:off x="4495801" y="4648201"/>
                        <a:ext cx="3190875" cy="1216025"/>
                      </a:xfrm>
                      <a:prstGeom prst="rect"/>
                      <a:noFill/>
                      <a:ln cmpd="sng" cap="flat">
                        <a:noFill/>
                        <a:prstDash val="solid"/>
                        <a:miter/>
                      </a:ln>
                    </p:spPr>
                  </p:pic>
                </p:oleObj>
              </mc:Fallback>
            </mc:AlternateContent>
          </a:graphicData>
        </a:graphic>
      </p:graphicFrame>
      <p:graphicFrame>
        <p:nvGraphicFramePr>
          <p:cNvPr id="135" name="Sheet"/>
          <p:cNvGraphicFramePr>
            <a:graphicFrameLocks noGrp="1"/>
          </p:cNvGraphicFramePr>
          <p:nvPr>
            <p:ph type="body" idx="3"/>
            <p:extLst>
              <p:ext uri="{D42A27DB-BD31-4B8C-83A1-F6EECF244321}"/>
            </p:extLst>
          </p:nvPr>
        </p:nvGraphicFramePr>
        <p:xfrm>
          <a:off x="2057400" y="1752599"/>
          <a:ext cx="8305800" cy="2722849"/>
        </p:xfrm>
        <a:graphic>
          <a:graphicData uri="http://schemas.openxmlformats.org/drawingml/2006/table">
            <a:tbl>
              <a:tblPr bandRow="1">
                <a:noFill/>
              </a:tblPr>
              <a:tblGrid>
                <a:gridCol w="1981200"/>
                <a:gridCol w="2438400"/>
                <a:gridCol w="1676400"/>
                <a:gridCol w="2209800"/>
              </a:tblGrid>
              <a:tr h="466717">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Class interval</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Midpoint</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Frequency</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1" u="none" strike="noStrike" kern="1200" cap="none" spc="0" baseline="0">
                          <a:solidFill>
                            <a:schemeClr val="tx1"/>
                          </a:solidFill>
                          <a:latin typeface="Calibri" pitchFamily="0" charset="0"/>
                          <a:ea typeface="MS PGothic" pitchFamily="34" charset="-128"/>
                          <a:cs typeface="MS PGothic" pitchFamily="34" charset="-128"/>
                        </a:rPr>
                        <a:t>f</a:t>
                      </a:r>
                      <a:r>
                        <a:rPr lang="en-US" altLang="zh-CN" sz="2000" b="0" i="1" u="none" strike="noStrike" kern="1200" cap="none" spc="0" baseline="-25000">
                          <a:solidFill>
                            <a:schemeClr val="tx1"/>
                          </a:solidFill>
                          <a:latin typeface="Calibri" pitchFamily="0" charset="0"/>
                          <a:ea typeface="MS PGothic" pitchFamily="34" charset="-128"/>
                          <a:cs typeface="MS PGothic" pitchFamily="34" charset="-128"/>
                        </a:rPr>
                        <a:t>i</a:t>
                      </a:r>
                      <a:r>
                        <a:rPr lang="en-US" altLang="zh-CN" sz="2000" b="0" i="1" u="none" strike="noStrike" kern="1200" cap="none" spc="0" baseline="0">
                          <a:solidFill>
                            <a:schemeClr val="tx1"/>
                          </a:solidFill>
                          <a:latin typeface="Calibri" pitchFamily="0" charset="0"/>
                          <a:ea typeface="MS PGothic" pitchFamily="34" charset="-128"/>
                          <a:cs typeface="MS PGothic" pitchFamily="34" charset="-128"/>
                        </a:rPr>
                        <a:t>X</a:t>
                      </a:r>
                      <a:r>
                        <a:rPr lang="en-US" altLang="zh-CN" sz="2000" b="0" i="1" u="none" strike="noStrike" kern="1200" cap="none" spc="0" baseline="-25000">
                          <a:solidFill>
                            <a:schemeClr val="tx1"/>
                          </a:solidFill>
                          <a:latin typeface="Calibri" pitchFamily="0" charset="0"/>
                          <a:ea typeface="MS PGothic" pitchFamily="34" charset="-128"/>
                          <a:cs typeface="MS PGothic" pitchFamily="34" charset="-128"/>
                        </a:rPr>
                        <a:t>i</a:t>
                      </a:r>
                      <a:endParaRPr lang="zh-CN" altLang="en-US" sz="2000" b="0" i="1" u="none" strike="noStrike" kern="1200" cap="none" spc="0" baseline="-2500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1858956">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40.5 – 45.5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45.5 – 50.5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50.5 – 55.5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55.5 – 60.5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60.5 – 65.5</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(40.5 + 45.5) </a:t>
                      </a:r>
                      <a:r>
                        <a:rPr lang="en-US" altLang="zh-CN" sz="2000" b="0" i="0" u="none" strike="noStrike" kern="1200" cap="none" spc="0" baseline="0">
                          <a:solidFill>
                            <a:schemeClr val="tx1"/>
                          </a:solidFill>
                          <a:latin typeface="Calibri" pitchFamily="0" charset="0"/>
                          <a:ea typeface="MS PGothic" pitchFamily="34" charset="-128"/>
                          <a:cs typeface="MS PGothic" pitchFamily="34" charset="-128"/>
                          <a:sym typeface="Symbol" pitchFamily="18" charset="2"/>
                        </a:rPr>
                        <a:t> 2 </a:t>
                      </a: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 43</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48</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53</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58</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63</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7</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10</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15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12</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6</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43 x 7 = 301</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480</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795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696</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378</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396872">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Total </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50</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2650</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694" marR="91440" marB="45694"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r>
            </a:tbl>
          </a:graphicData>
        </a:graphic>
      </p:graphicFrame>
      <p:pic>
        <p:nvPicPr>
          <p:cNvPr id="136" name="Images"/>
          <p:cNvPicPr>
            <a:picLocks/>
          </p:cNvPicPr>
          <p:nvPr/>
        </p:nvPicPr>
        <p:blipFill>
          <a:blip r:embed="rId3" cstate="print"/>
          <a:stretch>
            <a:fillRect/>
          </a:stretch>
        </p:blipFill>
        <p:spPr>
          <a:xfrm rot="0">
            <a:off x="7298713" y="5293903"/>
            <a:ext cx="442080" cy="232199"/>
          </a:xfrm>
          <a:prstGeom prst="rect"/>
          <a:noFill/>
          <a:ln w="12700" cmpd="sng" cap="flat">
            <a:noFill/>
            <a:prstDash val="solid"/>
            <a:miter/>
          </a:ln>
        </p:spPr>
      </p:pic>
      <p:pic>
        <p:nvPicPr>
          <p:cNvPr id="137" name="Images"/>
          <p:cNvPicPr>
            <a:picLocks/>
          </p:cNvPicPr>
          <p:nvPr/>
        </p:nvPicPr>
        <p:blipFill>
          <a:blip r:embed="rId4" cstate="print"/>
          <a:stretch>
            <a:fillRect/>
          </a:stretch>
        </p:blipFill>
        <p:spPr>
          <a:xfrm rot="0">
            <a:off x="7276753" y="5438263"/>
            <a:ext cx="546479" cy="228959"/>
          </a:xfrm>
          <a:prstGeom prst="rect"/>
          <a:noFill/>
          <a:ln w="12700" cmpd="sng" cap="flat">
            <a:noFill/>
            <a:prstDash val="solid"/>
            <a:miter/>
          </a:ln>
        </p:spPr>
      </p:pic>
    </p:spTree>
    <p:extLst>
      <p:ext uri="{BB962C8B-B14F-4D97-AF65-F5344CB8AC3E}">
        <p14:creationId xmlns:p14="http://schemas.microsoft.com/office/powerpoint/2010/main" val="1010855945"/>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8" name="Text box"/>
          <p:cNvSpPr>
            <a:spLocks noGrp="1"/>
          </p:cNvSpPr>
          <p:nvPr>
            <p:ph type="sldNum" idx="12"/>
          </p:nvPr>
        </p:nvSpPr>
        <p:spPr>
          <a:xfrm rot="0">
            <a:off x="5735638" y="6519863"/>
            <a:ext cx="576261"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11</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39" name="Text box"/>
          <p:cNvSpPr>
            <a:spLocks noGrp="1"/>
          </p:cNvSpPr>
          <p:nvPr>
            <p:ph type="title"/>
          </p:nvPr>
        </p:nvSpPr>
        <p:spPr>
          <a:xfrm rot="0">
            <a:off x="3861816"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Median</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140" name="Text box"/>
          <p:cNvSpPr>
            <a:spLocks noGrp="1"/>
          </p:cNvSpPr>
          <p:nvPr>
            <p:ph type="body" idx="1"/>
          </p:nvPr>
        </p:nvSpPr>
        <p:spPr>
          <a:xfrm rot="0">
            <a:off x="1847850" y="1341437"/>
            <a:ext cx="8229600" cy="4525962"/>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2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median is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middle</a:t>
            </a:r>
            <a:r>
              <a:rPr lang="en-US" altLang="zh-CN" sz="2800" b="0" i="0" u="none" strike="noStrike" kern="1200" cap="none" spc="0" baseline="0">
                <a:solidFill>
                  <a:schemeClr val="tx1"/>
                </a:solidFill>
                <a:latin typeface="Calibri" pitchFamily="0" charset="0"/>
                <a:ea typeface="ＭＳ Ｐゴシック" pitchFamily="0" charset="-128"/>
                <a:cs typeface="Lucida Sans"/>
              </a:rPr>
              <a:t> value when the data are arranged from smallest to largest.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2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To find the median, your numbers must be listed in an order, so you may have to rewrite your list first.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2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For an </a:t>
            </a:r>
            <a:r>
              <a:rPr lang="en-US" altLang="zh-CN" sz="2800" b="1" i="0" u="none" strike="noStrike" kern="1200" cap="none" spc="0" baseline="0">
                <a:solidFill>
                  <a:schemeClr val="tx1"/>
                </a:solidFill>
                <a:latin typeface="Calibri" pitchFamily="0" charset="0"/>
                <a:ea typeface="ＭＳ Ｐゴシック" pitchFamily="0" charset="-128"/>
                <a:cs typeface="Lucida Sans"/>
              </a:rPr>
              <a:t>odd</a:t>
            </a:r>
            <a:r>
              <a:rPr lang="en-US" altLang="zh-CN" sz="2800" b="0" i="0" u="none" strike="noStrike" kern="1200" cap="none" spc="0" baseline="0">
                <a:solidFill>
                  <a:schemeClr val="tx1"/>
                </a:solidFill>
                <a:latin typeface="Calibri" pitchFamily="0" charset="0"/>
                <a:ea typeface="ＭＳ Ｐゴシック" pitchFamily="0" charset="-128"/>
                <a:cs typeface="Lucida Sans"/>
              </a:rPr>
              <a:t> number of observations, the formula for the place to find the median is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2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chemeClr val="tx1"/>
                </a:solidFill>
                <a:latin typeface="Calibri" pitchFamily="0" charset="0"/>
                <a:ea typeface="ＭＳ Ｐゴシック" pitchFamily="0" charset="-128"/>
                <a:cs typeface="Lucida Sans"/>
              </a:rPr>
              <a:t>([the number of data points] + 1) ÷ 2</a:t>
            </a:r>
            <a:endParaRPr lang="zh-CN" altLang="en-US" sz="2800" b="1"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651735667"/>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1"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12</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42" name="Text box"/>
          <p:cNvSpPr>
            <a:spLocks noGrp="1"/>
          </p:cNvSpPr>
          <p:nvPr>
            <p:ph type="title"/>
          </p:nvPr>
        </p:nvSpPr>
        <p:spPr>
          <a:xfrm rot="0">
            <a:off x="2999656" y="274862"/>
            <a:ext cx="6202361" cy="7778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143" name="Text box"/>
          <p:cNvSpPr>
            <a:spLocks noGrp="1"/>
          </p:cNvSpPr>
          <p:nvPr>
            <p:ph type="body" idx="1"/>
          </p:nvPr>
        </p:nvSpPr>
        <p:spPr>
          <a:xfrm rot="0">
            <a:off x="1847529" y="1556792"/>
            <a:ext cx="8569325" cy="4525962"/>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Data: </a:t>
            </a:r>
            <a:r>
              <a:rPr lang="en-US" altLang="zh-CN" sz="2800" b="1" i="0" u="none" strike="noStrike" kern="1200" cap="none" spc="0" baseline="0">
                <a:solidFill>
                  <a:schemeClr val="tx1"/>
                </a:solidFill>
                <a:latin typeface="Calibri" pitchFamily="0" charset="0"/>
                <a:ea typeface="ＭＳ Ｐゴシック" pitchFamily="0" charset="-128"/>
                <a:cs typeface="Lucida Sans"/>
              </a:rPr>
              <a:t>13, 18, 13, 14, 13, 16, 14, 21, 13</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Arrange in order: </a:t>
            </a:r>
            <a:r>
              <a:rPr lang="en-US" altLang="zh-CN" sz="2800" b="1" i="0" u="none" strike="noStrike" kern="1200" cap="none" spc="0" baseline="0">
                <a:solidFill>
                  <a:schemeClr val="tx1"/>
                </a:solidFill>
                <a:latin typeface="Calibri" pitchFamily="0" charset="0"/>
                <a:ea typeface="ＭＳ Ｐゴシック" pitchFamily="0" charset="-128"/>
                <a:cs typeface="Lucida Sans"/>
              </a:rPr>
              <a:t>13, 13, 13, 13, </a:t>
            </a:r>
            <a:r>
              <a:rPr lang="en-US" altLang="zh-CN" sz="2800" b="1" i="0" u="none" strike="noStrike" kern="1200" cap="none" spc="0" baseline="0">
                <a:solidFill>
                  <a:srgbClr val="CC3300"/>
                </a:solidFill>
                <a:latin typeface="Calibri" pitchFamily="0" charset="0"/>
                <a:ea typeface="ＭＳ Ｐゴシック" pitchFamily="0" charset="-128"/>
                <a:cs typeface="Lucida Sans"/>
              </a:rPr>
              <a:t>14</a:t>
            </a:r>
            <a:r>
              <a:rPr lang="en-US" altLang="zh-CN" sz="2800" b="1" i="0" u="none" strike="noStrike" kern="1200" cap="none" spc="0" baseline="0">
                <a:solidFill>
                  <a:schemeClr val="tx1"/>
                </a:solidFill>
                <a:latin typeface="Calibri" pitchFamily="0" charset="0"/>
                <a:ea typeface="ＭＳ Ｐゴシック" pitchFamily="0" charset="-128"/>
                <a:cs typeface="Lucida Sans"/>
              </a:rPr>
              <a:t>, 14, 16, 18, 21</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There are </a:t>
            </a:r>
            <a:r>
              <a:rPr lang="en-US" altLang="zh-CN" sz="2800" b="1" i="0" u="none" strike="noStrike" kern="1200" cap="none" spc="0" baseline="0">
                <a:solidFill>
                  <a:schemeClr val="tx1"/>
                </a:solidFill>
                <a:latin typeface="Calibri" pitchFamily="0" charset="0"/>
                <a:ea typeface="ＭＳ Ｐゴシック" pitchFamily="0" charset="-128"/>
                <a:cs typeface="Lucida Sans"/>
              </a:rPr>
              <a:t>nine</a:t>
            </a:r>
            <a:r>
              <a:rPr lang="en-US" altLang="zh-CN" sz="2800" b="0" i="0" u="none" strike="noStrike" kern="1200" cap="none" spc="0" baseline="0">
                <a:solidFill>
                  <a:schemeClr val="tx1"/>
                </a:solidFill>
                <a:latin typeface="Calibri" pitchFamily="0" charset="0"/>
                <a:ea typeface="ＭＳ Ｐゴシック" pitchFamily="0" charset="-128"/>
                <a:cs typeface="Lucida Sans"/>
              </a:rPr>
              <a:t> numbers in the list, so, the middle one will be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(9 + 1) ÷ 2 = 10 ÷ 2 = 5</a:t>
            </a:r>
            <a:r>
              <a:rPr lang="en-US" altLang="zh-CN" sz="2800" b="1" i="0" u="none" strike="noStrike" kern="1200" cap="none" spc="0" baseline="30000">
                <a:solidFill>
                  <a:schemeClr val="tx1"/>
                </a:solidFill>
                <a:latin typeface="Calibri" pitchFamily="0" charset="0"/>
                <a:ea typeface="ＭＳ Ｐゴシック" pitchFamily="0" charset="-128"/>
                <a:cs typeface="Lucida Sans"/>
              </a:rPr>
              <a:t>th</a:t>
            </a:r>
            <a:r>
              <a:rPr lang="en-US" altLang="zh-CN" sz="2800" b="0" i="0" u="none" strike="noStrike" kern="1200" cap="none" spc="0" baseline="0">
                <a:solidFill>
                  <a:schemeClr val="tx1"/>
                </a:solidFill>
                <a:latin typeface="Calibri" pitchFamily="0" charset="0"/>
                <a:ea typeface="ＭＳ Ｐゴシック" pitchFamily="0" charset="-128"/>
                <a:cs typeface="Lucida Sans"/>
              </a:rPr>
              <a:t> number.</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So,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median is 14</a:t>
            </a:r>
            <a:r>
              <a:rPr lang="en-US" altLang="zh-CN" sz="2800" b="0" i="0" u="none" strike="noStrike" kern="1200" cap="none" spc="0" baseline="0">
                <a:solidFill>
                  <a:schemeClr val="tx1"/>
                </a:solidFill>
                <a:latin typeface="Calibri" pitchFamily="0" charset="0"/>
                <a:ea typeface="ＭＳ Ｐゴシック" pitchFamily="0" charset="-128"/>
                <a:cs typeface="Lucida Sans"/>
              </a:rPr>
              <a:t>.</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962232603"/>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4"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13</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45" name="Text box"/>
          <p:cNvSpPr>
            <a:spLocks noGrp="1"/>
          </p:cNvSpPr>
          <p:nvPr>
            <p:ph type="body" idx="1"/>
          </p:nvPr>
        </p:nvSpPr>
        <p:spPr>
          <a:xfrm rot="0">
            <a:off x="1981200" y="1125538"/>
            <a:ext cx="8229600" cy="4525962"/>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For an </a:t>
            </a:r>
            <a:r>
              <a:rPr lang="en-US" altLang="zh-CN" sz="2800" b="1" i="0" u="none" strike="noStrike" kern="1200" cap="none" spc="0" baseline="0">
                <a:solidFill>
                  <a:schemeClr val="tx1"/>
                </a:solidFill>
                <a:latin typeface="Calibri" pitchFamily="0" charset="0"/>
                <a:ea typeface="ＭＳ Ｐゴシック" pitchFamily="0" charset="-128"/>
                <a:cs typeface="Lucida Sans"/>
              </a:rPr>
              <a:t>even number of observations</a:t>
            </a:r>
            <a:r>
              <a:rPr lang="en-US" altLang="zh-CN" sz="2800" b="0" i="0" u="none" strike="noStrike" kern="1200" cap="none" spc="0" baseline="0">
                <a:solidFill>
                  <a:schemeClr val="tx1"/>
                </a:solidFill>
                <a:latin typeface="Calibri" pitchFamily="0" charset="0"/>
                <a:ea typeface="ＭＳ Ｐゴシック" pitchFamily="0" charset="-128"/>
                <a:cs typeface="Lucida Sans"/>
              </a:rPr>
              <a:t>, the median is the mean of the</a:t>
            </a:r>
            <a:r>
              <a:rPr lang="en-US" altLang="zh-CN" sz="2800" b="1" i="0" u="none" strike="noStrike" kern="1200" cap="none" spc="0" baseline="0">
                <a:solidFill>
                  <a:schemeClr val="tx1"/>
                </a:solidFill>
                <a:latin typeface="Calibri" pitchFamily="0" charset="0"/>
                <a:ea typeface="ＭＳ Ｐゴシック" pitchFamily="0" charset="-128"/>
                <a:cs typeface="Lucida Sans"/>
              </a:rPr>
              <a:t> two middle number</a:t>
            </a:r>
            <a:r>
              <a:rPr lang="en-US" altLang="zh-CN" sz="2800" b="0" i="0" u="none" strike="noStrike" kern="1200" cap="none" spc="0" baseline="0">
                <a:solidFill>
                  <a:schemeClr val="tx1"/>
                </a:solidFill>
                <a:latin typeface="Calibri" pitchFamily="0" charset="0"/>
                <a:ea typeface="ＭＳ Ｐゴシック" pitchFamily="0" charset="-128"/>
                <a:cs typeface="Lucida Sans"/>
              </a:rPr>
              <a:t>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Example: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chemeClr val="tx1"/>
                </a:solidFill>
                <a:latin typeface="Calibri" pitchFamily="0" charset="0"/>
                <a:ea typeface="ＭＳ Ｐゴシック" pitchFamily="0" charset="-128"/>
                <a:cs typeface="Lucida Sans"/>
              </a:rPr>
              <a:t>2,  3,  3,  </a:t>
            </a:r>
            <a:r>
              <a:rPr lang="en-US" altLang="zh-CN" sz="2800" b="1" i="0" u="none" strike="noStrike" kern="1200" cap="none" spc="0" baseline="0">
                <a:solidFill>
                  <a:srgbClr val="FF0000"/>
                </a:solidFill>
                <a:latin typeface="Calibri" pitchFamily="0" charset="0"/>
                <a:ea typeface="ＭＳ Ｐゴシック" pitchFamily="0" charset="-128"/>
                <a:cs typeface="Lucida Sans"/>
              </a:rPr>
              <a:t>5,  6,</a:t>
            </a:r>
            <a:r>
              <a:rPr lang="en-US" altLang="zh-CN" sz="2800" b="1" i="0" u="none" strike="noStrike" kern="1200" cap="none" spc="0" baseline="0">
                <a:solidFill>
                  <a:schemeClr val="tx1"/>
                </a:solidFill>
                <a:latin typeface="Calibri" pitchFamily="0" charset="0"/>
                <a:ea typeface="ＭＳ Ｐゴシック" pitchFamily="0" charset="-128"/>
                <a:cs typeface="Lucida Sans"/>
              </a:rPr>
              <a:t>  7, 8,  9</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(5 + 6) ÷ 2 = </a:t>
            </a:r>
            <a:r>
              <a:rPr lang="en-US" altLang="zh-CN" sz="2800" b="1" i="0" u="none" strike="noStrike" kern="1200" cap="none" spc="0" baseline="0">
                <a:solidFill>
                  <a:schemeClr val="tx1"/>
                </a:solidFill>
                <a:latin typeface="Calibri" pitchFamily="0" charset="0"/>
                <a:ea typeface="ＭＳ Ｐゴシック" pitchFamily="0" charset="-128"/>
                <a:cs typeface="Lucida Sans"/>
              </a:rPr>
              <a:t>5.5   (median)</a:t>
            </a:r>
            <a:endParaRPr lang="zh-CN" altLang="en-US" sz="2800" b="1"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178172578"/>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6" name="Text box"/>
          <p:cNvSpPr>
            <a:spLocks noGrp="1"/>
          </p:cNvSpPr>
          <p:nvPr>
            <p:ph type="sldNum" idx="12"/>
          </p:nvPr>
        </p:nvSpPr>
        <p:spPr>
          <a:xfrm rot="0">
            <a:off x="5808664" y="6524626"/>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14</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47" name="Text box"/>
          <p:cNvSpPr>
            <a:spLocks noGrp="1"/>
          </p:cNvSpPr>
          <p:nvPr>
            <p:ph type="body" idx="1"/>
          </p:nvPr>
        </p:nvSpPr>
        <p:spPr>
          <a:xfrm rot="0">
            <a:off x="1919288" y="1125538"/>
            <a:ext cx="8424862" cy="5256212"/>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median is meaningful for ratio, interval, and ordinal data.</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median is not affected by outliers.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Example:  </a:t>
            </a:r>
            <a:r>
              <a:rPr lang="en-US" altLang="zh-CN" sz="2800" b="1" i="0" u="none" strike="noStrike" kern="1200" cap="none" spc="0" baseline="0">
                <a:solidFill>
                  <a:schemeClr val="tx1"/>
                </a:solidFill>
                <a:latin typeface="Calibri" pitchFamily="0" charset="0"/>
                <a:ea typeface="ＭＳ Ｐゴシック" pitchFamily="0" charset="-128"/>
                <a:cs typeface="Lucida Sans"/>
              </a:rPr>
              <a:t>3, 4, 6, 4, 7, 3, 6, 5,</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rgbClr val="FF0000"/>
                </a:solidFill>
                <a:latin typeface="Calibri" pitchFamily="0" charset="0"/>
                <a:ea typeface="ＭＳ Ｐゴシック" pitchFamily="0" charset="-128"/>
                <a:cs typeface="Lucida Sans"/>
              </a:rPr>
              <a:t>1500</a:t>
            </a:r>
            <a:endParaRPr lang="en-US" altLang="zh-CN" sz="2800" b="1" i="0" u="none" strike="noStrike" kern="1200" cap="none" spc="0" baseline="0">
              <a:solidFill>
                <a:srgbClr val="FF0000"/>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1" i="0" u="none" strike="noStrike" kern="1200" cap="none" spc="0" baseline="0">
                <a:solidFill>
                  <a:schemeClr val="tx1"/>
                </a:solidFill>
                <a:latin typeface="Calibri" pitchFamily="0" charset="0"/>
                <a:ea typeface="ＭＳ Ｐゴシック" pitchFamily="0" charset="-128"/>
                <a:cs typeface="Lucida Sans"/>
              </a:rPr>
              <a:t>          </a:t>
            </a:r>
            <a:r>
              <a:rPr lang="en-US" altLang="zh-CN" sz="2800" b="0" i="0" u="none" strike="noStrike" kern="1200" cap="none" spc="0" baseline="0">
                <a:solidFill>
                  <a:schemeClr val="tx1"/>
                </a:solidFill>
                <a:latin typeface="Calibri" pitchFamily="0" charset="0"/>
                <a:ea typeface="ＭＳ Ｐゴシック" pitchFamily="0" charset="-128"/>
                <a:cs typeface="Lucida Sans"/>
              </a:rPr>
              <a:t> (sort)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1" i="0" u="none" strike="noStrike" kern="1200" cap="none" spc="0" baseline="0">
                <a:solidFill>
                  <a:schemeClr val="tx1"/>
                </a:solidFill>
                <a:latin typeface="Calibri" pitchFamily="0" charset="0"/>
                <a:ea typeface="ＭＳ Ｐゴシック" pitchFamily="0" charset="-128"/>
                <a:cs typeface="Lucida Sans"/>
              </a:rPr>
              <a:t>			</a:t>
            </a:r>
            <a:r>
              <a:rPr lang="en-US" altLang="zh-CN" sz="2800" b="0" i="0" u="none" strike="noStrike" kern="1200" cap="none" spc="0" baseline="0">
                <a:solidFill>
                  <a:schemeClr val="tx1"/>
                </a:solidFill>
                <a:latin typeface="Calibri" pitchFamily="0" charset="0"/>
                <a:ea typeface="ＭＳ Ｐゴシック" pitchFamily="0" charset="-128"/>
                <a:cs typeface="Lucida Sans"/>
              </a:rPr>
              <a:t>3, 3, 4, 4, </a:t>
            </a:r>
            <a:r>
              <a:rPr lang="en-US" altLang="zh-CN" sz="2800" b="1" i="0" u="none" strike="noStrike" kern="1200" cap="none" spc="0" baseline="0">
                <a:solidFill>
                  <a:schemeClr val="tx1"/>
                </a:solidFill>
                <a:latin typeface="Calibri" pitchFamily="0" charset="0"/>
                <a:ea typeface="ＭＳ Ｐゴシック" pitchFamily="0" charset="-128"/>
                <a:cs typeface="Lucida Sans"/>
              </a:rPr>
              <a:t>5</a:t>
            </a:r>
            <a:r>
              <a:rPr lang="en-US" altLang="zh-CN" sz="2800" b="0" i="0" u="none" strike="noStrike" kern="1200" cap="none" spc="0" baseline="0">
                <a:solidFill>
                  <a:schemeClr val="tx1"/>
                </a:solidFill>
                <a:latin typeface="Calibri" pitchFamily="0" charset="0"/>
                <a:ea typeface="ＭＳ Ｐゴシック" pitchFamily="0" charset="-128"/>
                <a:cs typeface="Lucida Sans"/>
              </a:rPr>
              <a:t>, 6, 6, 7, 1500</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Median: </a:t>
            </a:r>
            <a:r>
              <a:rPr lang="en-US" altLang="zh-CN" sz="2800" b="1" i="0" u="none" strike="noStrike" kern="1200" cap="none" spc="0" baseline="0">
                <a:solidFill>
                  <a:schemeClr val="tx1"/>
                </a:solidFill>
                <a:latin typeface="Calibri" pitchFamily="0" charset="0"/>
                <a:ea typeface="ＭＳ Ｐゴシック" pitchFamily="0" charset="-128"/>
                <a:cs typeface="Lucida Sans"/>
              </a:rPr>
              <a:t>5</a:t>
            </a:r>
            <a:endParaRPr lang="zh-CN" altLang="en-US" sz="2800" b="1"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573456208"/>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8" name="Rectangles"/>
          <p:cNvSpPr>
            <a:spLocks noGrp="1"/>
          </p:cNvSpPr>
          <p:nvPr>
            <p:ph type="sldNum" idx="12"/>
          </p:nvPr>
        </p:nvSpPr>
        <p:spPr>
          <a:xfrm rot="0">
            <a:off x="8737600" y="6356351"/>
            <a:ext cx="2844799"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eaLnBrk="1" fontAlgn="base"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MS PGothic" pitchFamily="34" charset="-128"/>
                <a:cs typeface="Arial" pitchFamily="0" charset="0"/>
              </a:rPr>
              <a:t>15</a:t>
            </a:fld>
            <a:endParaRPr lang="zh-CN" altLang="en-US" sz="1000" b="0" i="0" u="none" strike="noStrike" kern="1200" cap="none" spc="0" baseline="0">
              <a:solidFill>
                <a:schemeClr val="bg1"/>
              </a:solidFill>
              <a:latin typeface="Arial" pitchFamily="0" charset="0"/>
              <a:ea typeface="MS PGothic" pitchFamily="34" charset="-128"/>
              <a:cs typeface="Arial" pitchFamily="0" charset="0"/>
            </a:endParaRPr>
          </a:p>
        </p:txBody>
      </p:sp>
      <p:sp>
        <p:nvSpPr>
          <p:cNvPr id="149" name="Text box"/>
          <p:cNvSpPr>
            <a:spLocks noGrp="1"/>
          </p:cNvSpPr>
          <p:nvPr>
            <p:ph type="title"/>
          </p:nvPr>
        </p:nvSpPr>
        <p:spPr>
          <a:xfrm rot="0">
            <a:off x="3886200"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Median of Grouped Data </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150" name="Text box"/>
          <p:cNvSpPr>
            <a:spLocks noGrp="1"/>
          </p:cNvSpPr>
          <p:nvPr>
            <p:ph type="body" idx="1"/>
          </p:nvPr>
        </p:nvSpPr>
        <p:spPr>
          <a:xfrm rot="0">
            <a:off x="1774824" y="1458912"/>
            <a:ext cx="8497888" cy="5399087"/>
          </a:xfrm>
          <a:prstGeom prst="rect"/>
          <a:noFill/>
          <a:ln w="12700" cmpd="sng" cap="flat">
            <a:noFill/>
            <a:prstDash val="solid"/>
            <a:round/>
          </a:ln>
        </p:spPr>
        <p:txBody>
          <a:bodyPr vert="horz" wrap="square" lIns="91440" tIns="45720" rIns="91440" bIns="45720" anchor="t" anchorCtr="0">
            <a:prstTxWarp prst="textNoShape"/>
          </a:bodyPr>
          <a:lstStyle/>
          <a:p>
            <a:pPr marL="0" indent="0" algn="l"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median for the grouped data is given by</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9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90000"/>
              </a:lnSpc>
              <a:spcBef>
                <a:spcPct val="20000"/>
              </a:spcBef>
              <a:spcAft>
                <a:spcPts val="0"/>
              </a:spcAft>
              <a:buFont typeface="Arial" pitchFamily="0" charset="0"/>
              <a:buChar char="•"/>
            </a:pPr>
            <a:endParaRPr lang="en-US" altLang="zh-CN" sz="20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90000"/>
              </a:lnSpc>
              <a:spcBef>
                <a:spcPct val="20000"/>
              </a:spcBef>
              <a:spcAft>
                <a:spcPts val="0"/>
              </a:spcAft>
              <a:buNone/>
            </a:pPr>
            <a:endParaRPr lang="en-US" altLang="zh-CN" sz="20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29999"/>
              </a:lnSpc>
              <a:spcBef>
                <a:spcPct val="2000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Lucida Sans"/>
              </a:rPr>
              <a:t>where, </a:t>
            </a:r>
            <a:endParaRPr lang="en-US" altLang="zh-CN" sz="20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29999"/>
              </a:lnSpc>
              <a:spcBef>
                <a:spcPct val="2000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Lucida Sans"/>
              </a:rPr>
              <a:t>      (</a:t>
            </a:r>
            <a:r>
              <a:rPr lang="en-US" altLang="zh-CN" sz="2000" b="0" i="0" u="none" strike="noStrike" kern="1200" cap="none" spc="0" baseline="0">
                <a:solidFill>
                  <a:srgbClr val="0000FF"/>
                </a:solidFill>
                <a:latin typeface="Calibri" pitchFamily="0" charset="0"/>
                <a:ea typeface="ＭＳ Ｐゴシック" pitchFamily="0" charset="-128"/>
                <a:cs typeface="Lucida Sans"/>
              </a:rPr>
              <a:t>Median class</a:t>
            </a:r>
            <a:r>
              <a:rPr lang="en-US" altLang="zh-CN" sz="2000" b="0" i="1" u="none" strike="noStrike" kern="1200" cap="none" spc="0" baseline="0">
                <a:solidFill>
                  <a:srgbClr val="FF0000"/>
                </a:solidFill>
                <a:latin typeface="Calibri" pitchFamily="0" charset="0"/>
                <a:ea typeface="ＭＳ Ｐゴシック" pitchFamily="0" charset="-128"/>
                <a:cs typeface="Lucida Sans"/>
              </a:rPr>
              <a:t> </a:t>
            </a:r>
            <a:r>
              <a:rPr lang="en-US" altLang="zh-CN" sz="2000" b="0" i="0" u="none" strike="noStrike" kern="1200" cap="none" spc="0" baseline="0">
                <a:solidFill>
                  <a:schemeClr val="tx1"/>
                </a:solidFill>
                <a:latin typeface="Calibri" pitchFamily="0" charset="0"/>
                <a:ea typeface="ＭＳ Ｐゴシック" pitchFamily="0" charset="-128"/>
                <a:cs typeface="Lucida Sans"/>
              </a:rPr>
              <a:t>is the first class with the value of cumulative frequency equal at least </a:t>
            </a:r>
            <a:r>
              <a:rPr lang="en-US" altLang="zh-CN" sz="2000" b="0" i="1" u="none" strike="noStrike" kern="1200" cap="none" spc="0" baseline="0">
                <a:solidFill>
                  <a:schemeClr val="tx1"/>
                </a:solidFill>
                <a:latin typeface="Calibri" pitchFamily="0" charset="0"/>
                <a:ea typeface="ＭＳ Ｐゴシック" pitchFamily="0" charset="-128"/>
                <a:cs typeface="Lucida Sans"/>
              </a:rPr>
              <a:t>N/2)</a:t>
            </a:r>
            <a:endParaRPr lang="en-US" altLang="zh-CN" sz="20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29999"/>
              </a:lnSpc>
              <a:spcBef>
                <a:spcPct val="20000"/>
              </a:spcBef>
              <a:spcAft>
                <a:spcPts val="0"/>
              </a:spcAft>
              <a:buNone/>
            </a:pPr>
            <a:r>
              <a:rPr lang="en-US" altLang="zh-CN" sz="2000" b="0" i="1" u="none" strike="noStrike" kern="1200" cap="none" spc="0" baseline="0">
                <a:solidFill>
                  <a:schemeClr val="tx1"/>
                </a:solidFill>
                <a:latin typeface="Calibri" pitchFamily="0" charset="0"/>
                <a:ea typeface="ＭＳ Ｐゴシック" pitchFamily="0" charset="-128"/>
                <a:cs typeface="Lucida Sans"/>
              </a:rPr>
              <a:t>	</a:t>
            </a:r>
            <a:r>
              <a:rPr lang="en-US" altLang="zh-CN" sz="2000" b="1" i="1" u="none" strike="noStrike" kern="1200" cap="none" spc="0" baseline="0">
                <a:solidFill>
                  <a:schemeClr val="tx1"/>
                </a:solidFill>
                <a:latin typeface="Calibri" pitchFamily="0" charset="0"/>
                <a:ea typeface="ＭＳ Ｐゴシック" pitchFamily="0" charset="-128"/>
                <a:cs typeface="Lucida Sans"/>
              </a:rPr>
              <a:t>L</a:t>
            </a:r>
            <a:r>
              <a:rPr lang="en-US" altLang="zh-CN" sz="2000" b="0" i="0" u="none" strike="noStrike" kern="1200" cap="none" spc="0" baseline="0">
                <a:solidFill>
                  <a:schemeClr val="tx1"/>
                </a:solidFill>
                <a:latin typeface="Calibri" pitchFamily="0" charset="0"/>
                <a:ea typeface="ＭＳ Ｐゴシック" pitchFamily="0" charset="-128"/>
                <a:cs typeface="Lucida Sans"/>
              </a:rPr>
              <a:t> 	: lower class limit of median class,</a:t>
            </a:r>
            <a:br>
              <a:rPr lang="zh-CN" altLang="en-US" sz="2000" b="0" i="0" u="none" strike="noStrike" kern="1200" cap="none" spc="0" baseline="0">
                <a:solidFill>
                  <a:schemeClr val="tx1"/>
                </a:solidFill>
                <a:latin typeface="Calibri" pitchFamily="0" charset="0"/>
                <a:ea typeface="ＭＳ Ｐゴシック" pitchFamily="0" charset="-128"/>
                <a:cs typeface="Lucida Sans"/>
              </a:rPr>
            </a:br>
            <a:r>
              <a:rPr lang="en-US" altLang="zh-CN" sz="2000" b="1" i="1" u="none" strike="noStrike" kern="1200" cap="none" spc="0" baseline="0">
                <a:solidFill>
                  <a:schemeClr val="tx1"/>
                </a:solidFill>
                <a:latin typeface="Calibri" pitchFamily="0" charset="0"/>
                <a:ea typeface="ＭＳ Ｐゴシック" pitchFamily="0" charset="-128"/>
                <a:cs typeface="Lucida Sans"/>
              </a:rPr>
              <a:t>N</a:t>
            </a:r>
            <a:r>
              <a:rPr lang="en-US" altLang="zh-CN" sz="2000" b="0" i="0" u="none" strike="noStrike" kern="1200" cap="none" spc="0" baseline="0">
                <a:solidFill>
                  <a:schemeClr val="tx1"/>
                </a:solidFill>
                <a:latin typeface="Calibri" pitchFamily="0" charset="0"/>
                <a:ea typeface="ＭＳ Ｐゴシック" pitchFamily="0" charset="-128"/>
                <a:cs typeface="Lucida Sans"/>
              </a:rPr>
              <a:t> 	: total number of observations,</a:t>
            </a:r>
            <a:endParaRPr lang="en-US" altLang="zh-CN" sz="20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29999"/>
              </a:lnSpc>
              <a:spcBef>
                <a:spcPct val="20000"/>
              </a:spcBef>
              <a:spcAft>
                <a:spcPts val="0"/>
              </a:spcAft>
              <a:buNone/>
            </a:pPr>
            <a:r>
              <a:rPr lang="en-US" altLang="zh-CN" sz="2000" b="1" i="1" u="none" strike="noStrike" kern="1200" cap="none" spc="0" baseline="0">
                <a:solidFill>
                  <a:schemeClr val="tx1"/>
                </a:solidFill>
                <a:latin typeface="Calibri" pitchFamily="0" charset="0"/>
                <a:ea typeface="ＭＳ Ｐゴシック" pitchFamily="0" charset="-128"/>
                <a:cs typeface="Lucida Sans"/>
              </a:rPr>
              <a:t>     </a:t>
            </a:r>
            <a:r>
              <a:rPr lang="en-US" altLang="zh-CN" sz="2000" b="1" i="1" u="none" strike="noStrike" kern="1200" cap="none" spc="0" baseline="0">
                <a:solidFill>
                  <a:schemeClr val="tx1"/>
                </a:solidFill>
                <a:latin typeface="Calibri" pitchFamily="0" charset="0"/>
                <a:ea typeface="ＭＳ Ｐゴシック" pitchFamily="0" charset="-128"/>
                <a:cs typeface="Lucida Sans"/>
              </a:rPr>
              <a:t>cf</a:t>
            </a:r>
            <a:r>
              <a:rPr lang="en-US" altLang="zh-CN" sz="2000" b="1" i="1" u="none" strike="noStrike" kern="1200" cap="none" spc="0" baseline="-25000">
                <a:solidFill>
                  <a:schemeClr val="tx1"/>
                </a:solidFill>
                <a:latin typeface="Calibri" pitchFamily="0" charset="0"/>
                <a:ea typeface="ＭＳ Ｐゴシック" pitchFamily="0" charset="-128"/>
                <a:cs typeface="Lucida Sans"/>
              </a:rPr>
              <a:t>p</a:t>
            </a:r>
            <a:r>
              <a:rPr lang="en-US" altLang="zh-CN" sz="2000" b="1" i="1" u="none" strike="noStrike" kern="1200" cap="none" spc="0" baseline="-25000">
                <a:solidFill>
                  <a:schemeClr val="tx1"/>
                </a:solidFill>
                <a:latin typeface="Calibri" pitchFamily="0" charset="0"/>
                <a:ea typeface="ＭＳ Ｐゴシック" pitchFamily="0" charset="-128"/>
                <a:cs typeface="Lucida Sans"/>
              </a:rPr>
              <a:t>	</a:t>
            </a:r>
            <a:r>
              <a:rPr lang="en-US" altLang="zh-CN" sz="2000" b="0" i="0" u="none" strike="noStrike" kern="1200" cap="none" spc="0" baseline="0">
                <a:solidFill>
                  <a:schemeClr val="tx1"/>
                </a:solidFill>
                <a:latin typeface="Calibri" pitchFamily="0" charset="0"/>
                <a:ea typeface="ＭＳ Ｐゴシック" pitchFamily="0" charset="-128"/>
                <a:cs typeface="Lucida Sans"/>
              </a:rPr>
              <a:t>: cumulative frequency of the class preceding the median class,</a:t>
            </a:r>
            <a:br>
              <a:rPr lang="zh-CN" altLang="en-US" sz="2000" b="0" i="0" u="none" strike="noStrike" kern="1200" cap="none" spc="0" baseline="0">
                <a:solidFill>
                  <a:schemeClr val="tx1"/>
                </a:solidFill>
                <a:latin typeface="Calibri" pitchFamily="0" charset="0"/>
                <a:ea typeface="ＭＳ Ｐゴシック" pitchFamily="0" charset="-128"/>
                <a:cs typeface="Lucida Sans"/>
              </a:rPr>
            </a:br>
            <a:r>
              <a:rPr lang="en-US" altLang="zh-CN" sz="2000" b="1" i="1" u="none" strike="noStrike" kern="1200" cap="none" spc="0" baseline="0">
                <a:solidFill>
                  <a:schemeClr val="tx1"/>
                </a:solidFill>
                <a:latin typeface="Calibri" pitchFamily="0" charset="0"/>
                <a:ea typeface="ＭＳ Ｐゴシック" pitchFamily="0" charset="-128"/>
                <a:cs typeface="Lucida Sans"/>
              </a:rPr>
              <a:t>f</a:t>
            </a:r>
            <a:r>
              <a:rPr lang="en-US" altLang="zh-CN" sz="2000" b="1" i="1" u="none" strike="noStrike" kern="1200" cap="none" spc="0" baseline="-25000">
                <a:solidFill>
                  <a:schemeClr val="tx1"/>
                </a:solidFill>
                <a:latin typeface="Calibri" pitchFamily="0" charset="0"/>
                <a:ea typeface="ＭＳ Ｐゴシック" pitchFamily="0" charset="-128"/>
                <a:cs typeface="Lucida Sans"/>
              </a:rPr>
              <a:t>med</a:t>
            </a:r>
            <a:r>
              <a:rPr lang="en-US" altLang="zh-CN" sz="2000" b="0" i="0" u="none" strike="noStrike" kern="1200" cap="none" spc="0" baseline="0">
                <a:solidFill>
                  <a:schemeClr val="tx1"/>
                </a:solidFill>
                <a:latin typeface="Calibri" pitchFamily="0" charset="0"/>
                <a:ea typeface="ＭＳ Ｐゴシック" pitchFamily="0" charset="-128"/>
                <a:cs typeface="Lucida Sans"/>
              </a:rPr>
              <a:t> 	: frequency of the median class, </a:t>
            </a:r>
            <a:endParaRPr lang="en-US" altLang="zh-CN" sz="20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29999"/>
              </a:lnSpc>
              <a:spcBef>
                <a:spcPct val="2000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Lucida Sans"/>
              </a:rPr>
              <a:t>	</a:t>
            </a:r>
            <a:r>
              <a:rPr lang="en-US" altLang="zh-CN" sz="2000" b="1" i="1" u="none" strike="noStrike" kern="1200" cap="none" spc="0" baseline="0">
                <a:solidFill>
                  <a:schemeClr val="tx1"/>
                </a:solidFill>
                <a:latin typeface="Calibri" pitchFamily="0" charset="0"/>
                <a:ea typeface="ＭＳ Ｐゴシック" pitchFamily="0" charset="-128"/>
                <a:cs typeface="Lucida Sans"/>
              </a:rPr>
              <a:t>W</a:t>
            </a:r>
            <a:r>
              <a:rPr lang="en-US" altLang="zh-CN" sz="2000" b="0" i="0" u="none" strike="noStrike" kern="1200" cap="none" spc="0" baseline="0">
                <a:solidFill>
                  <a:schemeClr val="tx1"/>
                </a:solidFill>
                <a:latin typeface="Calibri" pitchFamily="0" charset="0"/>
                <a:ea typeface="ＭＳ Ｐゴシック" pitchFamily="0" charset="-128"/>
                <a:cs typeface="Lucida Sans"/>
              </a:rPr>
              <a:t> 	: median class size.</a:t>
            </a:r>
            <a:endParaRPr lang="zh-CN" altLang="en-US" sz="20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51" name="Images"/>
          <p:cNvPicPr>
            <a:picLocks noChangeAspect="1"/>
          </p:cNvPicPr>
          <p:nvPr/>
        </p:nvPicPr>
        <p:blipFill>
          <a:blip r:embed="rId1" cstate="print"/>
          <a:stretch>
            <a:fillRect/>
          </a:stretch>
        </p:blipFill>
        <p:spPr>
          <a:xfrm rot="0">
            <a:off x="3962400" y="1981201"/>
            <a:ext cx="4348162" cy="1260475"/>
          </a:xfrm>
          <a:prstGeom prst="rect"/>
          <a:noFill/>
          <a:ln w="19050" cmpd="sng" cap="flat">
            <a:solidFill>
              <a:srgbClr val="FF0000"/>
            </a:solidFill>
            <a:prstDash val="solid"/>
            <a:miter/>
          </a:ln>
        </p:spPr>
      </p:pic>
    </p:spTree>
    <p:extLst>
      <p:ext uri="{BB962C8B-B14F-4D97-AF65-F5344CB8AC3E}">
        <p14:creationId xmlns:p14="http://schemas.microsoft.com/office/powerpoint/2010/main" val="2000901310"/>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2" name="Text box"/>
          <p:cNvSpPr>
            <a:spLocks noGrp="1"/>
          </p:cNvSpPr>
          <p:nvPr>
            <p:ph type="sldNum" idx="12"/>
          </p:nvPr>
        </p:nvSpPr>
        <p:spPr>
          <a:xfrm rot="0">
            <a:off x="5808664" y="6524626"/>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16</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53" name="Text box"/>
          <p:cNvSpPr>
            <a:spLocks noGrp="1"/>
          </p:cNvSpPr>
          <p:nvPr>
            <p:ph type="title"/>
          </p:nvPr>
        </p:nvSpPr>
        <p:spPr>
          <a:xfrm rot="0">
            <a:off x="3506687" y="260648"/>
            <a:ext cx="5181599" cy="6858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154" name="Images"/>
          <p:cNvPicPr>
            <a:picLocks noChangeAspect="1"/>
          </p:cNvPicPr>
          <p:nvPr/>
        </p:nvPicPr>
        <p:blipFill>
          <a:blip r:embed="rId1" cstate="print"/>
          <a:stretch>
            <a:fillRect/>
          </a:stretch>
        </p:blipFill>
        <p:spPr>
          <a:xfrm rot="0">
            <a:off x="2286932" y="5123905"/>
            <a:ext cx="4087054" cy="1185192"/>
          </a:xfrm>
          <a:prstGeom prst="rect"/>
          <a:noFill/>
          <a:ln w="12700" cmpd="sng" cap="flat">
            <a:noFill/>
            <a:prstDash val="solid"/>
            <a:round/>
          </a:ln>
        </p:spPr>
      </p:pic>
      <p:graphicFrame>
        <p:nvGraphicFramePr>
          <p:cNvPr id="155" name="Sheet"/>
          <p:cNvGraphicFramePr>
            <a:graphicFrameLocks noGrp="1"/>
          </p:cNvGraphicFramePr>
          <p:nvPr>
            <p:ph type="body" idx="3"/>
            <p:extLst>
              <p:ext uri="{D42A27DB-BD31-4B8C-83A1-F6EECF244321}"/>
            </p:extLst>
          </p:nvPr>
        </p:nvGraphicFramePr>
        <p:xfrm>
          <a:off x="1991098" y="1912010"/>
          <a:ext cx="4752974" cy="2957151"/>
        </p:xfrm>
        <a:graphic>
          <a:graphicData uri="http://schemas.openxmlformats.org/drawingml/2006/table">
            <a:tbl>
              <a:tblPr bandRow="1">
                <a:noFill/>
              </a:tblPr>
              <a:tblGrid>
                <a:gridCol w="1728774"/>
                <a:gridCol w="1295387"/>
                <a:gridCol w="1728787"/>
              </a:tblGrid>
              <a:tr h="579435">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Class interval</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Frequency</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Cumulative frequency</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1858956">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40.5 – 45.5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45.5 – 50.5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50.5 – 55.5</a:t>
                      </a:r>
                      <a:endParaRPr lang="en-US" altLang="zh-CN" sz="2000" b="1"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55.5 – 60.5</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60.5 – 65.5</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7</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10</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15</a:t>
                      </a:r>
                      <a:endParaRPr lang="en-US" altLang="zh-CN" sz="2000" b="1"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2</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6</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7</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17</a:t>
                      </a:r>
                      <a:endParaRPr lang="en-US" altLang="zh-CN" sz="2000" b="1"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MS PGothic" pitchFamily="34" charset="-128"/>
                        </a:rPr>
                        <a:t>32</a:t>
                      </a:r>
                      <a:endParaRPr lang="en-US" altLang="zh-CN" sz="2000" b="1"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34</a:t>
                      </a:r>
                      <a:endParaRPr lang="en-US" altLang="zh-CN" sz="2000" b="0" i="0" u="none" strike="noStrike" kern="1200" cap="none" spc="0" baseline="0">
                        <a:solidFill>
                          <a:schemeClr val="tx1"/>
                        </a:solidFill>
                        <a:latin typeface="Calibri" pitchFamily="0" charset="0"/>
                        <a:ea typeface="MS PGothic" pitchFamily="34" charset="-128"/>
                        <a:cs typeface="MS PGothic" pitchFamily="34" charset="-128"/>
                      </a:endParaRPr>
                    </a:p>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40</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396872">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Total </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Calibri" pitchFamily="0" charset="0"/>
                          <a:ea typeface="MS PGothic" pitchFamily="34" charset="-128"/>
                          <a:cs typeface="MS PGothic" pitchFamily="34" charset="-128"/>
                        </a:rPr>
                        <a:t>40</a:t>
                      </a: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endParaRPr lang="zh-CN" altLang="en-US" sz="2000" b="0" i="0" u="none" strike="noStrike" kern="1200" cap="none" spc="0" baseline="0">
                        <a:solidFill>
                          <a:schemeClr val="tx1"/>
                        </a:solidFill>
                        <a:latin typeface="Calibri" pitchFamily="0" charset="0"/>
                        <a:ea typeface="MS PGothic" pitchFamily="34" charset="-128"/>
                        <a:cs typeface="MS PGothic" pitchFamily="34" charset="-128"/>
                      </a:endParaRPr>
                    </a:p>
                  </a:txBody>
                  <a:tcPr marL="91440" marT="45707" marR="91440" marB="45707" vert="horz">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r>
            </a:tbl>
          </a:graphicData>
        </a:graphic>
      </p:graphicFrame>
      <p:sp>
        <p:nvSpPr>
          <p:cNvPr id="156" name="Rectangles"/>
          <p:cNvSpPr>
            <a:spLocks/>
          </p:cNvSpPr>
          <p:nvPr/>
        </p:nvSpPr>
        <p:spPr>
          <a:xfrm rot="0">
            <a:off x="6888164" y="1556793"/>
            <a:ext cx="3614737" cy="120032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400" b="0" i="1" u="none" strike="noStrike" kern="1200" cap="none" spc="0" baseline="0">
                <a:solidFill>
                  <a:schemeClr val="tx1"/>
                </a:solidFill>
                <a:latin typeface="Calibri" pitchFamily="0" charset="0"/>
                <a:ea typeface="MS PGothic" pitchFamily="34" charset="-128"/>
                <a:cs typeface="Calibri" pitchFamily="0" charset="0"/>
              </a:rPr>
              <a:t>N</a:t>
            </a:r>
            <a:r>
              <a:rPr lang="en-US" altLang="zh-CN" sz="2400" b="0" i="0" u="none" strike="noStrike" kern="1200" cap="none" spc="0" baseline="0">
                <a:solidFill>
                  <a:schemeClr val="tx1"/>
                </a:solidFill>
                <a:latin typeface="Calibri" pitchFamily="0" charset="0"/>
                <a:ea typeface="MS PGothic" pitchFamily="34" charset="-128"/>
                <a:cs typeface="Calibri" pitchFamily="0" charset="0"/>
              </a:rPr>
              <a:t>÷2 = 40÷2=20</a:t>
            </a:r>
            <a:endParaRPr lang="en-US" altLang="zh-CN" sz="2400" b="0" i="0" u="none" strike="noStrike" kern="1200" cap="none" spc="0" baseline="0">
              <a:solidFill>
                <a:schemeClr val="tx1"/>
              </a:solidFill>
              <a:latin typeface="Calibri" pitchFamily="0" charset="0"/>
              <a:ea typeface="MS PGothic" pitchFamily="34" charset="-128"/>
              <a:cs typeface="Calibri" pitchFamily="0" charset="0"/>
            </a:endParaRPr>
          </a:p>
          <a:p>
            <a:pPr marL="0" indent="0" algn="l" eaLnBrk="1" hangingPunct="1">
              <a:lnSpc>
                <a:spcPct val="100000"/>
              </a:lnSpc>
              <a:spcBef>
                <a:spcPts val="0"/>
              </a:spcBef>
              <a:spcAft>
                <a:spcPts val="0"/>
              </a:spcAft>
              <a:buNone/>
            </a:pPr>
            <a:endParaRPr lang="en-US" altLang="zh-CN" sz="2400" b="0" i="0" u="none" strike="noStrike" kern="1200" cap="none" spc="0" baseline="0">
              <a:solidFill>
                <a:schemeClr val="tx1"/>
              </a:solidFill>
              <a:latin typeface="Calibri" pitchFamily="0" charset="0"/>
              <a:ea typeface="MS PGothic" pitchFamily="34" charset="-128"/>
              <a:cs typeface="Calibri" pitchFamily="0" charset="0"/>
            </a:endParaRPr>
          </a:p>
          <a:p>
            <a:pPr marL="0" indent="0" algn="l" eaLnBrk="1"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MS PGothic" pitchFamily="34" charset="-128"/>
                <a:cs typeface="Calibri" pitchFamily="0" charset="0"/>
              </a:rPr>
              <a:t>.: median class = 50.5 - 55.5 </a:t>
            </a:r>
            <a:endParaRPr lang="zh-CN" altLang="en-US" sz="2400" b="0" i="0" u="none" strike="noStrike" kern="1200" cap="none" spc="0" baseline="0">
              <a:solidFill>
                <a:schemeClr val="tx1"/>
              </a:solidFill>
              <a:latin typeface="Calibri" pitchFamily="0" charset="0"/>
              <a:ea typeface="MS PGothic" pitchFamily="34" charset="-128"/>
              <a:cs typeface="Calibri" pitchFamily="0" charset="0"/>
            </a:endParaRPr>
          </a:p>
        </p:txBody>
      </p:sp>
      <p:graphicFrame>
        <p:nvGraphicFramePr>
          <p:cNvPr id="157" name="Object"/>
          <p:cNvGraphicFramePr>
            <a:graphicFrameLocks noChangeAspect="1"/>
          </p:cNvGraphicFramePr>
          <p:nvPr/>
        </p:nvGraphicFramePr>
        <p:xfrm>
          <a:off x="7162799" y="2892425"/>
          <a:ext cx="1169988" cy="2289174"/>
        </p:xfrm>
        <a:graphic>
          <a:graphicData uri="http://schemas.openxmlformats.org/presentationml/2006/ole">
            <mc:AlternateContent xmlns:mc="http://schemas.openxmlformats.org/markup-compatibility/2006">
              <mc:Choice xmlns:v="urn:schemas-microsoft-com:vml" Requires="v">
                <p:oleObj spid="" name="package" r:id="rId2" imgW="18694400" imgH="36576000" progId="package">
                  <p:embed/>
                </p:oleObj>
              </mc:Choice>
              <mc:Fallback>
                <p:oleObj name="package" r:id="rId2" imgW="18694400" imgH="36576000" progId="package">
                  <p:embed/>
                  <p:pic>
                    <p:nvPicPr>
                      <p:cNvPr id="157" name="Object"/>
                      <p:cNvPicPr>
                        <a:picLocks noChangeAspect="1"/>
                      </p:cNvPicPr>
                      <p:nvPr/>
                    </p:nvPicPr>
                    <p:blipFill>
                      <a:blip r:embed="rId3" cstate="print"/>
                      <a:stretch>
                        <a:fillRect/>
                      </a:stretch>
                    </p:blipFill>
                    <p:spPr>
                      <a:xfrm rot="0">
                        <a:off x="7162799" y="2892425"/>
                        <a:ext cx="1169988" cy="2289174"/>
                      </a:xfrm>
                      <a:prstGeom prst="rect"/>
                      <a:noFill/>
                      <a:ln cmpd="sng" cap="flat">
                        <a:noFill/>
                        <a:prstDash val="solid"/>
                        <a:miter/>
                      </a:ln>
                    </p:spPr>
                  </p:pic>
                </p:oleObj>
              </mc:Fallback>
            </mc:AlternateContent>
          </a:graphicData>
        </a:graphic>
      </p:graphicFrame>
      <p:sp>
        <p:nvSpPr>
          <p:cNvPr id="158" name="Rectangles"/>
          <p:cNvSpPr>
            <a:spLocks/>
          </p:cNvSpPr>
          <p:nvPr/>
        </p:nvSpPr>
        <p:spPr>
          <a:xfrm rot="0">
            <a:off x="6018558" y="5569853"/>
            <a:ext cx="1085553" cy="52321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51.5</a:t>
            </a: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mc:AlternateContent xmlns:mc="http://schemas.openxmlformats.org/markup-compatibility/2006">
        <mc:Choice xmlns:p14="http://schemas.microsoft.com/office/powerpoint/2010/main" Requires="p14">
          <p:contentPart r:id="rId4">
            <p14:nvContentPartPr>
              <p14:cNvPr id="159" name="Object"/>
              <p14:cNvContentPartPr>
                <a14:cpLocks xmlns:a14="http://schemas.microsoft.com/office/drawing/2010/main" noSelect="1" noChangeArrowheads="1"/>
              </p14:cNvContentPartPr>
              <p14:nvPr/>
            </p14:nvContentPartPr>
            <p14:xfrm>
              <a:off x="4658105" y="3424440"/>
              <a:ext cx="147600" cy="144359"/>
            </p14:xfrm>
          </p:contentPart>
        </mc:Choice>
        <mc:Fallback/>
      </mc:AlternateContent>
      <mc:AlternateContent xmlns:mc="http://schemas.openxmlformats.org/markup-compatibility/2006">
        <mc:Choice xmlns:p14="http://schemas.microsoft.com/office/powerpoint/2010/main" Requires="p14">
          <p:contentPart r:id="rId5">
            <p14:nvContentPartPr>
              <p14:cNvPr id="161" name="Object"/>
              <p14:cNvContentPartPr>
                <a14:cpLocks xmlns:a14="http://schemas.microsoft.com/office/drawing/2010/main" noSelect="1" noChangeArrowheads="1"/>
              </p14:cNvContentPartPr>
              <p14:nvPr/>
            </p14:nvContentPartPr>
            <p14:xfrm>
              <a:off x="4669985" y="3342720"/>
              <a:ext cx="463319" cy="161280"/>
            </p14:xfrm>
          </p:contentPart>
        </mc:Choice>
        <mc:Fallback/>
      </mc:AlternateContent>
      <p:grpSp>
        <p:nvGrpSpPr>
          <p:cNvPr id="163" name="Combination"/>
          <p:cNvGrpSpPr>
            <a:grpSpLocks/>
          </p:cNvGrpSpPr>
          <p:nvPr/>
        </p:nvGrpSpPr>
        <p:grpSpPr>
          <a:xfrm>
            <a:off x="6173464" y="3333719"/>
            <a:ext cx="492839" cy="243720"/>
            <a:chOff x="6173464" y="3333719"/>
            <a:chExt cx="492839" cy="243720"/>
          </a:xfrm>
        </p:grpSpPr>
        <p:pic>
          <p:nvPicPr>
            <p:cNvPr id="160" name="Images"/>
            <p:cNvPicPr>
              <a:picLocks/>
            </p:cNvPicPr>
            <p:nvPr/>
          </p:nvPicPr>
          <p:blipFill>
            <a:blip r:embed="rId6" cstate="print"/>
            <a:stretch>
              <a:fillRect/>
            </a:stretch>
          </p:blipFill>
          <p:spPr>
            <a:xfrm rot="0">
              <a:off x="6173464" y="3415440"/>
              <a:ext cx="165239" cy="161999"/>
            </a:xfrm>
            <a:prstGeom prst="rect"/>
            <a:noFill/>
            <a:ln w="12700" cmpd="sng" cap="flat">
              <a:noFill/>
              <a:prstDash val="solid"/>
              <a:miter/>
            </a:ln>
          </p:spPr>
        </p:pic>
        <p:pic>
          <p:nvPicPr>
            <p:cNvPr id="162" name="Images"/>
            <p:cNvPicPr>
              <a:picLocks/>
            </p:cNvPicPr>
            <p:nvPr/>
          </p:nvPicPr>
          <p:blipFill>
            <a:blip r:embed="rId7" cstate="print"/>
            <a:stretch>
              <a:fillRect/>
            </a:stretch>
          </p:blipFill>
          <p:spPr>
            <a:xfrm rot="0">
              <a:off x="6185344" y="3333719"/>
              <a:ext cx="480959" cy="178920"/>
            </a:xfrm>
            <a:prstGeom prst="rect"/>
            <a:noFill/>
            <a:ln w="12700" cmpd="sng" cap="flat">
              <a:noFill/>
              <a:prstDash val="solid"/>
              <a:miter/>
            </a:ln>
          </p:spPr>
        </p:pic>
      </p:grpSp>
      <mc:AlternateContent xmlns:mc="http://schemas.openxmlformats.org/markup-compatibility/2006">
        <mc:Choice xmlns:p14="http://schemas.microsoft.com/office/powerpoint/2010/main" Requires="p14">
          <p:contentPart r:id="rId8">
            <p14:nvContentPartPr>
              <p14:cNvPr id="164" name="Object"/>
              <p14:cNvContentPartPr>
                <a14:cpLocks xmlns:a14="http://schemas.microsoft.com/office/drawing/2010/main" noSelect="1" noChangeArrowheads="1"/>
              </p14:cNvContentPartPr>
              <p14:nvPr/>
            </p14:nvContentPartPr>
            <p14:xfrm>
              <a:off x="259625" y="3443880"/>
              <a:ext cx="394560" cy="86039"/>
            </p14:xfrm>
          </p:contentPart>
        </mc:Choice>
        <mc:Fallback/>
      </mc:AlternateContent>
      <mc:AlternateContent xmlns:mc="http://schemas.openxmlformats.org/markup-compatibility/2006">
        <mc:Choice xmlns:p14="http://schemas.microsoft.com/office/powerpoint/2010/main" Requires="p14">
          <p:contentPart r:id="rId9">
            <p14:nvContentPartPr>
              <p14:cNvPr id="166" name="Object"/>
              <p14:cNvContentPartPr>
                <a14:cpLocks xmlns:a14="http://schemas.microsoft.com/office/drawing/2010/main" noSelect="1" noChangeArrowheads="1"/>
              </p14:cNvContentPartPr>
              <p14:nvPr/>
            </p14:nvContentPartPr>
            <p14:xfrm>
              <a:off x="631505" y="3445680"/>
              <a:ext cx="115200" cy="184319"/>
            </p14:xfrm>
          </p:contentPart>
        </mc:Choice>
        <mc:Fallback/>
      </mc:AlternateContent>
      <p:grpSp>
        <p:nvGrpSpPr>
          <p:cNvPr id="168" name="Combination"/>
          <p:cNvGrpSpPr>
            <a:grpSpLocks/>
          </p:cNvGrpSpPr>
          <p:nvPr/>
        </p:nvGrpSpPr>
        <p:grpSpPr>
          <a:xfrm>
            <a:off x="1774985" y="3435240"/>
            <a:ext cx="504360" cy="203399"/>
            <a:chOff x="1774985" y="3435240"/>
            <a:chExt cx="504360" cy="203399"/>
          </a:xfrm>
        </p:grpSpPr>
        <p:pic>
          <p:nvPicPr>
            <p:cNvPr id="165" name="Images"/>
            <p:cNvPicPr>
              <a:picLocks/>
            </p:cNvPicPr>
            <p:nvPr/>
          </p:nvPicPr>
          <p:blipFill>
            <a:blip r:embed="rId10" cstate="print"/>
            <a:stretch>
              <a:fillRect/>
            </a:stretch>
          </p:blipFill>
          <p:spPr>
            <a:xfrm rot="0">
              <a:off x="1774985" y="3435240"/>
              <a:ext cx="412199" cy="103679"/>
            </a:xfrm>
            <a:prstGeom prst="rect"/>
            <a:noFill/>
            <a:ln w="12700" cmpd="sng" cap="flat">
              <a:noFill/>
              <a:prstDash val="solid"/>
              <a:miter/>
            </a:ln>
          </p:spPr>
        </p:pic>
        <p:pic>
          <p:nvPicPr>
            <p:cNvPr id="167" name="Images"/>
            <p:cNvPicPr>
              <a:picLocks/>
            </p:cNvPicPr>
            <p:nvPr/>
          </p:nvPicPr>
          <p:blipFill>
            <a:blip r:embed="rId11" cstate="print"/>
            <a:stretch>
              <a:fillRect/>
            </a:stretch>
          </p:blipFill>
          <p:spPr>
            <a:xfrm rot="0">
              <a:off x="2146505" y="3436680"/>
              <a:ext cx="132840" cy="201959"/>
            </a:xfrm>
            <a:prstGeom prst="rect"/>
            <a:noFill/>
            <a:ln w="12700" cmpd="sng" cap="flat">
              <a:noFill/>
              <a:prstDash val="solid"/>
              <a:miter/>
            </a:ln>
          </p:spPr>
        </p:pic>
      </p:grpSp>
      <p:sp>
        <p:nvSpPr>
          <p:cNvPr id="169" name="Rectangles"/>
          <p:cNvSpPr>
            <a:spLocks/>
          </p:cNvSpPr>
          <p:nvPr/>
        </p:nvSpPr>
        <p:spPr>
          <a:xfrm rot="0">
            <a:off x="7928252" y="4355068"/>
            <a:ext cx="1213794" cy="369332"/>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itchFamily="0" charset="0"/>
                <a:ea typeface="ＭＳ Ｐゴシック" pitchFamily="0" charset="-128"/>
                <a:cs typeface="Calibri" pitchFamily="0" charset="0"/>
              </a:rPr>
              <a:t>(55.5-50.5)</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40448380"/>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0" name="Text box"/>
          <p:cNvSpPr>
            <a:spLocks noGrp="1"/>
          </p:cNvSpPr>
          <p:nvPr>
            <p:ph type="sldNum" idx="12"/>
          </p:nvPr>
        </p:nvSpPr>
        <p:spPr>
          <a:xfrm rot="0">
            <a:off x="5735638" y="6519863"/>
            <a:ext cx="576261"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17</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71" name="Text box"/>
          <p:cNvSpPr>
            <a:spLocks noGrp="1"/>
          </p:cNvSpPr>
          <p:nvPr>
            <p:ph type="title"/>
          </p:nvPr>
        </p:nvSpPr>
        <p:spPr>
          <a:xfrm rot="0">
            <a:off x="3886200"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Mode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172"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2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The mode is the value that occurs </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most often</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just" eaLnBrk="1" hangingPunct="1">
              <a:lnSpc>
                <a:spcPct val="12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If </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no number is repeated</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then there is </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no mode</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for the list.</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96886736"/>
      </p:ext>
    </p:extLst>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3" name="Text box"/>
          <p:cNvSpPr>
            <a:spLocks noGrp="1"/>
          </p:cNvSpPr>
          <p:nvPr>
            <p:ph type="sldNum" idx="12"/>
          </p:nvPr>
        </p:nvSpPr>
        <p:spPr>
          <a:xfrm rot="0">
            <a:off x="5735638" y="6492876"/>
            <a:ext cx="576261"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18</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74" name="Text box"/>
          <p:cNvSpPr>
            <a:spLocks noGrp="1"/>
          </p:cNvSpPr>
          <p:nvPr>
            <p:ph type="body" idx="1"/>
          </p:nvPr>
        </p:nvSpPr>
        <p:spPr>
          <a:xfrm rot="0">
            <a:off x="1774824" y="1412874"/>
            <a:ext cx="8148638" cy="4968453"/>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100000"/>
              </a:lnSpc>
              <a:spcBef>
                <a:spcPct val="20000"/>
              </a:spcBef>
              <a:spcAft>
                <a:spcPts val="0"/>
              </a:spcAft>
              <a:buNone/>
            </a:pPr>
            <a:r>
              <a:rPr lang="en-US" altLang="zh-CN" sz="2800" b="1" i="0" u="none" strike="noStrike" kern="1200" cap="none" spc="0" baseline="0">
                <a:solidFill>
                  <a:schemeClr val="tx1"/>
                </a:solidFill>
                <a:latin typeface="Calibri" pitchFamily="0" charset="0"/>
                <a:ea typeface="ＭＳ Ｐゴシック" pitchFamily="0" charset="-128"/>
                <a:cs typeface="Lucida Sans"/>
              </a:rPr>
              <a:t>Case study: </a:t>
            </a:r>
            <a:r>
              <a:rPr lang="en-US" altLang="zh-CN" sz="2800" b="0" i="0" u="none" strike="noStrike" kern="1200" cap="none" spc="0" baseline="0">
                <a:solidFill>
                  <a:schemeClr val="tx1"/>
                </a:solidFill>
                <a:latin typeface="Calibri" pitchFamily="0" charset="0"/>
                <a:ea typeface="ＭＳ Ｐゴシック" pitchFamily="0" charset="-128"/>
                <a:cs typeface="Lucida Sans"/>
              </a:rPr>
              <a:t>On a cold winter day in January, the temperature for 9 North American cities is recorded in Fahrenheit as follows: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chemeClr val="tx1"/>
                </a:solidFill>
                <a:latin typeface="Calibri" pitchFamily="0" charset="0"/>
                <a:ea typeface="ＭＳ Ｐゴシック" pitchFamily="0" charset="-128"/>
                <a:cs typeface="Lucida Sans"/>
              </a:rPr>
              <a:t>  -8,  0,  -3,  4,  12,  0,  5,  -1,  0  </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What is the mode of these temperatures?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r>
              <a:rPr lang="en-US" altLang="zh-CN" sz="2800" b="0" i="0" u="sng" strike="noStrike" kern="1200" cap="none" spc="0" baseline="0">
                <a:solidFill>
                  <a:schemeClr val="tx1"/>
                </a:solidFill>
                <a:latin typeface="Calibri" pitchFamily="0" charset="0"/>
                <a:ea typeface="ＭＳ Ｐゴシック" pitchFamily="0" charset="-128"/>
                <a:cs typeface="Lucida Sans"/>
              </a:rPr>
              <a:t>Solution:</a:t>
            </a:r>
            <a:endParaRPr lang="en-US" altLang="zh-CN" sz="2800" b="0" i="0" u="sng"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Ordering the data from least to greatest, we get: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-8,  -3,  -1,  </a:t>
            </a:r>
            <a:r>
              <a:rPr lang="en-US" altLang="zh-CN" sz="2800" b="0" i="0" u="none" strike="noStrike" kern="1200" cap="none" spc="0" baseline="0">
                <a:solidFill>
                  <a:srgbClr val="FF0000"/>
                </a:solidFill>
                <a:latin typeface="Calibri" pitchFamily="0" charset="0"/>
                <a:ea typeface="ＭＳ Ｐゴシック" pitchFamily="0" charset="-128"/>
                <a:cs typeface="Lucida Sans"/>
              </a:rPr>
              <a:t>0,  0,  0,</a:t>
            </a:r>
            <a:r>
              <a:rPr lang="en-US" altLang="zh-CN" sz="2800" b="0" i="0" u="none" strike="noStrike" kern="1200" cap="none" spc="0" baseline="0">
                <a:solidFill>
                  <a:schemeClr val="tx1"/>
                </a:solidFill>
                <a:latin typeface="Calibri" pitchFamily="0" charset="0"/>
                <a:ea typeface="ＭＳ Ｐゴシック" pitchFamily="0" charset="-128"/>
                <a:cs typeface="Lucida Sans"/>
              </a:rPr>
              <a:t>  4,  5,  12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mode of these temperatures is 0 Fahrenheit</a:t>
            </a:r>
            <a:r>
              <a:rPr lang="en-US" altLang="zh-CN" sz="2800" b="0" i="0" u="none" strike="noStrike" kern="1200" cap="none" spc="0" baseline="0">
                <a:solidFill>
                  <a:schemeClr val="tx1"/>
                </a:solidFill>
                <a:latin typeface="Calibri" pitchFamily="0" charset="0"/>
                <a:ea typeface="ＭＳ Ｐゴシック" pitchFamily="0" charset="-128"/>
                <a:cs typeface="Lucida Sans"/>
              </a:rPr>
              <a:t>.</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75" name="Images" descr="[IMAGE]"/>
          <p:cNvPicPr>
            <a:picLocks noChangeAspect="1"/>
          </p:cNvPicPr>
          <p:nvPr/>
        </p:nvPicPr>
        <p:blipFill>
          <a:blip r:embed="rId1" cstate="print"/>
          <a:stretch>
            <a:fillRect/>
          </a:stretch>
        </p:blipFill>
        <p:spPr>
          <a:xfrm rot="0">
            <a:off x="8184233" y="2996953"/>
            <a:ext cx="2124074" cy="1730375"/>
          </a:xfrm>
          <a:prstGeom prst="rect"/>
          <a:noFill/>
          <a:ln w="12700" cmpd="sng" cap="flat">
            <a:noFill/>
            <a:prstDash val="solid"/>
            <a:round/>
          </a:ln>
        </p:spPr>
      </p:pic>
      <p:sp>
        <p:nvSpPr>
          <p:cNvPr id="176" name="Rectangles"/>
          <p:cNvSpPr>
            <a:spLocks/>
          </p:cNvSpPr>
          <p:nvPr/>
        </p:nvSpPr>
        <p:spPr>
          <a:xfrm rot="0">
            <a:off x="5087888" y="260648"/>
            <a:ext cx="2000249" cy="706437"/>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MS PGothic" pitchFamily="34" charset="-128"/>
                <a:cs typeface="Calibri" pitchFamily="0" charset="0"/>
              </a:rPr>
              <a:t>Example</a:t>
            </a:r>
            <a:endParaRPr lang="zh-CN" altLang="en-US" sz="4000" b="1" i="0" u="none" strike="noStrike" kern="1200" cap="none" spc="0" baseline="0">
              <a:solidFill>
                <a:schemeClr val="tx1"/>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981129842"/>
      </p:ext>
    </p:ext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7" name="Text box"/>
          <p:cNvSpPr>
            <a:spLocks noGrp="1"/>
          </p:cNvSpPr>
          <p:nvPr>
            <p:ph type="sldNum" idx="12"/>
          </p:nvPr>
        </p:nvSpPr>
        <p:spPr>
          <a:xfrm rot="0">
            <a:off x="5664201" y="6519863"/>
            <a:ext cx="576263"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19</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78" name="Text box"/>
          <p:cNvSpPr>
            <a:spLocks noGrp="1"/>
          </p:cNvSpPr>
          <p:nvPr>
            <p:ph type="title"/>
          </p:nvPr>
        </p:nvSpPr>
        <p:spPr>
          <a:xfrm rot="0">
            <a:off x="3503712" y="294928"/>
            <a:ext cx="5181599" cy="6858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179" name="Text box"/>
          <p:cNvSpPr>
            <a:spLocks noGrp="1"/>
          </p:cNvSpPr>
          <p:nvPr>
            <p:ph type="body" idx="1"/>
          </p:nvPr>
        </p:nvSpPr>
        <p:spPr>
          <a:xfrm rot="0">
            <a:off x="1847850" y="1125539"/>
            <a:ext cx="8424863" cy="2592387"/>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100000"/>
              </a:lnSpc>
              <a:spcBef>
                <a:spcPct val="20000"/>
              </a:spcBef>
              <a:spcAft>
                <a:spcPts val="0"/>
              </a:spcAft>
              <a:buNone/>
            </a:pPr>
            <a:r>
              <a:rPr lang="en-US" altLang="zh-CN" sz="2800" b="0" i="0" u="none" strike="noStrike" kern="1200" cap="none" spc="0" baseline="0">
                <a:solidFill>
                  <a:srgbClr val="2F32FF"/>
                </a:solidFill>
                <a:latin typeface="Calibri" pitchFamily="0" charset="0"/>
                <a:ea typeface="ＭＳ Ｐゴシック" pitchFamily="0" charset="-128"/>
                <a:cs typeface="Lucida Sans"/>
              </a:rPr>
              <a:t>Case study</a:t>
            </a:r>
            <a:r>
              <a:rPr lang="en-US" altLang="zh-CN" sz="2800" b="0" i="0" u="none" strike="noStrike" kern="1200" cap="none" spc="0" baseline="0">
                <a:solidFill>
                  <a:schemeClr val="tx1"/>
                </a:solidFill>
                <a:latin typeface="Calibri" pitchFamily="0" charset="0"/>
                <a:ea typeface="ＭＳ Ｐゴシック" pitchFamily="0" charset="-128"/>
                <a:cs typeface="Lucida Sans"/>
              </a:rPr>
              <a:t>: A marathon race was completed by 5 participants. The time taken by each participant is recorded as follows: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ctr"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chemeClr val="tx1"/>
                </a:solidFill>
                <a:latin typeface="Calibri" pitchFamily="0" charset="0"/>
                <a:ea typeface="ＭＳ Ｐゴシック" pitchFamily="0" charset="-128"/>
                <a:cs typeface="Lucida Sans"/>
              </a:rPr>
              <a:t>2.7 </a:t>
            </a:r>
            <a:r>
              <a:rPr lang="en-US" altLang="zh-CN" sz="2800" b="1" i="0" u="none" strike="noStrike" kern="1200" cap="none" spc="0" baseline="0">
                <a:solidFill>
                  <a:schemeClr val="tx1"/>
                </a:solidFill>
                <a:latin typeface="Calibri" pitchFamily="0" charset="0"/>
                <a:ea typeface="ＭＳ Ｐゴシック" pitchFamily="0" charset="-128"/>
                <a:cs typeface="Lucida Sans"/>
              </a:rPr>
              <a:t>hr</a:t>
            </a:r>
            <a:r>
              <a:rPr lang="en-US" altLang="zh-CN" sz="2800" b="1" i="0" u="none" strike="noStrike" kern="1200" cap="none" spc="0" baseline="0">
                <a:solidFill>
                  <a:schemeClr val="tx1"/>
                </a:solidFill>
                <a:latin typeface="Calibri" pitchFamily="0" charset="0"/>
                <a:ea typeface="ＭＳ Ｐゴシック" pitchFamily="0" charset="-128"/>
                <a:cs typeface="Lucida Sans"/>
              </a:rPr>
              <a:t>,  8.3 </a:t>
            </a:r>
            <a:r>
              <a:rPr lang="en-US" altLang="zh-CN" sz="2800" b="1" i="0" u="none" strike="noStrike" kern="1200" cap="none" spc="0" baseline="0">
                <a:solidFill>
                  <a:schemeClr val="tx1"/>
                </a:solidFill>
                <a:latin typeface="Calibri" pitchFamily="0" charset="0"/>
                <a:ea typeface="ＭＳ Ｐゴシック" pitchFamily="0" charset="-128"/>
                <a:cs typeface="Lucida Sans"/>
              </a:rPr>
              <a:t>hr</a:t>
            </a:r>
            <a:r>
              <a:rPr lang="en-US" altLang="zh-CN" sz="2800" b="1" i="0" u="none" strike="noStrike" kern="1200" cap="none" spc="0" baseline="0">
                <a:solidFill>
                  <a:schemeClr val="tx1"/>
                </a:solidFill>
                <a:latin typeface="Calibri" pitchFamily="0" charset="0"/>
                <a:ea typeface="ＭＳ Ｐゴシック" pitchFamily="0" charset="-128"/>
                <a:cs typeface="Lucida Sans"/>
              </a:rPr>
              <a:t>,  3.5 </a:t>
            </a:r>
            <a:r>
              <a:rPr lang="en-US" altLang="zh-CN" sz="2800" b="1" i="0" u="none" strike="noStrike" kern="1200" cap="none" spc="0" baseline="0">
                <a:solidFill>
                  <a:schemeClr val="tx1"/>
                </a:solidFill>
                <a:latin typeface="Calibri" pitchFamily="0" charset="0"/>
                <a:ea typeface="ＭＳ Ｐゴシック" pitchFamily="0" charset="-128"/>
                <a:cs typeface="Lucida Sans"/>
              </a:rPr>
              <a:t>hr</a:t>
            </a:r>
            <a:r>
              <a:rPr lang="en-US" altLang="zh-CN" sz="2800" b="1" i="0" u="none" strike="noStrike" kern="1200" cap="none" spc="0" baseline="0">
                <a:solidFill>
                  <a:schemeClr val="tx1"/>
                </a:solidFill>
                <a:latin typeface="Calibri" pitchFamily="0" charset="0"/>
                <a:ea typeface="ＭＳ Ｐゴシック" pitchFamily="0" charset="-128"/>
                <a:cs typeface="Lucida Sans"/>
              </a:rPr>
              <a:t>,  5.1 </a:t>
            </a:r>
            <a:r>
              <a:rPr lang="en-US" altLang="zh-CN" sz="2800" b="1" i="0" u="none" strike="noStrike" kern="1200" cap="none" spc="0" baseline="0">
                <a:solidFill>
                  <a:schemeClr val="tx1"/>
                </a:solidFill>
                <a:latin typeface="Calibri" pitchFamily="0" charset="0"/>
                <a:ea typeface="ＭＳ Ｐゴシック" pitchFamily="0" charset="-128"/>
                <a:cs typeface="Lucida Sans"/>
              </a:rPr>
              <a:t>hr</a:t>
            </a:r>
            <a:r>
              <a:rPr lang="en-US" altLang="zh-CN" sz="2800" b="1" i="0" u="none" strike="noStrike" kern="1200" cap="none" spc="0" baseline="0">
                <a:solidFill>
                  <a:schemeClr val="tx1"/>
                </a:solidFill>
                <a:latin typeface="Calibri" pitchFamily="0" charset="0"/>
                <a:ea typeface="ＭＳ Ｐゴシック" pitchFamily="0" charset="-128"/>
                <a:cs typeface="Lucida Sans"/>
              </a:rPr>
              <a:t>,  4.9 </a:t>
            </a:r>
            <a:r>
              <a:rPr lang="en-US" altLang="zh-CN" sz="2800" b="1" i="0" u="none" strike="noStrike" kern="1200" cap="none" spc="0" baseline="0">
                <a:solidFill>
                  <a:schemeClr val="tx1"/>
                </a:solidFill>
                <a:latin typeface="Calibri" pitchFamily="0" charset="0"/>
                <a:ea typeface="ＭＳ Ｐゴシック" pitchFamily="0" charset="-128"/>
                <a:cs typeface="Lucida Sans"/>
              </a:rPr>
              <a:t>hr</a:t>
            </a:r>
            <a:r>
              <a:rPr lang="en-US" altLang="zh-CN" sz="2800" b="1"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What is the mode of these times given in hours?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80" name="Images" descr="[IMAGE]"/>
          <p:cNvPicPr>
            <a:picLocks noChangeAspect="1"/>
          </p:cNvPicPr>
          <p:nvPr/>
        </p:nvPicPr>
        <p:blipFill>
          <a:blip r:embed="rId1" cstate="print"/>
          <a:stretch>
            <a:fillRect/>
          </a:stretch>
        </p:blipFill>
        <p:spPr>
          <a:xfrm rot="0">
            <a:off x="7896200" y="3501008"/>
            <a:ext cx="2352674" cy="857250"/>
          </a:xfrm>
          <a:prstGeom prst="rect"/>
          <a:noFill/>
          <a:ln w="12700" cmpd="sng" cap="flat">
            <a:noFill/>
            <a:prstDash val="solid"/>
            <a:round/>
          </a:ln>
        </p:spPr>
      </p:pic>
      <p:sp>
        <p:nvSpPr>
          <p:cNvPr id="181" name="Rectangles"/>
          <p:cNvSpPr>
            <a:spLocks/>
          </p:cNvSpPr>
          <p:nvPr/>
        </p:nvSpPr>
        <p:spPr>
          <a:xfrm rot="0">
            <a:off x="1847850" y="4076701"/>
            <a:ext cx="8569325" cy="224676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100000"/>
              </a:lnSpc>
              <a:spcBef>
                <a:spcPts val="0"/>
              </a:spcBef>
              <a:spcAft>
                <a:spcPts val="0"/>
              </a:spcAft>
              <a:buNone/>
            </a:pPr>
            <a:r>
              <a:rPr lang="en-US" altLang="zh-CN" sz="2800" b="1" i="0" u="none" strike="noStrike" kern="1200" cap="none" spc="0" baseline="0">
                <a:solidFill>
                  <a:srgbClr val="2F32FF"/>
                </a:solidFill>
                <a:latin typeface="Calibri" pitchFamily="0" charset="0"/>
                <a:ea typeface="MS PGothic" pitchFamily="34" charset="-128"/>
                <a:cs typeface="Calibri" pitchFamily="0" charset="0"/>
              </a:rPr>
              <a:t>Solution:</a:t>
            </a:r>
            <a:endParaRPr lang="en-US" altLang="zh-CN" sz="2800" b="1" i="0" u="none" strike="noStrike" kern="1200" cap="none" spc="0" baseline="0">
              <a:solidFill>
                <a:srgbClr val="2F32FF"/>
              </a:solidFill>
              <a:latin typeface="Calibri" pitchFamily="0" charset="0"/>
              <a:ea typeface="MS PGothic" pitchFamily="34" charset="-128"/>
              <a:cs typeface="Calibri" pitchFamily="0" charset="0"/>
            </a:endParaRPr>
          </a:p>
          <a:p>
            <a:pPr marL="0" indent="0" algn="just"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Ordering the data from least to greatest, we get:  </a:t>
            </a: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0" indent="0" algn="ctr"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a:t>
            </a:r>
            <a:r>
              <a:rPr lang="en-US" altLang="zh-CN" sz="2800" b="1" i="0" u="none" strike="noStrike" kern="1200" cap="none" spc="0" baseline="0">
                <a:solidFill>
                  <a:schemeClr val="tx1"/>
                </a:solidFill>
                <a:latin typeface="Calibri" pitchFamily="0" charset="0"/>
                <a:ea typeface="MS PGothic" pitchFamily="34" charset="-128"/>
                <a:cs typeface="Calibri" pitchFamily="0" charset="0"/>
              </a:rPr>
              <a:t>  2.7,  3.5,  4.9,  5.1,  8.3  </a:t>
            </a:r>
            <a:endParaRPr lang="en-US" altLang="zh-CN" sz="2800" b="1" i="0" u="none" strike="noStrike" kern="1200" cap="none" spc="0" baseline="0">
              <a:solidFill>
                <a:schemeClr val="tx1"/>
              </a:solidFill>
              <a:latin typeface="Calibri" pitchFamily="0" charset="0"/>
              <a:ea typeface="MS PGothic" pitchFamily="34" charset="-128"/>
              <a:cs typeface="Calibri" pitchFamily="0" charset="0"/>
            </a:endParaRPr>
          </a:p>
          <a:p>
            <a:pPr marL="0" indent="0" algn="just"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Since each value occurs only once in the data set, there is </a:t>
            </a:r>
            <a:r>
              <a:rPr lang="en-US" altLang="zh-CN" sz="2800" b="0" i="0" u="none" strike="noStrike" kern="1200" cap="none" spc="0" baseline="0">
                <a:solidFill>
                  <a:srgbClr val="FF0000"/>
                </a:solidFill>
                <a:latin typeface="Calibri" pitchFamily="0" charset="0"/>
                <a:ea typeface="MS PGothic" pitchFamily="34" charset="-128"/>
                <a:cs typeface="Calibri" pitchFamily="0" charset="0"/>
              </a:rPr>
              <a:t>no mode </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for this data set. </a:t>
            </a: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86830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checkerboard(across)">
                                      <p:cBhvr>
                                        <p:cTn id="7" dur="5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p:bldLst>
  </p:timing>
</p:sld>
</file>

<file path=ppt/slides/slide2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2"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20</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83" name="Text box"/>
          <p:cNvSpPr>
            <a:spLocks noGrp="1"/>
          </p:cNvSpPr>
          <p:nvPr>
            <p:ph type="title"/>
          </p:nvPr>
        </p:nvSpPr>
        <p:spPr>
          <a:xfrm rot="0">
            <a:off x="3503712" y="260350"/>
            <a:ext cx="5181599" cy="6858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184" name="Text box"/>
          <p:cNvSpPr>
            <a:spLocks noGrp="1"/>
          </p:cNvSpPr>
          <p:nvPr>
            <p:ph type="body" idx="1"/>
          </p:nvPr>
        </p:nvSpPr>
        <p:spPr>
          <a:xfrm rot="0">
            <a:off x="1919288" y="1196975"/>
            <a:ext cx="8291512" cy="2376487"/>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100000"/>
              </a:lnSpc>
              <a:spcBef>
                <a:spcPct val="20000"/>
              </a:spcBef>
              <a:spcAft>
                <a:spcPts val="0"/>
              </a:spcAft>
              <a:buNone/>
            </a:pPr>
            <a:r>
              <a:rPr lang="en-US" altLang="zh-CN" sz="2800" b="0" i="0" u="none" strike="noStrike" kern="1200" cap="none" spc="0" baseline="0">
                <a:solidFill>
                  <a:srgbClr val="2F32FF"/>
                </a:solidFill>
                <a:latin typeface="Calibri" pitchFamily="0" charset="0"/>
                <a:ea typeface="ＭＳ Ｐゴシック" pitchFamily="0" charset="-128"/>
                <a:cs typeface="Lucida Sans"/>
              </a:rPr>
              <a:t>Case study</a:t>
            </a:r>
            <a:r>
              <a:rPr lang="en-US" altLang="zh-CN" sz="2800" b="0" i="0" u="none" strike="noStrike" kern="1200" cap="none" spc="0" baseline="0">
                <a:solidFill>
                  <a:schemeClr val="tx1"/>
                </a:solidFill>
                <a:latin typeface="Calibri" pitchFamily="0" charset="0"/>
                <a:ea typeface="ＭＳ Ｐゴシック" pitchFamily="0" charset="-128"/>
                <a:cs typeface="Lucida Sans"/>
              </a:rPr>
              <a:t>: In a crash test, 11 cars were tested to determine what impact speed was required to obtain minimal bumper damage. The collected data as shown below:</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ctr" eaLnBrk="1" hangingPunct="1">
              <a:lnSpc>
                <a:spcPct val="8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chemeClr val="tx1"/>
                </a:solidFill>
                <a:latin typeface="Calibri" pitchFamily="0" charset="0"/>
                <a:ea typeface="ＭＳ Ｐゴシック" pitchFamily="0" charset="-128"/>
                <a:cs typeface="Lucida Sans"/>
              </a:rPr>
              <a:t>24,  15,  18,  20,  18,  22,  24,  26,  18,  26,  24  </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8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Find the mode of the speeds given in miles per hour.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80000"/>
              </a:lnSpc>
              <a:spcBef>
                <a:spcPct val="2000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185" name="Rectangles"/>
          <p:cNvSpPr>
            <a:spLocks/>
          </p:cNvSpPr>
          <p:nvPr/>
        </p:nvSpPr>
        <p:spPr>
          <a:xfrm rot="0">
            <a:off x="1793875" y="4292746"/>
            <a:ext cx="8550598" cy="21605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just" eaLnBrk="1" hangingPunct="1">
              <a:lnSpc>
                <a:spcPct val="80000"/>
              </a:lnSpc>
              <a:spcBef>
                <a:spcPts val="0"/>
              </a:spcBef>
              <a:spcAft>
                <a:spcPts val="0"/>
              </a:spcAft>
              <a:buNone/>
            </a:pPr>
            <a:r>
              <a:rPr lang="en-US" altLang="zh-CN" sz="2800" b="1" i="0" u="none" strike="noStrike" kern="1200" cap="none" spc="0" baseline="0">
                <a:solidFill>
                  <a:srgbClr val="2F32FF"/>
                </a:solidFill>
                <a:latin typeface="Calibri" pitchFamily="0" charset="0"/>
                <a:ea typeface="MS PGothic" pitchFamily="34" charset="-128"/>
                <a:cs typeface="Calibri" pitchFamily="0" charset="0"/>
              </a:rPr>
              <a:t>Solution:</a:t>
            </a:r>
            <a:endParaRPr lang="en-US" altLang="zh-CN" sz="2800" b="1" i="0" u="none" strike="noStrike" kern="1200" cap="none" spc="0" baseline="0">
              <a:solidFill>
                <a:srgbClr val="2F32FF"/>
              </a:solidFill>
              <a:latin typeface="Calibri" pitchFamily="0" charset="0"/>
              <a:ea typeface="MS PGothic" pitchFamily="34" charset="-128"/>
              <a:cs typeface="Calibri" pitchFamily="0" charset="0"/>
            </a:endParaRPr>
          </a:p>
          <a:p>
            <a:pPr marL="0" indent="0" algn="just"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Ordering the data from least to greatest, we get:  </a:t>
            </a: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0" indent="0" algn="ctr"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15,  </a:t>
            </a:r>
            <a:r>
              <a:rPr lang="en-US" altLang="zh-CN" sz="2800" b="0" i="0" u="none" strike="noStrike" kern="1200" cap="none" spc="0" baseline="0">
                <a:solidFill>
                  <a:srgbClr val="FF0000"/>
                </a:solidFill>
                <a:latin typeface="Calibri" pitchFamily="0" charset="0"/>
                <a:ea typeface="MS PGothic" pitchFamily="34" charset="-128"/>
                <a:cs typeface="Calibri" pitchFamily="0" charset="0"/>
              </a:rPr>
              <a:t>18,  18,  18</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20,  22, </a:t>
            </a:r>
            <a:r>
              <a:rPr lang="en-US" altLang="zh-CN" sz="2800" b="0" i="0" u="none" strike="noStrike" kern="1200" cap="none" spc="0" baseline="0">
                <a:solidFill>
                  <a:srgbClr val="FF0000"/>
                </a:solidFill>
                <a:latin typeface="Calibri" pitchFamily="0" charset="0"/>
                <a:ea typeface="MS PGothic" pitchFamily="34" charset="-128"/>
                <a:cs typeface="Calibri" pitchFamily="0" charset="0"/>
              </a:rPr>
              <a:t> 24,  24,  24</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26,  26  </a:t>
            </a: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0" indent="0" algn="just"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Since both 18 and 24 occur three times, the </a:t>
            </a:r>
            <a:r>
              <a:rPr lang="en-US" altLang="zh-CN" sz="2800" b="1" i="0" u="none" strike="noStrike" kern="1200" cap="none" spc="0" baseline="0">
                <a:solidFill>
                  <a:schemeClr val="tx1"/>
                </a:solidFill>
                <a:latin typeface="Calibri" pitchFamily="0" charset="0"/>
                <a:ea typeface="MS PGothic" pitchFamily="34" charset="-128"/>
                <a:cs typeface="Calibri" pitchFamily="0" charset="0"/>
              </a:rPr>
              <a:t>modes are 18 and 24 miles per hour</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This data set is </a:t>
            </a:r>
            <a:r>
              <a:rPr lang="en-US" altLang="zh-CN" sz="2800" b="1" i="0" u="none" strike="noStrike" kern="1200" cap="none" spc="0" baseline="0">
                <a:solidFill>
                  <a:srgbClr val="FF0000"/>
                </a:solidFill>
                <a:latin typeface="Calibri" pitchFamily="0" charset="0"/>
                <a:ea typeface="MS PGothic" pitchFamily="34" charset="-128"/>
                <a:cs typeface="Calibri" pitchFamily="0" charset="0"/>
              </a:rPr>
              <a:t>bimodal.</a:t>
            </a:r>
            <a:endParaRPr lang="zh-CN" altLang="en-US" sz="2800" b="1" i="0" u="none" strike="noStrike" kern="1200" cap="none" spc="0" baseline="0">
              <a:solidFill>
                <a:srgbClr val="FF0000"/>
              </a:solidFill>
              <a:latin typeface="Calibri" pitchFamily="0" charset="0"/>
              <a:ea typeface="MS PGothic" pitchFamily="34" charset="-128"/>
              <a:cs typeface="Calibri" pitchFamily="0" charset="0"/>
            </a:endParaRPr>
          </a:p>
        </p:txBody>
      </p:sp>
      <p:pic>
        <p:nvPicPr>
          <p:cNvPr id="186" name="Images" descr="[IMAGE]"/>
          <p:cNvPicPr>
            <a:picLocks noChangeAspect="1"/>
          </p:cNvPicPr>
          <p:nvPr/>
        </p:nvPicPr>
        <p:blipFill>
          <a:blip r:embed="rId1" cstate="print"/>
          <a:stretch>
            <a:fillRect/>
          </a:stretch>
        </p:blipFill>
        <p:spPr>
          <a:xfrm rot="0">
            <a:off x="8883650" y="3789363"/>
            <a:ext cx="1676399" cy="1179512"/>
          </a:xfrm>
          <a:prstGeom prst="rect"/>
          <a:noFill/>
          <a:ln w="12700" cmpd="sng" cap="flat">
            <a:noFill/>
            <a:prstDash val="solid"/>
            <a:round/>
          </a:ln>
        </p:spPr>
      </p:pic>
    </p:spTree>
    <p:extLst>
      <p:ext uri="{BB962C8B-B14F-4D97-AF65-F5344CB8AC3E}">
        <p14:creationId xmlns:p14="http://schemas.microsoft.com/office/powerpoint/2010/main" val="15647881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dissolve">
                                      <p:cBhvr>
                                        <p:cTn id="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animBg="1"/>
    </p:bldLst>
  </p:timing>
</p:sld>
</file>

<file path=ppt/slides/slide2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7" name="Text box"/>
          <p:cNvSpPr>
            <a:spLocks noGrp="1"/>
          </p:cNvSpPr>
          <p:nvPr>
            <p:ph type="sldNum" idx="12"/>
          </p:nvPr>
        </p:nvSpPr>
        <p:spPr>
          <a:xfrm rot="0">
            <a:off x="5880101" y="6519863"/>
            <a:ext cx="504824"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21</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88" name="Text box"/>
          <p:cNvSpPr>
            <a:spLocks noGrp="1"/>
          </p:cNvSpPr>
          <p:nvPr>
            <p:ph type="title"/>
          </p:nvPr>
        </p:nvSpPr>
        <p:spPr>
          <a:xfrm rot="0">
            <a:off x="3861816" y="365126"/>
            <a:ext cx="6272784" cy="777875"/>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Mode of Grouped Data </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189"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2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The first step towards finding the mode of the grouped data is to locate the class interval with the maximum frequency. </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just" eaLnBrk="1" hangingPunct="1">
              <a:lnSpc>
                <a:spcPct val="12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The class interval corresponding to the maximum frequency is called the modal class. </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030066203"/>
      </p:ext>
    </p:extLst>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0" name="Text box"/>
          <p:cNvSpPr>
            <a:spLocks noGrp="1"/>
          </p:cNvSpPr>
          <p:nvPr>
            <p:ph type="sldNum" idx="12"/>
          </p:nvPr>
        </p:nvSpPr>
        <p:spPr>
          <a:xfrm rot="0">
            <a:off x="5735638" y="6519863"/>
            <a:ext cx="576261"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22</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91" name="Text box"/>
          <p:cNvSpPr>
            <a:spLocks noGrp="1"/>
          </p:cNvSpPr>
          <p:nvPr>
            <p:ph type="body" idx="1"/>
          </p:nvPr>
        </p:nvSpPr>
        <p:spPr>
          <a:xfrm rot="0">
            <a:off x="2207568" y="1052513"/>
            <a:ext cx="8352482" cy="5472831"/>
          </a:xfrm>
          <a:prstGeom prst="rect"/>
          <a:noFill/>
          <a:ln w="12700" cmpd="sng" cap="flat">
            <a:noFill/>
            <a:prstDash val="solid"/>
            <a:round/>
          </a:ln>
        </p:spPr>
        <p:txBody>
          <a:bodyPr vert="horz" wrap="square" lIns="91440" tIns="45720" rIns="91440" bIns="45720" anchor="t" anchorCtr="0">
            <a:prstTxWarp prst="textNoShape"/>
          </a:bodyPr>
          <a:lstStyle/>
          <a:p>
            <a:pPr marL="0" indent="0" algn="l"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mode of grouped data is calculated using the formula</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4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0" indent="0" algn="ctr" eaLnBrk="1" hangingPunct="1">
              <a:lnSpc>
                <a:spcPct val="90000"/>
              </a:lnSpc>
              <a:spcBef>
                <a:spcPct val="20000"/>
              </a:spcBef>
              <a:spcAft>
                <a:spcPts val="0"/>
              </a:spcAft>
              <a:buNone/>
            </a:pPr>
            <a:r>
              <a:rPr lang="en-US" altLang="zh-CN" sz="2800" b="1" i="0" u="none" strike="noStrike" kern="1200" cap="none" spc="0" baseline="0">
                <a:solidFill>
                  <a:schemeClr val="tx1"/>
                </a:solidFill>
                <a:latin typeface="Calibri" pitchFamily="0" charset="0"/>
                <a:ea typeface="ＭＳ Ｐゴシック" pitchFamily="0" charset="-128"/>
                <a:cs typeface="Lucida Sans"/>
              </a:rPr>
              <a:t>Mode</a:t>
            </a:r>
            <a:r>
              <a:rPr lang="en-US" altLang="zh-CN" sz="2800" b="0" i="0" u="none" strike="noStrike" kern="1200" cap="none" spc="0" baseline="0">
                <a:solidFill>
                  <a:schemeClr val="tx1"/>
                </a:solidFill>
                <a:latin typeface="Calibri" pitchFamily="0" charset="0"/>
                <a:ea typeface="ＭＳ Ｐゴシック" pitchFamily="0" charset="-128"/>
                <a:cs typeface="Lucida Sans"/>
              </a:rPr>
              <a:t> = </a:t>
            </a:r>
            <a:r>
              <a:rPr lang="en-US" altLang="zh-CN" sz="2800" b="0" i="1" u="none" strike="noStrike" kern="1200" cap="none" spc="0" baseline="0">
                <a:solidFill>
                  <a:schemeClr val="tx1"/>
                </a:solidFill>
                <a:latin typeface="Calibri" pitchFamily="0" charset="0"/>
                <a:ea typeface="ＭＳ Ｐゴシック" pitchFamily="0" charset="-128"/>
                <a:cs typeface="Lucida Sans"/>
              </a:rPr>
              <a:t>l</a:t>
            </a:r>
            <a:r>
              <a:rPr lang="en-US" altLang="zh-CN" sz="2800" b="0" i="0" u="none" strike="noStrike" kern="1200" cap="none" spc="0" baseline="0">
                <a:solidFill>
                  <a:schemeClr val="tx1"/>
                </a:solidFill>
                <a:latin typeface="Calibri" pitchFamily="0" charset="0"/>
                <a:ea typeface="ＭＳ Ｐゴシック" pitchFamily="0" charset="-128"/>
                <a:cs typeface="Lucida Sans"/>
              </a:rPr>
              <a:t> + </a:t>
            </a:r>
            <a:r>
              <a:rPr lang="en-US" altLang="zh-CN" sz="2800" b="0" i="1" u="none" strike="noStrike" kern="1200" cap="none" spc="0" baseline="0">
                <a:solidFill>
                  <a:schemeClr val="tx1"/>
                </a:solidFill>
                <a:latin typeface="Calibri" pitchFamily="0" charset="0"/>
                <a:ea typeface="ＭＳ Ｐゴシック" pitchFamily="0" charset="-128"/>
                <a:cs typeface="Lucida Sans"/>
              </a:rPr>
              <a:t>h</a:t>
            </a:r>
            <a:r>
              <a:rPr lang="en-US" altLang="zh-CN" sz="2800" b="0" i="0" u="none" strike="noStrike" kern="1200" cap="none" spc="0" baseline="0">
                <a:solidFill>
                  <a:schemeClr val="tx1"/>
                </a:solidFill>
                <a:latin typeface="Calibri" pitchFamily="0" charset="0"/>
                <a:ea typeface="ＭＳ Ｐゴシック" pitchFamily="0" charset="-128"/>
                <a:cs typeface="Lucida Sans"/>
              </a:rPr>
              <a:t> × [(</a:t>
            </a:r>
            <a:r>
              <a:rPr lang="en-US" altLang="zh-CN" sz="2800" b="0" i="1" u="none" strike="noStrike" kern="1200" cap="none" spc="0" baseline="0">
                <a:solidFill>
                  <a:schemeClr val="tx1"/>
                </a:solidFill>
                <a:latin typeface="Calibri" pitchFamily="0" charset="0"/>
                <a:ea typeface="ＭＳ Ｐゴシック" pitchFamily="0" charset="-128"/>
                <a:cs typeface="Lucida Sans"/>
              </a:rPr>
              <a:t>f</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1</a:t>
            </a:r>
            <a:r>
              <a:rPr lang="en-US" altLang="zh-CN" sz="2800" b="0" i="0" u="none" strike="noStrike" kern="1200" cap="none" spc="0" baseline="0">
                <a:solidFill>
                  <a:schemeClr val="tx1"/>
                </a:solidFill>
                <a:latin typeface="Calibri" pitchFamily="0" charset="0"/>
                <a:ea typeface="ＭＳ Ｐゴシック" pitchFamily="0" charset="-128"/>
                <a:cs typeface="Lucida Sans"/>
              </a:rPr>
              <a:t> – </a:t>
            </a:r>
            <a:r>
              <a:rPr lang="en-US" altLang="zh-CN" sz="2800" b="0" i="1" u="none" strike="noStrike" kern="1200" cap="none" spc="0" baseline="0">
                <a:solidFill>
                  <a:schemeClr val="tx1"/>
                </a:solidFill>
                <a:latin typeface="Calibri" pitchFamily="0" charset="0"/>
                <a:ea typeface="ＭＳ Ｐゴシック" pitchFamily="0" charset="-128"/>
                <a:cs typeface="Lucida Sans"/>
              </a:rPr>
              <a:t>f</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0</a:t>
            </a:r>
            <a:r>
              <a:rPr lang="en-US" altLang="zh-CN" sz="2800" b="0" i="0" u="none" strike="noStrike" kern="1200" cap="none" spc="0" baseline="0">
                <a:solidFill>
                  <a:schemeClr val="tx1"/>
                </a:solidFill>
                <a:latin typeface="Calibri" pitchFamily="0" charset="0"/>
                <a:ea typeface="ＭＳ Ｐゴシック" pitchFamily="0" charset="-128"/>
                <a:cs typeface="Lucida Sans"/>
              </a:rPr>
              <a:t>) ÷ (2</a:t>
            </a:r>
            <a:r>
              <a:rPr lang="en-US" altLang="zh-CN" sz="2800" b="0" i="1" u="none" strike="noStrike" kern="1200" cap="none" spc="0" baseline="0">
                <a:solidFill>
                  <a:schemeClr val="tx1"/>
                </a:solidFill>
                <a:latin typeface="Calibri" pitchFamily="0" charset="0"/>
                <a:ea typeface="ＭＳ Ｐゴシック" pitchFamily="0" charset="-128"/>
                <a:cs typeface="Lucida Sans"/>
              </a:rPr>
              <a:t>f</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1</a:t>
            </a:r>
            <a:r>
              <a:rPr lang="en-US" altLang="zh-CN" sz="2800" b="0" i="0" u="none" strike="noStrike" kern="1200" cap="none" spc="0" baseline="0">
                <a:solidFill>
                  <a:schemeClr val="tx1"/>
                </a:solidFill>
                <a:latin typeface="Calibri" pitchFamily="0" charset="0"/>
                <a:ea typeface="ＭＳ Ｐゴシック" pitchFamily="0" charset="-128"/>
                <a:cs typeface="Lucida Sans"/>
              </a:rPr>
              <a:t> – </a:t>
            </a:r>
            <a:r>
              <a:rPr lang="en-US" altLang="zh-CN" sz="2800" b="0" i="1" u="none" strike="noStrike" kern="1200" cap="none" spc="0" baseline="0">
                <a:solidFill>
                  <a:schemeClr val="tx1"/>
                </a:solidFill>
                <a:latin typeface="Calibri" pitchFamily="0" charset="0"/>
                <a:ea typeface="ＭＳ Ｐゴシック" pitchFamily="0" charset="-128"/>
                <a:cs typeface="Lucida Sans"/>
              </a:rPr>
              <a:t>f</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0</a:t>
            </a:r>
            <a:r>
              <a:rPr lang="en-US" altLang="zh-CN" sz="2800" b="0" i="0" u="none" strike="noStrike" kern="1200" cap="none" spc="0" baseline="0">
                <a:solidFill>
                  <a:schemeClr val="tx1"/>
                </a:solidFill>
                <a:latin typeface="Calibri" pitchFamily="0" charset="0"/>
                <a:ea typeface="ＭＳ Ｐゴシック" pitchFamily="0" charset="-128"/>
                <a:cs typeface="Lucida Sans"/>
              </a:rPr>
              <a:t> – </a:t>
            </a:r>
            <a:r>
              <a:rPr lang="en-US" altLang="zh-CN" sz="2800" b="0" i="1" u="none" strike="noStrike" kern="1200" cap="none" spc="0" baseline="0">
                <a:solidFill>
                  <a:schemeClr val="tx1"/>
                </a:solidFill>
                <a:latin typeface="Calibri" pitchFamily="0" charset="0"/>
                <a:ea typeface="ＭＳ Ｐゴシック" pitchFamily="0" charset="-128"/>
                <a:cs typeface="Lucida Sans"/>
              </a:rPr>
              <a:t>f</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2</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l" eaLnBrk="1" hangingPunct="1">
              <a:lnSpc>
                <a:spcPct val="90000"/>
              </a:lnSpc>
              <a:spcBef>
                <a:spcPct val="2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Lucida Sans"/>
              </a:rPr>
              <a:t>where,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892175" indent="-892175" algn="l" eaLnBrk="1" hangingPunct="1">
              <a:lnSpc>
                <a:spcPct val="90000"/>
              </a:lnSpc>
              <a:spcBef>
                <a:spcPct val="20000"/>
              </a:spcBef>
              <a:spcAft>
                <a:spcPts val="0"/>
              </a:spcAft>
              <a:buNone/>
              <a:tabLst>
                <a:tab pos="263525" algn="l"/>
                <a:tab pos="628650" algn="l"/>
                <a:tab pos="892175"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	</a:t>
            </a:r>
            <a:r>
              <a:rPr lang="en-US" altLang="zh-CN" sz="2400" b="1" i="1" u="none" strike="noStrike" kern="1200" cap="none" spc="0" baseline="0">
                <a:solidFill>
                  <a:schemeClr val="tx1"/>
                </a:solidFill>
                <a:latin typeface="Calibri" pitchFamily="0" charset="0"/>
                <a:ea typeface="ＭＳ Ｐゴシック" pitchFamily="0" charset="-128"/>
                <a:cs typeface="Lucida Sans"/>
              </a:rPr>
              <a:t>l</a:t>
            </a:r>
            <a:r>
              <a:rPr lang="en-US" altLang="zh-CN" sz="2400" b="0" i="0" u="none" strike="noStrike" kern="1200" cap="none" spc="0" baseline="0">
                <a:solidFill>
                  <a:schemeClr val="tx1"/>
                </a:solidFill>
                <a:latin typeface="Calibri" pitchFamily="0" charset="0"/>
                <a:ea typeface="ＭＳ Ｐゴシック" pitchFamily="0" charset="-128"/>
                <a:cs typeface="Lucida Sans"/>
              </a:rPr>
              <a:t> 	: lower class limit of the modal class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892175" indent="-892175" algn="l" eaLnBrk="1" hangingPunct="1">
              <a:lnSpc>
                <a:spcPct val="90000"/>
              </a:lnSpc>
              <a:spcBef>
                <a:spcPct val="20000"/>
              </a:spcBef>
              <a:spcAft>
                <a:spcPts val="0"/>
              </a:spcAft>
              <a:buNone/>
              <a:tabLst>
                <a:tab pos="263525" algn="l"/>
                <a:tab pos="628650" algn="l"/>
                <a:tab pos="892175"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	</a:t>
            </a:r>
            <a:r>
              <a:rPr lang="en-US" altLang="zh-CN" sz="2400" b="1" i="1" u="none" strike="noStrike" kern="1200" cap="none" spc="0" baseline="0">
                <a:solidFill>
                  <a:schemeClr val="tx1"/>
                </a:solidFill>
                <a:latin typeface="Calibri" pitchFamily="0" charset="0"/>
                <a:ea typeface="ＭＳ Ｐゴシック" pitchFamily="0" charset="-128"/>
                <a:cs typeface="Lucida Sans"/>
              </a:rPr>
              <a:t>h</a:t>
            </a:r>
            <a:r>
              <a:rPr lang="en-US" altLang="zh-CN" sz="2400" b="0" i="0" u="none" strike="noStrike" kern="1200" cap="none" spc="0" baseline="0">
                <a:solidFill>
                  <a:schemeClr val="tx1"/>
                </a:solidFill>
                <a:latin typeface="Calibri" pitchFamily="0" charset="0"/>
                <a:ea typeface="ＭＳ Ｐゴシック" pitchFamily="0" charset="-128"/>
                <a:cs typeface="Lucida Sans"/>
              </a:rPr>
              <a:t> 	: class size if all class intervals have the same class size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892175" indent="-892175" algn="l" eaLnBrk="1" hangingPunct="1">
              <a:lnSpc>
                <a:spcPct val="90000"/>
              </a:lnSpc>
              <a:spcBef>
                <a:spcPct val="20000"/>
              </a:spcBef>
              <a:spcAft>
                <a:spcPts val="0"/>
              </a:spcAft>
              <a:buNone/>
              <a:tabLst>
                <a:tab pos="263525" algn="l"/>
                <a:tab pos="628650" algn="l"/>
                <a:tab pos="892175" algn="l"/>
              </a:tabLst>
            </a:pPr>
            <a:r>
              <a:rPr lang="en-US" altLang="zh-CN" sz="2400" b="1" i="1" u="none" strike="noStrike" kern="1200" cap="none" spc="0" baseline="0">
                <a:solidFill>
                  <a:schemeClr val="tx1"/>
                </a:solidFill>
                <a:latin typeface="Calibri" pitchFamily="0" charset="0"/>
                <a:ea typeface="ＭＳ Ｐゴシック" pitchFamily="0" charset="-128"/>
                <a:cs typeface="Lucida Sans"/>
              </a:rPr>
              <a:t>	f</a:t>
            </a:r>
            <a:r>
              <a:rPr lang="en-US" altLang="zh-CN" sz="2400" b="0" i="0" u="none" strike="noStrike" kern="1200" cap="none" spc="0" baseline="-25000">
                <a:solidFill>
                  <a:schemeClr val="tx1"/>
                </a:solidFill>
                <a:latin typeface="Calibri" pitchFamily="0" charset="0"/>
                <a:ea typeface="ＭＳ Ｐゴシック" pitchFamily="0" charset="-128"/>
                <a:cs typeface="Lucida Sans"/>
              </a:rPr>
              <a:t>1</a:t>
            </a:r>
            <a:r>
              <a:rPr lang="en-US" altLang="zh-CN" sz="2400" b="0" i="0" u="none" strike="noStrike" kern="1200" cap="none" spc="0" baseline="0">
                <a:solidFill>
                  <a:schemeClr val="tx1"/>
                </a:solidFill>
                <a:latin typeface="Calibri" pitchFamily="0" charset="0"/>
                <a:ea typeface="ＭＳ Ｐゴシック" pitchFamily="0" charset="-128"/>
                <a:cs typeface="Lucida Sans"/>
              </a:rPr>
              <a:t>	: frequency of the modal class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892175" indent="-892175" algn="l" eaLnBrk="1" hangingPunct="1">
              <a:lnSpc>
                <a:spcPct val="90000"/>
              </a:lnSpc>
              <a:spcBef>
                <a:spcPct val="20000"/>
              </a:spcBef>
              <a:spcAft>
                <a:spcPts val="0"/>
              </a:spcAft>
              <a:buNone/>
              <a:tabLst>
                <a:tab pos="263525" algn="l"/>
                <a:tab pos="628650" algn="l"/>
                <a:tab pos="892175" algn="l"/>
              </a:tabLst>
            </a:pPr>
            <a:r>
              <a:rPr lang="en-US" altLang="zh-CN" sz="2400" b="1" i="1" u="none" strike="noStrike" kern="1200" cap="none" spc="0" baseline="0">
                <a:solidFill>
                  <a:schemeClr val="tx1"/>
                </a:solidFill>
                <a:latin typeface="Calibri" pitchFamily="0" charset="0"/>
                <a:ea typeface="ＭＳ Ｐゴシック" pitchFamily="0" charset="-128"/>
                <a:cs typeface="Lucida Sans"/>
              </a:rPr>
              <a:t>	f</a:t>
            </a:r>
            <a:r>
              <a:rPr lang="en-US" altLang="zh-CN" sz="2400" b="0" i="0" u="none" strike="noStrike" kern="1200" cap="none" spc="0" baseline="-25000">
                <a:solidFill>
                  <a:schemeClr val="tx1"/>
                </a:solidFill>
                <a:latin typeface="Calibri" pitchFamily="0" charset="0"/>
                <a:ea typeface="ＭＳ Ｐゴシック" pitchFamily="0" charset="-128"/>
                <a:cs typeface="Lucida Sans"/>
              </a:rPr>
              <a:t>0</a:t>
            </a:r>
            <a:r>
              <a:rPr lang="en-US" altLang="zh-CN" sz="2400" b="0" i="0" u="none" strike="noStrike" kern="1200" cap="none" spc="0" baseline="0">
                <a:solidFill>
                  <a:schemeClr val="tx1"/>
                </a:solidFill>
                <a:latin typeface="Calibri" pitchFamily="0" charset="0"/>
                <a:ea typeface="ＭＳ Ｐゴシック" pitchFamily="0" charset="-128"/>
                <a:cs typeface="Lucida Sans"/>
              </a:rPr>
              <a:t>	: frequency of the class preceding or just before the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892175" indent="-892175" algn="l" eaLnBrk="1" hangingPunct="1">
              <a:lnSpc>
                <a:spcPct val="90000"/>
              </a:lnSpc>
              <a:spcBef>
                <a:spcPct val="20000"/>
              </a:spcBef>
              <a:spcAft>
                <a:spcPts val="0"/>
              </a:spcAft>
              <a:buNone/>
              <a:tabLst>
                <a:tab pos="263525" algn="l"/>
                <a:tab pos="628650" algn="l"/>
                <a:tab pos="892175"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          modal class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892175" indent="-892175" algn="l" eaLnBrk="1" hangingPunct="1">
              <a:lnSpc>
                <a:spcPct val="90000"/>
              </a:lnSpc>
              <a:spcBef>
                <a:spcPct val="20000"/>
              </a:spcBef>
              <a:spcAft>
                <a:spcPts val="0"/>
              </a:spcAft>
              <a:buNone/>
              <a:tabLst>
                <a:tab pos="263525" algn="l"/>
                <a:tab pos="628650" algn="l"/>
                <a:tab pos="892175" algn="l"/>
              </a:tabLst>
            </a:pPr>
            <a:r>
              <a:rPr lang="en-US" altLang="zh-CN" sz="2400" b="1" i="1" u="none" strike="noStrike" kern="1200" cap="none" spc="0" baseline="0">
                <a:solidFill>
                  <a:schemeClr val="tx1"/>
                </a:solidFill>
                <a:latin typeface="Calibri" pitchFamily="0" charset="0"/>
                <a:ea typeface="ＭＳ Ｐゴシック" pitchFamily="0" charset="-128"/>
                <a:cs typeface="Lucida Sans"/>
              </a:rPr>
              <a:t>	f</a:t>
            </a:r>
            <a:r>
              <a:rPr lang="en-US" altLang="zh-CN" sz="2400" b="0" i="0" u="none" strike="noStrike" kern="1200" cap="none" spc="0" baseline="-25000">
                <a:solidFill>
                  <a:schemeClr val="tx1"/>
                </a:solidFill>
                <a:latin typeface="Calibri" pitchFamily="0" charset="0"/>
                <a:ea typeface="ＭＳ Ｐゴシック" pitchFamily="0" charset="-128"/>
                <a:cs typeface="Lucida Sans"/>
              </a:rPr>
              <a:t>2</a:t>
            </a:r>
            <a:r>
              <a:rPr lang="en-US" altLang="zh-CN" sz="2400" b="0" i="0" u="none" strike="noStrike" kern="1200" cap="none" spc="0" baseline="0">
                <a:solidFill>
                  <a:schemeClr val="tx1"/>
                </a:solidFill>
                <a:latin typeface="Calibri" pitchFamily="0" charset="0"/>
                <a:ea typeface="ＭＳ Ｐゴシック" pitchFamily="0" charset="-128"/>
                <a:cs typeface="Lucida Sans"/>
              </a:rPr>
              <a:t>	: frequency of the class succeeding or just after the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811149" indent="-811149" algn="l" eaLnBrk="1" hangingPunct="1">
              <a:lnSpc>
                <a:spcPct val="90000"/>
              </a:lnSpc>
              <a:spcBef>
                <a:spcPct val="20000"/>
              </a:spcBef>
              <a:spcAft>
                <a:spcPts val="0"/>
              </a:spcAft>
              <a:buNone/>
              <a:tabLst>
                <a:tab pos="263525" algn="l"/>
                <a:tab pos="628650" algn="l"/>
                <a:tab pos="811149"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          modal class</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837101060"/>
      </p:ext>
    </p:extLst>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2"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23</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193" name="Text box"/>
          <p:cNvSpPr>
            <a:spLocks noGrp="1"/>
          </p:cNvSpPr>
          <p:nvPr>
            <p:ph type="title"/>
          </p:nvPr>
        </p:nvSpPr>
        <p:spPr>
          <a:xfrm rot="0">
            <a:off x="2927649" y="76201"/>
            <a:ext cx="6346825" cy="5619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194" name="Images" descr="mode, mode of grouped data"/>
          <p:cNvPicPr>
            <a:picLocks noChangeAspect="1"/>
          </p:cNvPicPr>
          <p:nvPr/>
        </p:nvPicPr>
        <p:blipFill>
          <a:blip r:embed="rId1" cstate="print"/>
          <a:stretch>
            <a:fillRect/>
          </a:stretch>
        </p:blipFill>
        <p:spPr>
          <a:xfrm rot="0">
            <a:off x="2408714" y="609599"/>
            <a:ext cx="7583224" cy="6035039"/>
          </a:xfrm>
          <a:prstGeom prst="rect"/>
          <a:noFill/>
          <a:ln w="12700" cmpd="sng" cap="flat">
            <a:noFill/>
            <a:prstDash val="solid"/>
            <a:round/>
          </a:ln>
        </p:spPr>
      </p:pic>
      <p:sp>
        <p:nvSpPr>
          <p:cNvPr id="195" name="Rectangles"/>
          <p:cNvSpPr>
            <a:spLocks/>
          </p:cNvSpPr>
          <p:nvPr/>
        </p:nvSpPr>
        <p:spPr>
          <a:xfrm rot="0">
            <a:off x="9398845" y="5147846"/>
            <a:ext cx="1184939" cy="338553"/>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600" b="0" i="0" u="none" strike="noStrike" kern="1200" cap="none" spc="0" baseline="0">
                <a:solidFill>
                  <a:srgbClr val="FF0000"/>
                </a:solidFill>
                <a:latin typeface="Calibri" pitchFamily="0" charset="0"/>
                <a:ea typeface="ＭＳ Ｐゴシック" pitchFamily="0" charset="-128"/>
                <a:cs typeface="Calibri" pitchFamily="0" charset="0"/>
              </a:rPr>
              <a:t>h=85-65=20</a:t>
            </a:r>
            <a:endParaRPr lang="zh-CN" altLang="en-US" sz="1600" b="0" i="0" u="none" strike="noStrike" kern="1200" cap="none" spc="0" baseline="0">
              <a:solidFill>
                <a:srgbClr val="FF0000"/>
              </a:solidFill>
              <a:latin typeface="Calibri" pitchFamily="0" charset="0"/>
              <a:ea typeface="ＭＳ Ｐゴシック" pitchFamily="0" charset="-128"/>
              <a:cs typeface="Calibri" pitchFamily="0" charset="0"/>
            </a:endParaRPr>
          </a:p>
        </p:txBody>
      </p:sp>
      <mc:AlternateContent xmlns:mc="http://schemas.openxmlformats.org/markup-compatibility/2006">
        <mc:Choice xmlns:p14="http://schemas.microsoft.com/office/powerpoint/2010/main" Requires="p14">
          <p:contentPart r:id="rId2">
            <p14:nvContentPartPr>
              <p14:cNvPr id="196" name="Object"/>
              <p14:cNvContentPartPr>
                <a14:cpLocks xmlns:a14="http://schemas.microsoft.com/office/drawing/2010/main" noSelect="1" noChangeArrowheads="1"/>
              </p14:cNvContentPartPr>
              <p14:nvPr/>
            </p14:nvContentPartPr>
            <p14:xfrm>
              <a:off x="7014913" y="2562583"/>
              <a:ext cx="140760" cy="159479"/>
            </p14:xfrm>
          </p:contentPart>
        </mc:Choice>
        <mc:Fallback/>
      </mc:AlternateContent>
      <mc:AlternateContent xmlns:mc="http://schemas.openxmlformats.org/markup-compatibility/2006">
        <mc:Choice xmlns:p14="http://schemas.microsoft.com/office/powerpoint/2010/main" Requires="p14">
          <p:contentPart r:id="rId3">
            <p14:nvContentPartPr>
              <p14:cNvPr id="198" name="Object"/>
              <p14:cNvContentPartPr>
                <a14:cpLocks xmlns:a14="http://schemas.microsoft.com/office/drawing/2010/main" noSelect="1" noChangeArrowheads="1"/>
              </p14:cNvContentPartPr>
              <p14:nvPr/>
            </p14:nvContentPartPr>
            <p14:xfrm>
              <a:off x="7054153" y="2596783"/>
              <a:ext cx="543599" cy="48959"/>
            </p14:xfrm>
          </p:contentPart>
        </mc:Choice>
        <mc:Fallback/>
      </mc:AlternateContent>
      <p:grpSp>
        <p:nvGrpSpPr>
          <p:cNvPr id="200" name="Combination"/>
          <p:cNvGrpSpPr>
            <a:grpSpLocks/>
          </p:cNvGrpSpPr>
          <p:nvPr/>
        </p:nvGrpSpPr>
        <p:grpSpPr>
          <a:xfrm>
            <a:off x="8529913" y="2553583"/>
            <a:ext cx="600479" cy="177119"/>
            <a:chOff x="8529913" y="2553583"/>
            <a:chExt cx="600479" cy="177119"/>
          </a:xfrm>
        </p:grpSpPr>
        <p:pic>
          <p:nvPicPr>
            <p:cNvPr id="197" name="Images"/>
            <p:cNvPicPr>
              <a:picLocks/>
            </p:cNvPicPr>
            <p:nvPr/>
          </p:nvPicPr>
          <p:blipFill>
            <a:blip r:embed="rId4" cstate="print"/>
            <a:stretch>
              <a:fillRect/>
            </a:stretch>
          </p:blipFill>
          <p:spPr>
            <a:xfrm rot="0">
              <a:off x="8529913" y="2553583"/>
              <a:ext cx="158400" cy="177119"/>
            </a:xfrm>
            <a:prstGeom prst="rect"/>
            <a:noFill/>
            <a:ln w="12700" cmpd="sng" cap="flat">
              <a:noFill/>
              <a:prstDash val="solid"/>
              <a:miter/>
            </a:ln>
          </p:spPr>
        </p:pic>
        <p:pic>
          <p:nvPicPr>
            <p:cNvPr id="199" name="Images"/>
            <p:cNvPicPr>
              <a:picLocks/>
            </p:cNvPicPr>
            <p:nvPr/>
          </p:nvPicPr>
          <p:blipFill>
            <a:blip r:embed="rId5" cstate="print"/>
            <a:stretch>
              <a:fillRect/>
            </a:stretch>
          </p:blipFill>
          <p:spPr>
            <a:xfrm rot="0">
              <a:off x="8569153" y="2587783"/>
              <a:ext cx="561239" cy="66599"/>
            </a:xfrm>
            <a:prstGeom prst="rect"/>
            <a:noFill/>
            <a:ln w="12700" cmpd="sng" cap="flat">
              <a:noFill/>
              <a:prstDash val="solid"/>
              <a:miter/>
            </a:ln>
          </p:spPr>
        </p:pic>
      </p:grpSp>
      <mc:AlternateContent xmlns:mc="http://schemas.openxmlformats.org/markup-compatibility/2006">
        <mc:Choice xmlns:p14="http://schemas.microsoft.com/office/powerpoint/2010/main" Requires="p14">
          <p:contentPart r:id="rId6">
            <p14:nvContentPartPr>
              <p14:cNvPr id="201" name="Object"/>
              <p14:cNvContentPartPr>
                <a14:cpLocks xmlns:a14="http://schemas.microsoft.com/office/drawing/2010/main" noSelect="1" noChangeArrowheads="1"/>
              </p14:cNvContentPartPr>
              <p14:nvPr/>
            </p14:nvContentPartPr>
            <p14:xfrm>
              <a:off x="7745353" y="2572663"/>
              <a:ext cx="189359" cy="6839"/>
            </p14:xfrm>
          </p:contentPart>
        </mc:Choice>
        <mc:Fallback/>
      </mc:AlternateContent>
      <mc:AlternateContent xmlns:mc="http://schemas.openxmlformats.org/markup-compatibility/2006">
        <mc:Choice xmlns:p14="http://schemas.microsoft.com/office/powerpoint/2010/main" Requires="p14">
          <p:contentPart r:id="rId7">
            <p14:nvContentPartPr>
              <p14:cNvPr id="203" name="Object"/>
              <p14:cNvContentPartPr>
                <a14:cpLocks xmlns:a14="http://schemas.microsoft.com/office/drawing/2010/main" noSelect="1" noChangeArrowheads="1"/>
              </p14:cNvContentPartPr>
              <p14:nvPr/>
            </p14:nvContentPartPr>
            <p14:xfrm>
              <a:off x="7810513" y="2475463"/>
              <a:ext cx="100440" cy="274320"/>
            </p14:xfrm>
          </p:contentPart>
        </mc:Choice>
        <mc:Fallback/>
      </mc:AlternateContent>
      <mc:AlternateContent xmlns:mc="http://schemas.openxmlformats.org/markup-compatibility/2006">
        <mc:Choice xmlns:p14="http://schemas.microsoft.com/office/powerpoint/2010/main" Requires="p14">
          <p:contentPart r:id="rId8">
            <p14:nvContentPartPr>
              <p14:cNvPr id="205" name="Object"/>
              <p14:cNvContentPartPr>
                <a14:cpLocks xmlns:a14="http://schemas.microsoft.com/office/drawing/2010/main" noSelect="1" noChangeArrowheads="1"/>
              </p14:cNvContentPartPr>
              <p14:nvPr/>
            </p14:nvContentPartPr>
            <p14:xfrm>
              <a:off x="7986192" y="2701902"/>
              <a:ext cx="359" cy="81360"/>
            </p14:xfrm>
          </p:contentPart>
        </mc:Choice>
        <mc:Fallback/>
      </mc:AlternateContent>
      <p:grpSp>
        <p:nvGrpSpPr>
          <p:cNvPr id="207" name="Combination"/>
          <p:cNvGrpSpPr>
            <a:grpSpLocks/>
          </p:cNvGrpSpPr>
          <p:nvPr/>
        </p:nvGrpSpPr>
        <p:grpSpPr>
          <a:xfrm>
            <a:off x="9260353" y="2466463"/>
            <a:ext cx="258840" cy="325440"/>
            <a:chOff x="9260353" y="2466463"/>
            <a:chExt cx="258840" cy="325440"/>
          </a:xfrm>
        </p:grpSpPr>
        <p:pic>
          <p:nvPicPr>
            <p:cNvPr id="202" name="Images"/>
            <p:cNvPicPr>
              <a:picLocks/>
            </p:cNvPicPr>
            <p:nvPr/>
          </p:nvPicPr>
          <p:blipFill>
            <a:blip r:embed="rId9" cstate="print"/>
            <a:stretch>
              <a:fillRect/>
            </a:stretch>
          </p:blipFill>
          <p:spPr>
            <a:xfrm rot="0">
              <a:off x="9260353" y="2563663"/>
              <a:ext cx="206999" cy="24480"/>
            </a:xfrm>
            <a:prstGeom prst="rect"/>
            <a:noFill/>
            <a:ln w="12700" cmpd="sng" cap="flat">
              <a:noFill/>
              <a:prstDash val="solid"/>
              <a:miter/>
            </a:ln>
          </p:spPr>
        </p:pic>
        <p:pic>
          <p:nvPicPr>
            <p:cNvPr id="204" name="Images"/>
            <p:cNvPicPr>
              <a:picLocks/>
            </p:cNvPicPr>
            <p:nvPr/>
          </p:nvPicPr>
          <p:blipFill>
            <a:blip r:embed="rId10" cstate="print"/>
            <a:stretch>
              <a:fillRect/>
            </a:stretch>
          </p:blipFill>
          <p:spPr>
            <a:xfrm rot="0">
              <a:off x="9325513" y="2466463"/>
              <a:ext cx="118079" cy="291960"/>
            </a:xfrm>
            <a:prstGeom prst="rect"/>
            <a:noFill/>
            <a:ln w="12700" cmpd="sng" cap="flat">
              <a:noFill/>
              <a:prstDash val="solid"/>
              <a:miter/>
            </a:ln>
          </p:spPr>
        </p:pic>
        <p:pic>
          <p:nvPicPr>
            <p:cNvPr id="206" name="Images"/>
            <p:cNvPicPr>
              <a:picLocks/>
            </p:cNvPicPr>
            <p:nvPr/>
          </p:nvPicPr>
          <p:blipFill>
            <a:blip r:embed="rId11" cstate="print"/>
            <a:stretch>
              <a:fillRect/>
            </a:stretch>
          </p:blipFill>
          <p:spPr>
            <a:xfrm rot="0">
              <a:off x="9501193" y="2692903"/>
              <a:ext cx="17999" cy="99000"/>
            </a:xfrm>
            <a:prstGeom prst="rect"/>
            <a:noFill/>
            <a:ln w="12700" cmpd="sng" cap="flat">
              <a:noFill/>
              <a:prstDash val="solid"/>
              <a:miter/>
            </a:ln>
          </p:spPr>
        </p:pic>
      </p:grpSp>
      <mc:AlternateContent xmlns:mc="http://schemas.openxmlformats.org/markup-compatibility/2006">
        <mc:Choice xmlns:p14="http://schemas.microsoft.com/office/powerpoint/2010/main" Requires="p14">
          <p:contentPart r:id="rId12">
            <p14:nvContentPartPr>
              <p14:cNvPr id="208" name="Object"/>
              <p14:cNvContentPartPr>
                <a14:cpLocks xmlns:a14="http://schemas.microsoft.com/office/drawing/2010/main" noSelect="1" noChangeArrowheads="1"/>
              </p14:cNvContentPartPr>
              <p14:nvPr/>
            </p14:nvContentPartPr>
            <p14:xfrm>
              <a:off x="7156033" y="2201503"/>
              <a:ext cx="181440" cy="360"/>
            </p14:xfrm>
          </p:contentPart>
        </mc:Choice>
        <mc:Fallback/>
      </mc:AlternateContent>
      <mc:AlternateContent xmlns:mc="http://schemas.openxmlformats.org/markup-compatibility/2006">
        <mc:Choice xmlns:p14="http://schemas.microsoft.com/office/powerpoint/2010/main" Requires="p14">
          <p:contentPart r:id="rId13">
            <p14:nvContentPartPr>
              <p14:cNvPr id="210" name="Object"/>
              <p14:cNvContentPartPr>
                <a14:cpLocks xmlns:a14="http://schemas.microsoft.com/office/drawing/2010/main" noSelect="1" noChangeArrowheads="1"/>
              </p14:cNvContentPartPr>
              <p14:nvPr/>
            </p14:nvContentPartPr>
            <p14:xfrm>
              <a:off x="7226593" y="2096023"/>
              <a:ext cx="113759" cy="254519"/>
            </p14:xfrm>
          </p:contentPart>
        </mc:Choice>
        <mc:Fallback/>
      </mc:AlternateContent>
      <mc:AlternateContent xmlns:mc="http://schemas.openxmlformats.org/markup-compatibility/2006">
        <mc:Choice xmlns:p14="http://schemas.microsoft.com/office/powerpoint/2010/main" Requires="p14">
          <p:contentPart r:id="rId14">
            <p14:nvContentPartPr>
              <p14:cNvPr id="212" name="Object"/>
              <p14:cNvContentPartPr>
                <a14:cpLocks xmlns:a14="http://schemas.microsoft.com/office/drawing/2010/main" noSelect="1" noChangeArrowheads="1"/>
              </p14:cNvContentPartPr>
              <p14:nvPr/>
            </p14:nvContentPartPr>
            <p14:xfrm>
              <a:off x="7361593" y="2311663"/>
              <a:ext cx="81360" cy="97920"/>
            </p14:xfrm>
          </p:contentPart>
        </mc:Choice>
        <mc:Fallback/>
      </mc:AlternateContent>
      <p:grpSp>
        <p:nvGrpSpPr>
          <p:cNvPr id="214" name="Combination"/>
          <p:cNvGrpSpPr>
            <a:grpSpLocks/>
          </p:cNvGrpSpPr>
          <p:nvPr/>
        </p:nvGrpSpPr>
        <p:grpSpPr>
          <a:xfrm>
            <a:off x="8671393" y="2087383"/>
            <a:ext cx="304560" cy="331199"/>
            <a:chOff x="8671393" y="2087383"/>
            <a:chExt cx="304560" cy="331199"/>
          </a:xfrm>
        </p:grpSpPr>
        <p:pic>
          <p:nvPicPr>
            <p:cNvPr id="209" name="Images"/>
            <p:cNvPicPr>
              <a:picLocks/>
            </p:cNvPicPr>
            <p:nvPr/>
          </p:nvPicPr>
          <p:blipFill>
            <a:blip r:embed="rId15" cstate="print"/>
            <a:stretch>
              <a:fillRect/>
            </a:stretch>
          </p:blipFill>
          <p:spPr>
            <a:xfrm rot="0">
              <a:off x="8671393" y="2192503"/>
              <a:ext cx="199080" cy="17999"/>
            </a:xfrm>
            <a:prstGeom prst="rect"/>
            <a:noFill/>
            <a:ln w="12700" cmpd="sng" cap="flat">
              <a:noFill/>
              <a:prstDash val="solid"/>
              <a:miter/>
            </a:ln>
          </p:spPr>
        </p:pic>
        <p:pic>
          <p:nvPicPr>
            <p:cNvPr id="211" name="Images"/>
            <p:cNvPicPr>
              <a:picLocks/>
            </p:cNvPicPr>
            <p:nvPr/>
          </p:nvPicPr>
          <p:blipFill>
            <a:blip r:embed="rId16" cstate="print"/>
            <a:stretch>
              <a:fillRect/>
            </a:stretch>
          </p:blipFill>
          <p:spPr>
            <a:xfrm rot="0">
              <a:off x="8741953" y="2087383"/>
              <a:ext cx="131399" cy="272160"/>
            </a:xfrm>
            <a:prstGeom prst="rect"/>
            <a:noFill/>
            <a:ln w="12700" cmpd="sng" cap="flat">
              <a:noFill/>
              <a:prstDash val="solid"/>
              <a:miter/>
            </a:ln>
          </p:spPr>
        </p:pic>
        <p:pic>
          <p:nvPicPr>
            <p:cNvPr id="213" name="Images"/>
            <p:cNvPicPr>
              <a:picLocks/>
            </p:cNvPicPr>
            <p:nvPr/>
          </p:nvPicPr>
          <p:blipFill>
            <a:blip r:embed="rId17" cstate="print"/>
            <a:stretch>
              <a:fillRect/>
            </a:stretch>
          </p:blipFill>
          <p:spPr>
            <a:xfrm rot="0">
              <a:off x="8876953" y="2303023"/>
              <a:ext cx="99000" cy="115559"/>
            </a:xfrm>
            <a:prstGeom prst="rect"/>
            <a:noFill/>
            <a:ln w="12700" cmpd="sng" cap="flat">
              <a:noFill/>
              <a:prstDash val="solid"/>
              <a:miter/>
            </a:ln>
          </p:spPr>
        </p:pic>
      </p:grpSp>
      <mc:AlternateContent xmlns:mc="http://schemas.openxmlformats.org/markup-compatibility/2006">
        <mc:Choice xmlns:p14="http://schemas.microsoft.com/office/powerpoint/2010/main" Requires="p14">
          <p:contentPart r:id="rId18">
            <p14:nvContentPartPr>
              <p14:cNvPr id="215" name="Object"/>
              <p14:cNvContentPartPr>
                <a14:cpLocks xmlns:a14="http://schemas.microsoft.com/office/drawing/2010/main" noSelect="1" noChangeArrowheads="1"/>
              </p14:cNvContentPartPr>
              <p14:nvPr/>
            </p14:nvContentPartPr>
            <p14:xfrm>
              <a:off x="7126513" y="3039942"/>
              <a:ext cx="224279" cy="3600"/>
            </p14:xfrm>
          </p:contentPart>
        </mc:Choice>
        <mc:Fallback/>
      </mc:AlternateContent>
      <mc:AlternateContent xmlns:mc="http://schemas.openxmlformats.org/markup-compatibility/2006">
        <mc:Choice xmlns:p14="http://schemas.microsoft.com/office/powerpoint/2010/main" Requires="p14">
          <p:contentPart r:id="rId19">
            <p14:nvContentPartPr>
              <p14:cNvPr id="217" name="Object"/>
              <p14:cNvContentPartPr>
                <a14:cpLocks xmlns:a14="http://schemas.microsoft.com/office/drawing/2010/main" noSelect="1" noChangeArrowheads="1"/>
              </p14:cNvContentPartPr>
              <p14:nvPr/>
            </p14:nvContentPartPr>
            <p14:xfrm>
              <a:off x="7229833" y="2913222"/>
              <a:ext cx="101520" cy="318239"/>
            </p14:xfrm>
          </p:contentPart>
        </mc:Choice>
        <mc:Fallback/>
      </mc:AlternateContent>
      <p:grpSp>
        <p:nvGrpSpPr>
          <p:cNvPr id="219" name="Combination"/>
          <p:cNvGrpSpPr>
            <a:grpSpLocks/>
          </p:cNvGrpSpPr>
          <p:nvPr/>
        </p:nvGrpSpPr>
        <p:grpSpPr>
          <a:xfrm>
            <a:off x="8641873" y="2904582"/>
            <a:ext cx="241919" cy="335879"/>
            <a:chOff x="8641873" y="2904582"/>
            <a:chExt cx="241919" cy="335879"/>
          </a:xfrm>
        </p:grpSpPr>
        <p:pic>
          <p:nvPicPr>
            <p:cNvPr id="216" name="Images"/>
            <p:cNvPicPr>
              <a:picLocks/>
            </p:cNvPicPr>
            <p:nvPr/>
          </p:nvPicPr>
          <p:blipFill>
            <a:blip r:embed="rId20" cstate="print"/>
            <a:stretch>
              <a:fillRect/>
            </a:stretch>
          </p:blipFill>
          <p:spPr>
            <a:xfrm rot="0">
              <a:off x="8641873" y="3030943"/>
              <a:ext cx="241919" cy="21239"/>
            </a:xfrm>
            <a:prstGeom prst="rect"/>
            <a:noFill/>
            <a:ln w="12700" cmpd="sng" cap="flat">
              <a:noFill/>
              <a:prstDash val="solid"/>
              <a:miter/>
            </a:ln>
          </p:spPr>
        </p:pic>
        <p:pic>
          <p:nvPicPr>
            <p:cNvPr id="218" name="Images"/>
            <p:cNvPicPr>
              <a:picLocks/>
            </p:cNvPicPr>
            <p:nvPr/>
          </p:nvPicPr>
          <p:blipFill>
            <a:blip r:embed="rId21" cstate="print"/>
            <a:stretch>
              <a:fillRect/>
            </a:stretch>
          </p:blipFill>
          <p:spPr>
            <a:xfrm rot="0">
              <a:off x="8744833" y="2904582"/>
              <a:ext cx="119160" cy="335879"/>
            </a:xfrm>
            <a:prstGeom prst="rect"/>
            <a:noFill/>
            <a:ln w="12700" cmpd="sng" cap="flat">
              <a:noFill/>
              <a:prstDash val="solid"/>
              <a:miter/>
            </a:ln>
          </p:spPr>
        </p:pic>
      </p:grpSp>
      <p:pic>
        <p:nvPicPr>
          <p:cNvPr id="220" name="Images"/>
          <p:cNvPicPr>
            <a:picLocks/>
          </p:cNvPicPr>
          <p:nvPr/>
        </p:nvPicPr>
        <p:blipFill>
          <a:blip r:embed="rId22" cstate="print"/>
          <a:stretch>
            <a:fillRect/>
          </a:stretch>
        </p:blipFill>
        <p:spPr>
          <a:xfrm rot="0">
            <a:off x="8851359" y="3143623"/>
            <a:ext cx="113107" cy="103320"/>
          </a:xfrm>
          <a:prstGeom prst="rect"/>
          <a:noFill/>
          <a:ln w="12700" cmpd="sng" cap="flat">
            <a:noFill/>
            <a:prstDash val="solid"/>
            <a:miter/>
          </a:ln>
        </p:spPr>
      </p:pic>
      <mc:AlternateContent xmlns:mc="http://schemas.openxmlformats.org/markup-compatibility/2006">
        <mc:Choice xmlns:p14="http://schemas.microsoft.com/office/powerpoint/2010/main" Requires="p14">
          <p:contentPart r:id="rId23">
            <p14:nvContentPartPr>
              <p14:cNvPr id="221" name="Object"/>
              <p14:cNvContentPartPr>
                <a14:cpLocks xmlns:a14="http://schemas.microsoft.com/office/drawing/2010/main" noSelect="1" noChangeArrowheads="1"/>
              </p14:cNvContentPartPr>
              <p14:nvPr/>
            </p14:nvContentPartPr>
            <p14:xfrm>
              <a:off x="2648113" y="2585623"/>
              <a:ext cx="478080" cy="26640"/>
            </p14:xfrm>
          </p:contentPart>
        </mc:Choice>
        <mc:Fallback/>
      </mc:AlternateContent>
      <mc:AlternateContent xmlns:mc="http://schemas.openxmlformats.org/markup-compatibility/2006">
        <mc:Choice xmlns:p14="http://schemas.microsoft.com/office/powerpoint/2010/main" Requires="p14">
          <p:contentPart r:id="rId24">
            <p14:nvContentPartPr>
              <p14:cNvPr id="223" name="Object"/>
              <p14:cNvContentPartPr>
                <a14:cpLocks xmlns:a14="http://schemas.microsoft.com/office/drawing/2010/main" noSelect="1" noChangeArrowheads="1"/>
              </p14:cNvContentPartPr>
              <p14:nvPr/>
            </p14:nvContentPartPr>
            <p14:xfrm>
              <a:off x="3055272" y="2547102"/>
              <a:ext cx="202679" cy="160560"/>
            </p14:xfrm>
          </p:contentPart>
        </mc:Choice>
        <mc:Fallback/>
      </mc:AlternateContent>
      <mc:AlternateContent xmlns:mc="http://schemas.openxmlformats.org/markup-compatibility/2006">
        <mc:Choice xmlns:p14="http://schemas.microsoft.com/office/powerpoint/2010/main" Requires="p14">
          <p:contentPart r:id="rId25">
            <p14:nvContentPartPr>
              <p14:cNvPr id="225" name="Object"/>
              <p14:cNvContentPartPr>
                <a14:cpLocks xmlns:a14="http://schemas.microsoft.com/office/drawing/2010/main" noSelect="1" noChangeArrowheads="1"/>
              </p14:cNvContentPartPr>
              <p14:nvPr/>
            </p14:nvContentPartPr>
            <p14:xfrm>
              <a:off x="3402313" y="2426863"/>
              <a:ext cx="401760" cy="384120"/>
            </p14:xfrm>
          </p:contentPart>
        </mc:Choice>
        <mc:Fallback/>
      </mc:AlternateContent>
      <p:grpSp>
        <p:nvGrpSpPr>
          <p:cNvPr id="227" name="Combination"/>
          <p:cNvGrpSpPr>
            <a:grpSpLocks/>
          </p:cNvGrpSpPr>
          <p:nvPr/>
        </p:nvGrpSpPr>
        <p:grpSpPr>
          <a:xfrm>
            <a:off x="4163473" y="2418223"/>
            <a:ext cx="1173239" cy="401759"/>
            <a:chOff x="4163473" y="2418223"/>
            <a:chExt cx="1173239" cy="401759"/>
          </a:xfrm>
        </p:grpSpPr>
        <p:pic>
          <p:nvPicPr>
            <p:cNvPr id="222" name="Images"/>
            <p:cNvPicPr>
              <a:picLocks/>
            </p:cNvPicPr>
            <p:nvPr/>
          </p:nvPicPr>
          <p:blipFill>
            <a:blip r:embed="rId26" cstate="print"/>
            <a:stretch>
              <a:fillRect/>
            </a:stretch>
          </p:blipFill>
          <p:spPr>
            <a:xfrm rot="0">
              <a:off x="4163473" y="2576983"/>
              <a:ext cx="495720" cy="44280"/>
            </a:xfrm>
            <a:prstGeom prst="rect"/>
            <a:noFill/>
            <a:ln w="12700" cmpd="sng" cap="flat">
              <a:noFill/>
              <a:prstDash val="solid"/>
              <a:miter/>
            </a:ln>
          </p:spPr>
        </p:pic>
        <p:pic>
          <p:nvPicPr>
            <p:cNvPr id="224" name="Images"/>
            <p:cNvPicPr>
              <a:picLocks/>
            </p:cNvPicPr>
            <p:nvPr/>
          </p:nvPicPr>
          <p:blipFill>
            <a:blip r:embed="rId27" cstate="print"/>
            <a:stretch>
              <a:fillRect/>
            </a:stretch>
          </p:blipFill>
          <p:spPr>
            <a:xfrm rot="0">
              <a:off x="4570273" y="2538103"/>
              <a:ext cx="220320" cy="178200"/>
            </a:xfrm>
            <a:prstGeom prst="rect"/>
            <a:noFill/>
            <a:ln w="12700" cmpd="sng" cap="flat">
              <a:noFill/>
              <a:prstDash val="solid"/>
              <a:miter/>
            </a:ln>
          </p:spPr>
        </p:pic>
        <p:pic>
          <p:nvPicPr>
            <p:cNvPr id="226" name="Images"/>
            <p:cNvPicPr>
              <a:picLocks/>
            </p:cNvPicPr>
            <p:nvPr/>
          </p:nvPicPr>
          <p:blipFill>
            <a:blip r:embed="rId28" cstate="print"/>
            <a:stretch>
              <a:fillRect/>
            </a:stretch>
          </p:blipFill>
          <p:spPr>
            <a:xfrm rot="0">
              <a:off x="4917313" y="2418223"/>
              <a:ext cx="419400" cy="401759"/>
            </a:xfrm>
            <a:prstGeom prst="rect"/>
            <a:noFill/>
            <a:ln w="12700" cmpd="sng" cap="flat">
              <a:noFill/>
              <a:prstDash val="solid"/>
              <a:miter/>
            </a:ln>
          </p:spPr>
        </p:pic>
      </p:grpSp>
    </p:spTree>
    <p:extLst>
      <p:ext uri="{BB962C8B-B14F-4D97-AF65-F5344CB8AC3E}">
        <p14:creationId xmlns:p14="http://schemas.microsoft.com/office/powerpoint/2010/main" val="927849479"/>
      </p:ext>
    </p:extLst>
  </p:cSld>
  <p:clrMapOvr>
    <a:masterClrMapping/>
  </p:clrMapOvr>
</p:sld>
</file>

<file path=ppt/slides/slide2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8"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24</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pic>
        <p:nvPicPr>
          <p:cNvPr id="229" name="Images" descr="Image373"/>
          <p:cNvPicPr>
            <a:picLocks noChangeAspect="1"/>
          </p:cNvPicPr>
          <p:nvPr/>
        </p:nvPicPr>
        <p:blipFill>
          <a:blip r:embed="rId1" cstate="print"/>
          <a:stretch>
            <a:fillRect/>
          </a:stretch>
        </p:blipFill>
        <p:spPr>
          <a:xfrm rot="0">
            <a:off x="1981200" y="1905001"/>
            <a:ext cx="8428039" cy="3636963"/>
          </a:xfrm>
          <a:prstGeom prst="rect"/>
          <a:noFill/>
          <a:ln w="12700" cmpd="sng" cap="flat">
            <a:noFill/>
            <a:prstDash val="solid"/>
            <a:round/>
          </a:ln>
        </p:spPr>
      </p:pic>
      <p:pic>
        <p:nvPicPr>
          <p:cNvPr id="230" name="Images"/>
          <p:cNvPicPr>
            <a:picLocks/>
          </p:cNvPicPr>
          <p:nvPr/>
        </p:nvPicPr>
        <p:blipFill>
          <a:blip r:embed="rId2" cstate="print"/>
          <a:stretch>
            <a:fillRect/>
          </a:stretch>
        </p:blipFill>
        <p:spPr>
          <a:xfrm rot="0">
            <a:off x="3298033" y="5300383"/>
            <a:ext cx="1194480" cy="256679"/>
          </a:xfrm>
          <a:prstGeom prst="rect"/>
          <a:noFill/>
          <a:ln w="12700" cmpd="sng" cap="flat">
            <a:noFill/>
            <a:prstDash val="solid"/>
            <a:miter/>
          </a:ln>
        </p:spPr>
      </p:pic>
      <p:pic>
        <p:nvPicPr>
          <p:cNvPr id="231" name="Images"/>
          <p:cNvPicPr>
            <a:picLocks/>
          </p:cNvPicPr>
          <p:nvPr/>
        </p:nvPicPr>
        <p:blipFill>
          <a:blip r:embed="rId3" cstate="print"/>
          <a:stretch>
            <a:fillRect/>
          </a:stretch>
        </p:blipFill>
        <p:spPr>
          <a:xfrm rot="0">
            <a:off x="7309153" y="5262943"/>
            <a:ext cx="1333440" cy="267480"/>
          </a:xfrm>
          <a:prstGeom prst="rect"/>
          <a:noFill/>
          <a:ln w="12700" cmpd="sng" cap="flat">
            <a:noFill/>
            <a:prstDash val="solid"/>
            <a:miter/>
          </a:ln>
        </p:spPr>
      </p:pic>
    </p:spTree>
    <p:extLst>
      <p:ext uri="{BB962C8B-B14F-4D97-AF65-F5344CB8AC3E}">
        <p14:creationId xmlns:p14="http://schemas.microsoft.com/office/powerpoint/2010/main" val="690940217"/>
      </p:ext>
    </p:extLst>
  </p:cSld>
  <p:clrMapOvr>
    <a:masterClrMapping/>
  </p:clrMapOvr>
</p:sld>
</file>

<file path=ppt/slides/slide2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2"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25</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33" name="Text box"/>
          <p:cNvSpPr>
            <a:spLocks noGrp="1"/>
          </p:cNvSpPr>
          <p:nvPr>
            <p:ph type="title"/>
          </p:nvPr>
        </p:nvSpPr>
        <p:spPr>
          <a:xfrm rot="0">
            <a:off x="2989982" y="274639"/>
            <a:ext cx="6202361" cy="7778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34" name="Images" descr="1471-2105-4-31-1"/>
          <p:cNvPicPr>
            <a:picLocks noChangeAspect="1"/>
          </p:cNvPicPr>
          <p:nvPr/>
        </p:nvPicPr>
        <p:blipFill>
          <a:blip r:embed="rId1" cstate="print"/>
          <a:stretch>
            <a:fillRect/>
          </a:stretch>
        </p:blipFill>
        <p:spPr>
          <a:xfrm rot="0">
            <a:off x="2910526" y="1399734"/>
            <a:ext cx="6785874" cy="4693563"/>
          </a:xfrm>
          <a:prstGeom prst="rect"/>
          <a:noFill/>
          <a:ln w="12700" cmpd="sng" cap="flat">
            <a:noFill/>
            <a:prstDash val="solid"/>
            <a:round/>
          </a:ln>
        </p:spPr>
      </p:pic>
    </p:spTree>
    <p:extLst>
      <p:ext uri="{BB962C8B-B14F-4D97-AF65-F5344CB8AC3E}">
        <p14:creationId xmlns:p14="http://schemas.microsoft.com/office/powerpoint/2010/main" val="1130335362"/>
      </p:ext>
    </p:extLst>
  </p:cSld>
  <p:clrMapOvr>
    <a:masterClrMapping/>
  </p:clrMapOvr>
</p:sld>
</file>

<file path=ppt/slides/slide2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5" name="Text box"/>
          <p:cNvSpPr>
            <a:spLocks noGrp="1"/>
          </p:cNvSpPr>
          <p:nvPr>
            <p:ph type="sldNum" idx="12"/>
          </p:nvPr>
        </p:nvSpPr>
        <p:spPr>
          <a:xfrm rot="0">
            <a:off x="5735638" y="6519863"/>
            <a:ext cx="504824"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26</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36" name="Text box"/>
          <p:cNvSpPr>
            <a:spLocks noGrp="1"/>
          </p:cNvSpPr>
          <p:nvPr>
            <p:ph type="title"/>
          </p:nvPr>
        </p:nvSpPr>
        <p:spPr>
          <a:xfrm rot="0">
            <a:off x="2988964" y="260648"/>
            <a:ext cx="6275388" cy="720724"/>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Exercise #1</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237" name="Text box"/>
          <p:cNvSpPr>
            <a:spLocks noGrp="1"/>
          </p:cNvSpPr>
          <p:nvPr>
            <p:ph type="body" idx="1"/>
          </p:nvPr>
        </p:nvSpPr>
        <p:spPr>
          <a:xfrm rot="0">
            <a:off x="1847850" y="1412875"/>
            <a:ext cx="8640763" cy="4525963"/>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owner of a shoe shop recorded the sizes of the feet of all the customers who bought shoes in his shop in one morning. These sizes are listed below:</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ctr"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8, 7, 4, 5, 9, 13, 10, 8, 8, 7, 6, 5, 3, 11,10, 8, 5, 4, 8, 6</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FontTx/>
              <a:buAutoNum type="alphaLcParenBoth"/>
            </a:pPr>
            <a:r>
              <a:rPr lang="en-US" altLang="zh-CN" sz="2800" b="0" i="0" u="none" strike="noStrike" kern="1200" cap="none" spc="0" baseline="0">
                <a:solidFill>
                  <a:schemeClr val="tx1"/>
                </a:solidFill>
                <a:latin typeface="Calibri" pitchFamily="0" charset="0"/>
                <a:ea typeface="ＭＳ Ｐゴシック" pitchFamily="0" charset="-128"/>
                <a:cs typeface="Lucida Sans"/>
              </a:rPr>
              <a:t>What is the mean of these values?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FontTx/>
              <a:buAutoNum type="alphaLcParenBoth"/>
            </a:pPr>
            <a:r>
              <a:rPr lang="en-US" altLang="zh-CN" sz="2800" b="0" i="0" u="none" strike="noStrike" kern="1200" cap="none" spc="0" baseline="0">
                <a:solidFill>
                  <a:schemeClr val="tx1"/>
                </a:solidFill>
                <a:latin typeface="Calibri" pitchFamily="0" charset="0"/>
                <a:ea typeface="ＭＳ Ｐゴシック" pitchFamily="0" charset="-128"/>
                <a:cs typeface="Lucida Sans"/>
              </a:rPr>
              <a:t>What is the median of these values?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FontTx/>
              <a:buAutoNum type="alphaLcParenBoth"/>
            </a:pPr>
            <a:r>
              <a:rPr lang="en-US" altLang="zh-CN" sz="2800" b="0" i="0" u="none" strike="noStrike" kern="1200" cap="none" spc="0" baseline="0">
                <a:solidFill>
                  <a:schemeClr val="tx1"/>
                </a:solidFill>
                <a:latin typeface="Calibri" pitchFamily="0" charset="0"/>
                <a:ea typeface="ＭＳ Ｐゴシック" pitchFamily="0" charset="-128"/>
                <a:cs typeface="Lucida Sans"/>
              </a:rPr>
              <a:t>What is the mode of these values?</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72416452"/>
      </p:ext>
    </p:extLst>
  </p:cSld>
  <p:clrMapOvr>
    <a:masterClrMapping/>
  </p:clrMapOvr>
</p:sld>
</file>

<file path=ppt/slides/slide2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1"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27</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42" name="Text box"/>
          <p:cNvSpPr>
            <a:spLocks noGrp="1"/>
          </p:cNvSpPr>
          <p:nvPr>
            <p:ph type="title"/>
          </p:nvPr>
        </p:nvSpPr>
        <p:spPr>
          <a:xfrm rot="0">
            <a:off x="3503712" y="294928"/>
            <a:ext cx="5181599" cy="6858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Exercise #2</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243" name="Text box"/>
          <p:cNvSpPr>
            <a:spLocks noGrp="1"/>
          </p:cNvSpPr>
          <p:nvPr>
            <p:ph type="body" idx="1"/>
          </p:nvPr>
        </p:nvSpPr>
        <p:spPr>
          <a:xfrm rot="0">
            <a:off x="1919289" y="980728"/>
            <a:ext cx="8497887" cy="5544616"/>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12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table below gives the number of accidents each year at a particular road junction: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2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2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446024" indent="-446024" algn="just" eaLnBrk="1" hangingPunct="1">
              <a:lnSpc>
                <a:spcPct val="120000"/>
              </a:lnSpc>
              <a:spcBef>
                <a:spcPct val="2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Lucida Sans"/>
              </a:rPr>
              <a:t>(a) Calculate the </a:t>
            </a:r>
            <a:r>
              <a:rPr lang="en-US" altLang="zh-CN" sz="2400" b="0" i="0" u="none" strike="noStrike" kern="1200" cap="none" spc="0" baseline="0">
                <a:solidFill>
                  <a:srgbClr val="0000FF"/>
                </a:solidFill>
                <a:latin typeface="Calibri" pitchFamily="0" charset="0"/>
                <a:ea typeface="ＭＳ Ｐゴシック" pitchFamily="0" charset="-128"/>
                <a:cs typeface="Lucida Sans"/>
              </a:rPr>
              <a:t>mean</a:t>
            </a:r>
            <a:r>
              <a:rPr lang="en-US" altLang="zh-CN" sz="2400" b="0" i="0" u="none" strike="noStrike" kern="1200" cap="none" spc="0" baseline="0">
                <a:solidFill>
                  <a:schemeClr val="tx1"/>
                </a:solidFill>
                <a:latin typeface="Calibri" pitchFamily="0" charset="0"/>
                <a:ea typeface="ＭＳ Ｐゴシック" pitchFamily="0" charset="-128"/>
                <a:cs typeface="Lucida Sans"/>
              </a:rPr>
              <a:t>, </a:t>
            </a:r>
            <a:r>
              <a:rPr lang="en-US" altLang="zh-CN" sz="2400" b="0" i="0" u="none" strike="noStrike" kern="1200" cap="none" spc="0" baseline="0">
                <a:solidFill>
                  <a:srgbClr val="0000FF"/>
                </a:solidFill>
                <a:latin typeface="Calibri" pitchFamily="0" charset="0"/>
                <a:ea typeface="ＭＳ Ｐゴシック" pitchFamily="0" charset="-128"/>
                <a:cs typeface="Lucida Sans"/>
              </a:rPr>
              <a:t>median</a:t>
            </a:r>
            <a:r>
              <a:rPr lang="en-US" altLang="zh-CN" sz="2400" b="0" i="0" u="none" strike="noStrike" kern="1200" cap="none" spc="0" baseline="0">
                <a:solidFill>
                  <a:schemeClr val="tx1"/>
                </a:solidFill>
                <a:latin typeface="Calibri" pitchFamily="0" charset="0"/>
                <a:ea typeface="ＭＳ Ｐゴシック" pitchFamily="0" charset="-128"/>
                <a:cs typeface="Lucida Sans"/>
              </a:rPr>
              <a:t> and </a:t>
            </a:r>
            <a:r>
              <a:rPr lang="en-US" altLang="zh-CN" sz="2400" b="0" i="0" u="none" strike="noStrike" kern="1200" cap="none" spc="0" baseline="0">
                <a:solidFill>
                  <a:srgbClr val="0000FF"/>
                </a:solidFill>
                <a:latin typeface="Calibri" pitchFamily="0" charset="0"/>
                <a:ea typeface="ＭＳ Ｐゴシック" pitchFamily="0" charset="-128"/>
                <a:cs typeface="Lucida Sans"/>
              </a:rPr>
              <a:t>mode</a:t>
            </a:r>
            <a:r>
              <a:rPr lang="en-US" altLang="zh-CN" sz="2400" b="0" i="0" u="none" strike="noStrike" kern="1200" cap="none" spc="0" baseline="0">
                <a:solidFill>
                  <a:schemeClr val="tx1"/>
                </a:solidFill>
                <a:latin typeface="Calibri" pitchFamily="0" charset="0"/>
                <a:ea typeface="ＭＳ Ｐゴシック" pitchFamily="0" charset="-128"/>
                <a:cs typeface="Lucida Sans"/>
              </a:rPr>
              <a:t> for the values above.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446024" indent="-446024" algn="just" eaLnBrk="1" hangingPunct="1">
              <a:lnSpc>
                <a:spcPct val="120000"/>
              </a:lnSpc>
              <a:spcBef>
                <a:spcPct val="2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Lucida Sans"/>
              </a:rPr>
              <a:t>(b) A road safety group want the council to do some improvement to make this junction safer. Which measure will they use to argue for this?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446024" indent="-446024" algn="just" eaLnBrk="1" hangingPunct="1">
              <a:lnSpc>
                <a:spcPct val="120000"/>
              </a:lnSpc>
              <a:spcBef>
                <a:spcPct val="2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Lucida Sans"/>
              </a:rPr>
              <a:t>(c) The council don't want to spend money on the road junction.</a:t>
            </a:r>
            <a:br>
              <a:rPr lang="zh-CN" altLang="en-US" sz="2400" b="0" i="0" u="none" strike="noStrike" kern="1200" cap="none" spc="0" baseline="0">
                <a:solidFill>
                  <a:schemeClr val="tx1"/>
                </a:solidFill>
                <a:latin typeface="Calibri" pitchFamily="0" charset="0"/>
                <a:ea typeface="ＭＳ Ｐゴシック" pitchFamily="0" charset="-128"/>
                <a:cs typeface="Lucida Sans"/>
              </a:rPr>
            </a:br>
            <a:r>
              <a:rPr lang="en-US" altLang="zh-CN" sz="2400" b="0" i="0" u="none" strike="noStrike" kern="1200" cap="none" spc="0" baseline="0">
                <a:solidFill>
                  <a:schemeClr val="tx1"/>
                </a:solidFill>
                <a:latin typeface="Calibri" pitchFamily="0" charset="0"/>
                <a:ea typeface="ＭＳ Ｐゴシック" pitchFamily="0" charset="-128"/>
                <a:cs typeface="Lucida Sans"/>
              </a:rPr>
              <a:t>Which measure will they use to argue that safety work is not necessary?</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244" name="Sheet"/>
          <p:cNvGraphicFramePr>
            <a:graphicFrameLocks noGrp="1"/>
          </p:cNvGraphicFramePr>
          <p:nvPr>
            <p:ph type="body" idx="2"/>
            <p:extLst>
              <p:ext uri="{D42A27DB-BD31-4B8C-83A1-F6EECF244321}"/>
            </p:extLst>
          </p:nvPr>
        </p:nvGraphicFramePr>
        <p:xfrm>
          <a:off x="2525216" y="2146176"/>
          <a:ext cx="7315201" cy="1066799"/>
        </p:xfrm>
        <a:graphic>
          <a:graphicData uri="http://schemas.openxmlformats.org/drawingml/2006/table">
            <a:tbl>
              <a:tblPr bandRow="1">
                <a:noFill/>
              </a:tblPr>
              <a:tblGrid>
                <a:gridCol w="914399"/>
                <a:gridCol w="914399"/>
                <a:gridCol w="914399"/>
                <a:gridCol w="914399"/>
                <a:gridCol w="914399"/>
                <a:gridCol w="914399"/>
                <a:gridCol w="914399"/>
                <a:gridCol w="914399"/>
              </a:tblGrid>
              <a:tr h="533391">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2001</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2002</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2003</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2004</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2005</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2006</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2007</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2008</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533391">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4</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5</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4</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10</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5</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3</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5</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tcPr>
                </a:tc>
              </a:tr>
            </a:tbl>
          </a:graphicData>
        </a:graphic>
      </p:graphicFrame>
    </p:spTree>
    <p:extLst>
      <p:ext uri="{BB962C8B-B14F-4D97-AF65-F5344CB8AC3E}">
        <p14:creationId xmlns:p14="http://schemas.microsoft.com/office/powerpoint/2010/main" val="442743133"/>
      </p:ext>
    </p:extLst>
  </p:cSld>
  <p:clrMapOvr>
    <a:masterClrMapping/>
  </p:clrMapOvr>
</p:sld>
</file>

<file path=ppt/slides/slide2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8"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28</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
        <p:nvSpPr>
          <p:cNvPr id="249" name="Text box"/>
          <p:cNvSpPr>
            <a:spLocks noGrp="1"/>
          </p:cNvSpPr>
          <p:nvPr>
            <p:ph type="title"/>
          </p:nvPr>
        </p:nvSpPr>
        <p:spPr>
          <a:xfrm rot="0">
            <a:off x="3143673" y="258763"/>
            <a:ext cx="5926137" cy="506412"/>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Exercise #3</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250" name="Text box"/>
          <p:cNvSpPr>
            <a:spLocks noGrp="1"/>
          </p:cNvSpPr>
          <p:nvPr>
            <p:ph type="body" idx="1"/>
          </p:nvPr>
        </p:nvSpPr>
        <p:spPr>
          <a:xfrm rot="0">
            <a:off x="1847850" y="1556792"/>
            <a:ext cx="8496623" cy="4896396"/>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You grew fifty baby carrots using special soil. You dig them up and measure their lengths (to the nearest mm) and group the results: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l"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Find the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l"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(a) mean</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tx1"/>
                </a:solidFill>
                <a:latin typeface="Calibri" pitchFamily="0" charset="0"/>
                <a:ea typeface="ＭＳ Ｐゴシック" pitchFamily="0" charset="-128"/>
                <a:cs typeface="Lucida Sans"/>
              </a:rPr>
              <a:t>(b) median</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tx1"/>
                </a:solidFill>
                <a:latin typeface="Calibri" pitchFamily="0" charset="0"/>
                <a:ea typeface="ＭＳ Ｐゴシック" pitchFamily="0" charset="-128"/>
                <a:cs typeface="Lucida Sans"/>
              </a:rPr>
              <a:t>(c) mode</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251" name="Sheet"/>
          <p:cNvGraphicFramePr>
            <a:graphicFrameLocks noGrp="1"/>
          </p:cNvGraphicFramePr>
          <p:nvPr>
            <p:ph type="tbl"/>
            <p:extLst>
              <p:ext uri="{D42A27DB-BD31-4B8C-83A1-F6EECF244321}"/>
            </p:extLst>
          </p:nvPr>
        </p:nvGraphicFramePr>
        <p:xfrm>
          <a:off x="5867400" y="2492895"/>
          <a:ext cx="3665235" cy="3657600"/>
        </p:xfrm>
        <a:graphic>
          <a:graphicData uri="http://schemas.openxmlformats.org/drawingml/2006/table">
            <a:tbl>
              <a:tblPr bandRow="1">
                <a:noFill/>
              </a:tblPr>
              <a:tblGrid>
                <a:gridCol w="1874532"/>
                <a:gridCol w="1790699"/>
              </a:tblGrid>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Length (mm)</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Frequency</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149.5 – 154.5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154.5 – 159.5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2</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159.5 – 164.5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6</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164.5 – 169.5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8</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169.5 – 174.5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9</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174.5 – 179.5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11</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179.5 – 184.5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6</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r h="406396">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184.5 – 189.5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3</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66522" marT="33261" marR="66522" marB="3326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E7E7E7"/>
                    </a:solidFill>
                  </a:tcPr>
                </a:tc>
              </a:tr>
            </a:tbl>
          </a:graphicData>
        </a:graphic>
      </p:graphicFrame>
    </p:spTree>
    <p:extLst>
      <p:ext uri="{BB962C8B-B14F-4D97-AF65-F5344CB8AC3E}">
        <p14:creationId xmlns:p14="http://schemas.microsoft.com/office/powerpoint/2010/main" val="2105928466"/>
      </p:ext>
    </p:extLst>
  </p:cSld>
  <p:clrMapOvr>
    <a:masterClrMapping/>
  </p:clrMapOvr>
</p:sld>
</file>

<file path=ppt/slides/slide2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5" name="Text box"/>
          <p:cNvSpPr>
            <a:spLocks noGrp="1"/>
          </p:cNvSpPr>
          <p:nvPr>
            <p:ph type="title"/>
          </p:nvPr>
        </p:nvSpPr>
        <p:spPr>
          <a:xfrm rot="0">
            <a:off x="2988965" y="274639"/>
            <a:ext cx="6275386" cy="5619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Exercise #4</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256" name="Text box"/>
          <p:cNvSpPr>
            <a:spLocks noGrp="1"/>
          </p:cNvSpPr>
          <p:nvPr>
            <p:ph type="body" idx="1"/>
          </p:nvPr>
        </p:nvSpPr>
        <p:spPr>
          <a:xfrm rot="0">
            <a:off x="1847850" y="1124844"/>
            <a:ext cx="8229600" cy="2016124"/>
          </a:xfrm>
          <a:prstGeom prst="rect"/>
          <a:noFill/>
          <a:ln w="12700" cmpd="sng" cap="flat">
            <a:noFill/>
            <a:prstDash val="solid"/>
            <a:round/>
          </a:ln>
        </p:spPr>
        <p:txBody>
          <a:bodyPr vert="horz" wrap="square" lIns="91440" tIns="45720" rIns="91440" bIns="45720" anchor="t" anchorCtr="0">
            <a:prstTxWarp prst="textNoShape"/>
          </a:bodyPr>
          <a:lstStyle/>
          <a:p>
            <a:pPr marL="0" indent="0" algn="just">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Find the mean, median and mode corresponding to the frequency table of samples of student cars and faculty/staff cars obtained from a college.</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257" name="Sheet"/>
          <p:cNvGraphicFramePr>
            <a:graphicFrameLocks noGrp="1"/>
          </p:cNvGraphicFramePr>
          <p:nvPr>
            <p:ph type="tbl"/>
            <p:extLst>
              <p:ext uri="{D42A27DB-BD31-4B8C-83A1-F6EECF244321}"/>
            </p:extLst>
          </p:nvPr>
        </p:nvGraphicFramePr>
        <p:xfrm>
          <a:off x="3168351" y="2708920"/>
          <a:ext cx="6096000" cy="3565998"/>
        </p:xfrm>
        <a:graphic>
          <a:graphicData uri="http://schemas.openxmlformats.org/drawingml/2006/table">
            <a:tbl>
              <a:tblPr bandRow="1">
                <a:noFill/>
              </a:tblPr>
              <a:tblGrid>
                <a:gridCol w="2031999"/>
                <a:gridCol w="2031999"/>
                <a:gridCol w="2031999"/>
              </a:tblGrid>
              <a:tr h="371469">
                <a:tc>
                  <a:txBody>
                    <a:bodyPr/>
                    <a:lstStyle/>
                    <a:p>
                      <a:pPr marL="0" indent="0" algn="ctr" eaLnBrk="1" fontAlgn="base" latinLnBrk="0" hangingPunct="1">
                        <a:lnSpc>
                          <a:spcPct val="100000"/>
                        </a:lnSpc>
                        <a:spcBef>
                          <a:spcPts val="0"/>
                        </a:spcBef>
                        <a:spcAft>
                          <a:spcPts val="0"/>
                        </a:spcAft>
                        <a:buNone/>
                      </a:pPr>
                      <a:r>
                        <a:rPr lang="en-US" altLang="zh-CN" sz="2000" b="1" i="0" u="none" strike="noStrike" kern="1200" cap="none" spc="0" baseline="0">
                          <a:solidFill>
                            <a:srgbClr val="FFFFFF"/>
                          </a:solidFill>
                          <a:latin typeface="Calibri" pitchFamily="0" charset="0"/>
                          <a:ea typeface="MS PGothic" pitchFamily="34" charset="-128"/>
                          <a:cs typeface="MS PGothic" pitchFamily="34" charset="-128"/>
                        </a:rPr>
                        <a:t>Age</a:t>
                      </a:r>
                      <a:endParaRPr lang="zh-CN" altLang="en-US" sz="2000" b="1" i="0" u="none" strike="noStrike" kern="1200" cap="none" spc="0" baseline="0">
                        <a:solidFill>
                          <a:srgbClr val="FFFFFF"/>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000000"/>
                    </a:solidFill>
                  </a:tcPr>
                </a:tc>
                <a:tc>
                  <a:txBody>
                    <a:bodyPr/>
                    <a:lstStyle/>
                    <a:p>
                      <a:pPr marL="0" indent="0" algn="ctr" eaLnBrk="1" fontAlgn="base" latinLnBrk="0" hangingPunct="1">
                        <a:lnSpc>
                          <a:spcPct val="100000"/>
                        </a:lnSpc>
                        <a:spcBef>
                          <a:spcPts val="0"/>
                        </a:spcBef>
                        <a:spcAft>
                          <a:spcPts val="0"/>
                        </a:spcAft>
                        <a:buNone/>
                      </a:pPr>
                      <a:r>
                        <a:rPr lang="en-US" altLang="zh-CN" sz="2000" b="1" i="0" u="none" strike="noStrike" kern="1200" cap="none" spc="0" baseline="0">
                          <a:solidFill>
                            <a:srgbClr val="FFFFFF"/>
                          </a:solidFill>
                          <a:latin typeface="Calibri" pitchFamily="0" charset="0"/>
                          <a:ea typeface="MS PGothic" pitchFamily="34" charset="-128"/>
                          <a:cs typeface="MS PGothic" pitchFamily="34" charset="-128"/>
                        </a:rPr>
                        <a:t>Students</a:t>
                      </a:r>
                      <a:endParaRPr lang="zh-CN" altLang="en-US" sz="2000" b="1" i="0" u="none" strike="noStrike" kern="1200" cap="none" spc="0" baseline="0">
                        <a:solidFill>
                          <a:srgbClr val="FFFFFF"/>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000000"/>
                    </a:solidFill>
                  </a:tcPr>
                </a:tc>
                <a:tc>
                  <a:txBody>
                    <a:bodyPr/>
                    <a:lstStyle/>
                    <a:p>
                      <a:pPr marL="0" indent="0" algn="ctr" eaLnBrk="1" fontAlgn="base" latinLnBrk="0" hangingPunct="1">
                        <a:lnSpc>
                          <a:spcPct val="100000"/>
                        </a:lnSpc>
                        <a:spcBef>
                          <a:spcPts val="0"/>
                        </a:spcBef>
                        <a:spcAft>
                          <a:spcPts val="0"/>
                        </a:spcAft>
                        <a:buNone/>
                      </a:pPr>
                      <a:r>
                        <a:rPr lang="en-US" altLang="zh-CN" sz="2000" b="1" i="0" u="none" strike="noStrike" kern="1200" cap="none" spc="0" baseline="0">
                          <a:solidFill>
                            <a:srgbClr val="FFFFFF"/>
                          </a:solidFill>
                          <a:latin typeface="Calibri" pitchFamily="0" charset="0"/>
                          <a:ea typeface="MS PGothic" pitchFamily="34" charset="-128"/>
                          <a:cs typeface="MS PGothic" pitchFamily="34" charset="-128"/>
                        </a:rPr>
                        <a:t>Faculty/Staff</a:t>
                      </a:r>
                      <a:endParaRPr lang="zh-CN" altLang="en-US" sz="2000" b="1" i="0" u="none" strike="noStrike" kern="1200" cap="none" spc="0" baseline="0">
                        <a:solidFill>
                          <a:srgbClr val="FFFFFF"/>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000000"/>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0.5 – 3.5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23 </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30</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3.5– 6.5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33</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47</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6.5 – 9.5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63</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36</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9.5 – 12.5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68</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30</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12.5 – 15.5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19</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8</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15.5 – 18.5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10</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0</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18.5 – 21.5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0</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CBCBCB"/>
                    </a:solidFill>
                  </a:tcPr>
                </a:tc>
              </a:tr>
              <a:tr h="371469">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21.5 – 24.5</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0</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c>
                  <a:txBody>
                    <a:bodyPr/>
                    <a:lstStyle/>
                    <a:p>
                      <a:pPr marL="0" indent="0" algn="ctr" eaLnBrk="1" fontAlgn="base" latinLnBrk="0" hangingPunct="1">
                        <a:lnSpc>
                          <a:spcPct val="100000"/>
                        </a:lnSpc>
                        <a:spcBef>
                          <a:spcPts val="0"/>
                        </a:spcBef>
                        <a:spcAft>
                          <a:spcPts val="0"/>
                        </a:spcAft>
                        <a:buNone/>
                      </a:pPr>
                      <a:r>
                        <a:rPr lang="en-US" altLang="zh-CN" sz="2000" b="0" i="0" u="none" strike="noStrike" kern="1200" cap="none" spc="0" baseline="0">
                          <a:solidFill>
                            <a:srgbClr val="000000"/>
                          </a:solidFill>
                          <a:latin typeface="Calibri" pitchFamily="0" charset="0"/>
                          <a:ea typeface="MS PGothic" pitchFamily="34" charset="-128"/>
                          <a:cs typeface="MS PGothic" pitchFamily="34" charset="-128"/>
                        </a:rPr>
                        <a:t>1</a:t>
                      </a:r>
                      <a:endParaRPr lang="zh-CN" altLang="en-US" sz="2000" b="0" i="0" u="none" strike="noStrike" kern="1200" cap="none" spc="0" baseline="0">
                        <a:solidFill>
                          <a:srgbClr val="000000"/>
                        </a:solidFill>
                        <a:latin typeface="Calibri" pitchFamily="0" charset="0"/>
                        <a:ea typeface="MS PGothic" pitchFamily="34" charset="-128"/>
                        <a:cs typeface="MS PGothic" pitchFamily="34" charset="-128"/>
                      </a:endParaRPr>
                    </a:p>
                  </a:txBody>
                  <a:tcPr marL="91440" marT="45707" marR="91440" marB="45707"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7E7E7"/>
                    </a:solidFill>
                  </a:tcPr>
                </a:tc>
              </a:tr>
            </a:tbl>
          </a:graphicData>
        </a:graphic>
      </p:graphicFrame>
      <p:sp>
        <p:nvSpPr>
          <p:cNvPr id="258"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29</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Tree>
    <p:extLst>
      <p:ext uri="{BB962C8B-B14F-4D97-AF65-F5344CB8AC3E}">
        <p14:creationId xmlns:p14="http://schemas.microsoft.com/office/powerpoint/2010/main" val="186536291"/>
      </p:ext>
    </p:extLst>
  </p:cSld>
  <p:clrMapOvr>
    <a:masterClrMapping/>
  </p:clrMapOvr>
</p:sld>
</file>

<file path=ppt/slides/slide3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9"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30</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60" name="Text box"/>
          <p:cNvSpPr>
            <a:spLocks noGrp="1"/>
          </p:cNvSpPr>
          <p:nvPr>
            <p:ph type="title"/>
          </p:nvPr>
        </p:nvSpPr>
        <p:spPr>
          <a:xfrm rot="0">
            <a:off x="3938016"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Data Profiles</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261" name="Text box"/>
          <p:cNvSpPr>
            <a:spLocks noGrp="1"/>
          </p:cNvSpPr>
          <p:nvPr>
            <p:ph type="body" idx="1"/>
          </p:nvPr>
        </p:nvSpPr>
        <p:spPr>
          <a:xfrm rot="0">
            <a:off x="2423592" y="1711326"/>
            <a:ext cx="7604328"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Percentile</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Quartile</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26570443"/>
      </p:ext>
    </p:extLst>
  </p:cSld>
  <p:clrMapOvr>
    <a:masterClrMapping/>
  </p:clrMapOvr>
</p:sld>
</file>

<file path=ppt/slides/slide3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2" name="Text box"/>
          <p:cNvSpPr>
            <a:spLocks noGrp="1"/>
          </p:cNvSpPr>
          <p:nvPr>
            <p:ph type="sldNum" idx="12"/>
          </p:nvPr>
        </p:nvSpPr>
        <p:spPr>
          <a:xfrm rot="0">
            <a:off x="5951538"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31</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63" name="Text box"/>
          <p:cNvSpPr>
            <a:spLocks noGrp="1"/>
          </p:cNvSpPr>
          <p:nvPr>
            <p:ph type="title"/>
          </p:nvPr>
        </p:nvSpPr>
        <p:spPr>
          <a:xfrm rot="0">
            <a:off x="3886200"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Percentile </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264"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In a population or a sample, the </a:t>
            </a:r>
            <a:r>
              <a:rPr lang="en-US" altLang="zh-CN" sz="2800" b="1" i="1" u="none" strike="noStrike" kern="1200" cap="none" spc="0" baseline="0">
                <a:solidFill>
                  <a:schemeClr val="tx1"/>
                </a:solidFill>
                <a:latin typeface="Calibri" pitchFamily="0" charset="0"/>
                <a:ea typeface="ＭＳ Ｐゴシック" pitchFamily="0" charset="-128"/>
                <a:cs typeface="Times New Roman" pitchFamily="0" charset="0"/>
              </a:rPr>
              <a:t>P-</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th</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 percentile</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is a value such that </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at least </a:t>
            </a:r>
            <a:r>
              <a:rPr lang="en-US" altLang="zh-CN" sz="2800" b="1" i="1" u="none" strike="noStrike" kern="1200" cap="none" spc="0" baseline="0">
                <a:solidFill>
                  <a:schemeClr val="tx1"/>
                </a:solidFill>
                <a:latin typeface="Calibri" pitchFamily="0" charset="0"/>
                <a:ea typeface="ＭＳ Ｐゴシック" pitchFamily="0" charset="-128"/>
                <a:cs typeface="Times New Roman" pitchFamily="0" charset="0"/>
              </a:rPr>
              <a:t>P</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 percent </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of the values take on this value or less and </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at least (100-</a:t>
            </a:r>
            <a:r>
              <a:rPr lang="en-US" altLang="zh-CN" sz="2800" b="1" i="1" u="none" strike="noStrike" kern="1200" cap="none" spc="0" baseline="0">
                <a:solidFill>
                  <a:schemeClr val="tx1"/>
                </a:solidFill>
                <a:latin typeface="Calibri" pitchFamily="0" charset="0"/>
                <a:ea typeface="ＭＳ Ｐゴシック" pitchFamily="0" charset="-128"/>
                <a:cs typeface="Times New Roman" pitchFamily="0" charset="0"/>
              </a:rPr>
              <a:t>P</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 percent</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of the values take on this value or more. </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77816036"/>
      </p:ext>
    </p:extLst>
  </p:cSld>
  <p:clrMapOvr>
    <a:masterClrMapping/>
  </p:clrMapOvr>
</p:sld>
</file>

<file path=ppt/slides/slide3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5" name="Text box"/>
          <p:cNvSpPr>
            <a:spLocks noGrp="1"/>
          </p:cNvSpPr>
          <p:nvPr>
            <p:ph type="sldNum" idx="12"/>
          </p:nvPr>
        </p:nvSpPr>
        <p:spPr>
          <a:xfrm rot="0">
            <a:off x="5735638" y="6519863"/>
            <a:ext cx="576261"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32</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66" name="Text box"/>
          <p:cNvSpPr>
            <a:spLocks noGrp="1"/>
          </p:cNvSpPr>
          <p:nvPr>
            <p:ph type="title"/>
          </p:nvPr>
        </p:nvSpPr>
        <p:spPr>
          <a:xfrm rot="0">
            <a:off x="2927649" y="274639"/>
            <a:ext cx="6275387" cy="7778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67" name="Images" descr="summaries3fig5"/>
          <p:cNvPicPr>
            <a:picLocks noChangeAspect="1"/>
          </p:cNvPicPr>
          <p:nvPr/>
        </p:nvPicPr>
        <p:blipFill>
          <a:blip r:embed="rId1" cstate="print"/>
          <a:srcRect t="13888" b="15868" l="11503" r="6412"/>
          <a:stretch>
            <a:fillRect/>
          </a:stretch>
        </p:blipFill>
        <p:spPr>
          <a:xfrm rot="0">
            <a:off x="2495600" y="1305156"/>
            <a:ext cx="7362445" cy="5004164"/>
          </a:xfrm>
          <a:prstGeom prst="rect"/>
          <a:noFill/>
          <a:ln w="12700" cmpd="sng" cap="flat">
            <a:noFill/>
            <a:prstDash val="solid"/>
            <a:round/>
          </a:ln>
        </p:spPr>
      </p:pic>
      <p:pic>
        <p:nvPicPr>
          <p:cNvPr id="268" name="Images"/>
          <p:cNvPicPr>
            <a:picLocks/>
          </p:cNvPicPr>
          <p:nvPr/>
        </p:nvPicPr>
        <p:blipFill>
          <a:blip r:embed="rId2" cstate="print"/>
          <a:stretch>
            <a:fillRect/>
          </a:stretch>
        </p:blipFill>
        <p:spPr>
          <a:xfrm rot="0">
            <a:off x="2616677" y="3496687"/>
            <a:ext cx="2144880" cy="325079"/>
          </a:xfrm>
          <a:prstGeom prst="rect"/>
          <a:noFill/>
          <a:ln w="12700" cmpd="sng" cap="flat">
            <a:noFill/>
            <a:prstDash val="solid"/>
            <a:miter/>
          </a:ln>
        </p:spPr>
      </p:pic>
      <p:pic>
        <p:nvPicPr>
          <p:cNvPr id="269" name="Images"/>
          <p:cNvPicPr>
            <a:picLocks/>
          </p:cNvPicPr>
          <p:nvPr/>
        </p:nvPicPr>
        <p:blipFill>
          <a:blip r:embed="rId3" cstate="print"/>
          <a:stretch>
            <a:fillRect/>
          </a:stretch>
        </p:blipFill>
        <p:spPr>
          <a:xfrm rot="0">
            <a:off x="5867477" y="3615488"/>
            <a:ext cx="2390760" cy="246600"/>
          </a:xfrm>
          <a:prstGeom prst="rect"/>
          <a:noFill/>
          <a:ln w="12700" cmpd="sng" cap="flat">
            <a:noFill/>
            <a:prstDash val="solid"/>
            <a:miter/>
          </a:ln>
        </p:spPr>
      </p:pic>
      <p:sp>
        <p:nvSpPr>
          <p:cNvPr id="270" name="Rectangles"/>
          <p:cNvSpPr>
            <a:spLocks/>
          </p:cNvSpPr>
          <p:nvPr/>
        </p:nvSpPr>
        <p:spPr>
          <a:xfrm rot="0">
            <a:off x="7696200" y="3048000"/>
            <a:ext cx="1354857" cy="369332"/>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itchFamily="0" charset="0"/>
                <a:ea typeface="ＭＳ Ｐゴシック" pitchFamily="0" charset="-128"/>
                <a:cs typeface="Calibri" pitchFamily="0" charset="0"/>
              </a:rPr>
              <a:t>100-20=80%</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171229266"/>
      </p:ext>
    </p:extLst>
  </p:cSld>
  <p:clrMapOvr>
    <a:masterClrMapping/>
  </p:clrMapOvr>
</p:sld>
</file>

<file path=ppt/slides/slide3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1" name="Text box"/>
          <p:cNvSpPr>
            <a:spLocks noGrp="1"/>
          </p:cNvSpPr>
          <p:nvPr>
            <p:ph type="sldNum" idx="12"/>
          </p:nvPr>
        </p:nvSpPr>
        <p:spPr>
          <a:xfrm rot="0">
            <a:off x="5664200" y="6519863"/>
            <a:ext cx="719138"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33</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72" name="Text box"/>
          <p:cNvSpPr>
            <a:spLocks noGrp="1"/>
          </p:cNvSpPr>
          <p:nvPr>
            <p:ph type="body" idx="1"/>
          </p:nvPr>
        </p:nvSpPr>
        <p:spPr>
          <a:xfrm rot="0">
            <a:off x="1847850" y="1125538"/>
            <a:ext cx="8424863" cy="525579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Sort the data set so measurements are in order from lowest to highest,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Y[1], Y[2], …. , Y[N]</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Calculate,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If </a:t>
            </a:r>
            <a:r>
              <a:rPr lang="en-US" altLang="zh-CN" sz="2800" b="1" i="1" u="none" strike="noStrike" kern="1200" cap="none" spc="0" baseline="0">
                <a:solidFill>
                  <a:schemeClr val="tx1"/>
                </a:solidFill>
                <a:latin typeface="Calibri" pitchFamily="0" charset="0"/>
                <a:ea typeface="ＭＳ Ｐゴシック" pitchFamily="0" charset="-128"/>
                <a:cs typeface="Lucida Sans"/>
              </a:rPr>
              <a:t>i</a:t>
            </a:r>
            <a:r>
              <a:rPr lang="en-US" altLang="zh-CN" sz="2800" b="1" i="0" u="none" strike="noStrike" kern="1200" cap="none" spc="0" baseline="0">
                <a:solidFill>
                  <a:schemeClr val="tx1"/>
                </a:solidFill>
                <a:latin typeface="Calibri" pitchFamily="0" charset="0"/>
                <a:ea typeface="ＭＳ Ｐゴシック" pitchFamily="0" charset="-128"/>
                <a:cs typeface="Lucida Sans"/>
              </a:rPr>
              <a:t> is not an integer</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1" i="0" u="none" strike="noStrike" kern="1200" cap="none" spc="0" baseline="0">
                <a:solidFill>
                  <a:schemeClr val="tx1"/>
                </a:solidFill>
                <a:latin typeface="Calibri" pitchFamily="0" charset="0"/>
                <a:ea typeface="ＭＳ Ｐゴシック" pitchFamily="0" charset="-128"/>
                <a:cs typeface="Lucida Sans"/>
              </a:rPr>
              <a:t>round up</a:t>
            </a:r>
            <a:r>
              <a:rPr lang="en-US" altLang="zh-CN" sz="2800" b="0" i="0" u="none" strike="noStrike" kern="1200" cap="none" spc="0" baseline="0">
                <a:solidFill>
                  <a:schemeClr val="tx1"/>
                </a:solidFill>
                <a:latin typeface="Calibri" pitchFamily="0" charset="0"/>
                <a:ea typeface="ＭＳ Ｐゴシック" pitchFamily="0" charset="-128"/>
                <a:cs typeface="Lucida Sans"/>
              </a:rPr>
              <a:t> to the next highest integer </a:t>
            </a:r>
            <a:r>
              <a:rPr lang="en-US" altLang="zh-CN" sz="2800" b="0" i="1" u="none" strike="noStrike" kern="1200" cap="none" spc="0" baseline="0">
                <a:solidFill>
                  <a:schemeClr val="tx1"/>
                </a:solidFill>
                <a:latin typeface="Calibri" pitchFamily="0" charset="0"/>
                <a:ea typeface="ＭＳ Ｐゴシック" pitchFamily="0" charset="-128"/>
                <a:cs typeface="Lucida Sans"/>
              </a:rPr>
              <a:t>k</a:t>
            </a:r>
            <a:r>
              <a:rPr lang="en-US" altLang="zh-CN" sz="2800" b="0" i="0" u="none" strike="noStrike" kern="1200" cap="none" spc="0" baseline="0">
                <a:solidFill>
                  <a:schemeClr val="tx1"/>
                </a:solidFill>
                <a:latin typeface="Calibri" pitchFamily="0" charset="0"/>
                <a:ea typeface="ＭＳ Ｐゴシック" pitchFamily="0" charset="-128"/>
                <a:cs typeface="Lucida Sans"/>
              </a:rPr>
              <a:t> and use </a:t>
            </a:r>
            <a:r>
              <a:rPr lang="en-US" altLang="zh-CN" sz="2800" b="1" i="0" u="none" strike="noStrike" kern="1200" cap="none" spc="0" baseline="0">
                <a:solidFill>
                  <a:schemeClr val="tx1"/>
                </a:solidFill>
                <a:latin typeface="Calibri" pitchFamily="0" charset="0"/>
                <a:ea typeface="ＭＳ Ｐゴシック" pitchFamily="0" charset="-128"/>
                <a:cs typeface="Lucida Sans"/>
              </a:rPr>
              <a:t>Y[</a:t>
            </a:r>
            <a:r>
              <a:rPr lang="en-US" altLang="zh-CN" sz="2800" b="1" i="1" u="none" strike="noStrike" kern="1200" cap="none" spc="0" baseline="0">
                <a:solidFill>
                  <a:schemeClr val="tx1"/>
                </a:solidFill>
                <a:latin typeface="Calibri" pitchFamily="0" charset="0"/>
                <a:ea typeface="ＭＳ Ｐゴシック" pitchFamily="0" charset="-128"/>
                <a:cs typeface="Lucida Sans"/>
              </a:rPr>
              <a:t>k</a:t>
            </a:r>
            <a:r>
              <a:rPr lang="en-US" altLang="zh-CN" sz="2800" b="1" i="0" u="none" strike="noStrike" kern="1200" cap="none" spc="0" baseline="0">
                <a:solidFill>
                  <a:schemeClr val="tx1"/>
                </a:solidFill>
                <a:latin typeface="Calibri" pitchFamily="0" charset="0"/>
                <a:ea typeface="ＭＳ Ｐゴシック" pitchFamily="0" charset="-128"/>
                <a:cs typeface="Lucida Sans"/>
              </a:rPr>
              <a:t>]</a:t>
            </a:r>
            <a:r>
              <a:rPr lang="en-US" altLang="zh-CN" sz="2800" b="0" i="0" u="none" strike="noStrike" kern="1200" cap="none" spc="0" baseline="0">
                <a:solidFill>
                  <a:schemeClr val="tx1"/>
                </a:solidFill>
                <a:latin typeface="Calibri" pitchFamily="0" charset="0"/>
                <a:ea typeface="ＭＳ Ｐゴシック" pitchFamily="0" charset="-128"/>
                <a:cs typeface="Lucida Sans"/>
              </a:rPr>
              <a:t> as the percentile estimate.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If </a:t>
            </a:r>
            <a:r>
              <a:rPr lang="en-US" altLang="zh-CN" sz="2800" b="1" i="1" u="none" strike="noStrike" kern="1200" cap="none" spc="0" baseline="0">
                <a:solidFill>
                  <a:schemeClr val="tx1"/>
                </a:solidFill>
                <a:latin typeface="Calibri" pitchFamily="0" charset="0"/>
                <a:ea typeface="ＭＳ Ｐゴシック" pitchFamily="0" charset="-128"/>
                <a:cs typeface="Lucida Sans"/>
              </a:rPr>
              <a:t>i</a:t>
            </a:r>
            <a:r>
              <a:rPr lang="en-US" altLang="zh-CN" sz="2800" b="1" i="0" u="none" strike="noStrike" kern="1200" cap="none" spc="0" baseline="0">
                <a:solidFill>
                  <a:schemeClr val="tx1"/>
                </a:solidFill>
                <a:latin typeface="Calibri" pitchFamily="0" charset="0"/>
                <a:ea typeface="ＭＳ Ｐゴシック" pitchFamily="0" charset="-128"/>
                <a:cs typeface="Lucida Sans"/>
              </a:rPr>
              <a:t> is an integer</a:t>
            </a:r>
            <a:r>
              <a:rPr lang="en-US" altLang="zh-CN" sz="2800" b="0" i="0" u="none" strike="noStrike" kern="1200" cap="none" spc="0" baseline="0">
                <a:solidFill>
                  <a:schemeClr val="tx1"/>
                </a:solidFill>
                <a:latin typeface="Calibri" pitchFamily="0" charset="0"/>
                <a:ea typeface="ＭＳ Ｐゴシック" pitchFamily="0" charset="-128"/>
                <a:cs typeface="Lucida Sans"/>
              </a:rPr>
              <a:t>, use </a:t>
            </a:r>
            <a:r>
              <a:rPr lang="en-US" altLang="zh-CN" sz="2800" b="1" i="0" u="none" strike="noStrike" kern="1200" cap="none" spc="0" baseline="0">
                <a:solidFill>
                  <a:schemeClr val="tx1"/>
                </a:solidFill>
                <a:latin typeface="Calibri" pitchFamily="0" charset="0"/>
                <a:ea typeface="ＭＳ Ｐゴシック" pitchFamily="0" charset="-128"/>
                <a:cs typeface="Lucida Sans"/>
              </a:rPr>
              <a:t>(Y[</a:t>
            </a:r>
            <a:r>
              <a:rPr lang="en-US" altLang="zh-CN" sz="2800" b="1" i="0" u="none" strike="noStrike" kern="1200" cap="none" spc="0" baseline="0">
                <a:solidFill>
                  <a:schemeClr val="tx1"/>
                </a:solidFill>
                <a:latin typeface="Calibri" pitchFamily="0" charset="0"/>
                <a:ea typeface="ＭＳ Ｐゴシック" pitchFamily="0" charset="-128"/>
                <a:cs typeface="Lucida Sans"/>
              </a:rPr>
              <a:t>i</a:t>
            </a:r>
            <a:r>
              <a:rPr lang="en-US" altLang="zh-CN" sz="2800" b="1" i="0" u="none" strike="noStrike" kern="1200" cap="none" spc="0" baseline="0">
                <a:solidFill>
                  <a:schemeClr val="tx1"/>
                </a:solidFill>
                <a:latin typeface="Calibri" pitchFamily="0" charset="0"/>
                <a:ea typeface="ＭＳ Ｐゴシック" pitchFamily="0" charset="-128"/>
                <a:cs typeface="Lucida Sans"/>
              </a:rPr>
              <a:t>] + Y[</a:t>
            </a:r>
            <a:r>
              <a:rPr lang="en-US" altLang="zh-CN" sz="2800" b="1" i="1" u="none" strike="noStrike" kern="1200" cap="none" spc="0" baseline="0">
                <a:solidFill>
                  <a:schemeClr val="tx1"/>
                </a:solidFill>
                <a:latin typeface="Calibri" pitchFamily="0" charset="0"/>
                <a:ea typeface="ＭＳ Ｐゴシック" pitchFamily="0" charset="-128"/>
                <a:cs typeface="Lucida Sans"/>
              </a:rPr>
              <a:t>i</a:t>
            </a:r>
            <a:r>
              <a:rPr lang="en-US" altLang="zh-CN" sz="2800" b="1" i="0" u="none" strike="noStrike" kern="1200" cap="none" spc="0" baseline="0">
                <a:solidFill>
                  <a:schemeClr val="tx1"/>
                </a:solidFill>
                <a:latin typeface="Calibri" pitchFamily="0" charset="0"/>
                <a:ea typeface="ＭＳ Ｐゴシック" pitchFamily="0" charset="-128"/>
                <a:cs typeface="Lucida Sans"/>
              </a:rPr>
              <a:t>+1]) ÷ 2</a:t>
            </a:r>
            <a:r>
              <a:rPr lang="en-US" altLang="zh-CN" sz="2800" b="0" i="0" u="none" strike="noStrike" kern="1200" cap="none" spc="0" baseline="0">
                <a:solidFill>
                  <a:schemeClr val="tx1"/>
                </a:solidFill>
                <a:latin typeface="Calibri" pitchFamily="0" charset="0"/>
                <a:ea typeface="ＭＳ Ｐゴシック" pitchFamily="0" charset="-128"/>
                <a:cs typeface="Lucida Sans"/>
              </a:rPr>
              <a:t> as the percentile estimate.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273" name="Object"/>
          <p:cNvGraphicFramePr>
            <a:graphicFrameLocks noChangeAspect="1"/>
          </p:cNvGraphicFramePr>
          <p:nvPr/>
        </p:nvGraphicFramePr>
        <p:xfrm>
          <a:off x="3935761" y="2852936"/>
          <a:ext cx="1728787" cy="939799"/>
        </p:xfrm>
        <a:graphic>
          <a:graphicData uri="http://schemas.openxmlformats.org/presentationml/2006/ole">
            <mc:AlternateContent xmlns:mc="http://schemas.openxmlformats.org/markup-compatibility/2006">
              <mc:Choice xmlns:v="urn:schemas-microsoft-com:vml" Requires="v">
                <p:oleObj spid="" name="package" r:id="rId1" imgW="23164800" imgH="12598400" progId="package">
                  <p:embed/>
                </p:oleObj>
              </mc:Choice>
              <mc:Fallback>
                <p:oleObj name="package" r:id="rId1" imgW="23164800" imgH="12598400" progId="package">
                  <p:embed/>
                  <p:pic>
                    <p:nvPicPr>
                      <p:cNvPr id="273" name="Object"/>
                      <p:cNvPicPr>
                        <a:picLocks noChangeAspect="1"/>
                      </p:cNvPicPr>
                      <p:nvPr/>
                    </p:nvPicPr>
                    <p:blipFill>
                      <a:blip r:embed="rId2" cstate="print"/>
                      <a:stretch>
                        <a:fillRect/>
                      </a:stretch>
                    </p:blipFill>
                    <p:spPr>
                      <a:xfrm rot="0">
                        <a:off x="3935761" y="2852936"/>
                        <a:ext cx="1728787" cy="939799"/>
                      </a:xfrm>
                      <a:prstGeom prst="rect"/>
                      <a:noFill/>
                      <a:ln cmpd="sng" cap="flat">
                        <a:noFill/>
                        <a:prstDash val="solid"/>
                        <a:miter/>
                      </a:ln>
                    </p:spPr>
                  </p:pic>
                </p:oleObj>
              </mc:Fallback>
            </mc:AlternateContent>
          </a:graphicData>
        </a:graphic>
      </p:graphicFrame>
    </p:spTree>
    <p:extLst>
      <p:ext uri="{BB962C8B-B14F-4D97-AF65-F5344CB8AC3E}">
        <p14:creationId xmlns:p14="http://schemas.microsoft.com/office/powerpoint/2010/main" val="108275953"/>
      </p:ext>
    </p:extLst>
  </p:cSld>
  <p:clrMapOvr>
    <a:masterClrMapping/>
  </p:clrMapOvr>
</p:sld>
</file>

<file path=ppt/slides/slide3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4"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34</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75" name="Text box"/>
          <p:cNvSpPr>
            <a:spLocks noGrp="1"/>
          </p:cNvSpPr>
          <p:nvPr>
            <p:ph type="title"/>
          </p:nvPr>
        </p:nvSpPr>
        <p:spPr>
          <a:xfrm rot="0">
            <a:off x="3143673" y="274292"/>
            <a:ext cx="5843587" cy="706437"/>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276" name="Text box"/>
          <p:cNvSpPr>
            <a:spLocks noGrp="1"/>
          </p:cNvSpPr>
          <p:nvPr>
            <p:ph type="body" idx="1"/>
          </p:nvPr>
        </p:nvSpPr>
        <p:spPr>
          <a:xfrm rot="0">
            <a:off x="1873250" y="1052514"/>
            <a:ext cx="8686799" cy="5184775"/>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Given set of data: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ctr" eaLnBrk="1" hangingPunct="1">
              <a:lnSpc>
                <a:spcPct val="9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12, 4, 6, 11, 9,15, 20, 18, 25, 30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53949" indent="-353949" algn="just" eaLnBrk="1" hangingPunct="1">
              <a:lnSpc>
                <a:spcPct val="90000"/>
              </a:lnSpc>
              <a:spcBef>
                <a:spcPct val="20000"/>
              </a:spcBef>
              <a:spcAft>
                <a:spcPts val="0"/>
              </a:spcAft>
              <a:buFontTx/>
              <a:buAutoNum type="romanLcParenR"/>
            </a:pPr>
            <a:r>
              <a:rPr lang="en-US" altLang="zh-CN" sz="2800" b="0" i="0" u="none" strike="noStrike" kern="1200" cap="none" spc="0" baseline="0">
                <a:solidFill>
                  <a:schemeClr val="tx1"/>
                </a:solidFill>
                <a:latin typeface="Calibri" pitchFamily="0" charset="0"/>
                <a:ea typeface="ＭＳ Ｐゴシック" pitchFamily="0" charset="-128"/>
                <a:cs typeface="Lucida Sans"/>
              </a:rPr>
              <a:t>Calculate 80</a:t>
            </a:r>
            <a:r>
              <a:rPr lang="en-US" altLang="zh-CN" sz="2800" b="0" i="0" u="none" strike="noStrike" kern="1200" cap="none" spc="0" baseline="30000">
                <a:solidFill>
                  <a:schemeClr val="tx1"/>
                </a:solidFill>
                <a:latin typeface="Calibri" pitchFamily="0" charset="0"/>
                <a:ea typeface="ＭＳ Ｐゴシック" pitchFamily="0" charset="-128"/>
                <a:cs typeface="Lucida Sans"/>
              </a:rPr>
              <a:t>th</a:t>
            </a:r>
            <a:r>
              <a:rPr lang="en-US" altLang="zh-CN" sz="2800" b="0" i="0" u="none" strike="noStrike" kern="1200" cap="none" spc="0" baseline="0">
                <a:solidFill>
                  <a:schemeClr val="tx1"/>
                </a:solidFill>
                <a:latin typeface="Calibri" pitchFamily="0" charset="0"/>
                <a:ea typeface="ＭＳ Ｐゴシック" pitchFamily="0" charset="-128"/>
                <a:cs typeface="Lucida Sans"/>
              </a:rPr>
              <a:t> percentile.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53949" indent="-353949" algn="just" eaLnBrk="1" hangingPunct="1">
              <a:lnSpc>
                <a:spcPct val="90000"/>
              </a:lnSpc>
              <a:spcBef>
                <a:spcPct val="20000"/>
              </a:spcBef>
              <a:spcAft>
                <a:spcPts val="0"/>
              </a:spcAft>
              <a:buFontTx/>
              <a:buAutoNum type="romanLcParenR"/>
            </a:pPr>
            <a:r>
              <a:rPr lang="en-US" altLang="zh-CN" sz="2800" b="0" i="0" u="none" strike="noStrike" kern="1200" cap="none" spc="0" baseline="0">
                <a:solidFill>
                  <a:schemeClr val="tx1"/>
                </a:solidFill>
                <a:latin typeface="Calibri" pitchFamily="0" charset="0"/>
                <a:ea typeface="ＭＳ Ｐゴシック" pitchFamily="0" charset="-128"/>
                <a:cs typeface="Lucida Sans"/>
              </a:rPr>
              <a:t>Calculate 68</a:t>
            </a:r>
            <a:r>
              <a:rPr lang="en-US" altLang="zh-CN" sz="2800" b="0" i="0" u="none" strike="noStrike" kern="1200" cap="none" spc="0" baseline="30000">
                <a:solidFill>
                  <a:schemeClr val="tx1"/>
                </a:solidFill>
                <a:latin typeface="Calibri" pitchFamily="0" charset="0"/>
                <a:ea typeface="ＭＳ Ｐゴシック" pitchFamily="0" charset="-128"/>
                <a:cs typeface="Lucida Sans"/>
              </a:rPr>
              <a:t>th</a:t>
            </a:r>
            <a:r>
              <a:rPr lang="en-US" altLang="zh-CN" sz="2800" b="0" i="0" u="none" strike="noStrike" kern="1200" cap="none" spc="0" baseline="0">
                <a:solidFill>
                  <a:schemeClr val="tx1"/>
                </a:solidFill>
                <a:latin typeface="Calibri" pitchFamily="0" charset="0"/>
                <a:ea typeface="ＭＳ Ｐゴシック" pitchFamily="0" charset="-128"/>
                <a:cs typeface="Lucida Sans"/>
              </a:rPr>
              <a:t> percentile.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None/>
            </a:pPr>
            <a:endParaRPr lang="en-US" altLang="zh-CN" sz="2400" b="0" i="0" u="sng" strike="noStrike" kern="1200" cap="none" spc="0" baseline="0">
              <a:solidFill>
                <a:srgbClr val="008000"/>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None/>
            </a:pPr>
            <a:r>
              <a:rPr lang="en-US" altLang="zh-CN" sz="2400" b="0" i="0" u="sng" strike="noStrike" kern="1200" cap="none" spc="0" baseline="0">
                <a:solidFill>
                  <a:srgbClr val="008000"/>
                </a:solidFill>
                <a:latin typeface="Calibri" pitchFamily="0" charset="0"/>
                <a:ea typeface="ＭＳ Ｐゴシック" pitchFamily="0" charset="-128"/>
                <a:cs typeface="Lucida Sans"/>
              </a:rPr>
              <a:t>Solution (</a:t>
            </a:r>
            <a:r>
              <a:rPr lang="en-US" altLang="zh-CN" sz="2400" b="0" i="0" u="sng" strike="noStrike" kern="1200" cap="none" spc="0" baseline="0">
                <a:solidFill>
                  <a:srgbClr val="008000"/>
                </a:solidFill>
                <a:latin typeface="Calibri" pitchFamily="0" charset="0"/>
                <a:ea typeface="ＭＳ Ｐゴシック" pitchFamily="0" charset="-128"/>
                <a:cs typeface="Lucida Sans"/>
              </a:rPr>
              <a:t>i</a:t>
            </a:r>
            <a:r>
              <a:rPr lang="en-US" altLang="zh-CN" sz="2400" b="0" i="0" u="sng" strike="noStrike" kern="1200" cap="none" spc="0" baseline="0">
                <a:solidFill>
                  <a:srgbClr val="008000"/>
                </a:solidFill>
                <a:latin typeface="Calibri" pitchFamily="0" charset="0"/>
                <a:ea typeface="ＭＳ Ｐゴシック" pitchFamily="0" charset="-128"/>
                <a:cs typeface="Lucida Sans"/>
              </a:rPr>
              <a:t>):</a:t>
            </a:r>
            <a:endParaRPr lang="en-US" altLang="zh-CN" sz="2400" b="0" i="0" u="sng" strike="noStrike" kern="1200" cap="none" spc="0" baseline="0">
              <a:solidFill>
                <a:srgbClr val="008000"/>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Arrange in order:</a:t>
            </a:r>
            <a:r>
              <a:rPr lang="en-US" altLang="zh-CN" sz="2400" b="1" i="0" u="none" strike="noStrike" kern="1200" cap="none" spc="0" baseline="0">
                <a:solidFill>
                  <a:schemeClr val="accent2"/>
                </a:solidFill>
                <a:latin typeface="Calibri" pitchFamily="0" charset="0"/>
                <a:ea typeface="ＭＳ Ｐゴシック" pitchFamily="0" charset="-128"/>
                <a:cs typeface="Lucida Sans"/>
              </a:rPr>
              <a:t> </a:t>
            </a:r>
            <a:endParaRPr lang="en-US" altLang="zh-CN" sz="2400" b="1" i="0" u="none" strike="noStrike" kern="1200" cap="none" spc="0" baseline="0">
              <a:solidFill>
                <a:schemeClr val="accent2"/>
              </a:solidFill>
              <a:latin typeface="Calibri" pitchFamily="0" charset="0"/>
              <a:ea typeface="ＭＳ Ｐゴシック" pitchFamily="0" charset="-128"/>
              <a:cs typeface="Lucida Sans"/>
            </a:endParaRPr>
          </a:p>
          <a:p>
            <a:pPr marL="0" indent="0" algn="ctr" eaLnBrk="1" hangingPunct="1">
              <a:lnSpc>
                <a:spcPct val="90000"/>
              </a:lnSpc>
              <a:spcBef>
                <a:spcPct val="20000"/>
              </a:spcBef>
              <a:spcAft>
                <a:spcPts val="0"/>
              </a:spcAft>
              <a:buNone/>
            </a:pPr>
            <a:r>
              <a:rPr lang="en-US" altLang="zh-CN" sz="2400" b="1" i="0" u="none" strike="noStrike" kern="1200" cap="none" spc="0" baseline="0">
                <a:solidFill>
                  <a:schemeClr val="accent2"/>
                </a:solidFill>
                <a:latin typeface="Calibri" pitchFamily="0" charset="0"/>
                <a:ea typeface="ＭＳ Ｐゴシック" pitchFamily="0" charset="-128"/>
                <a:cs typeface="Lucida Sans"/>
              </a:rPr>
              <a:t>   4     6     9    11    12    15    18     20     25     30</a:t>
            </a:r>
            <a:endParaRPr lang="en-US" altLang="zh-CN" sz="2400" b="1" i="0" u="none" strike="noStrike" kern="1200" cap="none" spc="0" baseline="0">
              <a:solidFill>
                <a:schemeClr val="accent2"/>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None/>
            </a:pPr>
            <a:endParaRPr lang="en-US" altLang="zh-CN" sz="2400" b="1" i="0" u="none" strike="noStrike" kern="1200" cap="none" spc="0" baseline="0">
              <a:solidFill>
                <a:schemeClr val="accent2"/>
              </a:solidFill>
              <a:latin typeface="Calibri" pitchFamily="0" charset="0"/>
              <a:ea typeface="ＭＳ Ｐゴシック" pitchFamily="0" charset="-128"/>
              <a:cs typeface="Lucida Sans"/>
            </a:endParaRPr>
          </a:p>
          <a:p>
            <a:pPr marL="0" indent="0" algn="just" eaLnBrk="1" hangingPunct="1">
              <a:lnSpc>
                <a:spcPct val="90000"/>
              </a:lnSpc>
              <a:spcBef>
                <a:spcPct val="20000"/>
              </a:spcBef>
              <a:spcAft>
                <a:spcPts val="0"/>
              </a:spcAft>
              <a:buFont typeface="Arial" pitchFamily="0" charset="0"/>
              <a:buChar char="•"/>
            </a:pPr>
            <a:r>
              <a:rPr lang="en-US" altLang="zh-CN" sz="2400" b="0" i="1" u="none" strike="noStrike" kern="1200" cap="none" spc="0" baseline="0">
                <a:solidFill>
                  <a:schemeClr val="tx1"/>
                </a:solidFill>
                <a:latin typeface="Calibri" pitchFamily="0" charset="0"/>
                <a:ea typeface="ＭＳ Ｐゴシック" pitchFamily="0" charset="-128"/>
                <a:cs typeface="Lucida Sans"/>
              </a:rPr>
              <a:t>N </a:t>
            </a:r>
            <a:r>
              <a:rPr lang="en-US" altLang="zh-CN" sz="2400" b="0" i="0" u="none" strike="noStrike" kern="1200" cap="none" spc="0" baseline="0">
                <a:solidFill>
                  <a:schemeClr val="tx1"/>
                </a:solidFill>
                <a:latin typeface="Calibri" pitchFamily="0" charset="0"/>
                <a:ea typeface="ＭＳ Ｐゴシック" pitchFamily="0" charset="-128"/>
                <a:cs typeface="Lucida Sans"/>
              </a:rPr>
              <a:t>= 10,  </a:t>
            </a:r>
            <a:r>
              <a:rPr lang="en-US" altLang="zh-CN" sz="2400" b="0" i="1" u="none" strike="noStrike" kern="1200" cap="none" spc="0" baseline="0">
                <a:solidFill>
                  <a:schemeClr val="tx1"/>
                </a:solidFill>
                <a:latin typeface="Calibri" pitchFamily="0" charset="0"/>
                <a:ea typeface="ＭＳ Ｐゴシック" pitchFamily="0" charset="-128"/>
                <a:cs typeface="Lucida Sans"/>
              </a:rPr>
              <a:t>P </a:t>
            </a:r>
            <a:r>
              <a:rPr lang="en-US" altLang="zh-CN" sz="2400" b="0" i="0" u="none" strike="noStrike" kern="1200" cap="none" spc="0" baseline="0">
                <a:solidFill>
                  <a:schemeClr val="tx1"/>
                </a:solidFill>
                <a:latin typeface="Calibri" pitchFamily="0" charset="0"/>
                <a:ea typeface="ＭＳ Ｐゴシック" pitchFamily="0" charset="-128"/>
                <a:cs typeface="Lucida Sans"/>
              </a:rPr>
              <a:t>= 80 ;  </a:t>
            </a:r>
            <a:r>
              <a:rPr lang="en-US" altLang="zh-CN" sz="2400" b="0" i="1" u="none" strike="noStrike" kern="1200" cap="none" spc="0" baseline="0">
                <a:solidFill>
                  <a:schemeClr val="tx1"/>
                </a:solidFill>
                <a:latin typeface="Calibri" pitchFamily="0" charset="0"/>
                <a:ea typeface="ＭＳ Ｐゴシック" pitchFamily="0" charset="-128"/>
                <a:cs typeface="Lucida Sans"/>
              </a:rPr>
              <a:t>i</a:t>
            </a:r>
            <a:r>
              <a:rPr lang="en-US" altLang="zh-CN" sz="2400" b="0" i="0" u="none" strike="noStrike" kern="1200" cap="none" spc="0" baseline="0">
                <a:solidFill>
                  <a:schemeClr val="tx1"/>
                </a:solidFill>
                <a:latin typeface="Calibri" pitchFamily="0" charset="0"/>
                <a:ea typeface="ＭＳ Ｐゴシック" pitchFamily="0" charset="-128"/>
                <a:cs typeface="Lucida Sans"/>
              </a:rPr>
              <a:t> = 80 x 10 </a:t>
            </a:r>
            <a:r>
              <a:rPr lang="en-US" altLang="zh-CN" sz="2400" b="0" i="0" u="none" strike="noStrike" kern="1200" cap="none" spc="0" baseline="0">
                <a:solidFill>
                  <a:schemeClr val="tx1"/>
                </a:solidFill>
                <a:latin typeface="Calibri" pitchFamily="0" charset="0"/>
                <a:ea typeface="ＭＳ Ｐゴシック" pitchFamily="0" charset="-128"/>
                <a:cs typeface="Lucida Sans"/>
                <a:sym typeface="Symbol" pitchFamily="18" charset="2"/>
              </a:rPr>
              <a:t> 100 = 8</a:t>
            </a:r>
            <a:endParaRPr lang="en-US" altLang="zh-CN" sz="2400" b="0" i="0" u="none" strike="noStrike" kern="1200" cap="none" spc="0" baseline="0">
              <a:solidFill>
                <a:schemeClr val="tx1"/>
              </a:solidFill>
              <a:latin typeface="Calibri" pitchFamily="0" charset="0"/>
              <a:ea typeface="ＭＳ Ｐゴシック" pitchFamily="0" charset="-128"/>
              <a:cs typeface="Lucida Sans"/>
              <a:sym typeface="Symbol" pitchFamily="18" charset="2"/>
            </a:endParaRPr>
          </a:p>
          <a:p>
            <a:pPr marL="0" indent="0" algn="just" eaLnBrk="1" hangingPunct="1">
              <a:lnSpc>
                <a:spcPct val="90000"/>
              </a:lnSpc>
              <a:spcBef>
                <a:spcPct val="20000"/>
              </a:spcBef>
              <a:spcAft>
                <a:spcPts val="0"/>
              </a:spcAft>
              <a:buNone/>
            </a:pPr>
            <a:endParaRPr lang="en-US" altLang="zh-CN" sz="2400" b="0" i="0" u="none" strike="noStrike" kern="1200" cap="none" spc="0" baseline="0">
              <a:solidFill>
                <a:schemeClr val="tx1"/>
              </a:solidFill>
              <a:latin typeface="Calibri" pitchFamily="0" charset="0"/>
              <a:ea typeface="ＭＳ Ｐゴシック" pitchFamily="0" charset="-128"/>
              <a:cs typeface="Lucida Sans"/>
              <a:sym typeface="Symbol" pitchFamily="18" charset="2"/>
            </a:endParaRPr>
          </a:p>
          <a:p>
            <a:pPr marL="0" indent="0" algn="just" eaLnBrk="1" hangingPunct="1">
              <a:lnSpc>
                <a:spcPct val="90000"/>
              </a:lnSpc>
              <a:spcBef>
                <a:spcPct val="2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Lucida Sans"/>
                <a:sym typeface="Symbol" pitchFamily="18" charset="2"/>
              </a:rPr>
              <a:t> Y[8] = 20, Y[9] = 25,   P</a:t>
            </a:r>
            <a:r>
              <a:rPr lang="en-US" altLang="zh-CN" sz="2400" b="0" i="0" u="none" strike="noStrike" kern="1200" cap="none" spc="0" baseline="-25000">
                <a:solidFill>
                  <a:schemeClr val="tx1"/>
                </a:solidFill>
                <a:latin typeface="Calibri" pitchFamily="0" charset="0"/>
                <a:ea typeface="ＭＳ Ｐゴシック" pitchFamily="0" charset="-128"/>
                <a:cs typeface="Lucida Sans"/>
                <a:sym typeface="Symbol" pitchFamily="18" charset="2"/>
              </a:rPr>
              <a:t>80 </a:t>
            </a:r>
            <a:r>
              <a:rPr lang="en-US" altLang="zh-CN" sz="2400" b="0" i="0" u="none" strike="noStrike" kern="1200" cap="none" spc="0" baseline="0">
                <a:solidFill>
                  <a:schemeClr val="tx1"/>
                </a:solidFill>
                <a:latin typeface="Calibri" pitchFamily="0" charset="0"/>
                <a:ea typeface="ＭＳ Ｐゴシック" pitchFamily="0" charset="-128"/>
                <a:cs typeface="Lucida Sans"/>
                <a:sym typeface="Symbol" pitchFamily="18" charset="2"/>
              </a:rPr>
              <a:t>= (20 + 25)  2 = 22.5</a:t>
            </a:r>
            <a:endParaRPr lang="en-US" altLang="zh-CN" sz="2400" b="0" i="0" u="none" strike="noStrike" kern="1200" cap="none" spc="0" baseline="0">
              <a:solidFill>
                <a:schemeClr val="tx1"/>
              </a:solidFill>
              <a:latin typeface="Calibri" pitchFamily="0" charset="0"/>
              <a:ea typeface="ＭＳ Ｐゴシック" pitchFamily="0" charset="-128"/>
              <a:cs typeface="Lucida Sans"/>
              <a:sym typeface="Symbol" pitchFamily="18" charset="2"/>
            </a:endParaRPr>
          </a:p>
          <a:p>
            <a:pPr marL="0" indent="0" algn="just" eaLnBrk="1" hangingPunct="1">
              <a:lnSpc>
                <a:spcPct val="90000"/>
              </a:lnSpc>
              <a:spcBef>
                <a:spcPct val="2000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277" name="Rectangles"/>
          <p:cNvSpPr>
            <a:spLocks/>
          </p:cNvSpPr>
          <p:nvPr/>
        </p:nvSpPr>
        <p:spPr>
          <a:xfrm rot="0">
            <a:off x="6629401" y="4953000"/>
            <a:ext cx="990848" cy="369332"/>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itchFamily="0" charset="0"/>
                <a:ea typeface="ＭＳ Ｐゴシック" pitchFamily="0" charset="-128"/>
                <a:cs typeface="Calibri" pitchFamily="0" charset="0"/>
              </a:rPr>
              <a:t>(integer)</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78" name="Images"/>
          <p:cNvPicPr>
            <a:picLocks/>
          </p:cNvPicPr>
          <p:nvPr/>
        </p:nvPicPr>
        <p:blipFill>
          <a:blip r:embed="rId1" cstate="print"/>
          <a:stretch>
            <a:fillRect/>
          </a:stretch>
        </p:blipFill>
        <p:spPr>
          <a:xfrm rot="0">
            <a:off x="7401913" y="4183762"/>
            <a:ext cx="343080" cy="231480"/>
          </a:xfrm>
          <a:prstGeom prst="rect"/>
          <a:noFill/>
          <a:ln w="12700" cmpd="sng" cap="flat">
            <a:noFill/>
            <a:prstDash val="solid"/>
            <a:miter/>
          </a:ln>
        </p:spPr>
      </p:pic>
      <p:pic>
        <p:nvPicPr>
          <p:cNvPr id="279" name="Images"/>
          <p:cNvPicPr>
            <a:picLocks/>
          </p:cNvPicPr>
          <p:nvPr/>
        </p:nvPicPr>
        <p:blipFill>
          <a:blip r:embed="rId2" cstate="print"/>
          <a:stretch>
            <a:fillRect/>
          </a:stretch>
        </p:blipFill>
        <p:spPr>
          <a:xfrm rot="0">
            <a:off x="8074033" y="4178001"/>
            <a:ext cx="327600" cy="225359"/>
          </a:xfrm>
          <a:prstGeom prst="rect"/>
          <a:noFill/>
          <a:ln w="12700" cmpd="sng" cap="flat">
            <a:noFill/>
            <a:prstDash val="solid"/>
            <a:miter/>
          </a:ln>
        </p:spPr>
      </p:pic>
    </p:spTree>
    <p:extLst>
      <p:ext uri="{BB962C8B-B14F-4D97-AF65-F5344CB8AC3E}">
        <p14:creationId xmlns:p14="http://schemas.microsoft.com/office/powerpoint/2010/main" val="1108526864"/>
      </p:ext>
    </p:extLst>
  </p:cSld>
  <p:clrMapOvr>
    <a:masterClrMapping/>
  </p:clrMapOvr>
</p:sld>
</file>

<file path=ppt/slides/slide3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0"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35</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281" name="Text box"/>
          <p:cNvSpPr>
            <a:spLocks noGrp="1"/>
          </p:cNvSpPr>
          <p:nvPr>
            <p:ph type="title"/>
          </p:nvPr>
        </p:nvSpPr>
        <p:spPr>
          <a:xfrm rot="0">
            <a:off x="2855641" y="274638"/>
            <a:ext cx="6491287" cy="633412"/>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282" name="Text box"/>
          <p:cNvSpPr>
            <a:spLocks noGrp="1"/>
          </p:cNvSpPr>
          <p:nvPr>
            <p:ph type="body" idx="1"/>
          </p:nvPr>
        </p:nvSpPr>
        <p:spPr>
          <a:xfrm rot="0">
            <a:off x="1774824" y="1196976"/>
            <a:ext cx="8642350" cy="4525963"/>
          </a:xfrm>
          <a:prstGeom prst="rect"/>
          <a:noFill/>
          <a:ln w="12700" cmpd="sng" cap="flat">
            <a:noFill/>
            <a:prstDash val="solid"/>
            <a:round/>
          </a:ln>
        </p:spPr>
        <p:txBody>
          <a:bodyPr vert="horz" wrap="square" lIns="91440" tIns="45720" rIns="91440" bIns="45720" anchor="t" anchorCtr="0">
            <a:prstTxWarp prst="textNoShape"/>
          </a:bodyPr>
          <a:lstStyle/>
          <a:p>
            <a:pPr marL="457200" indent="-457200" algn="l" eaLnBrk="1" hangingPunct="1">
              <a:lnSpc>
                <a:spcPct val="100000"/>
              </a:lnSpc>
              <a:spcBef>
                <a:spcPct val="20000"/>
              </a:spcBef>
              <a:spcAft>
                <a:spcPts val="0"/>
              </a:spcAft>
              <a:buNone/>
            </a:pPr>
            <a:r>
              <a:rPr lang="en-US" altLang="zh-CN" sz="2800" b="0" i="0" u="sng" strike="noStrike" kern="1200" cap="none" spc="0" baseline="0">
                <a:solidFill>
                  <a:srgbClr val="008000"/>
                </a:solidFill>
                <a:latin typeface="Calibri" pitchFamily="0" charset="0"/>
                <a:ea typeface="ＭＳ Ｐゴシック" pitchFamily="0" charset="-128"/>
                <a:cs typeface="Lucida Sans"/>
              </a:rPr>
              <a:t>Solution (ii):</a:t>
            </a:r>
            <a:r>
              <a:rPr lang="en-US" altLang="zh-CN" sz="2800" b="0" i="0" u="none" strike="noStrike" kern="1200" cap="none" spc="0" baseline="0">
                <a:solidFill>
                  <a:schemeClr val="tx1"/>
                </a:solidFill>
                <a:latin typeface="Calibri" pitchFamily="0" charset="0"/>
                <a:ea typeface="ＭＳ Ｐゴシック" pitchFamily="0" charset="-128"/>
                <a:cs typeface="Lucida Sans"/>
              </a:rPr>
              <a:t> Calculate 68</a:t>
            </a:r>
            <a:r>
              <a:rPr lang="en-US" altLang="zh-CN" sz="2800" b="0" i="0" u="none" strike="noStrike" kern="1200" cap="none" spc="0" baseline="30000">
                <a:solidFill>
                  <a:schemeClr val="tx1"/>
                </a:solidFill>
                <a:latin typeface="Calibri" pitchFamily="0" charset="0"/>
                <a:ea typeface="ＭＳ Ｐゴシック" pitchFamily="0" charset="-128"/>
                <a:cs typeface="Lucida Sans"/>
              </a:rPr>
              <a:t>th</a:t>
            </a:r>
            <a:r>
              <a:rPr lang="en-US" altLang="zh-CN" sz="2800" b="0" i="0" u="none" strike="noStrike" kern="1200" cap="none" spc="0" baseline="0">
                <a:solidFill>
                  <a:schemeClr val="tx1"/>
                </a:solidFill>
                <a:latin typeface="Calibri" pitchFamily="0" charset="0"/>
                <a:ea typeface="ＭＳ Ｐゴシック" pitchFamily="0" charset="-128"/>
                <a:cs typeface="Lucida Sans"/>
              </a:rPr>
              <a:t> percentile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457200" indent="-457200" algn="l" eaLnBrk="1" hangingPunct="1">
              <a:lnSpc>
                <a:spcPct val="100000"/>
              </a:lnSpc>
              <a:spcBef>
                <a:spcPct val="20000"/>
              </a:spcBef>
              <a:spcAft>
                <a:spcPts val="0"/>
              </a:spcAft>
              <a:buNone/>
            </a:pPr>
            <a:r>
              <a:rPr lang="en-US" altLang="zh-CN" sz="2800" b="0" i="1" u="none" strike="noStrike" kern="1200" cap="none" spc="0" baseline="0">
                <a:solidFill>
                  <a:schemeClr val="tx1"/>
                </a:solidFill>
                <a:latin typeface="Calibri" pitchFamily="0" charset="0"/>
                <a:ea typeface="ＭＳ Ｐゴシック" pitchFamily="0" charset="-128"/>
                <a:cs typeface="Lucida Sans"/>
              </a:rPr>
              <a:t>N </a:t>
            </a:r>
            <a:r>
              <a:rPr lang="en-US" altLang="zh-CN" sz="2800" b="0" i="0" u="none" strike="noStrike" kern="1200" cap="none" spc="0" baseline="0">
                <a:solidFill>
                  <a:schemeClr val="tx1"/>
                </a:solidFill>
                <a:latin typeface="Calibri" pitchFamily="0" charset="0"/>
                <a:ea typeface="ＭＳ Ｐゴシック" pitchFamily="0" charset="-128"/>
                <a:cs typeface="Lucida Sans"/>
              </a:rPr>
              <a:t>= 10,  </a:t>
            </a:r>
            <a:r>
              <a:rPr lang="en-US" altLang="zh-CN" sz="2800" b="0" i="1" u="none" strike="noStrike" kern="1200" cap="none" spc="0" baseline="0">
                <a:solidFill>
                  <a:schemeClr val="tx1"/>
                </a:solidFill>
                <a:latin typeface="Calibri" pitchFamily="0" charset="0"/>
                <a:ea typeface="ＭＳ Ｐゴシック" pitchFamily="0" charset="-128"/>
                <a:cs typeface="Lucida Sans"/>
              </a:rPr>
              <a:t>P </a:t>
            </a:r>
            <a:r>
              <a:rPr lang="en-US" altLang="zh-CN" sz="2800" b="0" i="0" u="none" strike="noStrike" kern="1200" cap="none" spc="0" baseline="0">
                <a:solidFill>
                  <a:schemeClr val="tx1"/>
                </a:solidFill>
                <a:latin typeface="Calibri" pitchFamily="0" charset="0"/>
                <a:ea typeface="ＭＳ Ｐゴシック" pitchFamily="0" charset="-128"/>
                <a:cs typeface="Lucida Sans"/>
              </a:rPr>
              <a:t>= 68</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457200" indent="-457200" algn="l"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457200" indent="-457200" algn="ctr" eaLnBrk="1" hangingPunct="1">
              <a:lnSpc>
                <a:spcPct val="100000"/>
              </a:lnSpc>
              <a:spcBef>
                <a:spcPct val="20000"/>
              </a:spcBef>
              <a:spcAft>
                <a:spcPts val="0"/>
              </a:spcAft>
              <a:buNone/>
            </a:pPr>
            <a:r>
              <a:rPr lang="en-US" altLang="zh-CN" sz="2800" b="1" i="0" u="none" strike="noStrike" kern="1200" cap="none" spc="0" baseline="0">
                <a:solidFill>
                  <a:schemeClr val="accent2"/>
                </a:solidFill>
                <a:latin typeface="Calibri" pitchFamily="0" charset="0"/>
                <a:ea typeface="ＭＳ Ｐゴシック" pitchFamily="0" charset="-128"/>
                <a:cs typeface="Lucida Sans"/>
              </a:rPr>
              <a:t>4     6     9    11    12    15    18     20     25     30</a:t>
            </a:r>
            <a:endParaRPr lang="en-US" altLang="zh-CN" sz="2800" b="1" i="0" u="none" strike="noStrike" kern="1200" cap="none" spc="0" baseline="0">
              <a:solidFill>
                <a:schemeClr val="accent2"/>
              </a:solidFill>
              <a:latin typeface="Calibri" pitchFamily="0" charset="0"/>
              <a:ea typeface="ＭＳ Ｐゴシック" pitchFamily="0" charset="-128"/>
              <a:cs typeface="Lucida Sans"/>
            </a:endParaRPr>
          </a:p>
          <a:p>
            <a:pPr marL="457200" indent="-457200" algn="l" eaLnBrk="1" hangingPunct="1">
              <a:lnSpc>
                <a:spcPct val="100000"/>
              </a:lnSpc>
              <a:spcBef>
                <a:spcPct val="20000"/>
              </a:spcBef>
              <a:spcAft>
                <a:spcPts val="0"/>
              </a:spcAft>
              <a:buNone/>
            </a:pPr>
            <a:endParaRPr lang="en-US" altLang="zh-CN" sz="2800" b="1" i="0" u="none" strike="noStrike" kern="1200" cap="none" spc="0" baseline="0">
              <a:solidFill>
                <a:schemeClr val="accent2"/>
              </a:solidFill>
              <a:latin typeface="Calibri" pitchFamily="0" charset="0"/>
              <a:ea typeface="ＭＳ Ｐゴシック" pitchFamily="0" charset="-128"/>
              <a:cs typeface="Lucida Sans"/>
            </a:endParaRPr>
          </a:p>
          <a:p>
            <a:pPr marL="457200" indent="-457200" algn="l" eaLnBrk="1" hangingPunct="1">
              <a:lnSpc>
                <a:spcPct val="100000"/>
              </a:lnSpc>
              <a:spcBef>
                <a:spcPct val="20000"/>
              </a:spcBef>
              <a:spcAft>
                <a:spcPts val="0"/>
              </a:spcAft>
              <a:buNone/>
            </a:pPr>
            <a:r>
              <a:rPr lang="en-US" altLang="zh-CN" sz="2800" b="0" i="1" u="none" strike="noStrike" kern="1200" cap="none" spc="0" baseline="0">
                <a:solidFill>
                  <a:schemeClr val="tx1"/>
                </a:solidFill>
                <a:latin typeface="Calibri" pitchFamily="0" charset="0"/>
                <a:ea typeface="ＭＳ Ｐゴシック" pitchFamily="0" charset="-128"/>
                <a:cs typeface="Lucida Sans"/>
              </a:rPr>
              <a:t>i</a:t>
            </a:r>
            <a:r>
              <a:rPr lang="en-US" altLang="zh-CN" sz="2800" b="0" i="1" u="none" strike="noStrike" kern="1200" cap="none" spc="0" baseline="0">
                <a:solidFill>
                  <a:schemeClr val="tx1"/>
                </a:solidFill>
                <a:latin typeface="Calibri" pitchFamily="0" charset="0"/>
                <a:ea typeface="ＭＳ Ｐゴシック" pitchFamily="0" charset="-128"/>
                <a:cs typeface="Lucida Sans"/>
              </a:rPr>
              <a:t> </a:t>
            </a:r>
            <a:r>
              <a:rPr lang="en-US" altLang="zh-CN" sz="2800" b="0" i="0" u="none" strike="noStrike" kern="1200" cap="none" spc="0" baseline="0">
                <a:solidFill>
                  <a:schemeClr val="tx1"/>
                </a:solidFill>
                <a:latin typeface="Calibri" pitchFamily="0" charset="0"/>
                <a:ea typeface="ＭＳ Ｐゴシック" pitchFamily="0" charset="-128"/>
                <a:cs typeface="Lucida Sans"/>
              </a:rPr>
              <a:t>= 68 x 10 </a:t>
            </a:r>
            <a:r>
              <a:rPr lang="en-US" altLang="zh-CN" sz="2800" b="0" i="0" u="none" strike="noStrike" kern="1200" cap="none" spc="0" baseline="0">
                <a:solidFill>
                  <a:schemeClr val="tx1"/>
                </a:solidFill>
                <a:latin typeface="Calibri" pitchFamily="0" charset="0"/>
                <a:ea typeface="ＭＳ Ｐゴシック" pitchFamily="0" charset="-128"/>
                <a:cs typeface="Lucida Sans"/>
                <a:sym typeface="Symbol" pitchFamily="18" charset="2"/>
              </a:rPr>
              <a:t> 100 = 6.8,   </a:t>
            </a:r>
            <a:r>
              <a:rPr lang="en-US" altLang="zh-CN" sz="2800" b="0" i="1" u="none" strike="noStrike" kern="1200" cap="none" spc="0" baseline="0">
                <a:solidFill>
                  <a:schemeClr val="tx1"/>
                </a:solidFill>
                <a:latin typeface="Calibri" pitchFamily="0" charset="0"/>
                <a:ea typeface="ＭＳ Ｐゴシック" pitchFamily="0" charset="-128"/>
                <a:cs typeface="Lucida Sans"/>
                <a:sym typeface="Symbol" pitchFamily="18" charset="2"/>
              </a:rPr>
              <a:t>k</a:t>
            </a:r>
            <a:r>
              <a:rPr lang="en-US" altLang="zh-CN" sz="2800" b="0" i="0" u="none" strike="noStrike" kern="1200" cap="none" spc="0" baseline="0">
                <a:solidFill>
                  <a:schemeClr val="tx1"/>
                </a:solidFill>
                <a:latin typeface="Calibri" pitchFamily="0" charset="0"/>
                <a:ea typeface="ＭＳ Ｐゴシック" pitchFamily="0" charset="-128"/>
                <a:cs typeface="Lucida Sans"/>
                <a:sym typeface="Symbol" pitchFamily="18" charset="2"/>
              </a:rPr>
              <a:t> = 7</a:t>
            </a:r>
            <a:endParaRPr lang="en-US" altLang="zh-CN" sz="2800" b="0" i="0" u="none" strike="noStrike" kern="1200" cap="none" spc="0" baseline="0">
              <a:solidFill>
                <a:schemeClr val="tx1"/>
              </a:solidFill>
              <a:latin typeface="Calibri" pitchFamily="0" charset="0"/>
              <a:ea typeface="ＭＳ Ｐゴシック" pitchFamily="0" charset="-128"/>
              <a:cs typeface="Lucida Sans"/>
              <a:sym typeface="Symbol" pitchFamily="18" charset="2"/>
            </a:endParaRPr>
          </a:p>
          <a:p>
            <a:pPr marL="457200" indent="-457200" algn="l"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sym typeface="Symbol" pitchFamily="18" charset="2"/>
            </a:endParaRPr>
          </a:p>
          <a:p>
            <a:pPr marL="457200" indent="-45720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sym typeface="Symbol" pitchFamily="18" charset="2"/>
              </a:rPr>
              <a:t>Y[7] = 18,    P</a:t>
            </a:r>
            <a:r>
              <a:rPr lang="en-US" altLang="zh-CN" sz="2800" b="0" i="0" u="none" strike="noStrike" kern="1200" cap="none" spc="0" baseline="-25000">
                <a:solidFill>
                  <a:schemeClr val="tx1"/>
                </a:solidFill>
                <a:latin typeface="Calibri" pitchFamily="0" charset="0"/>
                <a:ea typeface="ＭＳ Ｐゴシック" pitchFamily="0" charset="-128"/>
                <a:cs typeface="Lucida Sans"/>
                <a:sym typeface="Symbol" pitchFamily="18" charset="2"/>
              </a:rPr>
              <a:t>68 </a:t>
            </a:r>
            <a:r>
              <a:rPr lang="en-US" altLang="zh-CN" sz="2800" b="0" i="0" u="none" strike="noStrike" kern="1200" cap="none" spc="0" baseline="0">
                <a:solidFill>
                  <a:schemeClr val="tx1"/>
                </a:solidFill>
                <a:latin typeface="Calibri" pitchFamily="0" charset="0"/>
                <a:ea typeface="ＭＳ Ｐゴシック" pitchFamily="0" charset="-128"/>
                <a:cs typeface="Lucida Sans"/>
                <a:sym typeface="Symbol" pitchFamily="18" charset="2"/>
              </a:rPr>
              <a:t>= 18</a:t>
            </a:r>
            <a:endParaRPr lang="en-US" altLang="zh-CN" sz="2800" b="0" i="0" u="none" strike="noStrike" kern="1200" cap="none" spc="0" baseline="0">
              <a:solidFill>
                <a:schemeClr val="tx1"/>
              </a:solidFill>
              <a:latin typeface="Calibri" pitchFamily="0" charset="0"/>
              <a:ea typeface="ＭＳ Ｐゴシック" pitchFamily="0" charset="-128"/>
              <a:cs typeface="Lucida Sans"/>
              <a:sym typeface="Symbol" pitchFamily="18" charset="2"/>
            </a:endParaRPr>
          </a:p>
          <a:p>
            <a:pPr marL="457200" indent="-457200" algn="l" eaLnBrk="1" hangingPunct="1">
              <a:lnSpc>
                <a:spcPct val="100000"/>
              </a:lnSpc>
              <a:spcBef>
                <a:spcPct val="2000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283" name="Rectangles"/>
          <p:cNvSpPr>
            <a:spLocks/>
          </p:cNvSpPr>
          <p:nvPr/>
        </p:nvSpPr>
        <p:spPr>
          <a:xfrm rot="0">
            <a:off x="4114800" y="4191000"/>
            <a:ext cx="1364348" cy="369332"/>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itchFamily="0" charset="0"/>
                <a:ea typeface="ＭＳ Ｐゴシック" pitchFamily="0" charset="-128"/>
                <a:cs typeface="Calibri" pitchFamily="0" charset="0"/>
              </a:rPr>
              <a:t>(not integer)</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84" name="Images"/>
          <p:cNvPicPr>
            <a:picLocks/>
          </p:cNvPicPr>
          <p:nvPr/>
        </p:nvPicPr>
        <p:blipFill>
          <a:blip r:embed="rId1" cstate="print"/>
          <a:stretch>
            <a:fillRect/>
          </a:stretch>
        </p:blipFill>
        <p:spPr>
          <a:xfrm rot="0">
            <a:off x="6574273" y="2766582"/>
            <a:ext cx="518040" cy="393199"/>
          </a:xfrm>
          <a:prstGeom prst="rect"/>
          <a:noFill/>
          <a:ln w="12700" cmpd="sng" cap="flat">
            <a:noFill/>
            <a:prstDash val="solid"/>
            <a:miter/>
          </a:ln>
        </p:spPr>
      </p:pic>
    </p:spTree>
    <p:extLst>
      <p:ext uri="{BB962C8B-B14F-4D97-AF65-F5344CB8AC3E}">
        <p14:creationId xmlns:p14="http://schemas.microsoft.com/office/powerpoint/2010/main" val="1604759717"/>
      </p:ext>
    </p:extLst>
  </p:cSld>
  <p:clrMapOvr>
    <a:masterClrMapping/>
  </p:clrMapOvr>
</p:sld>
</file>

<file path=ppt/slides/slide3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5"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36</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
        <p:nvSpPr>
          <p:cNvPr id="286" name="Text box"/>
          <p:cNvSpPr>
            <a:spLocks noGrp="1"/>
          </p:cNvSpPr>
          <p:nvPr>
            <p:ph type="body" idx="1"/>
          </p:nvPr>
        </p:nvSpPr>
        <p:spPr>
          <a:xfrm rot="0">
            <a:off x="1963738" y="1146175"/>
            <a:ext cx="8077200" cy="419100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process of finding the percentile that corresponds to a particular value </a:t>
            </a:r>
            <a:r>
              <a:rPr lang="en-US" altLang="zh-CN" sz="2800" b="0" i="1" u="none" strike="noStrike" kern="1200" cap="none" spc="0" baseline="0">
                <a:solidFill>
                  <a:schemeClr val="tx1"/>
                </a:solidFill>
                <a:latin typeface="Calibri" pitchFamily="0" charset="0"/>
                <a:ea typeface="ＭＳ Ｐゴシック" pitchFamily="0" charset="-128"/>
                <a:cs typeface="Lucida Sans"/>
              </a:rPr>
              <a:t>x</a:t>
            </a:r>
            <a:r>
              <a:rPr lang="en-US" altLang="zh-CN" sz="2800" b="0" i="0" u="none" strike="noStrike" kern="1200" cap="none" spc="0" baseline="0">
                <a:solidFill>
                  <a:schemeClr val="tx1"/>
                </a:solidFill>
                <a:latin typeface="Calibri" pitchFamily="0" charset="0"/>
                <a:ea typeface="ＭＳ Ｐゴシック" pitchFamily="0" charset="-128"/>
                <a:cs typeface="Lucida Sans"/>
              </a:rPr>
              <a:t> is:</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287" name="Object"/>
          <p:cNvGraphicFramePr>
            <a:graphicFrameLocks noChangeAspect="1"/>
          </p:cNvGraphicFramePr>
          <p:nvPr/>
        </p:nvGraphicFramePr>
        <p:xfrm>
          <a:off x="2279576" y="2780929"/>
          <a:ext cx="7272337" cy="815975"/>
        </p:xfrm>
        <a:graphic>
          <a:graphicData uri="http://schemas.openxmlformats.org/presentationml/2006/ole">
            <mc:AlternateContent xmlns:mc="http://schemas.openxmlformats.org/markup-compatibility/2006">
              <mc:Choice xmlns:v="urn:schemas-microsoft-com:vml" Requires="v">
                <p:oleObj spid="" name="package" r:id="rId1" imgW="112572800" imgH="12598400" progId="package">
                  <p:embed/>
                </p:oleObj>
              </mc:Choice>
              <mc:Fallback>
                <p:oleObj name="package" r:id="rId1" imgW="112572800" imgH="12598400" progId="package">
                  <p:embed/>
                  <p:pic>
                    <p:nvPicPr>
                      <p:cNvPr id="287" name="Object"/>
                      <p:cNvPicPr>
                        <a:picLocks noChangeAspect="1"/>
                      </p:cNvPicPr>
                      <p:nvPr/>
                    </p:nvPicPr>
                    <p:blipFill>
                      <a:blip r:embed="rId2" cstate="print"/>
                      <a:stretch>
                        <a:fillRect/>
                      </a:stretch>
                    </p:blipFill>
                    <p:spPr>
                      <a:xfrm rot="0">
                        <a:off x="2279576" y="2780929"/>
                        <a:ext cx="7272337" cy="815975"/>
                      </a:xfrm>
                      <a:prstGeom prst="rect"/>
                      <a:noFill/>
                      <a:ln cmpd="sng" cap="flat">
                        <a:noFill/>
                        <a:prstDash val="solid"/>
                        <a:miter/>
                      </a:ln>
                    </p:spPr>
                  </p:pic>
                </p:oleObj>
              </mc:Fallback>
            </mc:AlternateContent>
          </a:graphicData>
        </a:graphic>
      </p:graphicFrame>
    </p:spTree>
    <p:extLst>
      <p:ext uri="{BB962C8B-B14F-4D97-AF65-F5344CB8AC3E}">
        <p14:creationId xmlns:p14="http://schemas.microsoft.com/office/powerpoint/2010/main" val="871363116"/>
      </p:ext>
    </p:extLst>
  </p:cSld>
  <p:clrMapOvr>
    <a:masterClrMapping/>
  </p:clrMapOvr>
</p:sld>
</file>

<file path=ppt/slides/slide3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8"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37</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
        <p:nvSpPr>
          <p:cNvPr id="289" name="Text box"/>
          <p:cNvSpPr>
            <a:spLocks noGrp="1"/>
          </p:cNvSpPr>
          <p:nvPr>
            <p:ph type="title"/>
          </p:nvPr>
        </p:nvSpPr>
        <p:spPr>
          <a:xfrm rot="0">
            <a:off x="2855641" y="274639"/>
            <a:ext cx="6491287" cy="561975"/>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290" name="Text box"/>
          <p:cNvSpPr>
            <a:spLocks noGrp="1"/>
          </p:cNvSpPr>
          <p:nvPr>
            <p:ph type="body" idx="1"/>
          </p:nvPr>
        </p:nvSpPr>
        <p:spPr>
          <a:xfrm rot="0">
            <a:off x="1889126" y="908051"/>
            <a:ext cx="8455025" cy="2449513"/>
          </a:xfrm>
          <a:prstGeom prst="rect"/>
          <a:noFill/>
          <a:ln w="12700" cmpd="sng" cap="flat">
            <a:noFill/>
            <a:prstDash val="solid"/>
            <a:round/>
          </a:ln>
        </p:spPr>
        <p:txBody>
          <a:bodyPr vert="horz" wrap="square" lIns="91440" tIns="45720" rIns="91440" bIns="45720" anchor="t" anchorCtr="0">
            <a:prstTxWarp prst="textNoShape"/>
          </a:bodyPr>
          <a:lstStyle/>
          <a:p>
            <a:pPr marL="0" indent="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Given a set of data as follows: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ctr"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12     4     6    11    9     15     20    18     25     30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Find the percentile corresponding to the value,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ctr"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Y[</a:t>
            </a:r>
            <a:r>
              <a:rPr lang="en-US" altLang="zh-CN" sz="2800" b="0" i="1" u="none" strike="noStrike" kern="1200" cap="none" spc="0" baseline="0">
                <a:solidFill>
                  <a:schemeClr val="tx1"/>
                </a:solidFill>
                <a:latin typeface="Calibri" pitchFamily="0" charset="0"/>
                <a:ea typeface="ＭＳ Ｐゴシック" pitchFamily="0" charset="-128"/>
                <a:cs typeface="Times New Roman" pitchFamily="0" charset="0"/>
              </a:rPr>
              <a:t>k</a:t>
            </a:r>
            <a:r>
              <a:rPr lang="en-US" altLang="zh-CN" sz="2800" b="0" i="0" u="none" strike="noStrike" kern="1200" cap="none" spc="0" baseline="0">
                <a:solidFill>
                  <a:schemeClr val="tx1"/>
                </a:solidFill>
                <a:latin typeface="Calibri" pitchFamily="0" charset="0"/>
                <a:ea typeface="ＭＳ Ｐゴシック" pitchFamily="0" charset="-128"/>
                <a:cs typeface="Lucida Sans"/>
              </a:rPr>
              <a:t>] = 15</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l" eaLnBrk="1" hangingPunct="1">
              <a:lnSpc>
                <a:spcPct val="100000"/>
              </a:lnSpc>
              <a:spcBef>
                <a:spcPct val="20000"/>
              </a:spcBef>
              <a:spcAft>
                <a:spcPts val="0"/>
              </a:spcAft>
              <a:buNone/>
            </a:pPr>
            <a:endParaRPr lang="zh-CN" altLang="en-US" sz="2800" b="1" i="0" u="none" strike="noStrike" kern="1200" cap="none" spc="0" baseline="0">
              <a:solidFill>
                <a:schemeClr val="accent2"/>
              </a:solidFill>
              <a:latin typeface="Calibri" pitchFamily="0" charset="0"/>
              <a:ea typeface="ＭＳ Ｐゴシック" pitchFamily="0" charset="-128"/>
              <a:cs typeface="Lucida Sans"/>
            </a:endParaRPr>
          </a:p>
        </p:txBody>
      </p:sp>
      <p:graphicFrame>
        <p:nvGraphicFramePr>
          <p:cNvPr id="291" name="Object"/>
          <p:cNvGraphicFramePr>
            <a:graphicFrameLocks noChangeAspect="1"/>
          </p:cNvGraphicFramePr>
          <p:nvPr/>
        </p:nvGraphicFramePr>
        <p:xfrm>
          <a:off x="2229048" y="4437112"/>
          <a:ext cx="7899400" cy="679449"/>
        </p:xfrm>
        <a:graphic>
          <a:graphicData uri="http://schemas.openxmlformats.org/presentationml/2006/ole">
            <mc:AlternateContent xmlns:mc="http://schemas.openxmlformats.org/markup-compatibility/2006">
              <mc:Choice xmlns:v="urn:schemas-microsoft-com:vml" Requires="v">
                <p:oleObj spid="" name="package" r:id="rId1" imgW="146710400" imgH="12598400" progId="package">
                  <p:embed/>
                </p:oleObj>
              </mc:Choice>
              <mc:Fallback>
                <p:oleObj name="package" r:id="rId1" imgW="146710400" imgH="12598400" progId="package">
                  <p:embed/>
                  <p:pic>
                    <p:nvPicPr>
                      <p:cNvPr id="291" name="Object"/>
                      <p:cNvPicPr>
                        <a:picLocks noChangeAspect="1"/>
                      </p:cNvPicPr>
                      <p:nvPr/>
                    </p:nvPicPr>
                    <p:blipFill>
                      <a:blip r:embed="rId2" cstate="print"/>
                      <a:stretch>
                        <a:fillRect/>
                      </a:stretch>
                    </p:blipFill>
                    <p:spPr>
                      <a:xfrm rot="0">
                        <a:off x="2229048" y="4437112"/>
                        <a:ext cx="7899400" cy="679449"/>
                      </a:xfrm>
                      <a:prstGeom prst="rect"/>
                      <a:noFill/>
                      <a:ln cmpd="sng" cap="flat">
                        <a:noFill/>
                        <a:prstDash val="solid"/>
                        <a:miter/>
                      </a:ln>
                    </p:spPr>
                  </p:pic>
                </p:oleObj>
              </mc:Fallback>
            </mc:AlternateContent>
          </a:graphicData>
        </a:graphic>
      </p:graphicFrame>
      <p:sp>
        <p:nvSpPr>
          <p:cNvPr id="292" name="Rectangles"/>
          <p:cNvSpPr>
            <a:spLocks/>
          </p:cNvSpPr>
          <p:nvPr/>
        </p:nvSpPr>
        <p:spPr>
          <a:xfrm rot="0">
            <a:off x="2028826" y="3356992"/>
            <a:ext cx="8455024" cy="2677656"/>
          </a:xfrm>
          <a:prstGeom prst="rect"/>
          <a:noFill/>
          <a:ln w="12700" cmpd="sng" cap="flat">
            <a:noFill/>
            <a:prstDash val="solid"/>
            <a:round/>
          </a:ln>
        </p:spPr>
        <p:txBody>
          <a:bodyPr vert="horz" wrap="square" lIns="91440" tIns="45720" rIns="91440" bIns="45720" anchor="t" anchorCtr="0">
            <a:prstTxWarp prst="textNoShape"/>
            <a:spAutoFit/>
          </a:bodyPr>
          <a:lstStyle/>
          <a:p>
            <a:pPr marL="457200" indent="-457200" algn="l" eaLnBrk="1" hangingPunct="1">
              <a:lnSpc>
                <a:spcPct val="100000"/>
              </a:lnSpc>
              <a:spcBef>
                <a:spcPts val="0"/>
              </a:spcBef>
              <a:spcAft>
                <a:spcPts val="0"/>
              </a:spcAft>
              <a:buNone/>
            </a:pPr>
            <a:r>
              <a:rPr lang="en-US" altLang="zh-CN" sz="2800" b="1" i="0" u="none" strike="noStrike" kern="1200" cap="none" spc="0" baseline="0">
                <a:solidFill>
                  <a:srgbClr val="2F32FF"/>
                </a:solidFill>
                <a:latin typeface="Calibri" pitchFamily="0" charset="0"/>
                <a:ea typeface="MS PGothic" pitchFamily="34" charset="-128"/>
                <a:cs typeface="Calibri" pitchFamily="0" charset="0"/>
              </a:rPr>
              <a:t>Solution: </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Arrange the data in order,</a:t>
            </a: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457200" indent="-457200" algn="ctr" eaLnBrk="1" hangingPunct="1">
              <a:lnSpc>
                <a:spcPct val="100000"/>
              </a:lnSpc>
              <a:spcBef>
                <a:spcPts val="0"/>
              </a:spcBef>
              <a:spcAft>
                <a:spcPts val="0"/>
              </a:spcAft>
              <a:buNone/>
            </a:pPr>
            <a:r>
              <a:rPr lang="en-US" altLang="zh-CN" sz="2800" b="1" i="0" u="none" strike="noStrike" kern="1200" cap="none" spc="0" baseline="0">
                <a:solidFill>
                  <a:schemeClr val="accent2"/>
                </a:solidFill>
                <a:latin typeface="Calibri" pitchFamily="0" charset="0"/>
                <a:ea typeface="MS PGothic" pitchFamily="34" charset="-128"/>
                <a:cs typeface="Calibri" pitchFamily="0" charset="0"/>
              </a:rPr>
              <a:t>4     6     9    11    12    15    18     20     25     30</a:t>
            </a:r>
            <a:endParaRPr lang="en-US" altLang="zh-CN" sz="2800" b="1" i="0" u="none" strike="noStrike" kern="1200" cap="none" spc="0" baseline="0">
              <a:solidFill>
                <a:schemeClr val="accent2"/>
              </a:solidFill>
              <a:latin typeface="Calibri" pitchFamily="0" charset="0"/>
              <a:ea typeface="MS PGothic" pitchFamily="34" charset="-128"/>
              <a:cs typeface="Calibri" pitchFamily="0" charset="0"/>
            </a:endParaRPr>
          </a:p>
          <a:p>
            <a:pPr marL="457200" indent="-457200" algn="l" eaLnBrk="1" hangingPunct="1">
              <a:lnSpc>
                <a:spcPct val="100000"/>
              </a:lnSpc>
              <a:spcBef>
                <a:spcPts val="0"/>
              </a:spcBef>
              <a:spcAft>
                <a:spcPts val="0"/>
              </a:spcAft>
              <a:buNone/>
            </a:pPr>
            <a:endParaRPr lang="en-US" altLang="zh-CN" sz="2800" b="1" i="0" u="none" strike="noStrike" kern="1200" cap="none" spc="0" baseline="0">
              <a:solidFill>
                <a:schemeClr val="accent2"/>
              </a:solidFill>
              <a:latin typeface="Calibri" pitchFamily="0" charset="0"/>
              <a:ea typeface="MS PGothic" pitchFamily="34" charset="-128"/>
              <a:cs typeface="Calibri" pitchFamily="0" charset="0"/>
            </a:endParaRPr>
          </a:p>
          <a:p>
            <a:pPr marL="457200" indent="-457200" algn="l" eaLnBrk="1" hangingPunct="1">
              <a:lnSpc>
                <a:spcPct val="100000"/>
              </a:lnSpc>
              <a:spcBef>
                <a:spcPts val="0"/>
              </a:spcBef>
              <a:spcAft>
                <a:spcPts val="0"/>
              </a:spcAft>
              <a:buNone/>
            </a:pPr>
            <a:endParaRPr lang="en-US" altLang="zh-CN" sz="2800" b="0" i="0" u="none" strike="noStrike" kern="1200" cap="none" spc="0" baseline="0">
              <a:solidFill>
                <a:schemeClr val="accent2"/>
              </a:solidFill>
              <a:latin typeface="Calibri" pitchFamily="0" charset="0"/>
              <a:ea typeface="MS PGothic" pitchFamily="34" charset="-128"/>
              <a:cs typeface="Calibri" pitchFamily="0" charset="0"/>
            </a:endParaRPr>
          </a:p>
          <a:p>
            <a:pPr marL="457200" indent="-457200" algn="l" eaLnBrk="1" hangingPunct="1">
              <a:lnSpc>
                <a:spcPct val="100000"/>
              </a:lnSpc>
              <a:spcBef>
                <a:spcPts val="0"/>
              </a:spcBef>
              <a:spcAft>
                <a:spcPts val="0"/>
              </a:spcAft>
              <a:buNone/>
            </a:pP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457200" indent="-45720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The value 15 is the 50</a:t>
            </a:r>
            <a:r>
              <a:rPr lang="en-US" altLang="zh-CN" sz="2800" b="0" i="0" u="none" strike="noStrike" kern="1200" cap="none" spc="0" baseline="30000">
                <a:solidFill>
                  <a:schemeClr val="tx1"/>
                </a:solidFill>
                <a:latin typeface="Calibri" pitchFamily="0" charset="0"/>
                <a:ea typeface="MS PGothic" pitchFamily="34" charset="-128"/>
                <a:cs typeface="Calibri" pitchFamily="0" charset="0"/>
              </a:rPr>
              <a:t>th</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percentile.</a:t>
            </a:r>
            <a:endParaRPr lang="zh-CN" altLang="en-US" sz="2800" b="1" i="0" u="none" strike="noStrike" kern="1200" cap="none" spc="0" baseline="0">
              <a:solidFill>
                <a:schemeClr val="accent2"/>
              </a:solidFill>
              <a:latin typeface="Calibri" pitchFamily="0" charset="0"/>
              <a:ea typeface="MS PGothic" pitchFamily="34" charset="-128"/>
              <a:cs typeface="Calibri" pitchFamily="0" charset="0"/>
            </a:endParaRPr>
          </a:p>
        </p:txBody>
      </p:sp>
      <p:pic>
        <p:nvPicPr>
          <p:cNvPr id="293" name="Images"/>
          <p:cNvPicPr>
            <a:picLocks/>
          </p:cNvPicPr>
          <p:nvPr/>
        </p:nvPicPr>
        <p:blipFill>
          <a:blip r:embed="rId3" cstate="print"/>
          <a:stretch>
            <a:fillRect/>
          </a:stretch>
        </p:blipFill>
        <p:spPr>
          <a:xfrm rot="0">
            <a:off x="3013036" y="3937162"/>
            <a:ext cx="274911" cy="216000"/>
          </a:xfrm>
          <a:prstGeom prst="rect"/>
          <a:noFill/>
          <a:ln w="12700" cmpd="sng" cap="flat">
            <a:noFill/>
            <a:prstDash val="solid"/>
            <a:miter/>
          </a:ln>
        </p:spPr>
      </p:pic>
      <p:pic>
        <p:nvPicPr>
          <p:cNvPr id="294" name="Images"/>
          <p:cNvPicPr>
            <a:picLocks/>
          </p:cNvPicPr>
          <p:nvPr/>
        </p:nvPicPr>
        <p:blipFill>
          <a:blip r:embed="rId4" cstate="print"/>
          <a:stretch>
            <a:fillRect/>
          </a:stretch>
        </p:blipFill>
        <p:spPr>
          <a:xfrm rot="0">
            <a:off x="3580229" y="3928402"/>
            <a:ext cx="362727" cy="243200"/>
          </a:xfrm>
          <a:prstGeom prst="rect"/>
          <a:noFill/>
          <a:ln w="12700" cmpd="sng" cap="flat">
            <a:noFill/>
            <a:prstDash val="solid"/>
            <a:miter/>
          </a:ln>
        </p:spPr>
      </p:pic>
      <p:pic>
        <p:nvPicPr>
          <p:cNvPr id="295" name="Images"/>
          <p:cNvPicPr>
            <a:picLocks/>
          </p:cNvPicPr>
          <p:nvPr/>
        </p:nvPicPr>
        <p:blipFill>
          <a:blip r:embed="rId5" cstate="print"/>
          <a:stretch>
            <a:fillRect/>
          </a:stretch>
        </p:blipFill>
        <p:spPr>
          <a:xfrm rot="0">
            <a:off x="4209073" y="3913762"/>
            <a:ext cx="256319" cy="216000"/>
          </a:xfrm>
          <a:prstGeom prst="rect"/>
          <a:noFill/>
          <a:ln w="12700" cmpd="sng" cap="flat">
            <a:noFill/>
            <a:prstDash val="solid"/>
            <a:miter/>
          </a:ln>
        </p:spPr>
      </p:pic>
      <p:pic>
        <p:nvPicPr>
          <p:cNvPr id="296" name="Images"/>
          <p:cNvPicPr>
            <a:picLocks/>
          </p:cNvPicPr>
          <p:nvPr/>
        </p:nvPicPr>
        <p:blipFill>
          <a:blip r:embed="rId6" cstate="print"/>
          <a:stretch>
            <a:fillRect/>
          </a:stretch>
        </p:blipFill>
        <p:spPr>
          <a:xfrm rot="0">
            <a:off x="4757280" y="3927442"/>
            <a:ext cx="375984" cy="221399"/>
          </a:xfrm>
          <a:prstGeom prst="rect"/>
          <a:noFill/>
          <a:ln w="12700" cmpd="sng" cap="flat">
            <a:noFill/>
            <a:prstDash val="solid"/>
            <a:miter/>
          </a:ln>
        </p:spPr>
      </p:pic>
      <p:pic>
        <p:nvPicPr>
          <p:cNvPr id="297" name="Images"/>
          <p:cNvPicPr>
            <a:picLocks/>
          </p:cNvPicPr>
          <p:nvPr/>
        </p:nvPicPr>
        <p:blipFill>
          <a:blip r:embed="rId7" cstate="print"/>
          <a:stretch>
            <a:fillRect/>
          </a:stretch>
        </p:blipFill>
        <p:spPr>
          <a:xfrm rot="0">
            <a:off x="5401033" y="3942562"/>
            <a:ext cx="416879" cy="219959"/>
          </a:xfrm>
          <a:prstGeom prst="rect"/>
          <a:noFill/>
          <a:ln w="12700" cmpd="sng" cap="flat">
            <a:noFill/>
            <a:prstDash val="solid"/>
            <a:miter/>
          </a:ln>
        </p:spPr>
      </p:pic>
      <p:pic>
        <p:nvPicPr>
          <p:cNvPr id="298" name="Images"/>
          <p:cNvPicPr>
            <a:picLocks/>
          </p:cNvPicPr>
          <p:nvPr/>
        </p:nvPicPr>
        <p:blipFill>
          <a:blip r:embed="rId8" cstate="print"/>
          <a:stretch>
            <a:fillRect/>
          </a:stretch>
        </p:blipFill>
        <p:spPr>
          <a:xfrm rot="0">
            <a:off x="8694673" y="4419202"/>
            <a:ext cx="284760" cy="272880"/>
          </a:xfrm>
          <a:prstGeom prst="rect"/>
          <a:noFill/>
          <a:ln w="12700" cmpd="sng" cap="flat">
            <a:noFill/>
            <a:prstDash val="solid"/>
            <a:miter/>
          </a:ln>
        </p:spPr>
      </p:pic>
      <p:pic>
        <p:nvPicPr>
          <p:cNvPr id="299" name="Images"/>
          <p:cNvPicPr>
            <a:picLocks/>
          </p:cNvPicPr>
          <p:nvPr/>
        </p:nvPicPr>
        <p:blipFill>
          <a:blip r:embed="rId9" cstate="print"/>
          <a:stretch>
            <a:fillRect/>
          </a:stretch>
        </p:blipFill>
        <p:spPr>
          <a:xfrm rot="0">
            <a:off x="8735713" y="4475722"/>
            <a:ext cx="243719" cy="241560"/>
          </a:xfrm>
          <a:prstGeom prst="rect"/>
          <a:noFill/>
          <a:ln w="12700" cmpd="sng" cap="flat">
            <a:noFill/>
            <a:prstDash val="solid"/>
            <a:miter/>
          </a:ln>
        </p:spPr>
      </p:pic>
    </p:spTree>
    <p:extLst>
      <p:ext uri="{BB962C8B-B14F-4D97-AF65-F5344CB8AC3E}">
        <p14:creationId xmlns:p14="http://schemas.microsoft.com/office/powerpoint/2010/main" val="1955443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 grpId="0" animBg="1"/>
    </p:bldLst>
  </p:timing>
</p:sld>
</file>

<file path=ppt/slides/slide3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0" name="Text box"/>
          <p:cNvSpPr>
            <a:spLocks noGrp="1"/>
          </p:cNvSpPr>
          <p:nvPr>
            <p:ph type="sldNum" idx="12"/>
          </p:nvPr>
        </p:nvSpPr>
        <p:spPr>
          <a:xfrm rot="0">
            <a:off x="5808662" y="6524626"/>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38</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01" name="Text box"/>
          <p:cNvSpPr>
            <a:spLocks noGrp="1"/>
          </p:cNvSpPr>
          <p:nvPr>
            <p:ph type="title"/>
          </p:nvPr>
        </p:nvSpPr>
        <p:spPr>
          <a:xfrm rot="0">
            <a:off x="3861816"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Quartile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02"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0" indent="0" algn="just" eaLnBrk="1" hangingPunct="1">
              <a:lnSpc>
                <a:spcPct val="15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1st, 2nd, and 3d quartiles are the 25th, 50th, and 75th percentiles, respectively.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eaLnBrk="1" hangingPunct="1">
              <a:lnSpc>
                <a:spcPct val="150000"/>
              </a:lnSpc>
              <a:spcBef>
                <a:spcPct val="2000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241948713"/>
      </p:ext>
    </p:extLst>
  </p:cSld>
  <p:clrMapOvr>
    <a:masterClrMapping/>
  </p:clrMapOvr>
</p:sld>
</file>

<file path=ppt/slides/slide3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3" name="Text box"/>
          <p:cNvSpPr>
            <a:spLocks noGrp="1"/>
          </p:cNvSpPr>
          <p:nvPr>
            <p:ph type="sldNum" idx="12"/>
          </p:nvPr>
        </p:nvSpPr>
        <p:spPr>
          <a:xfrm rot="0">
            <a:off x="5735638" y="6519863"/>
            <a:ext cx="576261"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39</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0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05" name="Images" descr="summaries3fig6"/>
          <p:cNvPicPr>
            <a:picLocks noChangeAspect="1"/>
          </p:cNvPicPr>
          <p:nvPr/>
        </p:nvPicPr>
        <p:blipFill>
          <a:blip r:embed="rId1" cstate="print"/>
          <a:srcRect t="16529" b="16181" l="12533" r="6824"/>
          <a:stretch>
            <a:fillRect/>
          </a:stretch>
        </p:blipFill>
        <p:spPr>
          <a:xfrm rot="0">
            <a:off x="4439816" y="2411730"/>
            <a:ext cx="5629380" cy="4041605"/>
          </a:xfrm>
          <a:prstGeom prst="rect"/>
          <a:noFill/>
          <a:ln w="12700" cmpd="sng" cap="flat">
            <a:noFill/>
            <a:prstDash val="solid"/>
            <a:round/>
          </a:ln>
        </p:spPr>
      </p:pic>
      <p:sp>
        <p:nvSpPr>
          <p:cNvPr id="306" name="Rectangles"/>
          <p:cNvSpPr>
            <a:spLocks/>
          </p:cNvSpPr>
          <p:nvPr/>
        </p:nvSpPr>
        <p:spPr>
          <a:xfrm rot="0">
            <a:off x="1992313" y="1484313"/>
            <a:ext cx="4465710" cy="138499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Q1 – 25</a:t>
            </a:r>
            <a:r>
              <a:rPr lang="en-US" altLang="zh-CN" sz="2800" b="0" i="0" u="none" strike="noStrike" kern="1200" cap="none" spc="0" baseline="30000">
                <a:solidFill>
                  <a:schemeClr val="tx1"/>
                </a:solidFill>
                <a:latin typeface="Calibri" pitchFamily="0" charset="0"/>
                <a:ea typeface="MS PGothic" pitchFamily="34" charset="-128"/>
                <a:cs typeface="Calibri" pitchFamily="0" charset="0"/>
              </a:rPr>
              <a:t>th</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percentile</a:t>
            </a: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Q2 – 50</a:t>
            </a:r>
            <a:r>
              <a:rPr lang="en-US" altLang="zh-CN" sz="2800" b="0" i="0" u="none" strike="noStrike" kern="1200" cap="none" spc="0" baseline="30000">
                <a:solidFill>
                  <a:schemeClr val="tx1"/>
                </a:solidFill>
                <a:latin typeface="Calibri" pitchFamily="0" charset="0"/>
                <a:ea typeface="MS PGothic" pitchFamily="34" charset="-128"/>
                <a:cs typeface="Calibri" pitchFamily="0" charset="0"/>
              </a:rPr>
              <a:t>th</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percentile (median)</a:t>
            </a:r>
            <a:endParaRPr lang="en-US" altLang="zh-CN" sz="2800" b="0" i="0" u="none" strike="noStrike" kern="1200" cap="none" spc="0" baseline="0">
              <a:solidFill>
                <a:schemeClr val="tx1"/>
              </a:solidFill>
              <a:latin typeface="Calibri" pitchFamily="0" charset="0"/>
              <a:ea typeface="MS PGothic" pitchFamily="34" charset="-128"/>
              <a:cs typeface="Calibri" pitchFamily="0" charset="0"/>
            </a:endParaRPr>
          </a:p>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Q3 – 75</a:t>
            </a:r>
            <a:r>
              <a:rPr lang="en-US" altLang="zh-CN" sz="2800" b="0" i="0" u="none" strike="noStrike" kern="1200" cap="none" spc="0" baseline="30000">
                <a:solidFill>
                  <a:schemeClr val="tx1"/>
                </a:solidFill>
                <a:latin typeface="Calibri" pitchFamily="0" charset="0"/>
                <a:ea typeface="MS PGothic" pitchFamily="34" charset="-128"/>
                <a:cs typeface="Calibri" pitchFamily="0" charset="0"/>
              </a:rPr>
              <a:t>th</a:t>
            </a:r>
            <a:r>
              <a:rPr lang="en-US" altLang="zh-CN" sz="2800" b="0" i="0" u="none" strike="noStrike" kern="1200" cap="none" spc="0" baseline="0">
                <a:solidFill>
                  <a:schemeClr val="tx1"/>
                </a:solidFill>
                <a:latin typeface="Calibri" pitchFamily="0" charset="0"/>
                <a:ea typeface="MS PGothic" pitchFamily="34" charset="-128"/>
                <a:cs typeface="Calibri" pitchFamily="0" charset="0"/>
              </a:rPr>
              <a:t> percentile</a:t>
            </a: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1349765936"/>
      </p:ext>
    </p:extLst>
  </p:cSld>
  <p:clrMapOvr>
    <a:masterClrMapping/>
  </p:clrMapOvr>
</p:sld>
</file>

<file path=ppt/slides/slide4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7"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40</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0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09" name="Images" descr="quartiles"/>
          <p:cNvPicPr>
            <a:picLocks noChangeAspect="1"/>
          </p:cNvPicPr>
          <p:nvPr/>
        </p:nvPicPr>
        <p:blipFill>
          <a:blip r:embed="rId1" cstate="print"/>
          <a:stretch>
            <a:fillRect/>
          </a:stretch>
        </p:blipFill>
        <p:spPr>
          <a:xfrm rot="0">
            <a:off x="1698946" y="1600200"/>
            <a:ext cx="8861551" cy="3686711"/>
          </a:xfrm>
          <a:prstGeom prst="rect"/>
          <a:noFill/>
          <a:ln w="12700" cmpd="sng" cap="flat">
            <a:noFill/>
            <a:prstDash val="solid"/>
            <a:round/>
          </a:ln>
        </p:spPr>
      </p:pic>
      <p:sp>
        <p:nvSpPr>
          <p:cNvPr id="310" name="Rectangles"/>
          <p:cNvSpPr>
            <a:spLocks/>
          </p:cNvSpPr>
          <p:nvPr/>
        </p:nvSpPr>
        <p:spPr>
          <a:xfrm rot="0">
            <a:off x="4295800" y="1295399"/>
            <a:ext cx="609461" cy="52321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Q1</a:t>
            </a: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p:sp>
        <p:nvSpPr>
          <p:cNvPr id="311" name="Rectangles"/>
          <p:cNvSpPr>
            <a:spLocks/>
          </p:cNvSpPr>
          <p:nvPr/>
        </p:nvSpPr>
        <p:spPr>
          <a:xfrm rot="0">
            <a:off x="6600056" y="1295399"/>
            <a:ext cx="609462" cy="52321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MS PGothic" pitchFamily="34" charset="-128"/>
                <a:cs typeface="Calibri" pitchFamily="0" charset="0"/>
              </a:rPr>
              <a:t>Q3</a:t>
            </a:r>
            <a:endParaRPr lang="zh-CN" altLang="en-US" sz="2800" b="0" i="0" u="none" strike="noStrike" kern="1200" cap="none" spc="0" baseline="0">
              <a:solidFill>
                <a:schemeClr val="tx1"/>
              </a:solidFill>
              <a:latin typeface="Calibri" pitchFamily="0" charset="0"/>
              <a:ea typeface="MS PGothic" pitchFamily="34" charset="-128"/>
              <a:cs typeface="Calibri" pitchFamily="0" charset="0"/>
            </a:endParaRPr>
          </a:p>
        </p:txBody>
      </p:sp>
      <p:sp>
        <p:nvSpPr>
          <p:cNvPr id="312" name="Rectangles"/>
          <p:cNvSpPr>
            <a:spLocks/>
          </p:cNvSpPr>
          <p:nvPr/>
        </p:nvSpPr>
        <p:spPr>
          <a:xfrm rot="0">
            <a:off x="2250689" y="5399781"/>
            <a:ext cx="3138360" cy="1077217"/>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Note: </a:t>
            </a:r>
            <a:endParaRPr lang="en-US" altLang="zh-CN" sz="16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Interquartile Range (IQR) = Q3 – Q1</a:t>
            </a:r>
            <a:endParaRPr lang="en-US" altLang="zh-CN" sz="16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Lower Limit: Q1 – 1.5✕IQR</a:t>
            </a:r>
            <a:endParaRPr lang="en-US" altLang="zh-CN" sz="16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Higher Limit: Q3 + 1.5✕IQR</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35542006"/>
      </p:ext>
    </p:extLst>
  </p:cSld>
  <p:clrMapOvr>
    <a:masterClrMapping/>
  </p:clrMapOvr>
</p:sld>
</file>

<file path=ppt/slides/slide4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3" name="Text box"/>
          <p:cNvSpPr>
            <a:spLocks noGrp="1"/>
          </p:cNvSpPr>
          <p:nvPr>
            <p:ph type="sldNum" idx="12"/>
          </p:nvPr>
        </p:nvSpPr>
        <p:spPr>
          <a:xfrm rot="0">
            <a:off x="5951538" y="6524626"/>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41</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14" name="Text box"/>
          <p:cNvSpPr>
            <a:spLocks noGrp="1"/>
          </p:cNvSpPr>
          <p:nvPr>
            <p:ph type="title"/>
          </p:nvPr>
        </p:nvSpPr>
        <p:spPr>
          <a:xfrm rot="0">
            <a:off x="1991544" y="269776"/>
            <a:ext cx="8229600" cy="1142999"/>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15" name="Images" descr="percentile_clip_image002"/>
          <p:cNvPicPr>
            <a:picLocks noChangeAspect="1"/>
          </p:cNvPicPr>
          <p:nvPr/>
        </p:nvPicPr>
        <p:blipFill>
          <a:blip r:embed="rId1" cstate="print"/>
          <a:stretch>
            <a:fillRect/>
          </a:stretch>
        </p:blipFill>
        <p:spPr>
          <a:xfrm rot="0">
            <a:off x="2667000" y="878379"/>
            <a:ext cx="6978910" cy="5709845"/>
          </a:xfrm>
          <a:prstGeom prst="rect"/>
          <a:noFill/>
          <a:ln w="12700" cmpd="sng" cap="flat">
            <a:noFill/>
            <a:prstDash val="solid"/>
            <a:round/>
          </a:ln>
        </p:spPr>
      </p:pic>
    </p:spTree>
    <p:extLst>
      <p:ext uri="{BB962C8B-B14F-4D97-AF65-F5344CB8AC3E}">
        <p14:creationId xmlns:p14="http://schemas.microsoft.com/office/powerpoint/2010/main" val="1615813024"/>
      </p:ext>
    </p:extLst>
  </p:cSld>
  <p:clrMapOvr>
    <a:masterClrMapping/>
  </p:clrMapOvr>
</p:sld>
</file>

<file path=ppt/slides/slide4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6"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42</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
        <p:nvSpPr>
          <p:cNvPr id="317" name="Text box"/>
          <p:cNvSpPr>
            <a:spLocks noGrp="1"/>
          </p:cNvSpPr>
          <p:nvPr>
            <p:ph type="title"/>
          </p:nvPr>
        </p:nvSpPr>
        <p:spPr>
          <a:xfrm rot="0">
            <a:off x="2639617" y="274639"/>
            <a:ext cx="6923087" cy="490537"/>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Exercise #5</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318" name="Text box"/>
          <p:cNvSpPr>
            <a:spLocks noGrp="1"/>
          </p:cNvSpPr>
          <p:nvPr>
            <p:ph type="body" idx="1"/>
          </p:nvPr>
        </p:nvSpPr>
        <p:spPr>
          <a:xfrm rot="0">
            <a:off x="1836739" y="2589214"/>
            <a:ext cx="8435975" cy="3863975"/>
          </a:xfrm>
          <a:prstGeom prst="rect"/>
          <a:noFill/>
          <a:ln w="12700" cmpd="sng" cap="flat">
            <a:noFill/>
            <a:prstDash val="solid"/>
            <a:round/>
          </a:ln>
        </p:spPr>
        <p:txBody>
          <a:bodyPr vert="horz" wrap="square" lIns="91440" tIns="45720" rIns="91440" bIns="45720" anchor="t" anchorCtr="0">
            <a:prstTxWarp prst="textNoShape"/>
          </a:bodyPr>
          <a:lstStyle/>
          <a:p>
            <a:pPr marL="457200" indent="-457200" algn="just" eaLnBrk="1" hangingPunct="1">
              <a:lnSpc>
                <a:spcPct val="100000"/>
              </a:lnSpc>
              <a:spcBef>
                <a:spcPct val="20000"/>
              </a:spcBef>
              <a:spcAft>
                <a:spcPts val="0"/>
              </a:spcAft>
              <a:buFontTx/>
              <a:buAutoNum type="alphaLcParenBoth"/>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Use the 18 sorted (left to right) weights of regular can drinks to find the percentile corresponding to the given value.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914400" indent="-514350" algn="just" eaLnBrk="1" hangingPunct="1">
              <a:lnSpc>
                <a:spcPct val="100000"/>
              </a:lnSpc>
              <a:spcBef>
                <a:spcPct val="20000"/>
              </a:spcBef>
              <a:spcAft>
                <a:spcPts val="0"/>
              </a:spcAft>
              <a:buClrTx/>
              <a:buAutoNum type="romanLcPeriod"/>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0.8143</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914400" indent="-514350" algn="just" eaLnBrk="1" hangingPunct="1">
              <a:lnSpc>
                <a:spcPct val="100000"/>
              </a:lnSpc>
              <a:spcBef>
                <a:spcPct val="20000"/>
              </a:spcBef>
              <a:spcAft>
                <a:spcPts val="0"/>
              </a:spcAft>
              <a:buClrTx/>
              <a:buAutoNum type="romanLcPeriod"/>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0.8062</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457200" indent="-457200" algn="just" eaLnBrk="1" hangingPunct="1">
              <a:lnSpc>
                <a:spcPct val="100000"/>
              </a:lnSpc>
              <a:spcBef>
                <a:spcPct val="20000"/>
              </a:spcBef>
              <a:spcAft>
                <a:spcPts val="0"/>
              </a:spcAft>
              <a:buFontTx/>
              <a:buAutoNum type="alphaLcParenBoth"/>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Find the indicated percentile and quartile.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914400" indent="-514350" algn="just" eaLnBrk="1" hangingPunct="1">
              <a:lnSpc>
                <a:spcPct val="100000"/>
              </a:lnSpc>
              <a:spcBef>
                <a:spcPct val="20000"/>
              </a:spcBef>
              <a:spcAft>
                <a:spcPts val="0"/>
              </a:spcAft>
              <a:buClrTx/>
              <a:buAutoNum type="romanLcPeriod"/>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P</a:t>
            </a:r>
            <a:r>
              <a:rPr lang="en-US" altLang="zh-CN" sz="2400" b="0" i="0" u="none" strike="noStrike" kern="1200" cap="none" spc="0" baseline="-25000">
                <a:solidFill>
                  <a:schemeClr val="tx1"/>
                </a:solidFill>
                <a:latin typeface="Calibri" pitchFamily="0" charset="0"/>
                <a:ea typeface="ＭＳ Ｐゴシック" pitchFamily="0" charset="-128"/>
                <a:cs typeface="Lucida Sans"/>
              </a:rPr>
              <a:t>80</a:t>
            </a:r>
            <a:endParaRPr lang="en-US" altLang="zh-CN" sz="2400" b="0" i="0" u="none" strike="noStrike" kern="1200" cap="none" spc="0" baseline="-25000">
              <a:solidFill>
                <a:schemeClr val="tx1"/>
              </a:solidFill>
              <a:latin typeface="Calibri" pitchFamily="0" charset="0"/>
              <a:ea typeface="ＭＳ Ｐゴシック" pitchFamily="0" charset="-128"/>
              <a:cs typeface="Lucida Sans"/>
            </a:endParaRPr>
          </a:p>
          <a:p>
            <a:pPr lvl="1" marL="914400" indent="-514350" algn="just" eaLnBrk="1" hangingPunct="1">
              <a:lnSpc>
                <a:spcPct val="100000"/>
              </a:lnSpc>
              <a:spcBef>
                <a:spcPct val="20000"/>
              </a:spcBef>
              <a:spcAft>
                <a:spcPts val="0"/>
              </a:spcAft>
              <a:buClrTx/>
              <a:buAutoNum type="romanLcPeriod"/>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Q</a:t>
            </a:r>
            <a:r>
              <a:rPr lang="en-US" altLang="zh-CN" sz="2400" b="0" i="0" u="none" strike="noStrike" kern="1200" cap="none" spc="0" baseline="-25000">
                <a:solidFill>
                  <a:schemeClr val="tx1"/>
                </a:solidFill>
                <a:latin typeface="Calibri" pitchFamily="0" charset="0"/>
                <a:ea typeface="ＭＳ Ｐゴシック" pitchFamily="0" charset="-128"/>
                <a:cs typeface="Lucida Sans"/>
              </a:rPr>
              <a:t>3</a:t>
            </a:r>
            <a:endParaRPr lang="en-US" altLang="zh-CN" sz="2400" b="0" i="0" u="none" strike="noStrike" kern="1200" cap="none" spc="0" baseline="-25000">
              <a:solidFill>
                <a:schemeClr val="tx1"/>
              </a:solidFill>
              <a:latin typeface="Calibri" pitchFamily="0" charset="0"/>
              <a:ea typeface="ＭＳ Ｐゴシック" pitchFamily="0" charset="-128"/>
              <a:cs typeface="Lucida Sans"/>
            </a:endParaRPr>
          </a:p>
          <a:p>
            <a:pPr lvl="1" marL="914400" indent="-514350" algn="just" eaLnBrk="1" hangingPunct="1">
              <a:lnSpc>
                <a:spcPct val="100000"/>
              </a:lnSpc>
              <a:spcBef>
                <a:spcPct val="20000"/>
              </a:spcBef>
              <a:spcAft>
                <a:spcPts val="0"/>
              </a:spcAft>
              <a:buClrTx/>
              <a:buAutoNum type="romanLcPeriod"/>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P</a:t>
            </a:r>
            <a:r>
              <a:rPr lang="en-US" altLang="zh-CN" sz="2400" b="0" i="0" u="none" strike="noStrike" kern="1200" cap="none" spc="0" baseline="-25000">
                <a:solidFill>
                  <a:schemeClr val="tx1"/>
                </a:solidFill>
                <a:latin typeface="Calibri" pitchFamily="0" charset="0"/>
                <a:ea typeface="ＭＳ Ｐゴシック" pitchFamily="0" charset="-128"/>
                <a:cs typeface="Lucida Sans"/>
              </a:rPr>
              <a:t>33</a:t>
            </a:r>
            <a:endParaRPr lang="en-US" altLang="zh-CN" sz="2400" b="0" i="0" u="none" strike="noStrike" kern="1200" cap="none" spc="0" baseline="-25000">
              <a:solidFill>
                <a:schemeClr val="tx1"/>
              </a:solidFill>
              <a:latin typeface="Calibri" pitchFamily="0" charset="0"/>
              <a:ea typeface="ＭＳ Ｐゴシック" pitchFamily="0" charset="-128"/>
              <a:cs typeface="Lucida Sans"/>
            </a:endParaRPr>
          </a:p>
          <a:p>
            <a:pPr lvl="1" marL="914400" indent="-514350" algn="just" eaLnBrk="1" hangingPunct="1">
              <a:lnSpc>
                <a:spcPct val="100000"/>
              </a:lnSpc>
              <a:spcBef>
                <a:spcPct val="20000"/>
              </a:spcBef>
              <a:spcAft>
                <a:spcPts val="0"/>
              </a:spcAft>
              <a:buClrTx/>
              <a:buAutoNum type="romanLcPeriod"/>
              <a:tabLst>
                <a:tab pos="446024" algn="l"/>
              </a:tabLst>
            </a:pPr>
            <a:r>
              <a:rPr lang="en-US" altLang="zh-CN" sz="2400" b="0" i="0" u="none" strike="noStrike" kern="1200" cap="none" spc="0" baseline="0">
                <a:solidFill>
                  <a:schemeClr val="tx1"/>
                </a:solidFill>
                <a:latin typeface="Calibri" pitchFamily="0" charset="0"/>
                <a:ea typeface="ＭＳ Ｐゴシック" pitchFamily="0" charset="-128"/>
                <a:cs typeface="Lucida Sans"/>
              </a:rPr>
              <a:t>Q</a:t>
            </a:r>
            <a:r>
              <a:rPr lang="en-US" altLang="zh-CN" sz="2400" b="0" i="0" u="none" strike="noStrike" kern="1200" cap="none" spc="0" baseline="-25000">
                <a:solidFill>
                  <a:schemeClr val="tx1"/>
                </a:solidFill>
                <a:latin typeface="Calibri" pitchFamily="0" charset="0"/>
                <a:ea typeface="ＭＳ Ｐゴシック" pitchFamily="0" charset="-128"/>
                <a:cs typeface="Lucida Sans"/>
              </a:rPr>
              <a:t>1</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319" name="Sheet"/>
          <p:cNvGraphicFramePr>
            <a:graphicFrameLocks noGrp="1"/>
          </p:cNvGraphicFramePr>
          <p:nvPr>
            <p:ph type="tbl"/>
            <p:extLst>
              <p:ext uri="{D42A27DB-BD31-4B8C-83A1-F6EECF244321}"/>
            </p:extLst>
          </p:nvPr>
        </p:nvGraphicFramePr>
        <p:xfrm>
          <a:off x="2759598" y="1052736"/>
          <a:ext cx="7008810" cy="1371648"/>
        </p:xfrm>
        <a:graphic>
          <a:graphicData uri="http://schemas.openxmlformats.org/drawingml/2006/table">
            <a:tbl>
              <a:tblPr bandRow="1">
                <a:noFill/>
              </a:tblPr>
              <a:tblGrid>
                <a:gridCol w="1168133"/>
                <a:gridCol w="1168133"/>
                <a:gridCol w="1168133"/>
                <a:gridCol w="1168133"/>
                <a:gridCol w="1168133"/>
                <a:gridCol w="1168133"/>
              </a:tblGrid>
              <a:tr h="457193">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0.7901</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0.8044</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0.8062</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0.8073</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0.8079</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0.8110</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r>
              <a:tr h="457193">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0.8126</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0.8128</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0.8143</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0.8150</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0.8150</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0.8152</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r>
              <a:tr h="457193">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0.8152</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0.8161</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0.8161</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0.8163</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0.8165</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c>
                  <a:txBody>
                    <a:bodyPr/>
                    <a:lstStyle/>
                    <a:p>
                      <a:pPr marL="0" indent="0" algn="ctr" eaLnBrk="1" latinLnBrk="0" hangingPunct="1">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0.8170</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a:noFill/>
                    </a:lnL>
                    <a:lnR>
                      <a:noFill/>
                    </a:lnR>
                    <a:lnT>
                      <a:noFill/>
                    </a:lnT>
                    <a:lnB>
                      <a:noFill/>
                    </a:lnB>
                  </a:tcPr>
                </a:tc>
              </a:tr>
            </a:tbl>
          </a:graphicData>
        </a:graphic>
      </p:graphicFrame>
    </p:spTree>
    <p:extLst>
      <p:ext uri="{BB962C8B-B14F-4D97-AF65-F5344CB8AC3E}">
        <p14:creationId xmlns:p14="http://schemas.microsoft.com/office/powerpoint/2010/main" val="496778243"/>
      </p:ext>
    </p:extLst>
  </p:cSld>
  <p:clrMapOvr>
    <a:masterClrMapping/>
  </p:clrMapOvr>
</p:sld>
</file>

<file path=ppt/slides/slide4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3" name="Rectangles"/>
          <p:cNvSpPr>
            <a:spLocks/>
          </p:cNvSpPr>
          <p:nvPr/>
        </p:nvSpPr>
        <p:spPr>
          <a:xfrm rot="0">
            <a:off x="3276600" y="1981201"/>
            <a:ext cx="5890907" cy="2585323"/>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eaLnBrk="1" hangingPunct="1">
              <a:lnSpc>
                <a:spcPct val="100000"/>
              </a:lnSpc>
              <a:spcBef>
                <a:spcPts val="0"/>
              </a:spcBef>
              <a:spcAft>
                <a:spcPts val="0"/>
              </a:spcAft>
              <a:buNone/>
            </a:pPr>
            <a:r>
              <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rPr>
              <a:t>Measures </a:t>
            </a:r>
            <a:endPar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endParaRPr>
          </a:p>
          <a:p>
            <a:pPr marL="0" indent="0" algn="ctr" eaLnBrk="1" hangingPunct="1">
              <a:lnSpc>
                <a:spcPct val="100000"/>
              </a:lnSpc>
              <a:spcBef>
                <a:spcPts val="0"/>
              </a:spcBef>
              <a:spcAft>
                <a:spcPts val="0"/>
              </a:spcAft>
              <a:buNone/>
            </a:pPr>
            <a:r>
              <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rPr>
              <a:t>of </a:t>
            </a:r>
            <a:endPar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endParaRPr>
          </a:p>
          <a:p>
            <a:pPr marL="0" indent="0" algn="ctr" eaLnBrk="1" hangingPunct="1">
              <a:lnSpc>
                <a:spcPct val="100000"/>
              </a:lnSpc>
              <a:spcBef>
                <a:spcPts val="0"/>
              </a:spcBef>
              <a:spcAft>
                <a:spcPts val="0"/>
              </a:spcAft>
              <a:buNone/>
            </a:pPr>
            <a:r>
              <a:rPr lang="en-US" altLang="zh-CN"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rPr>
              <a:t>Dispersion &amp; Shape</a:t>
            </a:r>
            <a:endParaRPr lang="zh-CN" altLang="en-US" sz="5400" b="1" i="0" u="none" strike="noStrike" kern="1200" cap="none" spc="50" baseline="0">
              <a:gradFill>
                <a:gsLst>
                  <a:gs pos="25000">
                    <a:srgbClr val="E0322D"/>
                  </a:gs>
                  <a:gs pos="100000">
                    <a:srgbClr val="A01C18"/>
                  </a:gs>
                </a:gsLst>
                <a:lin ang="5400000" scaled="0"/>
              </a:gradFill>
              <a:effectLst>
                <a:outerShdw sx="100000" sy="100000" blurRad="76200" dir="5400000" dist="50800" algn="tl">
                  <a:srgbClr val="000000">
                    <a:alpha val="65000"/>
                  </a:srgbClr>
                </a:outerShdw>
              </a:effectLst>
              <a:latin typeface="Calibri" pitchFamily="0" charset="0"/>
              <a:ea typeface="ＭＳ Ｐゴシック" pitchFamily="0" charset="-128"/>
              <a:cs typeface="ＭＳ Ｐゴシック" pitchFamily="0" charset="-128"/>
            </a:endParaRPr>
          </a:p>
        </p:txBody>
      </p:sp>
      <p:sp>
        <p:nvSpPr>
          <p:cNvPr id="324" name="Text box"/>
          <p:cNvSpPr>
            <a:spLocks noGrp="1"/>
          </p:cNvSpPr>
          <p:nvPr>
            <p:ph type="sldNum" idx="12"/>
          </p:nvPr>
        </p:nvSpPr>
        <p:spPr>
          <a:xfrm rot="0">
            <a:off x="5808664" y="6519863"/>
            <a:ext cx="466724"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FFFFFF"/>
                </a:solidFill>
                <a:latin typeface="Calibri" pitchFamily="0" charset="0"/>
                <a:ea typeface="MS PGothic" pitchFamily="34" charset="-128"/>
                <a:cs typeface="Calibri" pitchFamily="0" charset="0"/>
              </a:rPr>
              <a:t>43</a:t>
            </a:fld>
            <a:endParaRPr lang="zh-CN" altLang="en-US" sz="1200" b="0" i="0" u="none" strike="noStrike" kern="1200" cap="none" spc="0" baseline="0">
              <a:solidFill>
                <a:srgbClr val="FFFFFF"/>
              </a:solidFill>
              <a:latin typeface="Calibri" pitchFamily="0" charset="0"/>
              <a:ea typeface="MS PGothic" pitchFamily="34" charset="-128"/>
              <a:cs typeface="Calibri" pitchFamily="0" charset="0"/>
            </a:endParaRPr>
          </a:p>
        </p:txBody>
      </p:sp>
    </p:spTree>
    <p:extLst>
      <p:ext uri="{BB962C8B-B14F-4D97-AF65-F5344CB8AC3E}">
        <p14:creationId xmlns:p14="http://schemas.microsoft.com/office/powerpoint/2010/main" val="36718987"/>
      </p:ext>
    </p:extLst>
  </p:cSld>
  <p:clrMapOvr>
    <a:masterClrMapping/>
  </p:clrMapOvr>
</p:sld>
</file>

<file path=ppt/slides/slide4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5" name="Text box"/>
          <p:cNvSpPr>
            <a:spLocks noGrp="1"/>
          </p:cNvSpPr>
          <p:nvPr>
            <p:ph type="sldNum" idx="12"/>
          </p:nvPr>
        </p:nvSpPr>
        <p:spPr>
          <a:xfrm rot="0">
            <a:off x="5951538" y="6519863"/>
            <a:ext cx="360362"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44</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26" name="Text box"/>
          <p:cNvSpPr>
            <a:spLocks noGrp="1"/>
          </p:cNvSpPr>
          <p:nvPr>
            <p:ph type="title"/>
          </p:nvPr>
        </p:nvSpPr>
        <p:spPr>
          <a:xfrm rot="0">
            <a:off x="3886200"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Measures of Dispersion</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7" name="Text box"/>
          <p:cNvSpPr>
            <a:spLocks noGrp="1"/>
          </p:cNvSpPr>
          <p:nvPr>
            <p:ph type="body" idx="1"/>
          </p:nvPr>
        </p:nvSpPr>
        <p:spPr>
          <a:xfrm rot="0">
            <a:off x="1981200" y="2060848"/>
            <a:ext cx="8229600" cy="417644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Measures of dispersion measure how spread out a set of data is.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1" i="0" u="none" strike="noStrike" kern="1200" cap="none" spc="0" baseline="0">
                <a:solidFill>
                  <a:schemeClr val="tx1"/>
                </a:solidFill>
                <a:latin typeface="Calibri" pitchFamily="0" charset="0"/>
                <a:ea typeface="ＭＳ Ｐゴシック" pitchFamily="0" charset="-128"/>
                <a:cs typeface="Lucida Sans"/>
              </a:rPr>
              <a:t>Range, variance, standard deviation</a:t>
            </a:r>
            <a:endParaRPr lang="zh-CN" altLang="en-US" sz="2800" b="1"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892836395"/>
      </p:ext>
    </p:extLst>
  </p:cSld>
  <p:clrMapOvr>
    <a:masterClrMapping/>
  </p:clrMapOvr>
</p:sld>
</file>

<file path=ppt/slides/slide4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8" name="Text box"/>
          <p:cNvSpPr>
            <a:spLocks noGrp="1"/>
          </p:cNvSpPr>
          <p:nvPr>
            <p:ph type="sldNum" idx="12"/>
          </p:nvPr>
        </p:nvSpPr>
        <p:spPr>
          <a:xfrm rot="0">
            <a:off x="5880100" y="6524626"/>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45</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29" name="Text box"/>
          <p:cNvSpPr>
            <a:spLocks noGrp="1"/>
          </p:cNvSpPr>
          <p:nvPr>
            <p:ph type="title"/>
          </p:nvPr>
        </p:nvSpPr>
        <p:spPr>
          <a:xfrm rot="0">
            <a:off x="3861816"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Range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30"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range</a:t>
            </a:r>
            <a:r>
              <a:rPr lang="en-US" altLang="zh-CN" sz="2800" b="0" i="0" u="none" strike="noStrike" kern="1200" cap="none" spc="0" baseline="0">
                <a:solidFill>
                  <a:schemeClr val="tx1"/>
                </a:solidFill>
                <a:latin typeface="Calibri" pitchFamily="0" charset="0"/>
                <a:ea typeface="ＭＳ Ｐゴシック" pitchFamily="0" charset="-128"/>
                <a:cs typeface="Lucida Sans"/>
              </a:rPr>
              <a:t> is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largest number</a:t>
            </a:r>
            <a:r>
              <a:rPr lang="en-US" altLang="zh-CN" sz="2800" b="0" i="0" u="none" strike="noStrike" kern="1200" cap="none" spc="0" baseline="0">
                <a:solidFill>
                  <a:schemeClr val="tx1"/>
                </a:solidFill>
                <a:latin typeface="Calibri" pitchFamily="0" charset="0"/>
                <a:ea typeface="ＭＳ Ｐゴシック" pitchFamily="0" charset="-128"/>
                <a:cs typeface="Lucida Sans"/>
              </a:rPr>
              <a:t> in a set </a:t>
            </a:r>
            <a:r>
              <a:rPr lang="en-US" altLang="zh-CN" sz="2800" b="1" i="0" u="none" strike="noStrike" kern="1200" cap="none" spc="0" baseline="0">
                <a:solidFill>
                  <a:schemeClr val="tx1"/>
                </a:solidFill>
                <a:latin typeface="Calibri" pitchFamily="0" charset="0"/>
                <a:ea typeface="ＭＳ Ｐゴシック" pitchFamily="0" charset="-128"/>
                <a:cs typeface="Lucida Sans"/>
              </a:rPr>
              <a:t>minus</a:t>
            </a:r>
            <a:r>
              <a:rPr lang="en-US" altLang="zh-CN" sz="2800" b="0" i="0" u="none" strike="noStrike" kern="1200" cap="none" spc="0" baseline="0">
                <a:solidFill>
                  <a:schemeClr val="tx1"/>
                </a:solidFill>
                <a:latin typeface="Calibri" pitchFamily="0" charset="0"/>
                <a:ea typeface="ＭＳ Ｐゴシック" pitchFamily="0" charset="-128"/>
                <a:cs typeface="Lucida Sans"/>
              </a:rPr>
              <a:t>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smallest number</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Example: </a:t>
            </a:r>
            <a:r>
              <a:rPr lang="en-US" altLang="zh-CN" sz="2800" b="1" i="0" u="none" strike="noStrike" kern="1200" cap="none" spc="0" baseline="0">
                <a:solidFill>
                  <a:schemeClr val="tx1"/>
                </a:solidFill>
                <a:latin typeface="Calibri" pitchFamily="0" charset="0"/>
                <a:ea typeface="ＭＳ Ｐゴシック" pitchFamily="0" charset="-128"/>
                <a:cs typeface="Lucida Sans"/>
              </a:rPr>
              <a:t>13, 18, 13, 14, 13, 16, 14, 21, 13</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The largest value in the list is 21,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and the smallest is 13,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	so,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range</a:t>
            </a:r>
            <a:r>
              <a:rPr lang="en-US" altLang="zh-CN" sz="2800" b="0" i="0" u="none" strike="noStrike" kern="1200" cap="none" spc="0" baseline="0">
                <a:solidFill>
                  <a:schemeClr val="tx1"/>
                </a:solidFill>
                <a:latin typeface="Calibri" pitchFamily="0" charset="0"/>
                <a:ea typeface="ＭＳ Ｐゴシック" pitchFamily="0" charset="-128"/>
                <a:cs typeface="Lucida Sans"/>
              </a:rPr>
              <a:t> is </a:t>
            </a:r>
            <a:r>
              <a:rPr lang="en-US" altLang="zh-CN" sz="2800" b="1" i="0" u="none" strike="noStrike" kern="1200" cap="none" spc="0" baseline="0">
                <a:solidFill>
                  <a:schemeClr val="tx1"/>
                </a:solidFill>
                <a:latin typeface="Calibri" pitchFamily="0" charset="0"/>
                <a:ea typeface="ＭＳ Ｐゴシック" pitchFamily="0" charset="-128"/>
                <a:cs typeface="Lucida Sans"/>
              </a:rPr>
              <a:t>21 – 13 = 8</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450679530"/>
      </p:ext>
    </p:extLst>
  </p:cSld>
  <p:clrMapOvr>
    <a:masterClrMapping/>
  </p:clrMapOvr>
</p:sld>
</file>

<file path=ppt/slides/slide4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1" name="Text box"/>
          <p:cNvSpPr>
            <a:spLocks noGrp="1"/>
          </p:cNvSpPr>
          <p:nvPr>
            <p:ph type="sldNum" idx="12"/>
          </p:nvPr>
        </p:nvSpPr>
        <p:spPr>
          <a:xfrm rot="0">
            <a:off x="5880100"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46</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32" name="Text box"/>
          <p:cNvSpPr>
            <a:spLocks noGrp="1"/>
          </p:cNvSpPr>
          <p:nvPr>
            <p:ph type="title"/>
          </p:nvPr>
        </p:nvSpPr>
        <p:spPr>
          <a:xfrm rot="0">
            <a:off x="3861816"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Variance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3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A measure of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dispersion of a set of data points around their mean value</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It is a mathematical expectation of the average squared deviations from the mean.</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low variance: data points are close to mean (consistent)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high variance: data points are far from mean and each other (inconsistent)</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604403465"/>
      </p:ext>
    </p:extLst>
  </p:cSld>
  <p:clrMapOvr>
    <a:masterClrMapping/>
  </p:clrMapOvr>
</p:sld>
</file>

<file path=ppt/slides/slide4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4" name="Text box"/>
          <p:cNvSpPr>
            <a:spLocks noGrp="1"/>
          </p:cNvSpPr>
          <p:nvPr>
            <p:ph type="sldNum" idx="12"/>
          </p:nvPr>
        </p:nvSpPr>
        <p:spPr>
          <a:xfrm rot="0">
            <a:off x="5591175" y="6524626"/>
            <a:ext cx="720725"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47</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35" name="Text box"/>
          <p:cNvSpPr>
            <a:spLocks noGrp="1"/>
          </p:cNvSpPr>
          <p:nvPr>
            <p:ph type="body" idx="1"/>
          </p:nvPr>
        </p:nvSpPr>
        <p:spPr>
          <a:xfrm rot="0">
            <a:off x="2114872" y="2143126"/>
            <a:ext cx="82296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Sample variance: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Population variance:</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336" name="Object"/>
          <p:cNvGraphicFramePr>
            <a:graphicFrameLocks noChangeAspect="1"/>
          </p:cNvGraphicFramePr>
          <p:nvPr/>
        </p:nvGraphicFramePr>
        <p:xfrm>
          <a:off x="5568950" y="1557337"/>
          <a:ext cx="2736850" cy="1643062"/>
        </p:xfrm>
        <a:graphic>
          <a:graphicData uri="http://schemas.openxmlformats.org/presentationml/2006/ole">
            <mc:AlternateContent xmlns:mc="http://schemas.openxmlformats.org/markup-compatibility/2006">
              <mc:Choice xmlns:v="urn:schemas-microsoft-com:vml" Requires="v">
                <p:oleObj spid="" name="package" r:id="rId1" imgW="32512000" imgH="19507200" progId="package">
                  <p:embed/>
                </p:oleObj>
              </mc:Choice>
              <mc:Fallback>
                <p:oleObj name="package" r:id="rId1" imgW="32512000" imgH="19507200" progId="package">
                  <p:embed/>
                  <p:pic>
                    <p:nvPicPr>
                      <p:cNvPr id="336" name="Object"/>
                      <p:cNvPicPr>
                        <a:picLocks noChangeAspect="1"/>
                      </p:cNvPicPr>
                      <p:nvPr/>
                    </p:nvPicPr>
                    <p:blipFill>
                      <a:blip r:embed="rId2" cstate="print"/>
                      <a:stretch>
                        <a:fillRect/>
                      </a:stretch>
                    </p:blipFill>
                    <p:spPr>
                      <a:xfrm rot="0">
                        <a:off x="5568950" y="1557337"/>
                        <a:ext cx="2736850" cy="1643062"/>
                      </a:xfrm>
                      <a:prstGeom prst="rect"/>
                      <a:noFill/>
                      <a:ln cmpd="sng" cap="flat">
                        <a:noFill/>
                        <a:prstDash val="solid"/>
                        <a:miter/>
                      </a:ln>
                    </p:spPr>
                  </p:pic>
                </p:oleObj>
              </mc:Fallback>
            </mc:AlternateContent>
          </a:graphicData>
        </a:graphic>
      </p:graphicFrame>
      <p:graphicFrame>
        <p:nvGraphicFramePr>
          <p:cNvPr id="337" name="Object"/>
          <p:cNvGraphicFramePr>
            <a:graphicFrameLocks noChangeAspect="1"/>
          </p:cNvGraphicFramePr>
          <p:nvPr/>
        </p:nvGraphicFramePr>
        <p:xfrm>
          <a:off x="5708650" y="3956050"/>
          <a:ext cx="2536825" cy="1417637"/>
        </p:xfrm>
        <a:graphic>
          <a:graphicData uri="http://schemas.openxmlformats.org/presentationml/2006/ole">
            <mc:AlternateContent xmlns:mc="http://schemas.openxmlformats.org/markup-compatibility/2006">
              <mc:Choice xmlns:v="urn:schemas-microsoft-com:vml" Requires="v">
                <p:oleObj spid="" name="package" r:id="rId3" imgW="34950400" imgH="19507200" progId="package">
                  <p:embed/>
                </p:oleObj>
              </mc:Choice>
              <mc:Fallback>
                <p:oleObj name="package" r:id="rId3" imgW="34950400" imgH="19507200" progId="package">
                  <p:embed/>
                  <p:pic>
                    <p:nvPicPr>
                      <p:cNvPr id="337" name="Object"/>
                      <p:cNvPicPr>
                        <a:picLocks noChangeAspect="1"/>
                      </p:cNvPicPr>
                      <p:nvPr/>
                    </p:nvPicPr>
                    <p:blipFill>
                      <a:blip r:embed="rId4" cstate="print"/>
                      <a:stretch>
                        <a:fillRect/>
                      </a:stretch>
                    </p:blipFill>
                    <p:spPr>
                      <a:xfrm rot="0">
                        <a:off x="5708650" y="3956050"/>
                        <a:ext cx="2536825" cy="1417637"/>
                      </a:xfrm>
                      <a:prstGeom prst="rect"/>
                      <a:noFill/>
                      <a:ln cmpd="sng" cap="flat">
                        <a:noFill/>
                        <a:prstDash val="solid"/>
                        <a:miter/>
                      </a:ln>
                    </p:spPr>
                  </p:pic>
                </p:oleObj>
              </mc:Fallback>
            </mc:AlternateContent>
          </a:graphicData>
        </a:graphic>
      </p:graphicFrame>
    </p:spTree>
    <p:extLst>
      <p:ext uri="{BB962C8B-B14F-4D97-AF65-F5344CB8AC3E}">
        <p14:creationId xmlns:p14="http://schemas.microsoft.com/office/powerpoint/2010/main" val="1500000107"/>
      </p:ext>
    </p:extLst>
  </p:cSld>
  <p:clrMapOvr>
    <a:masterClrMapping/>
  </p:clrMapOvr>
</p:sld>
</file>

<file path=ppt/slides/slide4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8" name="Text box"/>
          <p:cNvSpPr>
            <a:spLocks noGrp="1"/>
          </p:cNvSpPr>
          <p:nvPr>
            <p:ph type="sldNum" idx="12"/>
          </p:nvPr>
        </p:nvSpPr>
        <p:spPr>
          <a:xfrm rot="0">
            <a:off x="5664200" y="6519863"/>
            <a:ext cx="6477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48</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39" name="Text box"/>
          <p:cNvSpPr>
            <a:spLocks noGrp="1"/>
          </p:cNvSpPr>
          <p:nvPr>
            <p:ph type="title"/>
          </p:nvPr>
        </p:nvSpPr>
        <p:spPr>
          <a:xfrm rot="0">
            <a:off x="3861816"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Standard Deviation</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40"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A statistic is used as a measure of the dispersion or variation in a distribution, equal to the square root of the arithmetic mean of the squares of the deviations from the arithmetic mean.</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It is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square root of the variance</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051316963"/>
      </p:ext>
    </p:extLst>
  </p:cSld>
  <p:clrMapOvr>
    <a:masterClrMapping/>
  </p:clrMapOvr>
</p:sld>
</file>

<file path=ppt/slides/slide4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41" name="Text box"/>
          <p:cNvSpPr>
            <a:spLocks noGrp="1"/>
          </p:cNvSpPr>
          <p:nvPr>
            <p:ph type="title"/>
          </p:nvPr>
        </p:nvSpPr>
        <p:spPr>
          <a:xfrm rot="0">
            <a:off x="2773190" y="274639"/>
            <a:ext cx="6707187" cy="706437"/>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Exercise #6</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342" name="Text box"/>
          <p:cNvSpPr>
            <a:spLocks noGrp="1"/>
          </p:cNvSpPr>
          <p:nvPr>
            <p:ph type="body" idx="1"/>
          </p:nvPr>
        </p:nvSpPr>
        <p:spPr>
          <a:xfrm rot="0">
            <a:off x="1774824" y="1268413"/>
            <a:ext cx="8642350" cy="5040312"/>
          </a:xfrm>
          <a:prstGeom prst="rect"/>
          <a:noFill/>
          <a:ln w="12700" cmpd="sng" cap="flat">
            <a:noFill/>
            <a:prstDash val="solid"/>
            <a:round/>
          </a:ln>
        </p:spPr>
        <p:txBody>
          <a:bodyPr vert="horz" wrap="square" lIns="91440" tIns="45720" rIns="91440" bIns="45720" anchor="t" anchorCtr="0">
            <a:prstTxWarp prst="textNoShape"/>
          </a:bodyPr>
          <a:lstStyle/>
          <a:p>
            <a:pPr marL="0" indent="0" algn="just">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Bailey has been playing golf on the weekends for the past three years. Recently, she started keeping track of her recorded scores. Her scores for June and July at her favorites 9-hole (par 36) golf course are provided below:</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a:lnSpc>
                <a:spcPct val="100000"/>
              </a:lnSpc>
              <a:spcBef>
                <a:spcPct val="20000"/>
              </a:spcBef>
              <a:spcAft>
                <a:spcPts val="0"/>
              </a:spcAft>
              <a:buNone/>
            </a:pPr>
            <a:endParaRPr lang="en-US" altLang="zh-CN" sz="3200" b="1" i="0" u="none" strike="noStrike" kern="1200" cap="none" spc="0" baseline="0">
              <a:solidFill>
                <a:schemeClr val="tx1"/>
              </a:solidFill>
              <a:latin typeface="Calibri" pitchFamily="0" charset="0"/>
              <a:ea typeface="ＭＳ Ｐゴシック" pitchFamily="0" charset="-128"/>
              <a:cs typeface="Lucida Sans"/>
            </a:endParaRPr>
          </a:p>
          <a:p>
            <a:pPr marL="0" indent="0" algn="ctr">
              <a:lnSpc>
                <a:spcPct val="100000"/>
              </a:lnSpc>
              <a:spcBef>
                <a:spcPct val="20000"/>
              </a:spcBef>
              <a:spcAft>
                <a:spcPts val="0"/>
              </a:spcAft>
              <a:buNone/>
            </a:pPr>
            <a:r>
              <a:rPr lang="en-US" altLang="zh-CN" sz="3200" b="1" i="0" u="none" strike="noStrike" kern="1200" cap="none" spc="0" baseline="0">
                <a:solidFill>
                  <a:schemeClr val="tx1"/>
                </a:solidFill>
                <a:latin typeface="Calibri" pitchFamily="0" charset="0"/>
                <a:ea typeface="ＭＳ Ｐゴシック" pitchFamily="0" charset="-128"/>
                <a:cs typeface="Lucida Sans"/>
              </a:rPr>
              <a:t>45 49  42  56  41  36  34  38  41   45  40   42  41  39  38  40  39  36  41</a:t>
            </a:r>
            <a:endParaRPr lang="en-US" altLang="zh-CN" sz="3200" b="1" i="0" u="none" strike="noStrike" kern="1200" cap="none" spc="0" baseline="0">
              <a:solidFill>
                <a:schemeClr val="tx1"/>
              </a:solidFill>
              <a:latin typeface="Calibri" pitchFamily="0" charset="0"/>
              <a:ea typeface="ＭＳ Ｐゴシック" pitchFamily="0" charset="-128"/>
              <a:cs typeface="Lucida Sans"/>
            </a:endParaRPr>
          </a:p>
          <a:p>
            <a:pPr marL="0" indent="0" algn="just">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0" indent="0" algn="just">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Find the Range, Variance, and Standard Deviation for the above data.</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343"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49</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Tree>
    <p:extLst>
      <p:ext uri="{BB962C8B-B14F-4D97-AF65-F5344CB8AC3E}">
        <p14:creationId xmlns:p14="http://schemas.microsoft.com/office/powerpoint/2010/main" val="1844712349"/>
      </p:ext>
    </p:extLst>
  </p:cSld>
  <p:clrMapOvr>
    <a:masterClrMapping/>
  </p:clrMapOvr>
</p:sld>
</file>

<file path=ppt/slides/slide5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44" name="Text box"/>
          <p:cNvSpPr>
            <a:spLocks noGrp="1"/>
          </p:cNvSpPr>
          <p:nvPr>
            <p:ph type="sldNum" idx="12"/>
          </p:nvPr>
        </p:nvSpPr>
        <p:spPr>
          <a:xfrm rot="0">
            <a:off x="5951539" y="6519863"/>
            <a:ext cx="504824"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50</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45" name="Text box"/>
          <p:cNvSpPr>
            <a:spLocks noGrp="1"/>
          </p:cNvSpPr>
          <p:nvPr>
            <p:ph type="title"/>
          </p:nvPr>
        </p:nvSpPr>
        <p:spPr>
          <a:xfrm rot="0">
            <a:off x="3861816"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Measures of Shape</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46"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a:lnSpc>
                <a:spcPct val="100000"/>
              </a:lnSpc>
              <a:spcBef>
                <a:spcPct val="20000"/>
              </a:spcBef>
              <a:spcAft>
                <a:spcPts val="300"/>
              </a:spcAft>
              <a:buFont typeface="Arial" pitchFamily="0" charset="0"/>
              <a:buChar char="•"/>
            </a:pPr>
            <a:r>
              <a:rPr lang="en-US" altLang="zh-CN" sz="2400" b="1" i="0" u="none" strike="noStrike" kern="1200" cap="none" spc="0" baseline="0">
                <a:solidFill>
                  <a:srgbClr val="404040"/>
                </a:solidFill>
                <a:latin typeface="DeepSeek-CJK-patch" pitchFamily="0" charset="0"/>
                <a:ea typeface="ＭＳ Ｐゴシック" pitchFamily="0" charset="-128"/>
                <a:cs typeface="Lucida Sans"/>
              </a:rPr>
              <a:t>Skewness</a:t>
            </a:r>
            <a:r>
              <a:rPr lang="en-US" altLang="zh-CN" sz="24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24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2400" b="1" i="0" u="none" strike="noStrike" kern="1200" cap="none" spc="0" baseline="0">
                <a:solidFill>
                  <a:srgbClr val="404040"/>
                </a:solidFill>
                <a:latin typeface="DeepSeek-CJK-patch" pitchFamily="0" charset="0"/>
                <a:ea typeface="ＭＳ Ｐゴシック" pitchFamily="0" charset="-128"/>
                <a:cs typeface="Lucida Sans"/>
              </a:rPr>
              <a:t>Positive skew</a:t>
            </a:r>
            <a:r>
              <a:rPr lang="en-US" altLang="zh-CN" sz="2400" b="0" i="0" u="none" strike="noStrike" kern="1200" cap="none" spc="0" baseline="0">
                <a:solidFill>
                  <a:srgbClr val="404040"/>
                </a:solidFill>
                <a:latin typeface="DeepSeek-CJK-patch" pitchFamily="0" charset="0"/>
                <a:ea typeface="ＭＳ Ｐゴシック" pitchFamily="0" charset="-128"/>
                <a:cs typeface="Lucida Sans"/>
              </a:rPr>
              <a:t>: Income distribution (few high earners drag mean &gt; median).</a:t>
            </a:r>
            <a:endParaRPr lang="en-US" altLang="zh-CN" sz="24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2400" b="1" i="0" u="none" strike="noStrike" kern="1200" cap="none" spc="0" baseline="0">
                <a:solidFill>
                  <a:srgbClr val="404040"/>
                </a:solidFill>
                <a:latin typeface="DeepSeek-CJK-patch" pitchFamily="0" charset="0"/>
                <a:ea typeface="ＭＳ Ｐゴシック" pitchFamily="0" charset="-128"/>
                <a:cs typeface="Lucida Sans"/>
              </a:rPr>
              <a:t>Negative skew</a:t>
            </a:r>
            <a:r>
              <a:rPr lang="en-US" altLang="zh-CN" sz="2400" b="0" i="0" u="none" strike="noStrike" kern="1200" cap="none" spc="0" baseline="0">
                <a:solidFill>
                  <a:srgbClr val="404040"/>
                </a:solidFill>
                <a:latin typeface="DeepSeek-CJK-patch" pitchFamily="0" charset="0"/>
                <a:ea typeface="ＭＳ Ｐゴシック" pitchFamily="0" charset="-128"/>
                <a:cs typeface="Lucida Sans"/>
              </a:rPr>
              <a:t>: Age at retirement (most retire early, few very late).</a:t>
            </a:r>
            <a:endParaRPr lang="en-US" altLang="zh-CN" sz="24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ts val="300"/>
              </a:spcBef>
              <a:spcAft>
                <a:spcPts val="300"/>
              </a:spcAft>
              <a:buFont typeface="Arial" pitchFamily="0" charset="0"/>
              <a:buChar char="•"/>
            </a:pPr>
            <a:r>
              <a:rPr lang="en-US" altLang="zh-CN" sz="2400" b="1" i="0" u="none" strike="noStrike" kern="1200" cap="none" spc="0" baseline="0">
                <a:solidFill>
                  <a:srgbClr val="404040"/>
                </a:solidFill>
                <a:latin typeface="DeepSeek-CJK-patch" pitchFamily="0" charset="0"/>
                <a:ea typeface="ＭＳ Ｐゴシック" pitchFamily="0" charset="-128"/>
                <a:cs typeface="Lucida Sans"/>
              </a:rPr>
              <a:t>Kurtosis</a:t>
            </a:r>
            <a:r>
              <a:rPr lang="en-US" altLang="zh-CN" sz="24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24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2400" b="1" i="0" u="none" strike="noStrike" kern="1200" cap="none" spc="0" baseline="0">
                <a:solidFill>
                  <a:srgbClr val="404040"/>
                </a:solidFill>
                <a:latin typeface="DeepSeek-CJK-patch" pitchFamily="0" charset="0"/>
                <a:ea typeface="ＭＳ Ｐゴシック" pitchFamily="0" charset="-128"/>
                <a:cs typeface="Lucida Sans"/>
              </a:rPr>
              <a:t>High kurtosis (Leptokurtic)</a:t>
            </a:r>
            <a:r>
              <a:rPr lang="en-US" altLang="zh-CN" sz="2400" b="0" i="0" u="none" strike="noStrike" kern="1200" cap="none" spc="0" baseline="0">
                <a:solidFill>
                  <a:srgbClr val="404040"/>
                </a:solidFill>
                <a:latin typeface="DeepSeek-CJK-patch" pitchFamily="0" charset="0"/>
                <a:ea typeface="ＭＳ Ｐゴシック" pitchFamily="0" charset="-128"/>
                <a:cs typeface="Lucida Sans"/>
              </a:rPr>
              <a:t>: Stock market crashes (extreme outliers).</a:t>
            </a:r>
            <a:endParaRPr lang="en-US" altLang="zh-CN" sz="24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2400" b="1" i="0" u="none" strike="noStrike" kern="1200" cap="none" spc="0" baseline="0">
                <a:solidFill>
                  <a:srgbClr val="404040"/>
                </a:solidFill>
                <a:latin typeface="DeepSeek-CJK-patch" pitchFamily="0" charset="0"/>
                <a:ea typeface="ＭＳ Ｐゴシック" pitchFamily="0" charset="-128"/>
                <a:cs typeface="Lucida Sans"/>
              </a:rPr>
              <a:t>Low kurtosis (Platykurtic)</a:t>
            </a:r>
            <a:r>
              <a:rPr lang="en-US" altLang="zh-CN" sz="2400" b="0" i="0" u="none" strike="noStrike" kern="1200" cap="none" spc="0" baseline="0">
                <a:solidFill>
                  <a:srgbClr val="404040"/>
                </a:solidFill>
                <a:latin typeface="DeepSeek-CJK-patch" pitchFamily="0" charset="0"/>
                <a:ea typeface="ＭＳ Ｐゴシック" pitchFamily="0" charset="-128"/>
                <a:cs typeface="Lucida Sans"/>
              </a:rPr>
              <a:t>: Height of adults (most clustered around average).</a:t>
            </a:r>
            <a:endParaRPr lang="zh-CN" altLang="en-US" sz="2400" b="0" i="0" u="none" strike="noStrike" kern="1200" cap="none" spc="0" baseline="0">
              <a:solidFill>
                <a:srgbClr val="404040"/>
              </a:solidFill>
              <a:latin typeface="DeepSeek-CJK-patch" pitchFamily="0" charset="0"/>
              <a:ea typeface="ＭＳ Ｐゴシック" pitchFamily="0" charset="-128"/>
              <a:cs typeface="Lucida Sans"/>
            </a:endParaRPr>
          </a:p>
        </p:txBody>
      </p:sp>
    </p:spTree>
    <p:extLst>
      <p:ext uri="{BB962C8B-B14F-4D97-AF65-F5344CB8AC3E}">
        <p14:creationId xmlns:p14="http://schemas.microsoft.com/office/powerpoint/2010/main" val="956950040"/>
      </p:ext>
    </p:extLst>
  </p:cSld>
  <p:clrMapOvr>
    <a:masterClrMapping/>
  </p:clrMapOvr>
</p:sld>
</file>

<file path=ppt/slides/slide5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1" i="0" u="none" strike="noStrike" kern="1200" cap="none" spc="0" baseline="0">
                <a:solidFill>
                  <a:srgbClr val="404040"/>
                </a:solidFill>
                <a:latin typeface="DeepSeek-CJK-patch" pitchFamily="0" charset="0"/>
                <a:ea typeface="ＭＳ Ｐゴシック" pitchFamily="0" charset="-128"/>
                <a:cs typeface="Lucida Sans"/>
              </a:rPr>
              <a:t>Skewness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51"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a:lnSpc>
                <a:spcPct val="100000"/>
              </a:lnSpc>
              <a:spcBef>
                <a:spcPct val="20000"/>
              </a:spcBef>
              <a:spcAft>
                <a:spcPts val="0"/>
              </a:spcAft>
              <a:buNone/>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Purpose</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Measures </a:t>
            </a: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asymmetry</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in data.</a:t>
            </a:r>
            <a:br>
              <a:rPr lang="zh-CN" altLang="en-US" sz="1800" b="0" i="0" u="none" strike="noStrike" kern="1200" cap="none" spc="0" baseline="0">
                <a:solidFill>
                  <a:srgbClr val="404040"/>
                </a:solidFill>
                <a:latin typeface="DeepSeek-CJK-patch" pitchFamily="0" charset="0"/>
                <a:ea typeface="ＭＳ Ｐゴシック" pitchFamily="0" charset="-128"/>
                <a:cs typeface="Lucida Sans"/>
              </a:rPr>
            </a:b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Key Uses</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ct val="20000"/>
              </a:spcBef>
              <a:spcAft>
                <a:spcPts val="30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Identify Data Bias</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Example: Income data is often </a:t>
            </a: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right-skewed</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(mean &gt; median). Knowing this helps avoid misinterpreting averages.</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1" u="none" strike="noStrike" kern="1200" cap="none" spc="0" baseline="0">
                <a:solidFill>
                  <a:srgbClr val="404040"/>
                </a:solidFill>
                <a:latin typeface="DeepSeek-CJK-patch" pitchFamily="0" charset="0"/>
                <a:ea typeface="ＭＳ Ｐゴシック" pitchFamily="0" charset="-128"/>
                <a:cs typeface="Lucida Sans"/>
              </a:rPr>
              <a:t>Action</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Use median instead of mean for skewed data.</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ts val="300"/>
              </a:spcBef>
              <a:spcAft>
                <a:spcPts val="30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Improve Model Accuracy</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Machine learning algorithms (e.g., linear regression) assume symmetric data. Skewed data can bias results.</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1" u="none" strike="noStrike" kern="1200" cap="none" spc="0" baseline="0">
                <a:solidFill>
                  <a:srgbClr val="404040"/>
                </a:solidFill>
                <a:latin typeface="DeepSeek-CJK-patch" pitchFamily="0" charset="0"/>
                <a:ea typeface="ＭＳ Ｐゴシック" pitchFamily="0" charset="-128"/>
                <a:cs typeface="Lucida Sans"/>
              </a:rPr>
              <a:t>Action</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Apply log transformations to right-skewed data.</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ts val="300"/>
              </a:spcBef>
              <a:spcAft>
                <a:spcPts val="30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Risk Assessment</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In finance, negative skewness indicates higher risk of extreme losses.</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ct val="20000"/>
              </a:spcBef>
              <a:spcAft>
                <a:spcPts val="0"/>
              </a:spcAft>
              <a:buNone/>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Real-World Example</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ct val="20000"/>
              </a:spcBef>
              <a:spcAft>
                <a:spcPts val="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Insurance Claims</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Most claims are small (left-skewed), but a few are huge. Skewness helps price policies correctly.</a:t>
            </a:r>
            <a:endParaRPr lang="zh-CN" altLang="en-US" sz="1800" b="0" i="0" u="none" strike="noStrike" kern="1200" cap="none" spc="0" baseline="0">
              <a:solidFill>
                <a:srgbClr val="404040"/>
              </a:solidFill>
              <a:latin typeface="DeepSeek-CJK-patch" pitchFamily="0" charset="0"/>
              <a:ea typeface="ＭＳ Ｐゴシック" pitchFamily="0" charset="-128"/>
              <a:cs typeface="Lucida Sans"/>
            </a:endParaRPr>
          </a:p>
        </p:txBody>
      </p:sp>
      <p:sp>
        <p:nvSpPr>
          <p:cNvPr id="352" name="Text box"/>
          <p:cNvSpPr>
            <a:spLocks noGrp="1"/>
          </p:cNvSpPr>
          <p:nvPr>
            <p:ph type="sldNum" idx="12"/>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51</a:t>
            </a:fld>
            <a:endParaRPr lang="zh-CN" altLang="en-US" sz="1200" b="0" i="0" u="none" strike="noStrike" kern="1200" cap="none" spc="0" baseline="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89983318"/>
      </p:ext>
    </p:extLst>
  </p:cSld>
  <p:clrMapOvr>
    <a:masterClrMapping/>
  </p:clrMapOvr>
</p:sld>
</file>

<file path=ppt/slides/slide5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1" i="0" u="none" strike="noStrike" kern="1200" cap="none" spc="0" baseline="0">
                <a:solidFill>
                  <a:srgbClr val="404040"/>
                </a:solidFill>
                <a:latin typeface="DeepSeek-CJK-patch" pitchFamily="0" charset="0"/>
                <a:ea typeface="ＭＳ Ｐゴシック" pitchFamily="0" charset="-128"/>
                <a:cs typeface="Lucida Sans"/>
              </a:rPr>
              <a:t>Kurtosis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57"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a:lnSpc>
                <a:spcPct val="100000"/>
              </a:lnSpc>
              <a:spcBef>
                <a:spcPct val="20000"/>
              </a:spcBef>
              <a:spcAft>
                <a:spcPts val="0"/>
              </a:spcAft>
              <a:buNone/>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Purpose</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Measures </a:t>
            </a: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tail heaviness</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(outlier risk).</a:t>
            </a:r>
            <a:br>
              <a:rPr lang="zh-CN" altLang="en-US" sz="1800" b="0" i="0" u="none" strike="noStrike" kern="1200" cap="none" spc="0" baseline="0">
                <a:solidFill>
                  <a:srgbClr val="404040"/>
                </a:solidFill>
                <a:latin typeface="DeepSeek-CJK-patch" pitchFamily="0" charset="0"/>
                <a:ea typeface="ＭＳ Ｐゴシック" pitchFamily="0" charset="-128"/>
                <a:cs typeface="Lucida Sans"/>
              </a:rPr>
            </a:b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Key Uses</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ct val="20000"/>
              </a:spcBef>
              <a:spcAft>
                <a:spcPts val="30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Detect Outliers</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High kurtosis (</a:t>
            </a: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leptokurtic</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means more outliers (e.g., stock market crashes).</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Low kurtosis (</a:t>
            </a: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platykurtic</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suggests data is tightly clustered (e.g., heights of adults).</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ts val="300"/>
              </a:spcBef>
              <a:spcAft>
                <a:spcPts val="30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Quality Control</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Manufacturing processes with high kurtosis may produce defective items sporadically.</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ts val="300"/>
              </a:spcBef>
              <a:spcAft>
                <a:spcPts val="30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Financial Modeling</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lvl="1" marL="742950" indent="-285750" algn="l">
              <a:lnSpc>
                <a:spcPct val="100000"/>
              </a:lnSpc>
              <a:spcBef>
                <a:spcPts val="300"/>
              </a:spcBef>
              <a:spcAft>
                <a:spcPts val="0"/>
              </a:spcAft>
              <a:buFont typeface="Arial" pitchFamily="0" charset="0"/>
              <a:buChar char="•"/>
            </a:pP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Portfolio managers check kurtosis to assess crash risk (e.g., Bitcoin returns have high kurtosis).</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ct val="20000"/>
              </a:spcBef>
              <a:spcAft>
                <a:spcPts val="0"/>
              </a:spcAft>
              <a:buNone/>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Real-World Example</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a:t>
            </a:r>
            <a:endParaRPr lang="en-US" altLang="zh-CN" sz="1800" b="0" i="0" u="none" strike="noStrike" kern="1200" cap="none" spc="0" baseline="0">
              <a:solidFill>
                <a:srgbClr val="404040"/>
              </a:solidFill>
              <a:latin typeface="DeepSeek-CJK-patch" pitchFamily="0" charset="0"/>
              <a:ea typeface="ＭＳ Ｐゴシック" pitchFamily="0" charset="-128"/>
              <a:cs typeface="Lucida Sans"/>
            </a:endParaRPr>
          </a:p>
          <a:p>
            <a:pPr marL="342900" indent="-342900" algn="l">
              <a:lnSpc>
                <a:spcPct val="100000"/>
              </a:lnSpc>
              <a:spcBef>
                <a:spcPct val="20000"/>
              </a:spcBef>
              <a:spcAft>
                <a:spcPts val="0"/>
              </a:spcAft>
              <a:buFont typeface="Arial" pitchFamily="0" charset="0"/>
              <a:buChar char="•"/>
            </a:pPr>
            <a:r>
              <a:rPr lang="en-US" altLang="zh-CN" sz="1800" b="1" i="0" u="none" strike="noStrike" kern="1200" cap="none" spc="0" baseline="0">
                <a:solidFill>
                  <a:srgbClr val="404040"/>
                </a:solidFill>
                <a:latin typeface="DeepSeek-CJK-patch" pitchFamily="0" charset="0"/>
                <a:ea typeface="ＭＳ Ｐゴシック" pitchFamily="0" charset="-128"/>
                <a:cs typeface="Lucida Sans"/>
              </a:rPr>
              <a:t>Medical Trials</a:t>
            </a:r>
            <a:r>
              <a:rPr lang="en-US" altLang="zh-CN" sz="1800" b="0" i="0" u="none" strike="noStrike" kern="1200" cap="none" spc="0" baseline="0">
                <a:solidFill>
                  <a:srgbClr val="404040"/>
                </a:solidFill>
                <a:latin typeface="DeepSeek-CJK-patch" pitchFamily="0" charset="0"/>
                <a:ea typeface="ＭＳ Ｐゴシック" pitchFamily="0" charset="-128"/>
                <a:cs typeface="Lucida Sans"/>
              </a:rPr>
              <a:t>: Drug side-effect data with high kurtosis signals rare but severe reactions.</a:t>
            </a:r>
            <a:endParaRPr lang="zh-CN" altLang="en-US" sz="1800" b="0" i="0" u="none" strike="noStrike" kern="1200" cap="none" spc="0" baseline="0">
              <a:solidFill>
                <a:srgbClr val="404040"/>
              </a:solidFill>
              <a:latin typeface="DeepSeek-CJK-patch" pitchFamily="0" charset="0"/>
              <a:ea typeface="ＭＳ Ｐゴシック" pitchFamily="0" charset="-128"/>
              <a:cs typeface="Lucida Sans"/>
            </a:endParaRPr>
          </a:p>
        </p:txBody>
      </p:sp>
      <p:sp>
        <p:nvSpPr>
          <p:cNvPr id="358" name="Text box"/>
          <p:cNvSpPr>
            <a:spLocks noGrp="1"/>
          </p:cNvSpPr>
          <p:nvPr>
            <p:ph type="sldNum" idx="12"/>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52</a:t>
            </a:fld>
            <a:endParaRPr lang="zh-CN" altLang="en-US" sz="1200" b="0" i="0" u="none" strike="noStrike" kern="1200" cap="none" spc="0" baseline="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67375761"/>
      </p:ext>
    </p:extLst>
  </p:cSld>
  <p:clrMapOvr>
    <a:masterClrMapping/>
  </p:clrMapOvr>
</p:sld>
</file>

<file path=ppt/slides/slide5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2" name="Text box"/>
          <p:cNvSpPr>
            <a:spLocks noGrp="1"/>
          </p:cNvSpPr>
          <p:nvPr>
            <p:ph type="sldNum" idx="12"/>
          </p:nvPr>
        </p:nvSpPr>
        <p:spPr>
          <a:xfrm rot="0">
            <a:off x="5880100"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53</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63" name="Text box"/>
          <p:cNvSpPr>
            <a:spLocks noGrp="1"/>
          </p:cNvSpPr>
          <p:nvPr>
            <p:ph type="title"/>
          </p:nvPr>
        </p:nvSpPr>
        <p:spPr>
          <a:xfrm rot="0">
            <a:off x="3886200" y="365760"/>
            <a:ext cx="6272784" cy="777240"/>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Skewness </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64" name="Text box"/>
          <p:cNvSpPr>
            <a:spLocks noGrp="1"/>
          </p:cNvSpPr>
          <p:nvPr>
            <p:ph type="body" idx="1"/>
          </p:nvPr>
        </p:nvSpPr>
        <p:spPr>
          <a:xfrm rot="0">
            <a:off x="1970856" y="1639341"/>
            <a:ext cx="8229600" cy="4525962"/>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Occurs when a distribution is not symmetrical about its mean. </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A distribution is symmetrical when its median, mean, and mode are equal. </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A positively skewed (</a:t>
            </a:r>
            <a:r>
              <a:rPr lang="en-US" altLang="zh-CN" sz="2800" b="0" i="0" u="none" strike="noStrike" kern="1200" cap="none" spc="0" baseline="0">
                <a:solidFill>
                  <a:schemeClr val="accent2"/>
                </a:solidFill>
                <a:latin typeface="Calibri" pitchFamily="0" charset="0"/>
                <a:ea typeface="ＭＳ Ｐゴシック" pitchFamily="0" charset="-128"/>
                <a:cs typeface="Calibri" pitchFamily="0" charset="0"/>
              </a:rPr>
              <a:t>skewed to the right</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distribution occurs when the </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mean exceeds the median</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A negatively skewed (</a:t>
            </a:r>
            <a:r>
              <a:rPr lang="en-US" altLang="zh-CN" sz="2800" b="0" i="0" u="none" strike="noStrike" kern="1200" cap="none" spc="0" baseline="0">
                <a:solidFill>
                  <a:schemeClr val="accent2"/>
                </a:solidFill>
                <a:latin typeface="Calibri" pitchFamily="0" charset="0"/>
                <a:ea typeface="ＭＳ Ｐゴシック" pitchFamily="0" charset="-128"/>
                <a:cs typeface="Calibri" pitchFamily="0" charset="0"/>
              </a:rPr>
              <a:t>skewed to the left</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distribution occurs when the </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mean is less than the median</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26692210"/>
      </p:ext>
    </p:extLst>
  </p:cSld>
  <p:clrMapOvr>
    <a:masterClrMapping/>
  </p:clrMapOvr>
</p:sld>
</file>

<file path=ppt/slides/slide5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5" name="Text box"/>
          <p:cNvSpPr>
            <a:spLocks noGrp="1"/>
          </p:cNvSpPr>
          <p:nvPr>
            <p:ph type="title"/>
          </p:nvPr>
        </p:nvSpPr>
        <p:spPr>
          <a:xfrm rot="0">
            <a:off x="2999656" y="274638"/>
            <a:ext cx="6202361" cy="868362"/>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Measuring Skewness</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366"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Formula to measure skewness for univariate data </a:t>
            </a:r>
            <a:r>
              <a:rPr lang="en-US" altLang="zh-CN" sz="2800" b="0" i="1" u="none" strike="noStrike" kern="1200" cap="none" spc="0" baseline="0">
                <a:solidFill>
                  <a:schemeClr val="tx1"/>
                </a:solidFill>
                <a:latin typeface="Calibri" pitchFamily="0" charset="0"/>
                <a:ea typeface="ＭＳ Ｐゴシック" pitchFamily="0" charset="-128"/>
                <a:cs typeface="Lucida Sans"/>
              </a:rPr>
              <a:t>x</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1</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r>
              <a:rPr lang="en-US" altLang="zh-CN" sz="2800" b="0" i="1" u="none" strike="noStrike" kern="1200" cap="none" spc="0" baseline="0">
                <a:solidFill>
                  <a:schemeClr val="tx1"/>
                </a:solidFill>
                <a:latin typeface="Calibri" pitchFamily="0" charset="0"/>
                <a:ea typeface="ＭＳ Ｐゴシック" pitchFamily="0" charset="-128"/>
                <a:cs typeface="Lucida Sans"/>
              </a:rPr>
              <a:t>x</a:t>
            </a:r>
            <a:r>
              <a:rPr lang="en-US" altLang="zh-CN" sz="2800" b="0" i="0" u="none" strike="noStrike" kern="1200" cap="none" spc="0" baseline="-25000">
                <a:solidFill>
                  <a:schemeClr val="tx1"/>
                </a:solidFill>
                <a:latin typeface="Calibri" pitchFamily="0" charset="0"/>
                <a:ea typeface="ＭＳ Ｐゴシック" pitchFamily="0" charset="-128"/>
                <a:cs typeface="Lucida Sans"/>
              </a:rPr>
              <a:t>2</a:t>
            </a:r>
            <a:r>
              <a:rPr lang="en-US" altLang="zh-CN" sz="2800" b="0" i="0" u="none" strike="noStrike" kern="1200" cap="none" spc="0" baseline="0">
                <a:solidFill>
                  <a:schemeClr val="tx1"/>
                </a:solidFill>
                <a:latin typeface="Calibri" pitchFamily="0" charset="0"/>
                <a:ea typeface="ＭＳ Ｐゴシック" pitchFamily="0" charset="-128"/>
                <a:cs typeface="Lucida Sans"/>
              </a:rPr>
              <a:t>, .., </a:t>
            </a:r>
            <a:r>
              <a:rPr lang="en-US" altLang="zh-CN" sz="2800" b="0" i="1" u="none" strike="noStrike" kern="1200" cap="none" spc="0" baseline="0">
                <a:solidFill>
                  <a:schemeClr val="tx1"/>
                </a:solidFill>
                <a:latin typeface="Calibri" pitchFamily="0" charset="0"/>
                <a:ea typeface="ＭＳ Ｐゴシック" pitchFamily="0" charset="-128"/>
                <a:cs typeface="Lucida Sans"/>
              </a:rPr>
              <a:t>x</a:t>
            </a:r>
            <a:r>
              <a:rPr lang="en-US" altLang="zh-CN" sz="2800" b="0" i="1" u="none" strike="noStrike" kern="1200" cap="none" spc="0" baseline="-25000">
                <a:solidFill>
                  <a:schemeClr val="tx1"/>
                </a:solidFill>
                <a:latin typeface="Calibri" pitchFamily="0" charset="0"/>
                <a:ea typeface="ＭＳ Ｐゴシック" pitchFamily="0" charset="-128"/>
                <a:cs typeface="Lucida Sans"/>
              </a:rPr>
              <a:t>N</a:t>
            </a:r>
            <a:r>
              <a:rPr lang="en-US" altLang="zh-CN" sz="2800" b="0" i="0" u="none" strike="noStrike" kern="1200" cap="none" spc="0" baseline="0">
                <a:solidFill>
                  <a:schemeClr val="tx1"/>
                </a:solidFill>
                <a:latin typeface="Calibri" pitchFamily="0" charset="0"/>
                <a:ea typeface="ＭＳ Ｐゴシック" pitchFamily="0" charset="-128"/>
                <a:cs typeface="Lucida Sans"/>
              </a:rPr>
              <a: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cxnSp>
        <p:nvCxnSpPr>
          <p:cNvPr id="367" name="直线连接线"/>
          <p:cNvCxnSpPr>
            <a:cxnSpLocks/>
          </p:cNvCxnSpPr>
          <p:nvPr/>
        </p:nvCxnSpPr>
        <p:spPr>
          <a:xfrm flipH="1" flipV="1" rot="0">
            <a:off x="6476999" y="3887787"/>
            <a:ext cx="533400" cy="762000"/>
          </a:xfrm>
          <a:prstGeom prst="straightConnector1"/>
          <a:noFill/>
          <a:ln w="9525" cmpd="sng" cap="flat">
            <a:solidFill>
              <a:srgbClr val="FF0000"/>
            </a:solidFill>
            <a:prstDash val="solid"/>
            <a:round/>
            <a:tailEnd type="arrow" w="med" len="med"/>
          </a:ln>
        </p:spPr>
      </p:cxnSp>
      <p:cxnSp>
        <p:nvCxnSpPr>
          <p:cNvPr id="368" name="直线连接线"/>
          <p:cNvCxnSpPr>
            <a:cxnSpLocks/>
          </p:cNvCxnSpPr>
          <p:nvPr/>
        </p:nvCxnSpPr>
        <p:spPr>
          <a:xfrm flipV="1" rot="21600000">
            <a:off x="5029200" y="3963988"/>
            <a:ext cx="685800" cy="685800"/>
          </a:xfrm>
          <a:prstGeom prst="straightConnector1"/>
          <a:noFill/>
          <a:ln w="9525" cmpd="sng" cap="flat">
            <a:solidFill>
              <a:srgbClr val="FF0000"/>
            </a:solidFill>
            <a:prstDash val="solid"/>
            <a:round/>
            <a:tailEnd type="arrow" w="med" len="med"/>
          </a:ln>
        </p:spPr>
      </p:cxnSp>
      <p:cxnSp>
        <p:nvCxnSpPr>
          <p:cNvPr id="369" name="直线连接线"/>
          <p:cNvCxnSpPr>
            <a:cxnSpLocks/>
            <a:stCxn id="372" idx="1"/>
          </p:cNvCxnSpPr>
          <p:nvPr/>
        </p:nvCxnSpPr>
        <p:spPr>
          <a:xfrm flipH="1" flipV="1" rot="0">
            <a:off x="6672263" y="3500440"/>
            <a:ext cx="1023935" cy="739802"/>
          </a:xfrm>
          <a:prstGeom prst="straightConnector1"/>
          <a:noFill/>
          <a:ln w="9525" cmpd="sng" cap="flat">
            <a:solidFill>
              <a:srgbClr val="FF0000"/>
            </a:solidFill>
            <a:prstDash val="solid"/>
            <a:round/>
            <a:tailEnd type="arrow" w="med" len="med"/>
          </a:ln>
        </p:spPr>
      </p:cxnSp>
      <p:sp>
        <p:nvSpPr>
          <p:cNvPr id="370" name="Rectangles"/>
          <p:cNvSpPr>
            <a:spLocks/>
          </p:cNvSpPr>
          <p:nvPr/>
        </p:nvSpPr>
        <p:spPr>
          <a:xfrm rot="0">
            <a:off x="3935760" y="4573588"/>
            <a:ext cx="1981200" cy="707886"/>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Calibri" pitchFamily="0" charset="0"/>
              </a:rPr>
              <a:t>Number of data points</a:t>
            </a:r>
            <a:endParaRPr lang="zh-CN" altLang="en-US" sz="2000" b="1" i="0" u="none" strike="noStrike" kern="1200" cap="none" spc="0" baseline="0">
              <a:solidFill>
                <a:schemeClr val="tx1"/>
              </a:solidFill>
              <a:latin typeface="Calibri" pitchFamily="0" charset="0"/>
              <a:ea typeface="MS PGothic" pitchFamily="34" charset="-128"/>
              <a:cs typeface="Calibri" pitchFamily="0" charset="0"/>
            </a:endParaRPr>
          </a:p>
        </p:txBody>
      </p:sp>
      <p:sp>
        <p:nvSpPr>
          <p:cNvPr id="371" name="Rectangles"/>
          <p:cNvSpPr>
            <a:spLocks/>
          </p:cNvSpPr>
          <p:nvPr/>
        </p:nvSpPr>
        <p:spPr>
          <a:xfrm rot="0">
            <a:off x="6248400" y="4573588"/>
            <a:ext cx="2953617" cy="40011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Calibri" pitchFamily="0" charset="0"/>
              </a:rPr>
              <a:t>s = standard deviation</a:t>
            </a:r>
            <a:endParaRPr lang="zh-CN" altLang="en-US" sz="2000" b="1" i="0" u="none" strike="noStrike" kern="1200" cap="none" spc="0" baseline="0">
              <a:solidFill>
                <a:schemeClr val="tx1"/>
              </a:solidFill>
              <a:latin typeface="Calibri" pitchFamily="0" charset="0"/>
              <a:ea typeface="MS PGothic" pitchFamily="34" charset="-128"/>
              <a:cs typeface="Calibri" pitchFamily="0" charset="0"/>
            </a:endParaRPr>
          </a:p>
        </p:txBody>
      </p:sp>
      <p:sp>
        <p:nvSpPr>
          <p:cNvPr id="372" name="Rectangles"/>
          <p:cNvSpPr>
            <a:spLocks/>
          </p:cNvSpPr>
          <p:nvPr/>
        </p:nvSpPr>
        <p:spPr>
          <a:xfrm rot="0">
            <a:off x="7696200" y="4040188"/>
            <a:ext cx="1219200" cy="40010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ts val="0"/>
              </a:spcBef>
              <a:spcAft>
                <a:spcPts val="0"/>
              </a:spcAft>
              <a:buNone/>
            </a:pPr>
            <a:r>
              <a:rPr lang="en-US" altLang="zh-CN" sz="2000" b="1" i="0" u="none" strike="noStrike" kern="1200" cap="none" spc="0" baseline="0">
                <a:solidFill>
                  <a:schemeClr val="tx1"/>
                </a:solidFill>
                <a:latin typeface="Calibri" pitchFamily="0" charset="0"/>
                <a:ea typeface="MS PGothic" pitchFamily="34" charset="-128"/>
                <a:cs typeface="Calibri" pitchFamily="0" charset="0"/>
              </a:rPr>
              <a:t>X = mean</a:t>
            </a:r>
            <a:endParaRPr lang="zh-CN" altLang="en-US" sz="2000" b="1" i="0" u="none" strike="noStrike" kern="1200" cap="none" spc="0" baseline="0">
              <a:solidFill>
                <a:schemeClr val="tx1"/>
              </a:solidFill>
              <a:latin typeface="Calibri" pitchFamily="0" charset="0"/>
              <a:ea typeface="MS PGothic" pitchFamily="34" charset="-128"/>
              <a:cs typeface="Calibri" pitchFamily="0" charset="0"/>
            </a:endParaRPr>
          </a:p>
        </p:txBody>
      </p:sp>
      <p:sp>
        <p:nvSpPr>
          <p:cNvPr id="373" name="Straight line"/>
          <p:cNvSpPr>
            <a:spLocks/>
          </p:cNvSpPr>
          <p:nvPr/>
        </p:nvSpPr>
        <p:spPr>
          <a:xfrm rot="10800000">
            <a:off x="7751762" y="4075114"/>
            <a:ext cx="152400" cy="1587"/>
          </a:xfrm>
          <a:prstGeom prst="line"/>
          <a:noFill/>
          <a:ln w="15875" cmpd="sng" cap="flat">
            <a:solidFill>
              <a:srgbClr val="000000"/>
            </a:solidFill>
            <a:prstDash val="solid"/>
            <a:round/>
          </a:ln>
        </p:spPr>
      </p:sp>
      <p:graphicFrame>
        <p:nvGraphicFramePr>
          <p:cNvPr id="374" name="Object"/>
          <p:cNvGraphicFramePr>
            <a:graphicFrameLocks noChangeAspect="1"/>
          </p:cNvGraphicFramePr>
          <p:nvPr/>
        </p:nvGraphicFramePr>
        <p:xfrm>
          <a:off x="3733800" y="3049588"/>
          <a:ext cx="3225799" cy="990600"/>
        </p:xfrm>
        <a:graphic>
          <a:graphicData uri="http://schemas.openxmlformats.org/presentationml/2006/ole">
            <mc:AlternateContent xmlns:mc="http://schemas.openxmlformats.org/markup-compatibility/2006">
              <mc:Choice xmlns:v="urn:schemas-microsoft-com:vml" Requires="v">
                <p:oleObj spid="" name="package" r:id="rId1" imgW="51612800" imgH="15849600" progId="package">
                  <p:embed/>
                </p:oleObj>
              </mc:Choice>
              <mc:Fallback>
                <p:oleObj name="package" r:id="rId1" imgW="51612800" imgH="15849600" progId="package">
                  <p:embed/>
                  <p:pic>
                    <p:nvPicPr>
                      <p:cNvPr id="374" name="Object"/>
                      <p:cNvPicPr>
                        <a:picLocks noChangeAspect="1"/>
                      </p:cNvPicPr>
                      <p:nvPr/>
                    </p:nvPicPr>
                    <p:blipFill>
                      <a:blip r:embed="rId2" cstate="print"/>
                      <a:stretch>
                        <a:fillRect/>
                      </a:stretch>
                    </p:blipFill>
                    <p:spPr>
                      <a:xfrm rot="0">
                        <a:off x="3733800" y="3049588"/>
                        <a:ext cx="3225799" cy="990600"/>
                      </a:xfrm>
                      <a:prstGeom prst="rect"/>
                      <a:noFill/>
                      <a:ln cmpd="sng" cap="flat">
                        <a:noFill/>
                        <a:prstDash val="solid"/>
                        <a:miter/>
                      </a:ln>
                    </p:spPr>
                  </p:pic>
                </p:oleObj>
              </mc:Fallback>
            </mc:AlternateContent>
          </a:graphicData>
        </a:graphic>
      </p:graphicFrame>
      <p:sp>
        <p:nvSpPr>
          <p:cNvPr id="375"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54</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Tree>
    <p:extLst>
      <p:ext uri="{BB962C8B-B14F-4D97-AF65-F5344CB8AC3E}">
        <p14:creationId xmlns:p14="http://schemas.microsoft.com/office/powerpoint/2010/main" val="947472946"/>
      </p:ext>
    </p:extLst>
  </p:cSld>
  <p:clrMapOvr>
    <a:masterClrMapping/>
  </p:clrMapOvr>
</p:sld>
</file>

<file path=ppt/slides/slide5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6" name="Text box"/>
          <p:cNvSpPr>
            <a:spLocks noGrp="1"/>
          </p:cNvSpPr>
          <p:nvPr>
            <p:ph type="body" idx="1"/>
          </p:nvPr>
        </p:nvSpPr>
        <p:spPr>
          <a:xfrm rot="0">
            <a:off x="1981200" y="908051"/>
            <a:ext cx="82296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For </a:t>
            </a:r>
            <a:r>
              <a:rPr lang="en-US" altLang="zh-CN" sz="2800" b="1" i="0" u="none" strike="noStrike" kern="1200" cap="none" spc="0" baseline="0">
                <a:solidFill>
                  <a:schemeClr val="tx1"/>
                </a:solidFill>
                <a:latin typeface="Calibri" pitchFamily="0" charset="0"/>
                <a:ea typeface="ＭＳ Ｐゴシック" pitchFamily="0" charset="-128"/>
                <a:cs typeface="Lucida Sans"/>
              </a:rPr>
              <a:t>normal distribution (symmetric distribution)</a:t>
            </a:r>
            <a:r>
              <a:rPr lang="en-US" altLang="zh-CN" sz="2800" b="0" i="0" u="none" strike="noStrike" kern="1200" cap="none" spc="0" baseline="0">
                <a:solidFill>
                  <a:schemeClr val="tx1"/>
                </a:solidFill>
                <a:latin typeface="Calibri" pitchFamily="0" charset="0"/>
                <a:ea typeface="ＭＳ Ｐゴシック" pitchFamily="0" charset="-128"/>
                <a:cs typeface="Lucida Sans"/>
              </a:rPr>
              <a: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800" b="1" i="0" u="none" strike="noStrike" kern="1200" cap="none" spc="0" baseline="0">
                <a:solidFill>
                  <a:schemeClr val="tx1"/>
                </a:solidFill>
                <a:latin typeface="Calibri" pitchFamily="0" charset="0"/>
                <a:ea typeface="ＭＳ Ｐゴシック" pitchFamily="0" charset="-128"/>
                <a:cs typeface="Lucida Sans"/>
              </a:rPr>
              <a:t>skewness = 0</a:t>
            </a:r>
            <a:r>
              <a:rPr lang="en-US" altLang="zh-CN" sz="2800" b="0" i="0" u="none" strike="noStrike" kern="1200" cap="none" spc="0" baseline="0">
                <a:solidFill>
                  <a:schemeClr val="tx1"/>
                </a:solidFill>
                <a:latin typeface="Calibri" pitchFamily="0" charset="0"/>
                <a:ea typeface="ＭＳ Ｐゴシック" pitchFamily="0" charset="-128"/>
                <a:cs typeface="Lucida Sans"/>
              </a:rPr>
              <a: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Any symmetric data should have: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Skewness value near zero.</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Distribution with </a:t>
            </a:r>
            <a:r>
              <a:rPr lang="en-US" altLang="zh-CN" sz="2800" b="1" i="0" u="none" strike="noStrike" kern="1200" cap="none" spc="0" baseline="0">
                <a:solidFill>
                  <a:schemeClr val="tx1"/>
                </a:solidFill>
                <a:latin typeface="Calibri" pitchFamily="0" charset="0"/>
                <a:ea typeface="ＭＳ Ｐゴシック" pitchFamily="0" charset="-128"/>
                <a:cs typeface="Lucida Sans"/>
              </a:rPr>
              <a:t>mean, median and mode fall at the same point</a:t>
            </a:r>
            <a:r>
              <a:rPr lang="en-US" altLang="zh-CN" sz="2800" b="0" i="0" u="none" strike="noStrike" kern="1200" cap="none" spc="0" baseline="0">
                <a:solidFill>
                  <a:schemeClr val="tx1"/>
                </a:solidFill>
                <a:latin typeface="Calibri" pitchFamily="0" charset="0"/>
                <a:ea typeface="ＭＳ Ｐゴシック" pitchFamily="0" charset="-128"/>
                <a:cs typeface="Lucida Sans"/>
              </a:rPr>
              <a:t>.</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77" name="Images"/>
          <p:cNvPicPr>
            <a:picLocks noChangeAspect="1"/>
          </p:cNvPicPr>
          <p:nvPr/>
        </p:nvPicPr>
        <p:blipFill>
          <a:blip r:embed="rId1" cstate="print"/>
          <a:stretch>
            <a:fillRect/>
          </a:stretch>
        </p:blipFill>
        <p:spPr>
          <a:xfrm rot="0">
            <a:off x="5393672" y="3501008"/>
            <a:ext cx="4800534" cy="2880320"/>
          </a:xfrm>
          <a:prstGeom prst="rect"/>
          <a:noFill/>
          <a:ln w="12700" cmpd="sng" cap="flat">
            <a:noFill/>
            <a:prstDash val="solid"/>
            <a:round/>
          </a:ln>
        </p:spPr>
      </p:pic>
      <p:sp>
        <p:nvSpPr>
          <p:cNvPr id="378"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55</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Tree>
    <p:extLst>
      <p:ext uri="{BB962C8B-B14F-4D97-AF65-F5344CB8AC3E}">
        <p14:creationId xmlns:p14="http://schemas.microsoft.com/office/powerpoint/2010/main" val="1540226025"/>
      </p:ext>
    </p:extLst>
  </p:cSld>
  <p:clrMapOvr>
    <a:masterClrMapping/>
  </p:clrMapOvr>
</p:sld>
</file>

<file path=ppt/slides/slide5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9" name="Text box"/>
          <p:cNvSpPr>
            <a:spLocks noGrp="1"/>
          </p:cNvSpPr>
          <p:nvPr>
            <p:ph type="body" idx="1"/>
          </p:nvPr>
        </p:nvSpPr>
        <p:spPr>
          <a:xfrm rot="0">
            <a:off x="1847850" y="981074"/>
            <a:ext cx="8229600" cy="419100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00000"/>
              </a:lnSpc>
              <a:spcBef>
                <a:spcPct val="20000"/>
              </a:spcBef>
              <a:spcAft>
                <a:spcPts val="0"/>
              </a:spcAft>
              <a:buFont typeface="Arial" pitchFamily="0" charset="0"/>
              <a:buChar char="•"/>
            </a:pPr>
            <a:r>
              <a:rPr lang="en-US" altLang="zh-CN" sz="2800" b="1" i="0" u="none" strike="noStrike" kern="1200" cap="none" spc="0" baseline="0">
                <a:solidFill>
                  <a:schemeClr val="tx1"/>
                </a:solidFill>
                <a:latin typeface="Calibri" pitchFamily="0" charset="0"/>
                <a:ea typeface="ＭＳ Ｐゴシック" pitchFamily="0" charset="-128"/>
                <a:cs typeface="Lucida Sans"/>
              </a:rPr>
              <a:t>Skewness </a:t>
            </a:r>
            <a:r>
              <a:rPr lang="en-US" altLang="zh-CN" sz="2800" b="1" i="0" u="none" strike="noStrike" kern="1200" cap="none" spc="0" baseline="0">
                <a:solidFill>
                  <a:srgbClr val="2F32FF"/>
                </a:solidFill>
                <a:latin typeface="Calibri" pitchFamily="0" charset="0"/>
                <a:ea typeface="ＭＳ Ｐゴシック" pitchFamily="0" charset="-128"/>
                <a:cs typeface="Lucida Sans"/>
              </a:rPr>
              <a:t>&gt;</a:t>
            </a:r>
            <a:r>
              <a:rPr lang="en-US" altLang="zh-CN" sz="2800" b="1" i="0" u="none" strike="noStrike" kern="1200" cap="none" spc="0" baseline="0">
                <a:solidFill>
                  <a:schemeClr val="tx1"/>
                </a:solidFill>
                <a:latin typeface="Calibri" pitchFamily="0" charset="0"/>
                <a:ea typeface="ＭＳ Ｐゴシック" pitchFamily="0" charset="-128"/>
                <a:cs typeface="Lucida Sans"/>
              </a:rPr>
              <a:t> 0</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The distribution is asymmetrical and points in the </a:t>
            </a:r>
            <a:r>
              <a:rPr lang="en-US" altLang="zh-CN" sz="2400" b="1" i="0" u="none" strike="noStrike" kern="1200" cap="none" spc="0" baseline="0">
                <a:solidFill>
                  <a:srgbClr val="FF0000"/>
                </a:solidFill>
                <a:latin typeface="Calibri" pitchFamily="0" charset="0"/>
                <a:ea typeface="ＭＳ Ｐゴシック" pitchFamily="0" charset="-128"/>
                <a:cs typeface="Lucida Sans"/>
              </a:rPr>
              <a:t>positive direction</a:t>
            </a:r>
            <a:r>
              <a:rPr lang="en-US" altLang="zh-CN" sz="2400" b="0" i="0" u="none" strike="noStrike" kern="1200" cap="none" spc="0" baseline="0">
                <a:solidFill>
                  <a:schemeClr val="tx1"/>
                </a:solidFill>
                <a:latin typeface="Calibri" pitchFamily="0" charset="0"/>
                <a:ea typeface="ＭＳ Ｐゴシック" pitchFamily="0" charset="-128"/>
                <a:cs typeface="Lucida Sans"/>
              </a:rPr>
              <a:t>.</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Example: Test scores of difficult examination where almost everyone did poorly on it</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400" b="1" i="0" u="none" strike="noStrike" kern="1200" cap="none" spc="0" baseline="0">
                <a:solidFill>
                  <a:schemeClr val="tx1"/>
                </a:solidFill>
                <a:latin typeface="Calibri" pitchFamily="0" charset="0"/>
                <a:ea typeface="ＭＳ Ｐゴシック" pitchFamily="0" charset="-128"/>
                <a:cs typeface="Lucida Sans"/>
              </a:rPr>
              <a:t>mode &lt; median &lt; mean</a:t>
            </a:r>
            <a:endParaRPr lang="en-US" altLang="zh-CN" sz="2400" b="1"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Arial" pitchFamily="0" charset="0"/>
              <a:buChar char="–"/>
            </a:pP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80" name="Images"/>
          <p:cNvPicPr>
            <a:picLocks noChangeAspect="1"/>
          </p:cNvPicPr>
          <p:nvPr/>
        </p:nvPicPr>
        <p:blipFill>
          <a:blip r:embed="rId1" cstate="print"/>
          <a:srcRect r="48865"/>
          <a:stretch>
            <a:fillRect/>
          </a:stretch>
        </p:blipFill>
        <p:spPr>
          <a:xfrm rot="0">
            <a:off x="3935412" y="4232275"/>
            <a:ext cx="3429000" cy="2076450"/>
          </a:xfrm>
          <a:prstGeom prst="rect"/>
          <a:noFill/>
          <a:ln w="12700" cmpd="sng" cap="flat">
            <a:noFill/>
            <a:prstDash val="solid"/>
            <a:round/>
          </a:ln>
        </p:spPr>
      </p:pic>
      <p:sp>
        <p:nvSpPr>
          <p:cNvPr id="381"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56</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Tree>
    <p:extLst>
      <p:ext uri="{BB962C8B-B14F-4D97-AF65-F5344CB8AC3E}">
        <p14:creationId xmlns:p14="http://schemas.microsoft.com/office/powerpoint/2010/main" val="235945472"/>
      </p:ext>
    </p:extLst>
  </p:cSld>
  <p:clrMapOvr>
    <a:masterClrMapping/>
  </p:clrMapOvr>
</p:sld>
</file>

<file path=ppt/slides/slide5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2" name="Text box"/>
          <p:cNvSpPr>
            <a:spLocks noGrp="1"/>
          </p:cNvSpPr>
          <p:nvPr>
            <p:ph type="body" idx="1"/>
          </p:nvPr>
        </p:nvSpPr>
        <p:spPr>
          <a:xfrm rot="0">
            <a:off x="1992313" y="981074"/>
            <a:ext cx="8229599" cy="419100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00000"/>
              </a:lnSpc>
              <a:spcBef>
                <a:spcPct val="20000"/>
              </a:spcBef>
              <a:spcAft>
                <a:spcPts val="0"/>
              </a:spcAft>
              <a:buFont typeface="Arial" pitchFamily="0" charset="0"/>
              <a:buChar char="•"/>
            </a:pPr>
            <a:r>
              <a:rPr lang="en-US" altLang="zh-CN" sz="2800" b="1" i="0" u="none" strike="noStrike" kern="1200" cap="none" spc="0" baseline="0">
                <a:solidFill>
                  <a:schemeClr val="tx1"/>
                </a:solidFill>
                <a:latin typeface="Calibri" pitchFamily="0" charset="0"/>
                <a:ea typeface="ＭＳ Ｐゴシック" pitchFamily="0" charset="-128"/>
                <a:cs typeface="Lucida Sans"/>
              </a:rPr>
              <a:t>Skewness </a:t>
            </a:r>
            <a:r>
              <a:rPr lang="en-US" altLang="zh-CN" sz="2800" b="1" i="0" u="none" strike="noStrike" kern="1200" cap="none" spc="0" baseline="0">
                <a:solidFill>
                  <a:srgbClr val="FF0000"/>
                </a:solidFill>
                <a:latin typeface="Calibri" pitchFamily="0" charset="0"/>
                <a:ea typeface="ＭＳ Ｐゴシック" pitchFamily="0" charset="-128"/>
                <a:cs typeface="Lucida Sans"/>
              </a:rPr>
              <a:t>&lt;</a:t>
            </a:r>
            <a:r>
              <a:rPr lang="en-US" altLang="zh-CN" sz="2800" b="1" i="0" u="none" strike="noStrike" kern="1200" cap="none" spc="0" baseline="0">
                <a:solidFill>
                  <a:schemeClr val="tx1"/>
                </a:solidFill>
                <a:latin typeface="Calibri" pitchFamily="0" charset="0"/>
                <a:ea typeface="ＭＳ Ｐゴシック" pitchFamily="0" charset="-128"/>
                <a:cs typeface="Lucida Sans"/>
              </a:rPr>
              <a:t> 0</a:t>
            </a:r>
            <a:endParaRPr lang="en-US" altLang="zh-CN" sz="2800" b="1"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The distribution is asymmetrical and points in the </a:t>
            </a:r>
            <a:r>
              <a:rPr lang="en-US" altLang="zh-CN" sz="2400" b="1" i="0" u="none" strike="noStrike" kern="1200" cap="none" spc="0" baseline="0">
                <a:solidFill>
                  <a:srgbClr val="FF0000"/>
                </a:solidFill>
                <a:latin typeface="Calibri" pitchFamily="0" charset="0"/>
                <a:ea typeface="ＭＳ Ｐゴシック" pitchFamily="0" charset="-128"/>
                <a:cs typeface="Lucida Sans"/>
              </a:rPr>
              <a:t>negative direction</a:t>
            </a:r>
            <a:r>
              <a:rPr lang="en-US" altLang="zh-CN" sz="2400" b="1" i="0" u="none" strike="noStrike" kern="1200" cap="none" spc="0" baseline="0">
                <a:solidFill>
                  <a:schemeClr val="tx1"/>
                </a:solidFill>
                <a:latin typeface="Calibri" pitchFamily="0" charset="0"/>
                <a:ea typeface="ＭＳ Ｐゴシック" pitchFamily="0" charset="-128"/>
                <a:cs typeface="Lucida Sans"/>
              </a:rPr>
              <a:t>.</a:t>
            </a:r>
            <a:endParaRPr lang="en-US" altLang="zh-CN" sz="2400" b="1"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Example: Test scores of difficult examination where almost everyone did well on it</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Wingdings" pitchFamily="0" charset="2"/>
              <a:buChar char="§"/>
            </a:pPr>
            <a:r>
              <a:rPr lang="en-US" altLang="zh-CN" sz="2400" b="1" i="0" u="none" strike="noStrike" kern="1200" cap="none" spc="0" baseline="0">
                <a:solidFill>
                  <a:schemeClr val="tx1"/>
                </a:solidFill>
                <a:latin typeface="Calibri" pitchFamily="0" charset="0"/>
                <a:ea typeface="ＭＳ Ｐゴシック" pitchFamily="0" charset="-128"/>
                <a:cs typeface="Lucida Sans"/>
              </a:rPr>
              <a:t>mode &gt; median &gt; mean</a:t>
            </a:r>
            <a:endParaRPr lang="en-US" altLang="zh-CN" sz="2400" b="1"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a:lnSpc>
                <a:spcPct val="100000"/>
              </a:lnSpc>
              <a:spcBef>
                <a:spcPct val="20000"/>
              </a:spcBef>
              <a:spcAft>
                <a:spcPts val="0"/>
              </a:spcAft>
              <a:buFont typeface="Arial" pitchFamily="0" charset="0"/>
              <a:buChar char="–"/>
            </a:pP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83" name="Images"/>
          <p:cNvPicPr>
            <a:picLocks noChangeAspect="1"/>
          </p:cNvPicPr>
          <p:nvPr/>
        </p:nvPicPr>
        <p:blipFill>
          <a:blip r:embed="rId1" cstate="print"/>
          <a:srcRect l="50000"/>
          <a:stretch>
            <a:fillRect/>
          </a:stretch>
        </p:blipFill>
        <p:spPr>
          <a:xfrm rot="0">
            <a:off x="4419600" y="3501009"/>
            <a:ext cx="4767061" cy="2952328"/>
          </a:xfrm>
          <a:prstGeom prst="rect"/>
          <a:noFill/>
          <a:ln w="12700" cmpd="sng" cap="flat">
            <a:noFill/>
            <a:prstDash val="solid"/>
            <a:round/>
          </a:ln>
        </p:spPr>
      </p:pic>
      <p:sp>
        <p:nvSpPr>
          <p:cNvPr id="384"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57</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Tree>
    <p:extLst>
      <p:ext uri="{BB962C8B-B14F-4D97-AF65-F5344CB8AC3E}">
        <p14:creationId xmlns:p14="http://schemas.microsoft.com/office/powerpoint/2010/main" val="1273525045"/>
      </p:ext>
    </p:extLst>
  </p:cSld>
  <p:clrMapOvr>
    <a:masterClrMapping/>
  </p:clrMapOvr>
</p:sld>
</file>

<file path=ppt/slides/slide5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5" name="Text box"/>
          <p:cNvSpPr>
            <a:spLocks noGrp="1"/>
          </p:cNvSpPr>
          <p:nvPr>
            <p:ph type="sldNum" idx="12"/>
          </p:nvPr>
        </p:nvSpPr>
        <p:spPr>
          <a:xfrm rot="0">
            <a:off x="5951539" y="6524626"/>
            <a:ext cx="433386"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58</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pic>
        <p:nvPicPr>
          <p:cNvPr id="386" name="Images" descr="skew"/>
          <p:cNvPicPr>
            <a:picLocks noChangeAspect="1"/>
          </p:cNvPicPr>
          <p:nvPr/>
        </p:nvPicPr>
        <p:blipFill>
          <a:blip r:embed="rId1" cstate="print"/>
          <a:srcRect t="13364" b="6450" l="2500" r="3334"/>
          <a:stretch>
            <a:fillRect/>
          </a:stretch>
        </p:blipFill>
        <p:spPr>
          <a:xfrm rot="0">
            <a:off x="1524000" y="2362203"/>
            <a:ext cx="9144000" cy="2913133"/>
          </a:xfrm>
          <a:prstGeom prst="rect"/>
          <a:noFill/>
          <a:ln w="12700" cmpd="sng" cap="flat">
            <a:noFill/>
            <a:prstDash val="solid"/>
            <a:round/>
          </a:ln>
        </p:spPr>
      </p:pic>
      <p:sp>
        <p:nvSpPr>
          <p:cNvPr id="387" name="Rectangles"/>
          <p:cNvSpPr>
            <a:spLocks/>
          </p:cNvSpPr>
          <p:nvPr/>
        </p:nvSpPr>
        <p:spPr>
          <a:xfrm rot="0">
            <a:off x="4796631" y="1994491"/>
            <a:ext cx="2743199" cy="369332"/>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Calibri" pitchFamily="0" charset="0"/>
                <a:ea typeface="ＭＳ Ｐゴシック" pitchFamily="0" charset="-128"/>
                <a:cs typeface="Calibri" pitchFamily="0" charset="0"/>
              </a:rPr>
              <a:t>mode &lt; median &lt; mean</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88" name="Rectangles"/>
          <p:cNvSpPr>
            <a:spLocks/>
          </p:cNvSpPr>
          <p:nvPr/>
        </p:nvSpPr>
        <p:spPr>
          <a:xfrm rot="0">
            <a:off x="7924800" y="2230879"/>
            <a:ext cx="2743200" cy="369331"/>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Calibri" pitchFamily="0" charset="0"/>
                <a:ea typeface="ＭＳ Ｐゴシック" pitchFamily="0" charset="-128"/>
                <a:cs typeface="Calibri" pitchFamily="0" charset="0"/>
              </a:rPr>
              <a:t>mode &gt; median &gt; mean</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91158126"/>
      </p:ext>
    </p:extLst>
  </p:cSld>
  <p:clrMapOvr>
    <a:masterClrMapping/>
  </p:clrMapOvr>
</p:sld>
</file>

<file path=ppt/slides/slide5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9" name="Text box"/>
          <p:cNvSpPr>
            <a:spLocks noGrp="1"/>
          </p:cNvSpPr>
          <p:nvPr>
            <p:ph type="sldNum" idx="12"/>
          </p:nvPr>
        </p:nvSpPr>
        <p:spPr>
          <a:xfrm rot="0">
            <a:off x="5808664" y="6519863"/>
            <a:ext cx="574674"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59</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9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Right Skewed</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91" name="Images" descr="skew_3"/>
          <p:cNvPicPr>
            <a:picLocks noChangeAspect="1"/>
          </p:cNvPicPr>
          <p:nvPr/>
        </p:nvPicPr>
        <p:blipFill>
          <a:blip r:embed="rId1" cstate="print"/>
          <a:stretch>
            <a:fillRect/>
          </a:stretch>
        </p:blipFill>
        <p:spPr>
          <a:xfrm rot="0">
            <a:off x="1775521" y="2132857"/>
            <a:ext cx="8702675" cy="3236912"/>
          </a:xfrm>
          <a:prstGeom prst="rect"/>
          <a:noFill/>
          <a:ln w="12700" cmpd="sng" cap="flat">
            <a:noFill/>
            <a:prstDash val="solid"/>
            <a:round/>
          </a:ln>
        </p:spPr>
      </p:pic>
    </p:spTree>
    <p:extLst>
      <p:ext uri="{BB962C8B-B14F-4D97-AF65-F5344CB8AC3E}">
        <p14:creationId xmlns:p14="http://schemas.microsoft.com/office/powerpoint/2010/main" val="1771509933"/>
      </p:ext>
    </p:extLst>
  </p:cSld>
  <p:clrMapOvr>
    <a:masterClrMapping/>
  </p:clrMapOvr>
</p:sld>
</file>

<file path=ppt/slides/slide6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2" name="Text box"/>
          <p:cNvSpPr>
            <a:spLocks noGrp="1"/>
          </p:cNvSpPr>
          <p:nvPr>
            <p:ph type="sldNum" idx="12"/>
          </p:nvPr>
        </p:nvSpPr>
        <p:spPr>
          <a:xfrm rot="0">
            <a:off x="5808664"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60</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sp>
        <p:nvSpPr>
          <p:cNvPr id="393"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Calibri" pitchFamily="0" charset="0"/>
              </a:rPr>
              <a:t>Left Skewed</a:t>
            </a:r>
            <a:endParaRPr lang="zh-CN" altLang="en-US" sz="40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94" name="Images" descr="skew_2"/>
          <p:cNvPicPr>
            <a:picLocks noChangeAspect="1"/>
          </p:cNvPicPr>
          <p:nvPr/>
        </p:nvPicPr>
        <p:blipFill>
          <a:blip r:embed="rId1" cstate="print"/>
          <a:stretch>
            <a:fillRect/>
          </a:stretch>
        </p:blipFill>
        <p:spPr>
          <a:xfrm rot="0">
            <a:off x="1847529" y="2060849"/>
            <a:ext cx="8702675" cy="3236912"/>
          </a:xfrm>
          <a:prstGeom prst="rect"/>
          <a:noFill/>
          <a:ln w="12700" cmpd="sng" cap="flat">
            <a:noFill/>
            <a:prstDash val="solid"/>
            <a:round/>
          </a:ln>
        </p:spPr>
      </p:pic>
    </p:spTree>
    <p:extLst>
      <p:ext uri="{BB962C8B-B14F-4D97-AF65-F5344CB8AC3E}">
        <p14:creationId xmlns:p14="http://schemas.microsoft.com/office/powerpoint/2010/main" val="486428681"/>
      </p:ext>
    </p:extLst>
  </p:cSld>
  <p:clrMapOvr>
    <a:masterClrMapping/>
  </p:clrMapOvr>
</p:sld>
</file>

<file path=ppt/slides/slide6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5" name="Text box"/>
          <p:cNvSpPr>
            <a:spLocks noGrp="1"/>
          </p:cNvSpPr>
          <p:nvPr>
            <p:ph type="sldNum" idx="12"/>
          </p:nvPr>
        </p:nvSpPr>
        <p:spPr>
          <a:xfrm rot="0">
            <a:off x="5880100" y="6524626"/>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61</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pic>
        <p:nvPicPr>
          <p:cNvPr id="396" name="Images" descr="central_tendancy"/>
          <p:cNvPicPr>
            <a:picLocks noChangeAspect="1"/>
          </p:cNvPicPr>
          <p:nvPr/>
        </p:nvPicPr>
        <p:blipFill>
          <a:blip r:embed="rId1" cstate="print"/>
          <a:stretch>
            <a:fillRect/>
          </a:stretch>
        </p:blipFill>
        <p:spPr>
          <a:xfrm rot="0">
            <a:off x="2783632" y="797146"/>
            <a:ext cx="7056785" cy="5633916"/>
          </a:xfrm>
          <a:prstGeom prst="rect"/>
          <a:noFill/>
          <a:ln w="12700" cmpd="sng" cap="flat">
            <a:noFill/>
            <a:prstDash val="solid"/>
            <a:round/>
          </a:ln>
        </p:spPr>
      </p:pic>
    </p:spTree>
    <p:extLst>
      <p:ext uri="{BB962C8B-B14F-4D97-AF65-F5344CB8AC3E}">
        <p14:creationId xmlns:p14="http://schemas.microsoft.com/office/powerpoint/2010/main" val="552182498"/>
      </p:ext>
    </p:extLst>
  </p:cSld>
  <p:clrMapOvr>
    <a:masterClrMapping/>
  </p:clrMapOvr>
</p:sld>
</file>

<file path=ppt/slides/slide6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7"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62</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
        <p:nvSpPr>
          <p:cNvPr id="398" name="Text box"/>
          <p:cNvSpPr>
            <a:spLocks noGrp="1"/>
          </p:cNvSpPr>
          <p:nvPr>
            <p:ph type="title"/>
          </p:nvPr>
        </p:nvSpPr>
        <p:spPr>
          <a:xfrm rot="0">
            <a:off x="3861816" y="363538"/>
            <a:ext cx="6272784" cy="779462"/>
          </a:xfrm>
          <a:prstGeom prst="rect"/>
          <a:noFill/>
          <a:ln w="28575" cmpd="sng" cap="flat">
            <a:solidFill>
              <a:srgbClr val="C0504D"/>
            </a:solid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Kurtosis</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399" name="Text box"/>
          <p:cNvSpPr>
            <a:spLocks noGrp="1"/>
          </p:cNvSpPr>
          <p:nvPr>
            <p:ph type="body" idx="1"/>
          </p:nvPr>
        </p:nvSpPr>
        <p:spPr>
          <a:xfrm rot="0">
            <a:off x="1847850" y="1495426"/>
            <a:ext cx="8496301"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1" i="0" u="none" strike="noStrike" kern="1200" cap="none" spc="0" baseline="0">
                <a:solidFill>
                  <a:schemeClr val="tx1"/>
                </a:solidFill>
                <a:latin typeface="Calibri" pitchFamily="0" charset="0"/>
                <a:ea typeface="ＭＳ Ｐゴシック" pitchFamily="0" charset="-128"/>
                <a:cs typeface="ＭＳ Ｐゴシック" pitchFamily="0" charset="-128"/>
              </a:rPr>
              <a:t>Kurtosis</a:t>
            </a: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 is the statistic which describes the degree of </a:t>
            </a: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peakedness</a:t>
            </a: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 or flatness of a probability distribution relative to the benchmark normal distribution. </a:t>
            </a:r>
            <a:endPar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endParaRPr>
          </a:p>
          <a:p>
            <a:pPr marL="342900" indent="-342900" algn="l">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In a similar way to the concept of skewness, </a:t>
            </a:r>
            <a:r>
              <a:rPr lang="en-US" altLang="zh-CN" sz="2800" b="0" i="1" u="none" strike="noStrike" kern="1200" cap="none" spc="0" baseline="0">
                <a:solidFill>
                  <a:schemeClr val="tx1"/>
                </a:solidFill>
                <a:latin typeface="Calibri" pitchFamily="0" charset="0"/>
                <a:ea typeface="ＭＳ Ｐゴシック" pitchFamily="0" charset="-128"/>
                <a:cs typeface="ＭＳ Ｐゴシック" pitchFamily="0" charset="-128"/>
              </a:rPr>
              <a:t>kurtosis</a:t>
            </a: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 is a descriptor of the shape of a probability distribution</a:t>
            </a:r>
            <a:endPar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endParaRPr>
          </a:p>
          <a:p>
            <a:pPr marL="342900" indent="-342900" algn="l">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Formula to measure kurtosis for univariate data </a:t>
            </a:r>
            <a:r>
              <a:rPr lang="en-US" altLang="zh-CN" sz="2800" b="0" i="1" u="none" strike="noStrike" kern="1200" cap="none" spc="0" baseline="0">
                <a:solidFill>
                  <a:schemeClr val="tx1"/>
                </a:solidFill>
                <a:latin typeface="Calibri" pitchFamily="0" charset="0"/>
                <a:ea typeface="ＭＳ Ｐゴシック" pitchFamily="0" charset="-128"/>
                <a:cs typeface="ＭＳ Ｐゴシック" pitchFamily="0" charset="-128"/>
              </a:rPr>
              <a:t>x</a:t>
            </a:r>
            <a:r>
              <a:rPr lang="en-US" altLang="zh-CN" sz="2800" b="0" i="1" u="none" strike="noStrike" kern="1200" cap="none" spc="0" baseline="-25000">
                <a:solidFill>
                  <a:schemeClr val="tx1"/>
                </a:solidFill>
                <a:latin typeface="Calibri" pitchFamily="0" charset="0"/>
                <a:ea typeface="ＭＳ Ｐゴシック" pitchFamily="0" charset="-128"/>
                <a:cs typeface="ＭＳ Ｐゴシック" pitchFamily="0" charset="-128"/>
              </a:rPr>
              <a:t>1</a:t>
            </a: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 </a:t>
            </a:r>
            <a:r>
              <a:rPr lang="en-US" altLang="zh-CN" sz="2800" b="0" i="1" u="none" strike="noStrike" kern="1200" cap="none" spc="0" baseline="0">
                <a:solidFill>
                  <a:schemeClr val="tx1"/>
                </a:solidFill>
                <a:latin typeface="Calibri" pitchFamily="0" charset="0"/>
                <a:ea typeface="ＭＳ Ｐゴシック" pitchFamily="0" charset="-128"/>
                <a:cs typeface="ＭＳ Ｐゴシック" pitchFamily="0" charset="-128"/>
              </a:rPr>
              <a:t>x</a:t>
            </a:r>
            <a:r>
              <a:rPr lang="en-US" altLang="zh-CN" sz="2800" b="0" i="1" u="none" strike="noStrike" kern="1200" cap="none" spc="0" baseline="-25000">
                <a:solidFill>
                  <a:schemeClr val="tx1"/>
                </a:solidFill>
                <a:latin typeface="Calibri" pitchFamily="0" charset="0"/>
                <a:ea typeface="ＭＳ Ｐゴシック" pitchFamily="0" charset="-128"/>
                <a:cs typeface="ＭＳ Ｐゴシック" pitchFamily="0" charset="-128"/>
              </a:rPr>
              <a:t>2</a:t>
            </a: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 .., </a:t>
            </a:r>
            <a:r>
              <a:rPr lang="en-US" altLang="zh-CN" sz="2800" b="0" i="1" u="none" strike="noStrike" kern="1200" cap="none" spc="0" baseline="0">
                <a:solidFill>
                  <a:schemeClr val="tx1"/>
                </a:solidFill>
                <a:latin typeface="Calibri" pitchFamily="0" charset="0"/>
                <a:ea typeface="ＭＳ Ｐゴシック" pitchFamily="0" charset="-128"/>
                <a:cs typeface="ＭＳ Ｐゴシック" pitchFamily="0" charset="-128"/>
              </a:rPr>
              <a:t>x</a:t>
            </a:r>
            <a:r>
              <a:rPr lang="en-US" altLang="zh-CN" sz="2800" b="0" i="1" u="none" strike="noStrike" kern="1200" cap="none" spc="0" baseline="-25000">
                <a:solidFill>
                  <a:schemeClr val="tx1"/>
                </a:solidFill>
                <a:latin typeface="Calibri" pitchFamily="0" charset="0"/>
                <a:ea typeface="ＭＳ Ｐゴシック" pitchFamily="0" charset="-128"/>
                <a:cs typeface="ＭＳ Ｐゴシック" pitchFamily="0" charset="-128"/>
              </a:rPr>
              <a:t>N</a:t>
            </a: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a:t>
            </a:r>
            <a:endPar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endParaRPr>
          </a:p>
          <a:p>
            <a:pPr marL="0" indent="0" algn="l">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ＭＳ Ｐゴシック" pitchFamily="0" charset="-128"/>
              </a:rPr>
              <a:t>              </a:t>
            </a:r>
            <a:r>
              <a:rPr lang="en-US" altLang="zh-CN" sz="3200" b="0" i="0" u="none" strike="noStrike" kern="1200" cap="none" spc="0" baseline="0">
                <a:solidFill>
                  <a:schemeClr val="tx1"/>
                </a:solidFill>
                <a:latin typeface="Calibri" pitchFamily="0" charset="0"/>
                <a:ea typeface="ＭＳ Ｐゴシック" pitchFamily="0" charset="-128"/>
                <a:cs typeface="ＭＳ Ｐゴシック" pitchFamily="0" charset="-128"/>
              </a:rPr>
              <a:t>Kurtosis =</a:t>
            </a:r>
            <a:endParaRPr lang="zh-CN" altLang="en-US" sz="3200" b="0" i="0" u="none" strike="noStrike" kern="1200" cap="none" spc="0" baseline="0">
              <a:solidFill>
                <a:schemeClr val="tx1"/>
              </a:solidFill>
              <a:latin typeface="Calibri" pitchFamily="0" charset="0"/>
              <a:ea typeface="ＭＳ Ｐゴシック" pitchFamily="0" charset="-128"/>
              <a:cs typeface="ＭＳ Ｐゴシック" pitchFamily="0" charset="-128"/>
            </a:endParaRPr>
          </a:p>
        </p:txBody>
      </p:sp>
      <p:graphicFrame>
        <p:nvGraphicFramePr>
          <p:cNvPr id="400" name="Object"/>
          <p:cNvGraphicFramePr>
            <a:graphicFrameLocks noChangeAspect="1"/>
          </p:cNvGraphicFramePr>
          <p:nvPr/>
        </p:nvGraphicFramePr>
        <p:xfrm>
          <a:off x="4911724" y="4652963"/>
          <a:ext cx="1905000" cy="1077911"/>
        </p:xfrm>
        <a:graphic>
          <a:graphicData uri="http://schemas.openxmlformats.org/presentationml/2006/ole">
            <mc:AlternateContent xmlns:mc="http://schemas.openxmlformats.org/markup-compatibility/2006">
              <mc:Choice xmlns:v="urn:schemas-microsoft-com:vml" Requires="v">
                <p:oleObj spid="" name="package" r:id="rId1" imgW="28041600" imgH="15849600" progId="package">
                  <p:embed/>
                </p:oleObj>
              </mc:Choice>
              <mc:Fallback>
                <p:oleObj name="package" r:id="rId1" imgW="28041600" imgH="15849600" progId="package">
                  <p:embed/>
                  <p:pic>
                    <p:nvPicPr>
                      <p:cNvPr id="400" name="Object"/>
                      <p:cNvPicPr>
                        <a:picLocks noChangeAspect="1"/>
                      </p:cNvPicPr>
                      <p:nvPr/>
                    </p:nvPicPr>
                    <p:blipFill>
                      <a:blip r:embed="rId2" cstate="print"/>
                      <a:stretch>
                        <a:fillRect/>
                      </a:stretch>
                    </p:blipFill>
                    <p:spPr>
                      <a:xfrm rot="0">
                        <a:off x="4911724" y="4652963"/>
                        <a:ext cx="1905000" cy="1077911"/>
                      </a:xfrm>
                      <a:prstGeom prst="rect"/>
                      <a:noFill/>
                      <a:ln cmpd="sng" cap="flat">
                        <a:noFill/>
                        <a:prstDash val="solid"/>
                        <a:miter/>
                      </a:ln>
                    </p:spPr>
                  </p:pic>
                </p:oleObj>
              </mc:Fallback>
            </mc:AlternateContent>
          </a:graphicData>
        </a:graphic>
      </p:graphicFrame>
    </p:spTree>
    <p:extLst>
      <p:ext uri="{BB962C8B-B14F-4D97-AF65-F5344CB8AC3E}">
        <p14:creationId xmlns:p14="http://schemas.microsoft.com/office/powerpoint/2010/main" val="371747176"/>
      </p:ext>
    </p:extLst>
  </p:cSld>
  <p:clrMapOvr>
    <a:masterClrMapping/>
  </p:clrMapOvr>
</p:sld>
</file>

<file path=ppt/slides/slide6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1" name="Text box"/>
          <p:cNvSpPr>
            <a:spLocks noGrp="1"/>
          </p:cNvSpPr>
          <p:nvPr>
            <p:ph type="title"/>
          </p:nvPr>
        </p:nvSpPr>
        <p:spPr>
          <a:xfrm rot="0">
            <a:off x="2557414" y="274638"/>
            <a:ext cx="7138987" cy="633412"/>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Calibri" pitchFamily="0" charset="0"/>
                <a:ea typeface="ＭＳ Ｐゴシック" pitchFamily="0" charset="-128"/>
                <a:cs typeface="Lucida Sans"/>
              </a:rPr>
              <a:t>Excess Kurtosis</a:t>
            </a:r>
            <a:endParaRPr lang="zh-CN" altLang="en-US" sz="4000" b="1" i="0" u="none" strike="noStrike" kern="1200" cap="none" spc="0" baseline="0">
              <a:solidFill>
                <a:schemeClr val="tx1"/>
              </a:solidFill>
              <a:latin typeface="Calibri" pitchFamily="0" charset="0"/>
              <a:ea typeface="ＭＳ Ｐゴシック" pitchFamily="0" charset="-128"/>
              <a:cs typeface="Lucida Sans"/>
            </a:endParaRPr>
          </a:p>
        </p:txBody>
      </p:sp>
      <p:sp>
        <p:nvSpPr>
          <p:cNvPr id="402" name="Text box"/>
          <p:cNvSpPr>
            <a:spLocks noGrp="1"/>
          </p:cNvSpPr>
          <p:nvPr>
            <p:ph type="body" idx="1"/>
          </p:nvPr>
        </p:nvSpPr>
        <p:spPr>
          <a:xfrm rot="0">
            <a:off x="1775520" y="1412777"/>
            <a:ext cx="8712968" cy="4886325"/>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a:lnSpc>
                <a:spcPct val="100000"/>
              </a:lnSpc>
              <a:spcBef>
                <a:spcPct val="20000"/>
              </a:spcBef>
              <a:spcAft>
                <a:spcPts val="0"/>
              </a:spcAft>
              <a:buFont typeface="Arial" pitchFamily="0" charset="0"/>
              <a:buChar char="•"/>
            </a:pPr>
            <a:r>
              <a:rPr lang="en-US" altLang="zh-CN" sz="2600" b="0" i="0" u="none" strike="noStrike" kern="1200" cap="none" spc="0" baseline="0">
                <a:solidFill>
                  <a:schemeClr val="tx1"/>
                </a:solidFill>
                <a:latin typeface="Calibri" pitchFamily="0" charset="0"/>
                <a:ea typeface="ＭＳ Ｐゴシック" pitchFamily="0" charset="-128"/>
                <a:cs typeface="Lucida Sans"/>
              </a:rPr>
              <a:t>Excess kurtosis is simply </a:t>
            </a:r>
            <a:r>
              <a:rPr lang="en-US" altLang="zh-CN" sz="2600" b="1" i="0" u="none" strike="noStrike" kern="1200" cap="none" spc="0" baseline="0">
                <a:solidFill>
                  <a:schemeClr val="tx1"/>
                </a:solidFill>
                <a:latin typeface="Calibri" pitchFamily="0" charset="0"/>
                <a:ea typeface="ＭＳ Ｐゴシック" pitchFamily="0" charset="-128"/>
                <a:cs typeface="Lucida Sans"/>
              </a:rPr>
              <a:t>kurtosis − 3</a:t>
            </a:r>
            <a:r>
              <a:rPr lang="en-US" altLang="zh-CN" sz="2600" b="0" i="0" u="none" strike="noStrike" kern="1200" cap="none" spc="0" baseline="0">
                <a:solidFill>
                  <a:schemeClr val="tx1"/>
                </a:solidFill>
                <a:latin typeface="Calibri" pitchFamily="0" charset="0"/>
                <a:ea typeface="ＭＳ Ｐゴシック" pitchFamily="0" charset="-128"/>
                <a:cs typeface="Lucida Sans"/>
              </a:rPr>
              <a:t>. </a:t>
            </a:r>
            <a:endParaRPr lang="en-US" altLang="zh-CN" sz="26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Font typeface="Arial" pitchFamily="0" charset="0"/>
              <a:buChar char="•"/>
            </a:pPr>
            <a:r>
              <a:rPr lang="en-US" altLang="zh-CN" sz="2600" b="0" i="0" u="none" strike="noStrike" kern="1200" cap="none" spc="0" baseline="0">
                <a:solidFill>
                  <a:schemeClr val="tx1"/>
                </a:solidFill>
                <a:latin typeface="Calibri" pitchFamily="0" charset="0"/>
                <a:ea typeface="ＭＳ Ｐゴシック" pitchFamily="0" charset="-128"/>
                <a:cs typeface="Lucida Sans"/>
              </a:rPr>
              <a:t>A normal distribution has kurtosis exactly 3 (excess kurtosis exactly 0). Any distribution with kurtosis ≈ 3 (excess ≈ 0) is called </a:t>
            </a:r>
            <a:r>
              <a:rPr lang="en-US" altLang="zh-CN" sz="2600" b="1" i="0" u="none" strike="noStrike" kern="1200" cap="none" spc="0" baseline="0">
                <a:solidFill>
                  <a:schemeClr val="tx1"/>
                </a:solidFill>
                <a:latin typeface="Calibri" pitchFamily="0" charset="0"/>
                <a:ea typeface="ＭＳ Ｐゴシック" pitchFamily="0" charset="-128"/>
                <a:cs typeface="Lucida Sans"/>
              </a:rPr>
              <a:t>mesokurtic</a:t>
            </a:r>
            <a:r>
              <a:rPr lang="en-US" altLang="zh-CN" sz="2600" b="0" i="0" u="none" strike="noStrike" kern="1200" cap="none" spc="0" baseline="0">
                <a:solidFill>
                  <a:schemeClr val="tx1"/>
                </a:solidFill>
                <a:latin typeface="Calibri" pitchFamily="0" charset="0"/>
                <a:ea typeface="ＭＳ Ｐゴシック" pitchFamily="0" charset="-128"/>
                <a:cs typeface="Lucida Sans"/>
              </a:rPr>
              <a:t>.</a:t>
            </a:r>
            <a:endParaRPr lang="en-US" altLang="zh-CN" sz="26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Font typeface="Arial" pitchFamily="0" charset="0"/>
              <a:buChar char="•"/>
            </a:pPr>
            <a:r>
              <a:rPr lang="en-US" altLang="zh-CN" sz="2600" b="0" i="0" u="none" strike="noStrike" kern="1200" cap="none" spc="0" baseline="0">
                <a:solidFill>
                  <a:schemeClr val="tx1"/>
                </a:solidFill>
                <a:latin typeface="Calibri" pitchFamily="0" charset="0"/>
                <a:ea typeface="ＭＳ Ｐゴシック" pitchFamily="0" charset="-128"/>
                <a:cs typeface="Lucida Sans"/>
              </a:rPr>
              <a:t>A distribution with </a:t>
            </a:r>
            <a:r>
              <a:rPr lang="en-US" altLang="zh-CN" sz="2600" b="1" i="0" u="none" strike="noStrike" kern="1200" cap="none" spc="0" baseline="0">
                <a:solidFill>
                  <a:schemeClr val="tx1"/>
                </a:solidFill>
                <a:latin typeface="Calibri" pitchFamily="0" charset="0"/>
                <a:ea typeface="ＭＳ Ｐゴシック" pitchFamily="0" charset="-128"/>
                <a:cs typeface="Lucida Sans"/>
              </a:rPr>
              <a:t>kurtosis &lt; 3</a:t>
            </a:r>
            <a:r>
              <a:rPr lang="en-US" altLang="zh-CN" sz="2600" b="0" i="0" u="none" strike="noStrike" kern="1200" cap="none" spc="0" baseline="0">
                <a:solidFill>
                  <a:schemeClr val="tx1"/>
                </a:solidFill>
                <a:latin typeface="Calibri" pitchFamily="0" charset="0"/>
                <a:ea typeface="ＭＳ Ｐゴシック" pitchFamily="0" charset="-128"/>
                <a:cs typeface="Lucida Sans"/>
              </a:rPr>
              <a:t> (excess kurtosis &lt; 0) is called </a:t>
            </a:r>
            <a:r>
              <a:rPr lang="en-US" altLang="zh-CN" sz="2600" b="1" i="0" u="none" strike="noStrike" kern="1200" cap="none" spc="0" baseline="0">
                <a:solidFill>
                  <a:schemeClr val="tx1"/>
                </a:solidFill>
                <a:latin typeface="Calibri" pitchFamily="0" charset="0"/>
                <a:ea typeface="ＭＳ Ｐゴシック" pitchFamily="0" charset="-128"/>
                <a:cs typeface="Lucida Sans"/>
              </a:rPr>
              <a:t>platykurtic</a:t>
            </a:r>
            <a:r>
              <a:rPr lang="en-US" altLang="zh-CN" sz="2600" b="0" i="0" u="none" strike="noStrike" kern="1200" cap="none" spc="0" baseline="0">
                <a:solidFill>
                  <a:schemeClr val="tx1"/>
                </a:solidFill>
                <a:latin typeface="Calibri" pitchFamily="0" charset="0"/>
                <a:ea typeface="ＭＳ Ｐゴシック" pitchFamily="0" charset="-128"/>
                <a:cs typeface="Lucida Sans"/>
              </a:rPr>
              <a:t>. Compared to a normal distribution, its tails are shorter and thinner, and often its </a:t>
            </a:r>
            <a:r>
              <a:rPr lang="en-US" altLang="zh-CN" sz="2600" b="1" i="0" u="none" strike="noStrike" kern="1200" cap="none" spc="0" baseline="0">
                <a:solidFill>
                  <a:schemeClr val="tx1"/>
                </a:solidFill>
                <a:latin typeface="Calibri" pitchFamily="0" charset="0"/>
                <a:ea typeface="ＭＳ Ｐゴシック" pitchFamily="0" charset="-128"/>
                <a:cs typeface="Lucida Sans"/>
              </a:rPr>
              <a:t>central peak is lower and broader</a:t>
            </a:r>
            <a:r>
              <a:rPr lang="en-US" altLang="zh-CN" sz="2600" b="0" i="0" u="none" strike="noStrike" kern="1200" cap="none" spc="0" baseline="0">
                <a:solidFill>
                  <a:schemeClr val="tx1"/>
                </a:solidFill>
                <a:latin typeface="Calibri" pitchFamily="0" charset="0"/>
                <a:ea typeface="ＭＳ Ｐゴシック" pitchFamily="0" charset="-128"/>
                <a:cs typeface="Lucida Sans"/>
              </a:rPr>
              <a:t>.</a:t>
            </a:r>
            <a:endParaRPr lang="en-US" altLang="zh-CN" sz="26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Font typeface="Arial" pitchFamily="0" charset="0"/>
              <a:buChar char="•"/>
            </a:pPr>
            <a:r>
              <a:rPr lang="en-US" altLang="zh-CN" sz="2600" b="0" i="0" u="none" strike="noStrike" kern="1200" cap="none" spc="0" baseline="0">
                <a:solidFill>
                  <a:schemeClr val="tx1"/>
                </a:solidFill>
                <a:latin typeface="Calibri" pitchFamily="0" charset="0"/>
                <a:ea typeface="ＭＳ Ｐゴシック" pitchFamily="0" charset="-128"/>
                <a:cs typeface="Lucida Sans"/>
              </a:rPr>
              <a:t>A distribution with </a:t>
            </a:r>
            <a:r>
              <a:rPr lang="en-US" altLang="zh-CN" sz="2600" b="1" i="0" u="none" strike="noStrike" kern="1200" cap="none" spc="0" baseline="0">
                <a:solidFill>
                  <a:schemeClr val="tx1"/>
                </a:solidFill>
                <a:latin typeface="Calibri" pitchFamily="0" charset="0"/>
                <a:ea typeface="ＭＳ Ｐゴシック" pitchFamily="0" charset="-128"/>
                <a:cs typeface="Lucida Sans"/>
              </a:rPr>
              <a:t>kurtosis &gt; 3</a:t>
            </a:r>
            <a:r>
              <a:rPr lang="en-US" altLang="zh-CN" sz="2600" b="0" i="0" u="none" strike="noStrike" kern="1200" cap="none" spc="0" baseline="0">
                <a:solidFill>
                  <a:schemeClr val="tx1"/>
                </a:solidFill>
                <a:latin typeface="Calibri" pitchFamily="0" charset="0"/>
                <a:ea typeface="ＭＳ Ｐゴシック" pitchFamily="0" charset="-128"/>
                <a:cs typeface="Lucida Sans"/>
              </a:rPr>
              <a:t> (excess kurtosis &gt; 0) is called </a:t>
            </a:r>
            <a:r>
              <a:rPr lang="en-US" altLang="zh-CN" sz="2600" b="1" i="0" u="none" strike="noStrike" kern="1200" cap="none" spc="0" baseline="0">
                <a:solidFill>
                  <a:schemeClr val="tx1"/>
                </a:solidFill>
                <a:latin typeface="Calibri" pitchFamily="0" charset="0"/>
                <a:ea typeface="ＭＳ Ｐゴシック" pitchFamily="0" charset="-128"/>
                <a:cs typeface="Lucida Sans"/>
              </a:rPr>
              <a:t>leptokurtic</a:t>
            </a:r>
            <a:r>
              <a:rPr lang="en-US" altLang="zh-CN" sz="2600" b="0" i="0" u="none" strike="noStrike" kern="1200" cap="none" spc="0" baseline="0">
                <a:solidFill>
                  <a:schemeClr val="tx1"/>
                </a:solidFill>
                <a:latin typeface="Calibri" pitchFamily="0" charset="0"/>
                <a:ea typeface="ＭＳ Ｐゴシック" pitchFamily="0" charset="-128"/>
                <a:cs typeface="Lucida Sans"/>
              </a:rPr>
              <a:t>. Compared to a normal distribution, its tails are longer and fatter, and often its </a:t>
            </a:r>
            <a:r>
              <a:rPr lang="en-US" altLang="zh-CN" sz="2600" b="1" i="0" u="none" strike="noStrike" kern="1200" cap="none" spc="0" baseline="0">
                <a:solidFill>
                  <a:schemeClr val="tx1"/>
                </a:solidFill>
                <a:latin typeface="Calibri" pitchFamily="0" charset="0"/>
                <a:ea typeface="ＭＳ Ｐゴシック" pitchFamily="0" charset="-128"/>
                <a:cs typeface="Lucida Sans"/>
              </a:rPr>
              <a:t>central peak is higher and sharper</a:t>
            </a:r>
            <a:r>
              <a:rPr lang="en-US" altLang="zh-CN" sz="2600" b="0" i="0" u="none" strike="noStrike" kern="1200" cap="none" spc="0" baseline="0">
                <a:solidFill>
                  <a:schemeClr val="tx1"/>
                </a:solidFill>
                <a:latin typeface="Calibri" pitchFamily="0" charset="0"/>
                <a:ea typeface="ＭＳ Ｐゴシック" pitchFamily="0" charset="-128"/>
                <a:cs typeface="Lucida Sans"/>
              </a:rPr>
              <a:t>.</a:t>
            </a:r>
            <a:endParaRPr lang="en-US" altLang="zh-CN" sz="26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a:lnSpc>
                <a:spcPct val="100000"/>
              </a:lnSpc>
              <a:spcBef>
                <a:spcPct val="20000"/>
              </a:spcBef>
              <a:spcAft>
                <a:spcPts val="0"/>
              </a:spcAft>
              <a:buFont typeface="Arial" pitchFamily="0" charset="0"/>
              <a:buChar char="•"/>
            </a:pPr>
            <a:endParaRPr lang="zh-CN" altLang="en-US" sz="2600" b="0" i="0" u="none" strike="noStrike" kern="1200" cap="none" spc="0" baseline="0">
              <a:solidFill>
                <a:schemeClr val="tx1"/>
              </a:solidFill>
              <a:latin typeface="Calibri" pitchFamily="0" charset="0"/>
              <a:ea typeface="ＭＳ Ｐゴシック" pitchFamily="0" charset="-128"/>
              <a:cs typeface="Lucida Sans"/>
            </a:endParaRPr>
          </a:p>
        </p:txBody>
      </p:sp>
      <p:sp>
        <p:nvSpPr>
          <p:cNvPr id="403" name="Text box"/>
          <p:cNvSpPr>
            <a:spLocks noGrp="1"/>
          </p:cNvSpPr>
          <p:nvPr>
            <p:ph type="sldNum" idx="12"/>
          </p:nvPr>
        </p:nvSpPr>
        <p:spPr>
          <a:xfrm rot="0">
            <a:off x="4648200" y="6519863"/>
            <a:ext cx="28956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MS PGothic" pitchFamily="34" charset="-128"/>
                <a:cs typeface="Calibri" pitchFamily="0" charset="0"/>
              </a:rPr>
              <a:t>63</a:t>
            </a:fld>
            <a:endParaRPr lang="zh-CN" altLang="en-US" sz="1000" b="1" i="0" u="none" strike="noStrike" kern="1200" cap="none" spc="0" baseline="0">
              <a:solidFill>
                <a:schemeClr val="bg1"/>
              </a:solidFill>
              <a:latin typeface="Arial" pitchFamily="0" charset="0"/>
              <a:ea typeface="MS PGothic" pitchFamily="34" charset="-128"/>
              <a:cs typeface="Calibri" pitchFamily="0" charset="0"/>
            </a:endParaRPr>
          </a:p>
        </p:txBody>
      </p:sp>
    </p:spTree>
    <p:extLst>
      <p:ext uri="{BB962C8B-B14F-4D97-AF65-F5344CB8AC3E}">
        <p14:creationId xmlns:p14="http://schemas.microsoft.com/office/powerpoint/2010/main" val="1647811280"/>
      </p:ext>
    </p:extLst>
  </p:cSld>
  <p:clrMapOvr>
    <a:masterClrMapping/>
  </p:clrMapOvr>
</p:sld>
</file>

<file path=ppt/slides/slide6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4" name="Text box"/>
          <p:cNvSpPr>
            <a:spLocks noGrp="1"/>
          </p:cNvSpPr>
          <p:nvPr>
            <p:ph type="sldNum" idx="12"/>
          </p:nvPr>
        </p:nvSpPr>
        <p:spPr>
          <a:xfrm rot="0">
            <a:off x="5880100" y="6519863"/>
            <a:ext cx="503237"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64</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pic>
        <p:nvPicPr>
          <p:cNvPr id="405" name="Images" descr="KurtosisPict"/>
          <p:cNvPicPr>
            <a:picLocks noChangeAspect="1"/>
          </p:cNvPicPr>
          <p:nvPr/>
        </p:nvPicPr>
        <p:blipFill>
          <a:blip r:embed="rId1" cstate="print"/>
          <a:stretch>
            <a:fillRect/>
          </a:stretch>
        </p:blipFill>
        <p:spPr>
          <a:xfrm rot="0">
            <a:off x="2058008" y="1143001"/>
            <a:ext cx="8075984" cy="5039643"/>
          </a:xfrm>
          <a:prstGeom prst="rect"/>
          <a:noFill/>
          <a:ln w="12700" cmpd="sng" cap="flat">
            <a:noFill/>
            <a:prstDash val="solid"/>
            <a:round/>
          </a:ln>
        </p:spPr>
      </p:pic>
    </p:spTree>
    <p:extLst>
      <p:ext uri="{BB962C8B-B14F-4D97-AF65-F5344CB8AC3E}">
        <p14:creationId xmlns:p14="http://schemas.microsoft.com/office/powerpoint/2010/main" val="391832098"/>
      </p:ext>
    </p:extLst>
  </p:cSld>
  <p:clrMapOvr>
    <a:masterClrMapping/>
  </p:clrMapOvr>
</p:sld>
</file>

<file path=ppt/slides/slide6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6" name="Text box"/>
          <p:cNvSpPr>
            <a:spLocks noGrp="1"/>
          </p:cNvSpPr>
          <p:nvPr>
            <p:ph type="sldNum" idx="12"/>
          </p:nvPr>
        </p:nvSpPr>
        <p:spPr>
          <a:xfrm rot="0">
            <a:off x="5880100" y="6519863"/>
            <a:ext cx="4318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chemeClr val="bg1"/>
                </a:solidFill>
                <a:latin typeface="Arial" pitchFamily="0" charset="0"/>
                <a:ea typeface="MS PGothic" pitchFamily="34" charset="-128"/>
                <a:cs typeface="Calibri" pitchFamily="0" charset="0"/>
              </a:rPr>
              <a:t>65</a:t>
            </a:fld>
            <a:endParaRPr lang="zh-CN" altLang="en-US" sz="1000" b="0" i="0" u="none" strike="noStrike" kern="1200" cap="none" spc="0" baseline="0">
              <a:solidFill>
                <a:schemeClr val="bg1"/>
              </a:solidFill>
              <a:latin typeface="Arial" pitchFamily="0" charset="0"/>
              <a:ea typeface="MS PGothic" pitchFamily="34" charset="-128"/>
              <a:cs typeface="Calibri" pitchFamily="0" charset="0"/>
            </a:endParaRPr>
          </a:p>
        </p:txBody>
      </p:sp>
      <p:pic>
        <p:nvPicPr>
          <p:cNvPr id="407" name="Images" descr="kurtosis"/>
          <p:cNvPicPr>
            <a:picLocks noChangeAspect="1"/>
          </p:cNvPicPr>
          <p:nvPr/>
        </p:nvPicPr>
        <p:blipFill>
          <a:blip r:embed="rId1" cstate="print"/>
          <a:stretch>
            <a:fillRect/>
          </a:stretch>
        </p:blipFill>
        <p:spPr>
          <a:xfrm rot="0">
            <a:off x="1816888" y="1628800"/>
            <a:ext cx="8241512" cy="4229799"/>
          </a:xfrm>
          <a:prstGeom prst="rect"/>
          <a:noFill/>
          <a:ln w="12700" cmpd="sng" cap="flat">
            <a:noFill/>
            <a:prstDash val="solid"/>
            <a:round/>
          </a:ln>
        </p:spPr>
      </p:pic>
    </p:spTree>
    <p:extLst>
      <p:ext uri="{BB962C8B-B14F-4D97-AF65-F5344CB8AC3E}">
        <p14:creationId xmlns:p14="http://schemas.microsoft.com/office/powerpoint/2010/main" val="1340976841"/>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3.xml><?xml version="1.0" encoding="utf-8"?>
<a:theme xmlns:a="http://schemas.openxmlformats.org/drawingml/2006/main" name="handoutMaster1">
  <a:themeElements>
    <a:clrScheme name="handout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andoutMaster1">
      <a:majorFont>
        <a:latin typeface=""/>
        <a:ea typeface=""/>
        <a:cs typeface=""/>
      </a:majorFont>
      <a:minorFont>
        <a:latin typeface=""/>
        <a:ea typeface=""/>
        <a:cs typeface=""/>
      </a:minorFont>
    </a:fontScheme>
    <a:fmtScheme name="handout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179</TotalTime>
  <Application>Honor_Office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Microsoft Office User</dc:creator>
  <cp:lastModifiedBy>HONOR Docs</cp:lastModifiedBy>
  <cp:revision>29</cp:revision>
  <cp:lastPrinted>2019-01-24T05:25:58Z</cp:lastPrinted>
  <dcterms:created xsi:type="dcterms:W3CDTF">2019-01-24T05:12:11Z</dcterms:created>
  <dcterms:modified xsi:type="dcterms:W3CDTF">2026-04-07T01:28:25Z</dcterms:modified>
</cp:coreProperties>
</file>