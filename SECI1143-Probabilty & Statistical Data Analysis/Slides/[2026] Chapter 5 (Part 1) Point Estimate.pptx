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350"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302" r:id="rId22"/>
    <p:sldId id="278" r:id="rId23"/>
    <p:sldId id="279" r:id="rId24"/>
    <p:sldId id="280" r:id="rId25"/>
    <p:sldId id="281" r:id="rId26"/>
    <p:sldId id="282" r:id="rId27"/>
    <p:sldId id="284" r:id="rId28"/>
    <p:sldId id="285" r:id="rId29"/>
    <p:sldId id="286" r:id="rId30"/>
    <p:sldId id="288" r:id="rId31"/>
    <p:sldId id="289" r:id="rId32"/>
    <p:sldId id="290" r:id="rId33"/>
    <p:sldId id="292" r:id="rId34"/>
    <p:sldId id="293" r:id="rId35"/>
    <p:sldId id="294" r:id="rId36"/>
    <p:sldId id="295" r:id="rId37"/>
    <p:sldId id="297" r:id="rId38"/>
    <p:sldId id="296" r:id="rId3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1pPr>
    <a:lvl2pPr marL="4572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2pPr>
    <a:lvl3pPr marL="9144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3pPr>
    <a:lvl4pPr marL="13716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4pPr>
    <a:lvl5pPr marL="1828800" algn="l" rtl="0" eaLnBrk="0" fontAlgn="base" hangingPunct="0">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5"/>
  </p:normalViewPr>
  <p:slideViewPr>
    <p:cSldViewPr>
      <p:cViewPr varScale="1">
        <p:scale>
          <a:sx n="69" d="100"/>
          <a:sy n="69" d="100"/>
        </p:scale>
        <p:origin x="468" y="56"/>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fld id="{6C195ED3-BEE2-4799-9A76-1283A9D00186}" type="datetimeFigureOut">
              <a:rPr lang="en-US"/>
              <a:pPr/>
              <a:t>27-Mar-26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BCC4F8A-C2AB-4AF6-8F57-2E9C919165D8}"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fld id="{D585F232-78F6-493C-B995-E948D86BD91A}" type="datetimeFigureOut">
              <a:rPr lang="en-US"/>
              <a:pPr/>
              <a:t>27-Mar-26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AE390BB-632C-43FB-9787-6E43B4B57C93}" type="slidenum">
              <a:rPr lang="en-US"/>
              <a:pPr/>
              <a:t>‹#›</a:t>
            </a:fld>
            <a:endParaRPr 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38248-4EBB-1F5D-5D32-316A9C59BA5D}"/>
            </a:ext>
          </a:extLst>
        </p:cNvPr>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01A7811A-443E-6CAB-38AB-D5FD9B7A8C89}"/>
              </a:ext>
            </a:extLst>
          </p:cNvPr>
          <p:cNvSpPr>
            <a:spLocks noGrp="1" noRot="1" noChangeAspect="1" noTextEdit="1"/>
          </p:cNvSpPr>
          <p:nvPr>
            <p:ph type="sldImg"/>
          </p:nvPr>
        </p:nvSpPr>
        <p:spPr>
          <a:xfrm>
            <a:off x="381000" y="685800"/>
            <a:ext cx="6096000" cy="3429000"/>
          </a:xfrm>
          <a:ln/>
        </p:spPr>
      </p:sp>
      <p:sp>
        <p:nvSpPr>
          <p:cNvPr id="97283" name="Notes Placeholder 2">
            <a:extLst>
              <a:ext uri="{FF2B5EF4-FFF2-40B4-BE49-F238E27FC236}">
                <a16:creationId xmlns:a16="http://schemas.microsoft.com/office/drawing/2014/main" id="{9A5ADDD2-4B69-96B3-AE53-EE252E205DF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ea typeface="ＭＳ Ｐゴシック" pitchFamily="34" charset="-128"/>
            </a:endParaRPr>
          </a:p>
        </p:txBody>
      </p:sp>
      <p:sp>
        <p:nvSpPr>
          <p:cNvPr id="97284" name="Footer Placeholder 3">
            <a:extLst>
              <a:ext uri="{FF2B5EF4-FFF2-40B4-BE49-F238E27FC236}">
                <a16:creationId xmlns:a16="http://schemas.microsoft.com/office/drawing/2014/main" id="{419E55BE-91F6-9D78-1F78-8FAC0C960D61}"/>
              </a:ext>
            </a:extLst>
          </p:cNvPr>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r>
              <a:rPr lang="en-MY" altLang="en-US" sz="1200" b="0"/>
              <a:t>prepared by Razana Alwee / edited by Suhaila Mohamad Yusuf</a:t>
            </a:r>
            <a:endParaRPr lang="en-US" altLang="en-US" sz="1200" b="0"/>
          </a:p>
        </p:txBody>
      </p:sp>
      <p:sp>
        <p:nvSpPr>
          <p:cNvPr id="97285" name="Slide Number Placeholder 4">
            <a:extLst>
              <a:ext uri="{FF2B5EF4-FFF2-40B4-BE49-F238E27FC236}">
                <a16:creationId xmlns:a16="http://schemas.microsoft.com/office/drawing/2014/main" id="{11C0B6D5-1070-DECD-750E-5EDA8AA5C27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fld id="{9E2B35FF-2C05-4E5D-B5D1-428CB668629F}" type="slidenum">
              <a:rPr lang="en-US" altLang="en-US" sz="1200" b="0"/>
              <a:pPr/>
              <a:t>1</a:t>
            </a:fld>
            <a:endParaRPr lang="en-US" altLang="en-US" sz="1200" b="0"/>
          </a:p>
        </p:txBody>
      </p:sp>
    </p:spTree>
    <p:extLst>
      <p:ext uri="{BB962C8B-B14F-4D97-AF65-F5344CB8AC3E}">
        <p14:creationId xmlns:p14="http://schemas.microsoft.com/office/powerpoint/2010/main" val="2711130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150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1507"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21508" name="Slide Number Placeholder 4"/>
          <p:cNvSpPr>
            <a:spLocks noGrp="1"/>
          </p:cNvSpPr>
          <p:nvPr>
            <p:ph type="sldNum" sz="quarter" idx="5"/>
          </p:nvPr>
        </p:nvSpPr>
        <p:spPr bwMode="auto">
          <a:noFill/>
          <a:ln>
            <a:miter lim="800000"/>
            <a:headEnd/>
            <a:tailEnd/>
          </a:ln>
        </p:spPr>
        <p:txBody>
          <a:bodyPr/>
          <a:lstStyle/>
          <a:p>
            <a:fld id="{BCDE71C7-FA28-4001-BCE1-BBB4ED758A0D}" type="slidenum">
              <a:rPr lang="en-US"/>
              <a:pPr/>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6627"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26628" name="Slide Number Placeholder 4"/>
          <p:cNvSpPr>
            <a:spLocks noGrp="1"/>
          </p:cNvSpPr>
          <p:nvPr>
            <p:ph type="sldNum" sz="quarter" idx="5"/>
          </p:nvPr>
        </p:nvSpPr>
        <p:spPr bwMode="auto">
          <a:noFill/>
          <a:ln>
            <a:miter lim="800000"/>
            <a:headEnd/>
            <a:tailEnd/>
          </a:ln>
        </p:spPr>
        <p:txBody>
          <a:bodyPr/>
          <a:lstStyle/>
          <a:p>
            <a:fld id="{7701E81E-1535-4E70-93D0-C9A75DA84AA6}" type="slidenum">
              <a:rPr lang="en-US"/>
              <a:pPr/>
              <a:t>10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867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28676" name="Slide Number Placeholder 4"/>
          <p:cNvSpPr>
            <a:spLocks noGrp="1"/>
          </p:cNvSpPr>
          <p:nvPr>
            <p:ph type="sldNum" sz="quarter" idx="5"/>
          </p:nvPr>
        </p:nvSpPr>
        <p:spPr bwMode="auto">
          <a:noFill/>
          <a:ln>
            <a:miter lim="800000"/>
            <a:headEnd/>
            <a:tailEnd/>
          </a:ln>
        </p:spPr>
        <p:txBody>
          <a:bodyPr/>
          <a:lstStyle/>
          <a:p>
            <a:fld id="{24C95656-AF3F-4629-9F0C-7A3FC3C88876}" type="slidenum">
              <a:rPr lang="en-US"/>
              <a:pPr/>
              <a:t>11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78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3789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37892" name="Slide Number Placeholder 4"/>
          <p:cNvSpPr>
            <a:spLocks noGrp="1"/>
          </p:cNvSpPr>
          <p:nvPr>
            <p:ph type="sldNum" sz="quarter" idx="5"/>
          </p:nvPr>
        </p:nvSpPr>
        <p:spPr bwMode="auto">
          <a:noFill/>
          <a:ln>
            <a:miter lim="800000"/>
            <a:headEnd/>
            <a:tailEnd/>
          </a:ln>
        </p:spPr>
        <p:txBody>
          <a:bodyPr/>
          <a:lstStyle/>
          <a:p>
            <a:fld id="{AF0720C8-3F87-4282-8189-01645C2B7010}" type="slidenum">
              <a:rPr lang="en-US"/>
              <a:pPr/>
              <a:t>19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993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39939"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39940" name="Slide Number Placeholder 4"/>
          <p:cNvSpPr>
            <a:spLocks noGrp="1"/>
          </p:cNvSpPr>
          <p:nvPr>
            <p:ph type="sldNum" sz="quarter" idx="5"/>
          </p:nvPr>
        </p:nvSpPr>
        <p:spPr bwMode="auto">
          <a:noFill/>
          <a:ln>
            <a:miter lim="800000"/>
            <a:headEnd/>
            <a:tailEnd/>
          </a:ln>
        </p:spPr>
        <p:txBody>
          <a:bodyPr/>
          <a:lstStyle/>
          <a:p>
            <a:fld id="{4116476F-6E48-4C08-8D20-2E38DD7A6073}" type="slidenum">
              <a:rPr lang="en-US"/>
              <a:pPr/>
              <a:t>20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MY" dirty="0"/>
              <a:t>How to calculate CL: https://www.google.com/search?q=how+to+read+confidence+interval+using+z+table&amp;rlz=1C1CHBD_enMY1088MY1092&amp;oq=how+to+read+confidence+interval+using+z+table&amp;gs_lcrp=EgZjaHJvbWUyBggAEEUYOTIHCAEQIRigATIHCAIQIRigAdIBCTEyMjkyajBqN6gCALACAA&amp;sourceid=chrome&amp;ie=UTF-8#kpvalbx=_1GJJZtCkLd_C4-EPxu2EgAo_28</a:t>
            </a:r>
            <a:endParaRPr lang="en-GB" dirty="0"/>
          </a:p>
        </p:txBody>
      </p:sp>
      <p:sp>
        <p:nvSpPr>
          <p:cNvPr id="4" name="Slide Number Placeholder 3"/>
          <p:cNvSpPr>
            <a:spLocks noGrp="1"/>
          </p:cNvSpPr>
          <p:nvPr>
            <p:ph type="sldNum" sz="quarter" idx="5"/>
          </p:nvPr>
        </p:nvSpPr>
        <p:spPr/>
        <p:txBody>
          <a:bodyPr/>
          <a:lstStyle/>
          <a:p>
            <a:fld id="{EAE390BB-632C-43FB-9787-6E43B4B57C93}" type="slidenum">
              <a:rPr lang="en-US" smtClean="0"/>
              <a:pPr/>
              <a:t>21</a:t>
            </a:fld>
            <a:endParaRPr lang="en-US"/>
          </a:p>
        </p:txBody>
      </p:sp>
    </p:spTree>
    <p:extLst>
      <p:ext uri="{BB962C8B-B14F-4D97-AF65-F5344CB8AC3E}">
        <p14:creationId xmlns:p14="http://schemas.microsoft.com/office/powerpoint/2010/main" val="2319590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40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4403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44036" name="Slide Number Placeholder 4"/>
          <p:cNvSpPr>
            <a:spLocks noGrp="1"/>
          </p:cNvSpPr>
          <p:nvPr>
            <p:ph type="sldNum" sz="quarter" idx="5"/>
          </p:nvPr>
        </p:nvSpPr>
        <p:spPr bwMode="auto">
          <a:noFill/>
          <a:ln>
            <a:miter lim="800000"/>
            <a:headEnd/>
            <a:tailEnd/>
          </a:ln>
        </p:spPr>
        <p:txBody>
          <a:bodyPr/>
          <a:lstStyle/>
          <a:p>
            <a:fld id="{4CF2CB4B-CACA-4952-97A1-0C7ADC34EF6F}" type="slidenum">
              <a:rPr lang="en-US"/>
              <a:pPr/>
              <a:t>23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813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4813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48132" name="Slide Number Placeholder 4"/>
          <p:cNvSpPr>
            <a:spLocks noGrp="1"/>
          </p:cNvSpPr>
          <p:nvPr>
            <p:ph type="sldNum" sz="quarter" idx="5"/>
          </p:nvPr>
        </p:nvSpPr>
        <p:spPr bwMode="auto">
          <a:noFill/>
          <a:ln>
            <a:miter lim="800000"/>
            <a:headEnd/>
            <a:tailEnd/>
          </a:ln>
        </p:spPr>
        <p:txBody>
          <a:bodyPr/>
          <a:lstStyle/>
          <a:p>
            <a:fld id="{B7089B9D-B1AF-4934-83DE-BDFFCD608D84}" type="slidenum">
              <a:rPr lang="en-US"/>
              <a:pPr/>
              <a:t>26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017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The standard error is sqrt 789×(1−.789)/ 350 = 0.0218 — multiply by 1.645, the margin if error is 0.036 to three decimal places. Thus the 95% confidence interval is (0.753, 0.825). </a:t>
            </a:r>
          </a:p>
        </p:txBody>
      </p:sp>
      <p:sp>
        <p:nvSpPr>
          <p:cNvPr id="50179"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50180" name="Slide Number Placeholder 4"/>
          <p:cNvSpPr>
            <a:spLocks noGrp="1"/>
          </p:cNvSpPr>
          <p:nvPr>
            <p:ph type="sldNum" sz="quarter" idx="5"/>
          </p:nvPr>
        </p:nvSpPr>
        <p:spPr bwMode="auto">
          <a:noFill/>
          <a:ln>
            <a:miter lim="800000"/>
            <a:headEnd/>
            <a:tailEnd/>
          </a:ln>
        </p:spPr>
        <p:txBody>
          <a:bodyPr/>
          <a:lstStyle/>
          <a:p>
            <a:fld id="{F4E0EDF6-D6BF-477C-8517-6742DC8DD522}" type="slidenum">
              <a:rPr lang="en-US"/>
              <a:pPr/>
              <a:t>27</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42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427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54276" name="Slide Number Placeholder 4"/>
          <p:cNvSpPr>
            <a:spLocks noGrp="1"/>
          </p:cNvSpPr>
          <p:nvPr>
            <p:ph type="sldNum" sz="quarter" idx="5"/>
          </p:nvPr>
        </p:nvSpPr>
        <p:spPr bwMode="auto">
          <a:noFill/>
          <a:ln>
            <a:miter lim="800000"/>
            <a:headEnd/>
            <a:tailEnd/>
          </a:ln>
        </p:spPr>
        <p:txBody>
          <a:bodyPr/>
          <a:lstStyle/>
          <a:p>
            <a:fld id="{DD217F5B-136D-47FC-8D69-2E43BA6FA6F3}" type="slidenum">
              <a:rPr lang="en-US"/>
              <a:pPr/>
              <a:t>29</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734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7347"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57348" name="Slide Number Placeholder 4"/>
          <p:cNvSpPr>
            <a:spLocks noGrp="1"/>
          </p:cNvSpPr>
          <p:nvPr>
            <p:ph type="sldNum" sz="quarter" idx="5"/>
          </p:nvPr>
        </p:nvSpPr>
        <p:spPr bwMode="auto">
          <a:noFill/>
          <a:ln>
            <a:miter lim="800000"/>
            <a:headEnd/>
            <a:tailEnd/>
          </a:ln>
        </p:spPr>
        <p:txBody>
          <a:bodyPr/>
          <a:lstStyle/>
          <a:p>
            <a:fld id="{01DD974B-9314-4B4F-88FB-18AB21BDCF00}" type="slidenum">
              <a:rPr lang="en-US"/>
              <a:pPr/>
              <a:t>31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939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5939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59396" name="Slide Number Placeholder 4"/>
          <p:cNvSpPr>
            <a:spLocks noGrp="1"/>
          </p:cNvSpPr>
          <p:nvPr>
            <p:ph type="sldNum" sz="quarter" idx="5"/>
          </p:nvPr>
        </p:nvSpPr>
        <p:spPr bwMode="auto">
          <a:noFill/>
          <a:ln>
            <a:miter lim="800000"/>
            <a:headEnd/>
            <a:tailEnd/>
          </a:ln>
        </p:spPr>
        <p:txBody>
          <a:bodyPr/>
          <a:lstStyle/>
          <a:p>
            <a:fld id="{3AB343D3-AD1B-41C9-A7DE-924928E79BA1}" type="slidenum">
              <a:rPr lang="en-US"/>
              <a:pPr/>
              <a:t>32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45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a:p>
        </p:txBody>
      </p:sp>
      <p:sp>
        <p:nvSpPr>
          <p:cNvPr id="6451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64516" name="Slide Number Placeholder 4"/>
          <p:cNvSpPr>
            <a:spLocks noGrp="1"/>
          </p:cNvSpPr>
          <p:nvPr>
            <p:ph type="sldNum" sz="quarter" idx="5"/>
          </p:nvPr>
        </p:nvSpPr>
        <p:spPr bwMode="auto">
          <a:noFill/>
          <a:ln>
            <a:miter lim="800000"/>
            <a:headEnd/>
            <a:tailEnd/>
          </a:ln>
        </p:spPr>
        <p:txBody>
          <a:bodyPr/>
          <a:lstStyle/>
          <a:p>
            <a:fld id="{1375416D-B053-481F-AAD7-1CC250F5E5F7}" type="slidenum">
              <a:rPr lang="en-US"/>
              <a:pPr/>
              <a:t>36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665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66563"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atin typeface="Calibri" pitchFamily="34" charset="0"/>
                <a:ea typeface="MS PGothic" pitchFamily="34" charset="-128"/>
              </a:rPr>
              <a:t>prepared by Razana Alwee</a:t>
            </a:r>
          </a:p>
        </p:txBody>
      </p:sp>
      <p:sp>
        <p:nvSpPr>
          <p:cNvPr id="66564" name="Slide Number Placeholder 4"/>
          <p:cNvSpPr>
            <a:spLocks noGrp="1"/>
          </p:cNvSpPr>
          <p:nvPr>
            <p:ph type="sldNum" sz="quarter" idx="5"/>
          </p:nvPr>
        </p:nvSpPr>
        <p:spPr bwMode="auto">
          <a:noFill/>
          <a:ln>
            <a:miter lim="800000"/>
            <a:headEnd/>
            <a:tailEnd/>
          </a:ln>
        </p:spPr>
        <p:txBody>
          <a:bodyPr/>
          <a:lstStyle/>
          <a:p>
            <a:fld id="{D6D35B30-D245-4B47-B95E-211A511F961D}" type="slidenum">
              <a:rPr lang="en-US"/>
              <a:pPr/>
              <a:t>37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MY"/>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MY"/>
          </a:p>
        </p:txBody>
      </p:sp>
      <p:sp>
        <p:nvSpPr>
          <p:cNvPr id="4" name="Date Placeholder 3"/>
          <p:cNvSpPr>
            <a:spLocks noGrp="1"/>
          </p:cNvSpPr>
          <p:nvPr>
            <p:ph type="dt" sz="half" idx="10"/>
          </p:nvPr>
        </p:nvSpPr>
        <p:spPr/>
        <p:txBody>
          <a:bodyPr/>
          <a:lstStyle>
            <a:lvl1pPr>
              <a:defRPr/>
            </a:lvl1pPr>
          </a:lstStyle>
          <a:p>
            <a:fld id="{A136CE88-1538-4B9C-8564-9A2B879AF4BB}" type="datetime1">
              <a:rPr lang="en-US"/>
              <a:pPr/>
              <a:t>27-Mar-26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02785971-BD7E-4C44-BFBD-3379690651FA}"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7139E4A9-6C07-48BD-BE11-6AA1B16F920F}" type="datetime1">
              <a:rPr lang="en-US"/>
              <a:pPr/>
              <a:t>27-Mar-26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69F166CC-11A2-440A-9365-80F04C934108}"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E2AE727C-AC2F-4B2F-91FE-6033B102CAED}" type="datetime1">
              <a:rPr lang="en-US"/>
              <a:pPr/>
              <a:t>27-Mar-26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500D9553-E631-4D1C-A9CB-77D277229F07}"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3"/>
          <p:cNvSpPr>
            <a:spLocks noGrp="1"/>
          </p:cNvSpPr>
          <p:nvPr>
            <p:ph type="dt" sz="half" idx="10"/>
          </p:nvPr>
        </p:nvSpPr>
        <p:spPr/>
        <p:txBody>
          <a:bodyPr/>
          <a:lstStyle>
            <a:lvl1pPr>
              <a:defRPr/>
            </a:lvl1pPr>
          </a:lstStyle>
          <a:p>
            <a:fld id="{D49648EA-30CB-4B61-8C28-D29C5098411B}" type="datetime1">
              <a:rPr lang="en-US"/>
              <a:pPr/>
              <a:t>27-Mar-26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3D5E158A-46CF-49D1-A168-378ACE88219C}"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3"/>
          <p:cNvSpPr>
            <a:spLocks noGrp="1"/>
          </p:cNvSpPr>
          <p:nvPr>
            <p:ph type="dt" sz="half" idx="10"/>
          </p:nvPr>
        </p:nvSpPr>
        <p:spPr/>
        <p:txBody>
          <a:bodyPr/>
          <a:lstStyle>
            <a:lvl1pPr>
              <a:defRPr/>
            </a:lvl1pPr>
          </a:lstStyle>
          <a:p>
            <a:fld id="{91A54904-04A5-42AE-B26C-43573B860B9E}" type="datetime1">
              <a:rPr lang="en-US"/>
              <a:pPr/>
              <a:t>27-Mar-26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MY"/>
          </a:p>
        </p:txBody>
      </p:sp>
      <p:sp>
        <p:nvSpPr>
          <p:cNvPr id="9" name="Slide Number Placeholder 5"/>
          <p:cNvSpPr>
            <a:spLocks noGrp="1"/>
          </p:cNvSpPr>
          <p:nvPr>
            <p:ph type="sldNum" sz="quarter" idx="12"/>
          </p:nvPr>
        </p:nvSpPr>
        <p:spPr/>
        <p:txBody>
          <a:bodyPr/>
          <a:lstStyle>
            <a:lvl1pPr>
              <a:defRPr/>
            </a:lvl1pPr>
          </a:lstStyle>
          <a:p>
            <a:fld id="{9799DA58-DE2D-4170-8BA3-DDA1FE9DD4D5}"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p:txBody>
          <a:bodyPr/>
          <a:lstStyle>
            <a:lvl1pPr>
              <a:defRPr/>
            </a:lvl1pPr>
          </a:lstStyle>
          <a:p>
            <a:fld id="{F4813F60-DA76-4E17-87D2-BAF631D5B901}" type="datetime1">
              <a:rPr lang="en-US"/>
              <a:pPr/>
              <a:t>27-Mar-26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MY"/>
          </a:p>
        </p:txBody>
      </p:sp>
      <p:sp>
        <p:nvSpPr>
          <p:cNvPr id="5" name="Slide Number Placeholder 5"/>
          <p:cNvSpPr>
            <a:spLocks noGrp="1"/>
          </p:cNvSpPr>
          <p:nvPr>
            <p:ph type="sldNum" sz="quarter" idx="12"/>
          </p:nvPr>
        </p:nvSpPr>
        <p:spPr/>
        <p:txBody>
          <a:bodyPr/>
          <a:lstStyle>
            <a:lvl1pPr>
              <a:defRPr/>
            </a:lvl1pPr>
          </a:lstStyle>
          <a:p>
            <a:fld id="{4019F7DB-12EE-48AA-A0D2-F806209AC6DC}"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64B9CC0C-7853-4435-920B-008AF5547252}" type="datetime1">
              <a:rPr lang="en-US"/>
              <a:pPr/>
              <a:t>27-Mar-26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MY"/>
          </a:p>
        </p:txBody>
      </p:sp>
      <p:sp>
        <p:nvSpPr>
          <p:cNvPr id="4" name="Slide Number Placeholder 5"/>
          <p:cNvSpPr>
            <a:spLocks noGrp="1"/>
          </p:cNvSpPr>
          <p:nvPr>
            <p:ph type="sldNum" sz="quarter" idx="12"/>
          </p:nvPr>
        </p:nvSpPr>
        <p:spPr/>
        <p:txBody>
          <a:bodyPr/>
          <a:lstStyle>
            <a:lvl1pPr>
              <a:defRPr/>
            </a:lvl1pPr>
          </a:lstStyle>
          <a:p>
            <a:fld id="{0F26DDAC-EB89-47B9-AE3A-6B655D0B1FE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0704801-F1E2-4BE0-8D27-BF5DD4C3D32C}" type="datetime1">
              <a:rPr lang="en-US"/>
              <a:pPr/>
              <a:t>27-Mar-26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1DA241AD-2172-4249-A3D7-32D00FDA368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AD329A86-BA44-4C79-8624-40FBAFA84731}" type="datetime1">
              <a:rPr lang="en-US"/>
              <a:pPr/>
              <a:t>27-Mar-26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MY"/>
          </a:p>
        </p:txBody>
      </p:sp>
      <p:sp>
        <p:nvSpPr>
          <p:cNvPr id="7" name="Slide Number Placeholder 5"/>
          <p:cNvSpPr>
            <a:spLocks noGrp="1"/>
          </p:cNvSpPr>
          <p:nvPr>
            <p:ph type="sldNum" sz="quarter" idx="12"/>
          </p:nvPr>
        </p:nvSpPr>
        <p:spPr/>
        <p:txBody>
          <a:bodyPr/>
          <a:lstStyle>
            <a:lvl1pPr>
              <a:defRPr/>
            </a:lvl1pPr>
          </a:lstStyle>
          <a:p>
            <a:fld id="{196F4F95-66D5-49B6-AC9C-B2556FBF4AFF}"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00BC1585-1D4C-40AE-AECC-705A9E074ED0}" type="datetime1">
              <a:rPr lang="en-US"/>
              <a:pPr/>
              <a:t>27-Mar-26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DF4517BF-D1F1-4EF3-AE0B-AD2B557DCED1}"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fld id="{91A86B0F-D231-4CA8-9D35-44362BCC65C4}" type="datetime1">
              <a:rPr lang="en-US"/>
              <a:pPr/>
              <a:t>27-Mar-26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fld id="{7909884D-5842-435E-B390-3D8093ED24B1}"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cs typeface="Arial" pitchFamily="34" charset="0"/>
              </a:defRPr>
            </a:lvl1pPr>
          </a:lstStyle>
          <a:p>
            <a:fld id="{7C7A6A0B-0D53-4C71-A39B-05DD7128A059}" type="datetime1">
              <a:rPr lang="en-US"/>
              <a:pPr/>
              <a:t>27-Mar-26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MY"/>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itchFamily="34" charset="0"/>
              </a:defRPr>
            </a:lvl1pPr>
          </a:lstStyle>
          <a:p>
            <a:fld id="{5C13F280-4A44-45A5-84C7-26ADC9E91246}" type="slidenum">
              <a:rPr lang="en-US"/>
              <a:pPr/>
              <a:t>‹#›</a:t>
            </a:fld>
            <a:endParaRPr lang="en-US"/>
          </a:p>
        </p:txBody>
      </p:sp>
      <p:grpSp>
        <p:nvGrpSpPr>
          <p:cNvPr id="2" name="Google Shape;263;p1">
            <a:extLst>
              <a:ext uri="{FF2B5EF4-FFF2-40B4-BE49-F238E27FC236}">
                <a16:creationId xmlns:a16="http://schemas.microsoft.com/office/drawing/2014/main" id="{319D57F6-414F-715D-0DF3-CE78D6F870F5}"/>
              </a:ext>
            </a:extLst>
          </p:cNvPr>
          <p:cNvGrpSpPr/>
          <p:nvPr userDrawn="1"/>
        </p:nvGrpSpPr>
        <p:grpSpPr>
          <a:xfrm>
            <a:off x="11728422" y="0"/>
            <a:ext cx="158778" cy="6858000"/>
            <a:chOff x="0" y="-47625"/>
            <a:chExt cx="72806" cy="2756958"/>
          </a:xfrm>
        </p:grpSpPr>
        <p:sp>
          <p:nvSpPr>
            <p:cNvPr id="3" name="Google Shape;264;p1">
              <a:extLst>
                <a:ext uri="{FF2B5EF4-FFF2-40B4-BE49-F238E27FC236}">
                  <a16:creationId xmlns:a16="http://schemas.microsoft.com/office/drawing/2014/main" id="{D3E6B458-2222-FAB8-C8A7-475883EEE956}"/>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3EA8BAF5-6BED-03CE-B278-5BD9B03ACE9D}"/>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8" name="Google Shape;268;p1">
            <a:extLst>
              <a:ext uri="{FF2B5EF4-FFF2-40B4-BE49-F238E27FC236}">
                <a16:creationId xmlns:a16="http://schemas.microsoft.com/office/drawing/2014/main" id="{D5C6E27D-385F-2764-708C-7CF37D0CEF35}"/>
              </a:ext>
            </a:extLst>
          </p:cNvPr>
          <p:cNvSpPr/>
          <p:nvPr userDrawn="1"/>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269;p1">
            <a:extLst>
              <a:ext uri="{FF2B5EF4-FFF2-40B4-BE49-F238E27FC236}">
                <a16:creationId xmlns:a16="http://schemas.microsoft.com/office/drawing/2014/main" id="{99D74EA7-C62E-7F89-70B8-0291DA46491F}"/>
              </a:ext>
            </a:extLst>
          </p:cNvPr>
          <p:cNvSpPr txBox="1"/>
          <p:nvPr userDrawn="1"/>
        </p:nvSpPr>
        <p:spPr>
          <a:xfrm>
            <a:off x="609476" y="6356352"/>
            <a:ext cx="3860800" cy="323165"/>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S PGothic" panose="020B0600070205080204" pitchFamily="34" charset="-128"/>
          <a:cs typeface="MS PGothic" charset="0"/>
        </a:defRPr>
      </a:lvl1pPr>
      <a:lvl2pPr algn="ctr" rtl="0" eaLnBrk="0" fontAlgn="base" hangingPunct="0">
        <a:spcBef>
          <a:spcPct val="0"/>
        </a:spcBef>
        <a:spcAft>
          <a:spcPct val="0"/>
        </a:spcAft>
        <a:defRPr sz="4400">
          <a:solidFill>
            <a:schemeClr val="tx1"/>
          </a:solidFill>
          <a:latin typeface="Calibri" pitchFamily="-112" charset="0"/>
          <a:ea typeface="MS PGothic" panose="020B0600070205080204" pitchFamily="34" charset="-128"/>
          <a:cs typeface="MS PGothic" charset="0"/>
        </a:defRPr>
      </a:lvl2pPr>
      <a:lvl3pPr algn="ctr" rtl="0" eaLnBrk="0" fontAlgn="base" hangingPunct="0">
        <a:spcBef>
          <a:spcPct val="0"/>
        </a:spcBef>
        <a:spcAft>
          <a:spcPct val="0"/>
        </a:spcAft>
        <a:defRPr sz="4400">
          <a:solidFill>
            <a:schemeClr val="tx1"/>
          </a:solidFill>
          <a:latin typeface="Calibri" pitchFamily="-112" charset="0"/>
          <a:ea typeface="MS PGothic" panose="020B0600070205080204" pitchFamily="34" charset="-128"/>
          <a:cs typeface="MS PGothic" charset="0"/>
        </a:defRPr>
      </a:lvl3pPr>
      <a:lvl4pPr algn="ctr" rtl="0" eaLnBrk="0" fontAlgn="base" hangingPunct="0">
        <a:spcBef>
          <a:spcPct val="0"/>
        </a:spcBef>
        <a:spcAft>
          <a:spcPct val="0"/>
        </a:spcAft>
        <a:defRPr sz="4400">
          <a:solidFill>
            <a:schemeClr val="tx1"/>
          </a:solidFill>
          <a:latin typeface="Calibri" pitchFamily="-112" charset="0"/>
          <a:ea typeface="MS PGothic" panose="020B0600070205080204" pitchFamily="34" charset="-128"/>
          <a:cs typeface="MS PGothic" charset="0"/>
        </a:defRPr>
      </a:lvl4pPr>
      <a:lvl5pPr algn="ctr" rtl="0" eaLnBrk="0" fontAlgn="base" hangingPunct="0">
        <a:spcBef>
          <a:spcPct val="0"/>
        </a:spcBef>
        <a:spcAft>
          <a:spcPct val="0"/>
        </a:spcAft>
        <a:defRPr sz="4400">
          <a:solidFill>
            <a:schemeClr val="tx1"/>
          </a:solidFill>
          <a:latin typeface="Calibri" pitchFamily="-112" charset="0"/>
          <a:ea typeface="MS PGothic" panose="020B0600070205080204" pitchFamily="34" charset="-128"/>
          <a:cs typeface="MS PGothic" charset="0"/>
        </a:defRPr>
      </a:lvl5pPr>
      <a:lvl6pPr marL="457200" algn="ctr" rtl="0" fontAlgn="base">
        <a:spcBef>
          <a:spcPct val="0"/>
        </a:spcBef>
        <a:spcAft>
          <a:spcPct val="0"/>
        </a:spcAft>
        <a:defRPr sz="4400">
          <a:solidFill>
            <a:schemeClr val="tx1"/>
          </a:solidFill>
          <a:latin typeface="Calibri" pitchFamily="-112" charset="0"/>
        </a:defRPr>
      </a:lvl6pPr>
      <a:lvl7pPr marL="914400" algn="ctr" rtl="0" fontAlgn="base">
        <a:spcBef>
          <a:spcPct val="0"/>
        </a:spcBef>
        <a:spcAft>
          <a:spcPct val="0"/>
        </a:spcAft>
        <a:defRPr sz="4400">
          <a:solidFill>
            <a:schemeClr val="tx1"/>
          </a:solidFill>
          <a:latin typeface="Calibri" pitchFamily="-112" charset="0"/>
        </a:defRPr>
      </a:lvl7pPr>
      <a:lvl8pPr marL="1371600" algn="ctr" rtl="0" fontAlgn="base">
        <a:spcBef>
          <a:spcPct val="0"/>
        </a:spcBef>
        <a:spcAft>
          <a:spcPct val="0"/>
        </a:spcAft>
        <a:defRPr sz="4400">
          <a:solidFill>
            <a:schemeClr val="tx1"/>
          </a:solidFill>
          <a:latin typeface="Calibri" pitchFamily="-112" charset="0"/>
        </a:defRPr>
      </a:lvl8pPr>
      <a:lvl9pPr marL="1828800" algn="ctr" rtl="0" fontAlgn="base">
        <a:spcBef>
          <a:spcPct val="0"/>
        </a:spcBef>
        <a:spcAft>
          <a:spcPct val="0"/>
        </a:spcAft>
        <a:defRPr sz="4400">
          <a:solidFill>
            <a:schemeClr val="tx1"/>
          </a:solidFill>
          <a:latin typeface="Calibri" pitchFamily="-112"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panose="020B0600070205080204" pitchFamily="34" charset="-128"/>
          <a:cs typeface="MS PGothic"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panose="020B0600070205080204" pitchFamily="34" charset="-128"/>
          <a:cs typeface="MS PGothic" charset="0"/>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panose="020B0600070205080204" pitchFamily="34" charset="-128"/>
          <a:cs typeface="MS PGothic" charset="0"/>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anose="020B0600070205080204" pitchFamily="34" charset="-128"/>
          <a:cs typeface="MS PGothic" charset="0"/>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panose="020B0600070205080204" pitchFamily="34" charset="-128"/>
          <a:cs typeface="MS PGothic"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6.e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image" Target="../media/image7.emf"/></Relationships>
</file>

<file path=ppt/slides/_rels/slide20.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e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7.emf"/><Relationship Id="rId4" Type="http://schemas.openxmlformats.org/officeDocument/2006/relationships/image" Target="../media/image9.emf"/><Relationship Id="rId9" Type="http://schemas.openxmlformats.org/officeDocument/2006/relationships/oleObject" Target="../embeddings/oleObject9.bin"/></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2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30.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3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oleObject" Target="../embeddings/oleObject17.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oleObject" Target="../embeddings/oleObject19.bin"/><Relationship Id="rId4" Type="http://schemas.openxmlformats.org/officeDocument/2006/relationships/image" Target="../media/image24.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E2D6-497E-8C52-5028-48C65D6836D4}"/>
            </a:ext>
          </a:extLst>
        </p:cNvPr>
        <p:cNvGrpSpPr/>
        <p:nvPr/>
      </p:nvGrpSpPr>
      <p:grpSpPr>
        <a:xfrm>
          <a:off x="0" y="0"/>
          <a:ext cx="0" cy="0"/>
          <a:chOff x="0" y="0"/>
          <a:chExt cx="0" cy="0"/>
        </a:xfrm>
      </p:grpSpPr>
      <p:sp>
        <p:nvSpPr>
          <p:cNvPr id="3074" name="Slide Number Placeholder 6">
            <a:extLst>
              <a:ext uri="{FF2B5EF4-FFF2-40B4-BE49-F238E27FC236}">
                <a16:creationId xmlns:a16="http://schemas.microsoft.com/office/drawing/2014/main" id="{A3BF57A6-6A28-2252-5149-E9596FEB015D}"/>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pitchFamily="34" charset="-128"/>
              </a:defRPr>
            </a:lvl1pPr>
            <a:lvl2pPr marL="742950" indent="-285750">
              <a:defRPr sz="2400" b="1">
                <a:solidFill>
                  <a:schemeClr val="tx1"/>
                </a:solidFill>
                <a:latin typeface="Arial" charset="0"/>
                <a:ea typeface="ＭＳ Ｐゴシック" pitchFamily="34" charset="-128"/>
              </a:defRPr>
            </a:lvl2pPr>
            <a:lvl3pPr marL="1143000" indent="-228600">
              <a:defRPr sz="2400" b="1">
                <a:solidFill>
                  <a:schemeClr val="tx1"/>
                </a:solidFill>
                <a:latin typeface="Arial" charset="0"/>
                <a:ea typeface="ＭＳ Ｐゴシック" pitchFamily="34" charset="-128"/>
              </a:defRPr>
            </a:lvl3pPr>
            <a:lvl4pPr marL="1600200" indent="-228600">
              <a:defRPr sz="2400" b="1">
                <a:solidFill>
                  <a:schemeClr val="tx1"/>
                </a:solidFill>
                <a:latin typeface="Arial" charset="0"/>
                <a:ea typeface="ＭＳ Ｐゴシック" pitchFamily="34" charset="-128"/>
              </a:defRPr>
            </a:lvl4pPr>
            <a:lvl5pPr marL="2057400" indent="-228600">
              <a:defRPr sz="2400" b="1">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34" charset="-128"/>
              </a:defRPr>
            </a:lvl9pPr>
          </a:lstStyle>
          <a:p>
            <a:fld id="{C4BF4DCD-91CE-4387-9234-7C7D33C2CF5E}" type="slidenum">
              <a:rPr lang="en-US" altLang="en-US" sz="1000">
                <a:solidFill>
                  <a:schemeClr val="bg1"/>
                </a:solidFill>
              </a:rPr>
              <a:pPr/>
              <a:t>1</a:t>
            </a:fld>
            <a:endParaRPr lang="en-US" altLang="en-US" sz="1000">
              <a:solidFill>
                <a:schemeClr val="bg1"/>
              </a:solidFill>
            </a:endParaRPr>
          </a:p>
        </p:txBody>
      </p:sp>
      <p:sp>
        <p:nvSpPr>
          <p:cNvPr id="261" name="Google Shape;261;p1"/>
          <p:cNvSpPr/>
          <p:nvPr/>
        </p:nvSpPr>
        <p:spPr>
          <a:xfrm>
            <a:off x="0" y="0"/>
            <a:ext cx="12192000" cy="6858000"/>
          </a:xfrm>
          <a:custGeom>
            <a:avLst/>
            <a:gdLst/>
            <a:ahLst/>
            <a:cxnLst/>
            <a:rect l="l" t="t" r="r" b="b"/>
            <a:pathLst>
              <a:path w="1610062" h="1086267" extrusionOk="0">
                <a:moveTo>
                  <a:pt x="10933" y="0"/>
                </a:moveTo>
                <a:lnTo>
                  <a:pt x="1599129" y="0"/>
                </a:lnTo>
                <a:cubicBezTo>
                  <a:pt x="1602029" y="0"/>
                  <a:pt x="1604810" y="1152"/>
                  <a:pt x="1606860" y="3202"/>
                </a:cubicBezTo>
                <a:cubicBezTo>
                  <a:pt x="1608910" y="5253"/>
                  <a:pt x="1610062" y="8033"/>
                  <a:pt x="1610062" y="10933"/>
                </a:cubicBezTo>
                <a:lnTo>
                  <a:pt x="1610062" y="1075334"/>
                </a:lnTo>
                <a:cubicBezTo>
                  <a:pt x="1610062" y="1078234"/>
                  <a:pt x="1608910" y="1081014"/>
                  <a:pt x="1606860" y="1083065"/>
                </a:cubicBezTo>
                <a:cubicBezTo>
                  <a:pt x="1604810" y="1085115"/>
                  <a:pt x="1602029" y="1086267"/>
                  <a:pt x="1599129" y="1086267"/>
                </a:cubicBezTo>
                <a:lnTo>
                  <a:pt x="10933" y="1086267"/>
                </a:lnTo>
                <a:cubicBezTo>
                  <a:pt x="8033" y="1086267"/>
                  <a:pt x="5253" y="1085115"/>
                  <a:pt x="3202" y="1083065"/>
                </a:cubicBezTo>
                <a:cubicBezTo>
                  <a:pt x="1152" y="1081014"/>
                  <a:pt x="0" y="1078234"/>
                  <a:pt x="0" y="1075334"/>
                </a:cubicBezTo>
                <a:lnTo>
                  <a:pt x="0" y="10933"/>
                </a:lnTo>
                <a:cubicBezTo>
                  <a:pt x="0" y="8033"/>
                  <a:pt x="1152" y="5253"/>
                  <a:pt x="3202" y="3202"/>
                </a:cubicBezTo>
                <a:cubicBezTo>
                  <a:pt x="5253" y="1152"/>
                  <a:pt x="8033" y="0"/>
                  <a:pt x="10933" y="0"/>
                </a:cubicBezTo>
                <a:close/>
              </a:path>
            </a:pathLst>
          </a:custGeom>
          <a:blipFill rotWithShape="1">
            <a:blip r:embed="rId3">
              <a:alphaModFix amt="40000"/>
            </a:blip>
            <a:stretch>
              <a:fillRect l="-9963" t="2" r="-9976" b="-529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 name="Google Shape;263;p1">
            <a:extLst>
              <a:ext uri="{FF2B5EF4-FFF2-40B4-BE49-F238E27FC236}">
                <a16:creationId xmlns:a16="http://schemas.microsoft.com/office/drawing/2014/main" id="{45B9D261-8C85-6567-87E8-5927E10358C8}"/>
              </a:ext>
            </a:extLst>
          </p:cNvPr>
          <p:cNvGrpSpPr/>
          <p:nvPr/>
        </p:nvGrpSpPr>
        <p:grpSpPr>
          <a:xfrm>
            <a:off x="11707824" y="0"/>
            <a:ext cx="179377" cy="6858000"/>
            <a:chOff x="0" y="-47625"/>
            <a:chExt cx="72806" cy="2756958"/>
          </a:xfrm>
        </p:grpSpPr>
        <p:sp>
          <p:nvSpPr>
            <p:cNvPr id="6" name="Google Shape;264;p1">
              <a:extLst>
                <a:ext uri="{FF2B5EF4-FFF2-40B4-BE49-F238E27FC236}">
                  <a16:creationId xmlns:a16="http://schemas.microsoft.com/office/drawing/2014/main" id="{BAD8433F-375E-AA5E-E320-00DF16B2A62D}"/>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ACFF2846-256C-FA30-15EF-1B964D89676B}"/>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9" name="Google Shape;269;p1">
            <a:extLst>
              <a:ext uri="{FF2B5EF4-FFF2-40B4-BE49-F238E27FC236}">
                <a16:creationId xmlns:a16="http://schemas.microsoft.com/office/drawing/2014/main" id="{1E991F7A-1ACA-9F76-B49B-E7164ED46FE2}"/>
              </a:ext>
            </a:extLst>
          </p:cNvPr>
          <p:cNvSpPr txBox="1"/>
          <p:nvPr/>
        </p:nvSpPr>
        <p:spPr>
          <a:xfrm>
            <a:off x="609600" y="6356351"/>
            <a:ext cx="3671100" cy="2310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
        <p:nvSpPr>
          <p:cNvPr id="11" name="Title 14">
            <a:extLst>
              <a:ext uri="{FF2B5EF4-FFF2-40B4-BE49-F238E27FC236}">
                <a16:creationId xmlns:a16="http://schemas.microsoft.com/office/drawing/2014/main" id="{702330C8-FBC4-5CA4-11AC-348E6125577C}"/>
              </a:ext>
            </a:extLst>
          </p:cNvPr>
          <p:cNvSpPr txBox="1">
            <a:spLocks/>
          </p:cNvSpPr>
          <p:nvPr/>
        </p:nvSpPr>
        <p:spPr bwMode="auto">
          <a:xfrm>
            <a:off x="1" y="1524000"/>
            <a:ext cx="12192000" cy="17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6600" b="1" cap="all" dirty="0">
                <a:ln w="9000" cmpd="sng">
                  <a:solidFill>
                    <a:schemeClr val="accent4">
                      <a:shade val="50000"/>
                      <a:satMod val="120000"/>
                    </a:schemeClr>
                  </a:solidFill>
                  <a:prstDash val="solid"/>
                </a:ln>
                <a:latin typeface="+mj-lt"/>
                <a:ea typeface="ＭＳ Ｐゴシック" charset="0"/>
              </a:rPr>
              <a:t>SCST1223</a:t>
            </a:r>
          </a:p>
          <a:p>
            <a:pPr algn="ctr">
              <a:defRPr/>
            </a:pPr>
            <a:r>
              <a:rPr lang="en-US" altLang="en-US" sz="4000" b="1" cap="all" dirty="0">
                <a:ln w="9000" cmpd="sng">
                  <a:solidFill>
                    <a:schemeClr val="accent4">
                      <a:shade val="50000"/>
                      <a:satMod val="120000"/>
                    </a:schemeClr>
                  </a:solidFill>
                  <a:prstDash val="solid"/>
                </a:ln>
                <a:latin typeface="+mj-lt"/>
                <a:ea typeface="ＭＳ Ｐゴシック" charset="0"/>
              </a:rPr>
              <a:t>Probability &amp; statistical data analysis</a:t>
            </a:r>
          </a:p>
        </p:txBody>
      </p:sp>
      <p:sp>
        <p:nvSpPr>
          <p:cNvPr id="12" name="Content Placeholder 16">
            <a:extLst>
              <a:ext uri="{FF2B5EF4-FFF2-40B4-BE49-F238E27FC236}">
                <a16:creationId xmlns:a16="http://schemas.microsoft.com/office/drawing/2014/main" id="{6200B972-A955-CB75-F22C-D76C7101A561}"/>
              </a:ext>
            </a:extLst>
          </p:cNvPr>
          <p:cNvSpPr txBox="1">
            <a:spLocks/>
          </p:cNvSpPr>
          <p:nvPr/>
        </p:nvSpPr>
        <p:spPr bwMode="auto">
          <a:xfrm>
            <a:off x="2208213" y="3236168"/>
            <a:ext cx="7777162" cy="24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buFont typeface="Arial" charset="0"/>
              <a:buNone/>
            </a:pPr>
            <a:r>
              <a:rPr lang="en-US" altLang="x-none" sz="4800" b="1" dirty="0">
                <a:latin typeface="+mj-lt"/>
              </a:rPr>
              <a:t>CHAPTER 5</a:t>
            </a:r>
          </a:p>
          <a:p>
            <a:pPr algn="ctr" eaLnBrk="1" hangingPunct="1">
              <a:buFont typeface="Arial" charset="0"/>
              <a:buNone/>
            </a:pPr>
            <a:r>
              <a:rPr lang="en-US" altLang="x-none" sz="4800" b="1" dirty="0">
                <a:latin typeface="+mj-lt"/>
              </a:rPr>
              <a:t>Part 1</a:t>
            </a:r>
          </a:p>
          <a:p>
            <a:pPr algn="ctr" eaLnBrk="1" hangingPunct="1">
              <a:buFont typeface="Arial" charset="0"/>
              <a:buNone/>
            </a:pPr>
            <a:r>
              <a:rPr lang="en-US" altLang="x-none" sz="5400" b="1" dirty="0">
                <a:latin typeface="+mj-lt"/>
              </a:rPr>
              <a:t>POINT ESTIMATION &amp; INTERVAL ESTIMATOR</a:t>
            </a:r>
          </a:p>
        </p:txBody>
      </p:sp>
      <p:grpSp>
        <p:nvGrpSpPr>
          <p:cNvPr id="13" name="Google Shape;263;p1">
            <a:extLst>
              <a:ext uri="{FF2B5EF4-FFF2-40B4-BE49-F238E27FC236}">
                <a16:creationId xmlns:a16="http://schemas.microsoft.com/office/drawing/2014/main" id="{D772AF11-1559-96E1-7205-5B2275C19447}"/>
              </a:ext>
            </a:extLst>
          </p:cNvPr>
          <p:cNvGrpSpPr/>
          <p:nvPr/>
        </p:nvGrpSpPr>
        <p:grpSpPr>
          <a:xfrm>
            <a:off x="11728422" y="0"/>
            <a:ext cx="158778" cy="6858000"/>
            <a:chOff x="0" y="-47625"/>
            <a:chExt cx="72806" cy="2756958"/>
          </a:xfrm>
        </p:grpSpPr>
        <p:sp>
          <p:nvSpPr>
            <p:cNvPr id="14" name="Google Shape;264;p1">
              <a:extLst>
                <a:ext uri="{FF2B5EF4-FFF2-40B4-BE49-F238E27FC236}">
                  <a16:creationId xmlns:a16="http://schemas.microsoft.com/office/drawing/2014/main" id="{51C7C212-47D8-D864-A522-5676BFABE75F}"/>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15" name="Google Shape;265;p1">
              <a:extLst>
                <a:ext uri="{FF2B5EF4-FFF2-40B4-BE49-F238E27FC236}">
                  <a16:creationId xmlns:a16="http://schemas.microsoft.com/office/drawing/2014/main" id="{28B0BB84-93C8-2499-A2C1-5BCC5F03730D}"/>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16" name="Google Shape;268;p1">
            <a:extLst>
              <a:ext uri="{FF2B5EF4-FFF2-40B4-BE49-F238E27FC236}">
                <a16:creationId xmlns:a16="http://schemas.microsoft.com/office/drawing/2014/main" id="{E6309E2C-2C31-D3D9-CE01-A1B61E88A57A}"/>
              </a:ext>
            </a:extLst>
          </p:cNvPr>
          <p:cNvSpPr/>
          <p:nvPr/>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362365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2279650" y="23813"/>
            <a:ext cx="8229600" cy="1143000"/>
          </a:xfrm>
        </p:spPr>
        <p:txBody>
          <a:bodyPr/>
          <a:lstStyle/>
          <a:p>
            <a:pPr eaLnBrk="1" hangingPunct="1"/>
            <a:r>
              <a:rPr lang="en-US" b="1" dirty="0"/>
              <a:t>Preview</a:t>
            </a:r>
          </a:p>
        </p:txBody>
      </p:sp>
      <p:sp>
        <p:nvSpPr>
          <p:cNvPr id="16386" name="Rectangle 3"/>
          <p:cNvSpPr>
            <a:spLocks noGrp="1" noChangeArrowheads="1"/>
          </p:cNvSpPr>
          <p:nvPr>
            <p:ph type="body" idx="1"/>
          </p:nvPr>
        </p:nvSpPr>
        <p:spPr>
          <a:xfrm>
            <a:off x="1919288" y="1125538"/>
            <a:ext cx="8229600" cy="4525962"/>
          </a:xfrm>
        </p:spPr>
        <p:txBody>
          <a:bodyPr/>
          <a:lstStyle/>
          <a:p>
            <a:pPr algn="just">
              <a:spcBef>
                <a:spcPct val="50000"/>
              </a:spcBef>
            </a:pPr>
            <a:r>
              <a:rPr lang="en-US" sz="2800" dirty="0"/>
              <a:t>In Chapters 1, there are 2 main branches of statistics which are </a:t>
            </a:r>
            <a:r>
              <a:rPr lang="en-US" sz="2800" i="1" dirty="0"/>
              <a:t>Descriptive</a:t>
            </a:r>
            <a:r>
              <a:rPr lang="en-US" sz="2800" dirty="0"/>
              <a:t> and </a:t>
            </a:r>
            <a:r>
              <a:rPr lang="en-US" sz="2800" i="1" dirty="0"/>
              <a:t>Inferential</a:t>
            </a:r>
            <a:r>
              <a:rPr lang="en-US" sz="2800" dirty="0"/>
              <a:t>.</a:t>
            </a:r>
          </a:p>
          <a:p>
            <a:pPr algn="just">
              <a:spcBef>
                <a:spcPct val="50000"/>
              </a:spcBef>
            </a:pPr>
            <a:r>
              <a:rPr lang="en-US" sz="2800" dirty="0"/>
              <a:t>In Chapter 4, we used </a:t>
            </a:r>
            <a:r>
              <a:rPr lang="en-US" sz="2800" i="1" dirty="0">
                <a:solidFill>
                  <a:srgbClr val="FF0000"/>
                </a:solidFill>
              </a:rPr>
              <a:t>descriptive</a:t>
            </a:r>
            <a:r>
              <a:rPr lang="en-US" sz="2800" dirty="0">
                <a:solidFill>
                  <a:srgbClr val="FF0000"/>
                </a:solidFill>
              </a:rPr>
              <a:t> </a:t>
            </a:r>
            <a:r>
              <a:rPr lang="en-US" sz="2800" i="1" dirty="0">
                <a:solidFill>
                  <a:srgbClr val="FF0000"/>
                </a:solidFill>
              </a:rPr>
              <a:t>statistics</a:t>
            </a:r>
            <a:r>
              <a:rPr lang="en-US" sz="2800" dirty="0">
                <a:solidFill>
                  <a:srgbClr val="FF0000"/>
                </a:solidFill>
              </a:rPr>
              <a:t> </a:t>
            </a:r>
            <a:r>
              <a:rPr lang="en-US" sz="2800" dirty="0"/>
              <a:t>when we summarized data using tools such as graphs and statistics such as the mean and standard deviation.</a:t>
            </a:r>
          </a:p>
          <a:p>
            <a:pPr algn="just">
              <a:spcBef>
                <a:spcPct val="50000"/>
              </a:spcBef>
            </a:pPr>
            <a:r>
              <a:rPr lang="en-US" sz="2800" dirty="0"/>
              <a:t>In </a:t>
            </a:r>
            <a:r>
              <a:rPr lang="en-US" sz="2800" i="1" dirty="0">
                <a:solidFill>
                  <a:srgbClr val="FF0000"/>
                </a:solidFill>
              </a:rPr>
              <a:t>inferential</a:t>
            </a:r>
            <a:r>
              <a:rPr lang="en-US" sz="2800" dirty="0">
                <a:solidFill>
                  <a:srgbClr val="FF0000"/>
                </a:solidFill>
              </a:rPr>
              <a:t> </a:t>
            </a:r>
            <a:r>
              <a:rPr lang="en-US" sz="2800" i="1" dirty="0">
                <a:solidFill>
                  <a:srgbClr val="FF0000"/>
                </a:solidFill>
              </a:rPr>
              <a:t>statistics</a:t>
            </a:r>
            <a:r>
              <a:rPr lang="en-US" sz="2800" dirty="0"/>
              <a:t>, the two major activities of inferential statistics are (1) to use sample data to estimate values of a population parameters, and (2) to test hypotheses or claims made about  population parameters.</a:t>
            </a:r>
          </a:p>
        </p:txBody>
      </p:sp>
      <p:sp>
        <p:nvSpPr>
          <p:cNvPr id="16387"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F1F260A5-A0E6-4D65-AC0E-973DB04489E9}" type="slidenum">
              <a:rPr lang="en-US" sz="1200">
                <a:solidFill>
                  <a:schemeClr val="bg1"/>
                </a:solidFill>
                <a:cs typeface="Arial" pitchFamily="34" charset="0"/>
              </a:rPr>
              <a:pPr algn="ctr" eaLnBrk="1" hangingPunct="1"/>
              <a:t>2</a:t>
            </a:fld>
            <a:endParaRPr lang="en-US" sz="1200">
              <a:solidFill>
                <a:schemeClr val="bg1"/>
              </a:solidFill>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200" y="1928814"/>
            <a:ext cx="8382000" cy="1939925"/>
          </a:xfrm>
          <a:prstGeom prst="rect">
            <a:avLst/>
          </a:prstGeom>
          <a:solidFill>
            <a:schemeClr val="accent1">
              <a:alpha val="36000"/>
            </a:schemeClr>
          </a:solidFill>
        </p:spPr>
        <p:txBody>
          <a:bodyPr>
            <a:spAutoFit/>
          </a:bodyPr>
          <a:lstStyle>
            <a:lvl1pPr>
              <a:defRPr sz="2400" b="1">
                <a:solidFill>
                  <a:schemeClr val="tx1"/>
                </a:solidFill>
                <a:latin typeface="Arial" charset="0"/>
                <a:ea typeface="ＭＳ Ｐゴシック" pitchFamily="96" charset="-128"/>
              </a:defRPr>
            </a:lvl1pPr>
            <a:lvl2pPr marL="742950" indent="-285750">
              <a:defRPr sz="2400" b="1">
                <a:solidFill>
                  <a:schemeClr val="tx1"/>
                </a:solidFill>
                <a:latin typeface="Arial" charset="0"/>
                <a:ea typeface="ＭＳ Ｐゴシック" pitchFamily="96" charset="-128"/>
              </a:defRPr>
            </a:lvl2pPr>
            <a:lvl3pPr marL="1143000" indent="-228600">
              <a:defRPr sz="2400" b="1">
                <a:solidFill>
                  <a:schemeClr val="tx1"/>
                </a:solidFill>
                <a:latin typeface="Arial" charset="0"/>
                <a:ea typeface="ＭＳ Ｐゴシック" pitchFamily="96" charset="-128"/>
              </a:defRPr>
            </a:lvl3pPr>
            <a:lvl4pPr marL="1600200" indent="-228600">
              <a:defRPr sz="2400" b="1">
                <a:solidFill>
                  <a:schemeClr val="tx1"/>
                </a:solidFill>
                <a:latin typeface="Arial" charset="0"/>
                <a:ea typeface="ＭＳ Ｐゴシック" pitchFamily="96" charset="-128"/>
              </a:defRPr>
            </a:lvl4pPr>
            <a:lvl5pPr marL="2057400" indent="-228600">
              <a:defRPr sz="2400" b="1">
                <a:solidFill>
                  <a:schemeClr val="tx1"/>
                </a:solidFill>
                <a:latin typeface="Arial" charset="0"/>
                <a:ea typeface="ＭＳ Ｐゴシック" pitchFamily="96"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96"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96"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96"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96" charset="-128"/>
              </a:defRPr>
            </a:lvl9pPr>
          </a:lstStyle>
          <a:p>
            <a:pPr algn="ctr" eaLnBrk="1" hangingPunct="1">
              <a:defRPr/>
            </a:pPr>
            <a:r>
              <a:rPr lang="en-US" altLang="en-US" sz="4000" dirty="0">
                <a:solidFill>
                  <a:srgbClr val="0D0D0D"/>
                </a:solidFill>
                <a:effectLst>
                  <a:outerShdw blurRad="38100" dist="38100" dir="2700000" algn="tl">
                    <a:srgbClr val="FFFFFF"/>
                  </a:outerShdw>
                </a:effectLst>
                <a:latin typeface="Arial Rounded MT Bold" pitchFamily="34" charset="0"/>
                <a:cs typeface="ＭＳ Ｐゴシック" charset="0"/>
              </a:rPr>
              <a:t>What Are Point and Interval Estimates of Population Parameters?</a:t>
            </a:r>
            <a:endParaRPr lang="en-US" altLang="en-US" sz="4800" dirty="0">
              <a:solidFill>
                <a:schemeClr val="tx2"/>
              </a:solidFill>
              <a:cs typeface="ＭＳ Ｐゴシック" charset="0"/>
            </a:endParaRPr>
          </a:p>
        </p:txBody>
      </p:sp>
      <p:sp>
        <p:nvSpPr>
          <p:cNvPr id="17410"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627CE7B4-1546-414F-9407-9DFDEF6AD5F9}" type="slidenum">
              <a:rPr lang="en-US" sz="1200">
                <a:solidFill>
                  <a:schemeClr val="bg1"/>
                </a:solidFill>
                <a:cs typeface="Arial" pitchFamily="34" charset="0"/>
              </a:rPr>
              <a:pPr algn="ctr" eaLnBrk="1" hangingPunct="1"/>
              <a:t>3</a:t>
            </a:fld>
            <a:endParaRPr lang="en-US" sz="1200">
              <a:solidFill>
                <a:schemeClr val="bg1"/>
              </a:solidFill>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b="1"/>
              <a:t>Point Estimate</a:t>
            </a:r>
          </a:p>
        </p:txBody>
      </p:sp>
      <p:sp>
        <p:nvSpPr>
          <p:cNvPr id="18434" name="Content Placeholder 2"/>
          <p:cNvSpPr>
            <a:spLocks noGrp="1"/>
          </p:cNvSpPr>
          <p:nvPr>
            <p:ph idx="1"/>
          </p:nvPr>
        </p:nvSpPr>
        <p:spPr>
          <a:xfrm>
            <a:off x="1981200" y="2060575"/>
            <a:ext cx="8229600" cy="4065588"/>
          </a:xfrm>
        </p:spPr>
        <p:txBody>
          <a:bodyPr/>
          <a:lstStyle/>
          <a:p>
            <a:pPr algn="just"/>
            <a:r>
              <a:rPr lang="en-US"/>
              <a:t>A </a:t>
            </a:r>
            <a:r>
              <a:rPr lang="en-US" b="1" i="1">
                <a:solidFill>
                  <a:srgbClr val="FF0000"/>
                </a:solidFill>
              </a:rPr>
              <a:t>point estimate </a:t>
            </a:r>
            <a:r>
              <a:rPr lang="en-US"/>
              <a:t>is </a:t>
            </a:r>
            <a:r>
              <a:rPr lang="en-US" b="1" i="1">
                <a:solidFill>
                  <a:srgbClr val="FF0000"/>
                </a:solidFill>
              </a:rPr>
              <a:t>a</a:t>
            </a:r>
            <a:r>
              <a:rPr lang="en-US" i="1">
                <a:solidFill>
                  <a:srgbClr val="FF0000"/>
                </a:solidFill>
              </a:rPr>
              <a:t> </a:t>
            </a:r>
            <a:r>
              <a:rPr lang="en-US" b="1" i="1">
                <a:solidFill>
                  <a:srgbClr val="FF0000"/>
                </a:solidFill>
              </a:rPr>
              <a:t>single number </a:t>
            </a:r>
            <a:r>
              <a:rPr lang="en-US"/>
              <a:t>that is our </a:t>
            </a:r>
            <a:r>
              <a:rPr lang="en-US" altLang="en-US"/>
              <a:t>“</a:t>
            </a:r>
            <a:r>
              <a:rPr lang="en-US"/>
              <a:t>best guess</a:t>
            </a:r>
            <a:r>
              <a:rPr lang="en-US" altLang="en-US"/>
              <a:t>”</a:t>
            </a:r>
            <a:r>
              <a:rPr lang="en-US"/>
              <a:t> for the parameter.</a:t>
            </a:r>
          </a:p>
        </p:txBody>
      </p:sp>
      <p:sp>
        <p:nvSpPr>
          <p:cNvPr id="18435"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FA064073-77CD-4489-9F66-562A2C2CAC21}" type="slidenum">
              <a:rPr lang="en-US" sz="1200">
                <a:solidFill>
                  <a:schemeClr val="bg1"/>
                </a:solidFill>
                <a:cs typeface="Arial" pitchFamily="34" charset="0"/>
              </a:rPr>
              <a:pPr algn="ctr" eaLnBrk="1" hangingPunct="1"/>
              <a:t>4</a:t>
            </a:fld>
            <a:endParaRPr lang="en-US" sz="1200">
              <a:solidFill>
                <a:schemeClr val="bg1"/>
              </a:solidFill>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b="1" dirty="0"/>
              <a:t>Interval Estimate</a:t>
            </a:r>
          </a:p>
        </p:txBody>
      </p:sp>
      <p:sp>
        <p:nvSpPr>
          <p:cNvPr id="19458" name="Content Placeholder 2"/>
          <p:cNvSpPr>
            <a:spLocks noGrp="1"/>
          </p:cNvSpPr>
          <p:nvPr>
            <p:ph idx="1"/>
          </p:nvPr>
        </p:nvSpPr>
        <p:spPr>
          <a:xfrm>
            <a:off x="1981200" y="2349501"/>
            <a:ext cx="8229600" cy="3776663"/>
          </a:xfrm>
        </p:spPr>
        <p:txBody>
          <a:bodyPr/>
          <a:lstStyle/>
          <a:p>
            <a:pPr algn="just"/>
            <a:r>
              <a:rPr lang="en-US"/>
              <a:t>An</a:t>
            </a:r>
            <a:r>
              <a:rPr lang="en-US" b="1">
                <a:solidFill>
                  <a:srgbClr val="FF0000"/>
                </a:solidFill>
              </a:rPr>
              <a:t> </a:t>
            </a:r>
            <a:r>
              <a:rPr lang="en-US" b="1" i="1">
                <a:solidFill>
                  <a:srgbClr val="FF0000"/>
                </a:solidFill>
              </a:rPr>
              <a:t>interval estimate</a:t>
            </a:r>
            <a:r>
              <a:rPr lang="en-US" b="1">
                <a:solidFill>
                  <a:srgbClr val="FF0000"/>
                </a:solidFill>
              </a:rPr>
              <a:t> </a:t>
            </a:r>
            <a:r>
              <a:rPr lang="en-US"/>
              <a:t>is an </a:t>
            </a:r>
            <a:r>
              <a:rPr lang="en-US" b="1" i="1">
                <a:solidFill>
                  <a:srgbClr val="FF0000"/>
                </a:solidFill>
              </a:rPr>
              <a:t>interval of numbers</a:t>
            </a:r>
            <a:r>
              <a:rPr lang="en-US">
                <a:solidFill>
                  <a:srgbClr val="FF0000"/>
                </a:solidFill>
              </a:rPr>
              <a:t> </a:t>
            </a:r>
            <a:r>
              <a:rPr lang="en-US"/>
              <a:t>within which the parameter value is believed to fall.</a:t>
            </a:r>
          </a:p>
          <a:p>
            <a:pPr algn="just"/>
            <a:endParaRPr lang="en-US"/>
          </a:p>
        </p:txBody>
      </p:sp>
      <p:sp>
        <p:nvSpPr>
          <p:cNvPr id="19459"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0FD8BAB8-C8CF-486C-A7E2-F97557DBEED3}" type="slidenum">
              <a:rPr lang="en-US" sz="1200">
                <a:solidFill>
                  <a:schemeClr val="bg1"/>
                </a:solidFill>
                <a:cs typeface="Arial" pitchFamily="34" charset="0"/>
              </a:rPr>
              <a:pPr algn="ctr" eaLnBrk="1" hangingPunct="1"/>
              <a:t>5</a:t>
            </a:fld>
            <a:endParaRPr lang="en-US" sz="1200">
              <a:solidFill>
                <a:schemeClr val="bg1"/>
              </a:solidFill>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3636963" y="-26988"/>
            <a:ext cx="6851650" cy="1143001"/>
          </a:xfrm>
        </p:spPr>
        <p:txBody>
          <a:bodyPr/>
          <a:lstStyle/>
          <a:p>
            <a:r>
              <a:rPr lang="en-US" sz="2800" b="1" dirty="0">
                <a:latin typeface="Century Gothic" pitchFamily="34" charset="0"/>
              </a:rPr>
              <a:t>Point Estimate </a:t>
            </a:r>
            <a:r>
              <a:rPr lang="en-US" sz="2800" b="1" dirty="0" err="1">
                <a:latin typeface="Century Gothic" pitchFamily="34" charset="0"/>
              </a:rPr>
              <a:t>vs</a:t>
            </a:r>
            <a:r>
              <a:rPr lang="en-US" sz="2800" b="1" dirty="0">
                <a:latin typeface="Century Gothic" pitchFamily="34" charset="0"/>
              </a:rPr>
              <a:t> Interval Estimate</a:t>
            </a:r>
          </a:p>
        </p:txBody>
      </p:sp>
      <p:pic>
        <p:nvPicPr>
          <p:cNvPr id="20482" name="Picture 4"/>
          <p:cNvPicPr>
            <a:picLocks noGrp="1" noChangeAspect="1" noChangeArrowheads="1"/>
          </p:cNvPicPr>
          <p:nvPr>
            <p:ph idx="1"/>
          </p:nvPr>
        </p:nvPicPr>
        <p:blipFill>
          <a:blip r:embed="rId3"/>
          <a:srcRect/>
          <a:stretch>
            <a:fillRect/>
          </a:stretch>
        </p:blipFill>
        <p:spPr>
          <a:xfrm>
            <a:off x="2208213" y="1341439"/>
            <a:ext cx="7848600" cy="3095625"/>
          </a:xfrm>
        </p:spPr>
      </p:pic>
      <p:sp>
        <p:nvSpPr>
          <p:cNvPr id="10" name="Rectangle 9"/>
          <p:cNvSpPr/>
          <p:nvPr/>
        </p:nvSpPr>
        <p:spPr bwMode="auto">
          <a:xfrm>
            <a:off x="1981200" y="4868863"/>
            <a:ext cx="8229600" cy="13716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marL="342900" indent="-342900" eaLnBrk="1" hangingPunct="1">
              <a:buFont typeface="Wingdings" charset="2"/>
              <a:buChar char="§"/>
              <a:defRPr/>
            </a:pPr>
            <a:r>
              <a:rPr lang="en-MY" sz="2000" dirty="0"/>
              <a:t>A point estimate predicts a parameter by a single number. </a:t>
            </a:r>
          </a:p>
          <a:p>
            <a:pPr marL="342900" indent="-342900" eaLnBrk="1" hangingPunct="1">
              <a:buFont typeface="Wingdings" charset="2"/>
              <a:buChar char="§"/>
              <a:defRPr/>
            </a:pPr>
            <a:r>
              <a:rPr lang="en-MY" sz="2000" dirty="0"/>
              <a:t>An interval estimate is an interval of numbers that are believable values for the parameter. </a:t>
            </a:r>
          </a:p>
          <a:p>
            <a:pPr algn="ctr" eaLnBrk="1" hangingPunct="1">
              <a:defRPr/>
            </a:pPr>
            <a:r>
              <a:rPr lang="en-MY" sz="2000" dirty="0">
                <a:solidFill>
                  <a:srgbClr val="FF0000"/>
                </a:solidFill>
              </a:rPr>
              <a:t>Question: </a:t>
            </a:r>
            <a:r>
              <a:rPr lang="en-MY" sz="2000" b="1" dirty="0">
                <a:solidFill>
                  <a:srgbClr val="0000FF"/>
                </a:solidFill>
              </a:rPr>
              <a:t>Why is a point estimate alone not sufficiently informative?</a:t>
            </a:r>
          </a:p>
          <a:p>
            <a:pPr algn="ctr" eaLnBrk="1" hangingPunct="1">
              <a:defRPr/>
            </a:pPr>
            <a:endParaRPr lang="en-MY" sz="2000" dirty="0"/>
          </a:p>
          <a:p>
            <a:pPr>
              <a:defRPr/>
            </a:pPr>
            <a:endParaRPr lang="en-MY" sz="2400" b="1" dirty="0">
              <a:solidFill>
                <a:schemeClr val="tx1"/>
              </a:solidFill>
              <a:latin typeface="Arial" charset="0"/>
              <a:ea typeface="ＭＳ Ｐゴシック" pitchFamily="96" charset="-128"/>
            </a:endParaRPr>
          </a:p>
        </p:txBody>
      </p:sp>
      <p:sp>
        <p:nvSpPr>
          <p:cNvPr id="20484"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C9E20F9D-A8BA-4F33-8955-4F9EED57CE82}" type="slidenum">
              <a:rPr lang="en-US" sz="1200">
                <a:solidFill>
                  <a:schemeClr val="bg1"/>
                </a:solidFill>
                <a:cs typeface="Arial" pitchFamily="34" charset="0"/>
              </a:rPr>
              <a:pPr algn="ctr" eaLnBrk="1" hangingPunct="1"/>
              <a:t>6</a:t>
            </a:fld>
            <a:endParaRPr lang="en-US" sz="1200">
              <a:solidFill>
                <a:schemeClr val="bg1"/>
              </a:solidFill>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Content Placeholder 2"/>
          <p:cNvSpPr>
            <a:spLocks noGrp="1"/>
          </p:cNvSpPr>
          <p:nvPr>
            <p:ph idx="1"/>
          </p:nvPr>
        </p:nvSpPr>
        <p:spPr/>
        <p:txBody>
          <a:bodyPr/>
          <a:lstStyle/>
          <a:p>
            <a:pPr algn="just"/>
            <a:r>
              <a:rPr lang="en-US"/>
              <a:t>A </a:t>
            </a:r>
            <a:r>
              <a:rPr lang="en-US" b="1" i="1">
                <a:solidFill>
                  <a:srgbClr val="FF0000"/>
                </a:solidFill>
              </a:rPr>
              <a:t>point estimate</a:t>
            </a:r>
            <a:r>
              <a:rPr lang="en-US" b="1">
                <a:solidFill>
                  <a:srgbClr val="FF0000"/>
                </a:solidFill>
              </a:rPr>
              <a:t> </a:t>
            </a:r>
            <a:r>
              <a:rPr lang="en-US"/>
              <a:t>doesn</a:t>
            </a:r>
            <a:r>
              <a:rPr lang="en-US" altLang="en-US"/>
              <a:t>’</a:t>
            </a:r>
            <a:r>
              <a:rPr lang="en-US"/>
              <a:t>t tell us how close the estimate is likely to be to the parameter.</a:t>
            </a:r>
          </a:p>
          <a:p>
            <a:pPr algn="just">
              <a:buFont typeface="Arial" pitchFamily="34" charset="0"/>
              <a:buNone/>
            </a:pPr>
            <a:endParaRPr lang="en-US"/>
          </a:p>
          <a:p>
            <a:pPr algn="just"/>
            <a:r>
              <a:rPr lang="en-US"/>
              <a:t>An </a:t>
            </a:r>
            <a:r>
              <a:rPr lang="en-US" b="1" i="1">
                <a:solidFill>
                  <a:srgbClr val="FF0000"/>
                </a:solidFill>
              </a:rPr>
              <a:t>interval estimate</a:t>
            </a:r>
            <a:r>
              <a:rPr lang="en-US" b="1">
                <a:solidFill>
                  <a:srgbClr val="FF0000"/>
                </a:solidFill>
              </a:rPr>
              <a:t> </a:t>
            </a:r>
            <a:r>
              <a:rPr lang="en-US"/>
              <a:t>is more useful.</a:t>
            </a:r>
          </a:p>
          <a:p>
            <a:pPr lvl="1" algn="just"/>
            <a:r>
              <a:rPr lang="en-US" sz="2400"/>
              <a:t>It incorporates a margin of error which helps us to gauge the accuracy of the point estimate.</a:t>
            </a:r>
          </a:p>
        </p:txBody>
      </p:sp>
      <p:sp>
        <p:nvSpPr>
          <p:cNvPr id="22530"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30FC93A0-0B0F-4787-8BC6-A18CFBA80AB1}" type="slidenum">
              <a:rPr lang="en-US" sz="1200">
                <a:solidFill>
                  <a:schemeClr val="bg1"/>
                </a:solidFill>
                <a:cs typeface="Arial" pitchFamily="34" charset="0"/>
              </a:rPr>
              <a:pPr algn="ctr" eaLnBrk="1" hangingPunct="1"/>
              <a:t>7</a:t>
            </a:fld>
            <a:endParaRPr lang="en-US" sz="1200">
              <a:solidFill>
                <a:schemeClr val="bg1"/>
              </a:solidFill>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b="1"/>
              <a:t>Point Estimation</a:t>
            </a:r>
          </a:p>
        </p:txBody>
      </p:sp>
      <p:sp>
        <p:nvSpPr>
          <p:cNvPr id="23554" name="Content Placeholder 2"/>
          <p:cNvSpPr>
            <a:spLocks noGrp="1"/>
          </p:cNvSpPr>
          <p:nvPr>
            <p:ph idx="1"/>
          </p:nvPr>
        </p:nvSpPr>
        <p:spPr/>
        <p:txBody>
          <a:bodyPr/>
          <a:lstStyle/>
          <a:p>
            <a:pPr algn="just"/>
            <a:r>
              <a:rPr lang="en-US"/>
              <a:t>How do we make a </a:t>
            </a:r>
            <a:r>
              <a:rPr lang="en-US" u="sng">
                <a:solidFill>
                  <a:srgbClr val="FF0000"/>
                </a:solidFill>
              </a:rPr>
              <a:t>best guess</a:t>
            </a:r>
            <a:r>
              <a:rPr lang="en-US"/>
              <a:t> for a population parameter?</a:t>
            </a:r>
          </a:p>
          <a:p>
            <a:pPr algn="just"/>
            <a:r>
              <a:rPr lang="en-US"/>
              <a:t>Use an appropriate sample statistic:</a:t>
            </a:r>
          </a:p>
          <a:p>
            <a:pPr lvl="1" algn="just"/>
            <a:r>
              <a:rPr lang="en-US" sz="2400"/>
              <a:t>For the </a:t>
            </a:r>
            <a:r>
              <a:rPr lang="en-US" sz="2400" i="1">
                <a:solidFill>
                  <a:srgbClr val="FF0000"/>
                </a:solidFill>
              </a:rPr>
              <a:t>population mean</a:t>
            </a:r>
            <a:r>
              <a:rPr lang="en-US" sz="2400"/>
              <a:t>, use the </a:t>
            </a:r>
            <a:r>
              <a:rPr lang="en-US" sz="2400" i="1">
                <a:solidFill>
                  <a:srgbClr val="FF0000"/>
                </a:solidFill>
              </a:rPr>
              <a:t>sample mean</a:t>
            </a:r>
            <a:endParaRPr lang="en-US" sz="2400">
              <a:solidFill>
                <a:srgbClr val="FF0000"/>
              </a:solidFill>
            </a:endParaRPr>
          </a:p>
          <a:p>
            <a:pPr lvl="1" algn="just"/>
            <a:r>
              <a:rPr lang="en-US" sz="2400"/>
              <a:t>For the </a:t>
            </a:r>
            <a:r>
              <a:rPr lang="en-US" sz="2400" i="1">
                <a:solidFill>
                  <a:srgbClr val="FF0000"/>
                </a:solidFill>
              </a:rPr>
              <a:t>population proportion</a:t>
            </a:r>
            <a:r>
              <a:rPr lang="en-US" sz="2400"/>
              <a:t>, use the </a:t>
            </a:r>
            <a:r>
              <a:rPr lang="en-US" sz="2400" i="1">
                <a:solidFill>
                  <a:srgbClr val="FF0000"/>
                </a:solidFill>
              </a:rPr>
              <a:t>sample proportion</a:t>
            </a:r>
          </a:p>
          <a:p>
            <a:pPr algn="just"/>
            <a:r>
              <a:rPr lang="en-US" sz="2800"/>
              <a:t> </a:t>
            </a:r>
            <a:r>
              <a:rPr lang="en-US" sz="2400" i="1">
                <a:solidFill>
                  <a:srgbClr val="FF0000"/>
                </a:solidFill>
              </a:rPr>
              <a:t>Point estimates</a:t>
            </a:r>
            <a:r>
              <a:rPr lang="en-US" sz="2400">
                <a:solidFill>
                  <a:srgbClr val="FF0000"/>
                </a:solidFill>
              </a:rPr>
              <a:t> </a:t>
            </a:r>
            <a:r>
              <a:rPr lang="en-US" sz="2400"/>
              <a:t>are the most common form of inference reported by the mass media.</a:t>
            </a:r>
          </a:p>
          <a:p>
            <a:pPr lvl="1" algn="just">
              <a:buFont typeface="Arial" pitchFamily="34" charset="0"/>
              <a:buNone/>
            </a:pPr>
            <a:endParaRPr lang="en-US" sz="2400">
              <a:solidFill>
                <a:srgbClr val="FF0000"/>
              </a:solidFill>
            </a:endParaRPr>
          </a:p>
          <a:p>
            <a:pPr algn="just"/>
            <a:endParaRPr lang="en-US"/>
          </a:p>
        </p:txBody>
      </p:sp>
      <p:sp>
        <p:nvSpPr>
          <p:cNvPr id="23555"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C62EC8C0-C54F-4AA0-9AAD-BD0CC4921C7C}" type="slidenum">
              <a:rPr lang="en-US" sz="1200">
                <a:solidFill>
                  <a:schemeClr val="bg1"/>
                </a:solidFill>
                <a:cs typeface="Arial" pitchFamily="34" charset="0"/>
              </a:rPr>
              <a:pPr algn="ctr" eaLnBrk="1" hangingPunct="1"/>
              <a:t>8</a:t>
            </a:fld>
            <a:endParaRPr lang="en-US" sz="1200">
              <a:solidFill>
                <a:schemeClr val="bg1"/>
              </a:solidFill>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a:xfrm>
            <a:off x="3925889" y="115888"/>
            <a:ext cx="6562725" cy="850900"/>
          </a:xfrm>
        </p:spPr>
        <p:txBody>
          <a:bodyPr/>
          <a:lstStyle/>
          <a:p>
            <a:r>
              <a:rPr lang="en-US" sz="3200" b="1" dirty="0">
                <a:latin typeface="Century Gothic" pitchFamily="34" charset="0"/>
              </a:rPr>
              <a:t>Properties of Point Estimators</a:t>
            </a:r>
          </a:p>
        </p:txBody>
      </p:sp>
      <p:sp>
        <p:nvSpPr>
          <p:cNvPr id="24578" name="Content Placeholder 2"/>
          <p:cNvSpPr>
            <a:spLocks noGrp="1"/>
          </p:cNvSpPr>
          <p:nvPr>
            <p:ph idx="1"/>
          </p:nvPr>
        </p:nvSpPr>
        <p:spPr>
          <a:xfrm>
            <a:off x="1919288" y="1196975"/>
            <a:ext cx="8229600" cy="4572000"/>
          </a:xfrm>
        </p:spPr>
        <p:txBody>
          <a:bodyPr/>
          <a:lstStyle/>
          <a:p>
            <a:pPr algn="just"/>
            <a:r>
              <a:rPr lang="en-US"/>
              <a:t>Property 1:  A good estimator has a sampling distribution that is centered at the parameter</a:t>
            </a:r>
          </a:p>
          <a:p>
            <a:pPr lvl="1" algn="just"/>
            <a:r>
              <a:rPr lang="en-US" sz="2400"/>
              <a:t>An estimator with this property is </a:t>
            </a:r>
            <a:r>
              <a:rPr lang="en-US" sz="2400" i="1">
                <a:solidFill>
                  <a:srgbClr val="FF0000"/>
                </a:solidFill>
              </a:rPr>
              <a:t>unbiased</a:t>
            </a:r>
            <a:endParaRPr lang="en-US" sz="2400">
              <a:solidFill>
                <a:srgbClr val="FF0000"/>
              </a:solidFill>
            </a:endParaRPr>
          </a:p>
          <a:p>
            <a:pPr lvl="2" algn="just"/>
            <a:r>
              <a:rPr lang="en-US"/>
              <a:t>The sample mean is an unbiased estimator of the population mean</a:t>
            </a:r>
          </a:p>
          <a:p>
            <a:pPr lvl="2" algn="just"/>
            <a:r>
              <a:rPr lang="en-US"/>
              <a:t>The sample proportion is an unbiased estimator of the population proportion</a:t>
            </a:r>
          </a:p>
          <a:p>
            <a:pPr algn="just"/>
            <a:r>
              <a:rPr lang="en-US"/>
              <a:t>Property 2:  A good estimator has a </a:t>
            </a:r>
            <a:r>
              <a:rPr lang="en-US" i="1">
                <a:solidFill>
                  <a:srgbClr val="FF0000"/>
                </a:solidFill>
              </a:rPr>
              <a:t>small standard error</a:t>
            </a:r>
            <a:r>
              <a:rPr lang="en-US">
                <a:solidFill>
                  <a:srgbClr val="FF0000"/>
                </a:solidFill>
              </a:rPr>
              <a:t> </a:t>
            </a:r>
            <a:r>
              <a:rPr lang="en-US"/>
              <a:t>compared to other estimators</a:t>
            </a:r>
          </a:p>
          <a:p>
            <a:pPr lvl="2" algn="just"/>
            <a:r>
              <a:rPr lang="en-US"/>
              <a:t>This means it tends to fall closer than other estimates to the parameter</a:t>
            </a:r>
          </a:p>
          <a:p>
            <a:pPr lvl="3" algn="just"/>
            <a:endParaRPr lang="en-US" sz="2400"/>
          </a:p>
        </p:txBody>
      </p:sp>
      <p:sp>
        <p:nvSpPr>
          <p:cNvPr id="24579"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D366E8BD-CDDE-4ABB-98E3-4DF16FE36A28}" type="slidenum">
              <a:rPr lang="en-US" sz="1200">
                <a:solidFill>
                  <a:schemeClr val="bg1"/>
                </a:solidFill>
                <a:cs typeface="Arial" pitchFamily="34" charset="0"/>
              </a:rPr>
              <a:pPr algn="ctr" eaLnBrk="1" hangingPunct="1"/>
              <a:t>9</a:t>
            </a:fld>
            <a:endParaRPr lang="en-US" sz="1200">
              <a:solidFill>
                <a:schemeClr val="bg1"/>
              </a:solidFill>
              <a:cs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5"/>
          <p:cNvPicPr>
            <a:picLocks noChangeAspect="1" noChangeArrowheads="1"/>
          </p:cNvPicPr>
          <p:nvPr/>
        </p:nvPicPr>
        <p:blipFill>
          <a:blip r:embed="rId3"/>
          <a:srcRect/>
          <a:stretch>
            <a:fillRect/>
          </a:stretch>
        </p:blipFill>
        <p:spPr bwMode="auto">
          <a:xfrm>
            <a:off x="2286000" y="3352800"/>
            <a:ext cx="7543800" cy="1931988"/>
          </a:xfrm>
          <a:prstGeom prst="rect">
            <a:avLst/>
          </a:prstGeom>
          <a:noFill/>
          <a:ln w="9525">
            <a:noFill/>
            <a:miter lim="800000"/>
            <a:headEnd/>
            <a:tailEnd/>
          </a:ln>
        </p:spPr>
      </p:pic>
      <p:sp>
        <p:nvSpPr>
          <p:cNvPr id="25602" name="AutoShape 7"/>
          <p:cNvSpPr>
            <a:spLocks noChangeArrowheads="1"/>
          </p:cNvSpPr>
          <p:nvPr/>
        </p:nvSpPr>
        <p:spPr bwMode="auto">
          <a:xfrm>
            <a:off x="6324600" y="1752600"/>
            <a:ext cx="2971800" cy="1676400"/>
          </a:xfrm>
          <a:prstGeom prst="wedgeRoundRectCallout">
            <a:avLst>
              <a:gd name="adj1" fmla="val -43412"/>
              <a:gd name="adj2" fmla="val 104833"/>
              <a:gd name="adj3" fmla="val 16667"/>
            </a:avLst>
          </a:prstGeom>
          <a:solidFill>
            <a:srgbClr val="FFFF00"/>
          </a:solidFill>
          <a:ln w="9525">
            <a:noFill/>
            <a:miter lim="800000"/>
            <a:headEnd/>
            <a:tailEnd/>
          </a:ln>
        </p:spPr>
        <p:txBody>
          <a:bodyPr/>
          <a:lstStyle/>
          <a:p>
            <a:pPr algn="ctr" eaLnBrk="1" hangingPunct="1"/>
            <a:r>
              <a:rPr lang="en-US" sz="2400">
                <a:solidFill>
                  <a:srgbClr val="FF0000"/>
                </a:solidFill>
              </a:rPr>
              <a:t>Unbiased</a:t>
            </a:r>
            <a:r>
              <a:rPr lang="en-US" sz="2400"/>
              <a:t>, since the distribution is centered at the true value</a:t>
            </a:r>
          </a:p>
        </p:txBody>
      </p:sp>
      <p:sp>
        <p:nvSpPr>
          <p:cNvPr id="25603" name="AutoShape 8"/>
          <p:cNvSpPr>
            <a:spLocks noChangeArrowheads="1"/>
          </p:cNvSpPr>
          <p:nvPr/>
        </p:nvSpPr>
        <p:spPr bwMode="auto">
          <a:xfrm>
            <a:off x="2438400" y="2438400"/>
            <a:ext cx="2971800" cy="1600200"/>
          </a:xfrm>
          <a:prstGeom prst="wedgeRoundRectCallout">
            <a:avLst>
              <a:gd name="adj1" fmla="val 4968"/>
              <a:gd name="adj2" fmla="val 90278"/>
              <a:gd name="adj3" fmla="val 16667"/>
            </a:avLst>
          </a:prstGeom>
          <a:solidFill>
            <a:srgbClr val="FFFF00"/>
          </a:solidFill>
          <a:ln w="9525">
            <a:noFill/>
            <a:miter lim="800000"/>
            <a:headEnd/>
            <a:tailEnd/>
          </a:ln>
        </p:spPr>
        <p:txBody>
          <a:bodyPr/>
          <a:lstStyle/>
          <a:p>
            <a:pPr algn="ctr" eaLnBrk="1" hangingPunct="1"/>
            <a:r>
              <a:rPr lang="en-US" sz="2400">
                <a:solidFill>
                  <a:srgbClr val="FF0000"/>
                </a:solidFill>
              </a:rPr>
              <a:t>Biased</a:t>
            </a:r>
            <a:r>
              <a:rPr lang="en-US" sz="2400"/>
              <a:t>, since the distribution is </a:t>
            </a:r>
            <a:r>
              <a:rPr lang="en-US" sz="2400">
                <a:solidFill>
                  <a:srgbClr val="FF0000"/>
                </a:solidFill>
              </a:rPr>
              <a:t>NOT</a:t>
            </a:r>
            <a:r>
              <a:rPr lang="en-US" sz="2400"/>
              <a:t> centered at the true value</a:t>
            </a:r>
          </a:p>
        </p:txBody>
      </p:sp>
      <p:sp>
        <p:nvSpPr>
          <p:cNvPr id="25604"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A29A8A7F-100B-4CB6-B181-59E08BF1FC06}" type="slidenum">
              <a:rPr lang="en-US" sz="1200">
                <a:solidFill>
                  <a:schemeClr val="bg1"/>
                </a:solidFill>
                <a:cs typeface="Arial" pitchFamily="34" charset="0"/>
              </a:rPr>
              <a:pPr algn="ctr" eaLnBrk="1" hangingPunct="1"/>
              <a:t>10</a:t>
            </a:fld>
            <a:endParaRPr lang="en-US" sz="1200">
              <a:solidFill>
                <a:schemeClr val="bg1"/>
              </a:solidFill>
              <a:cs typeface="Arial"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49" name="Group 10"/>
          <p:cNvGrpSpPr>
            <a:grpSpLocks/>
          </p:cNvGrpSpPr>
          <p:nvPr/>
        </p:nvGrpSpPr>
        <p:grpSpPr bwMode="auto">
          <a:xfrm>
            <a:off x="2362200" y="1905000"/>
            <a:ext cx="7658100" cy="3810000"/>
            <a:chOff x="838200" y="2895600"/>
            <a:chExt cx="7658100" cy="3810000"/>
          </a:xfrm>
        </p:grpSpPr>
        <p:pic>
          <p:nvPicPr>
            <p:cNvPr id="27651" name="Picture 5"/>
            <p:cNvPicPr>
              <a:picLocks noChangeAspect="1" noChangeArrowheads="1"/>
            </p:cNvPicPr>
            <p:nvPr/>
          </p:nvPicPr>
          <p:blipFill>
            <a:blip r:embed="rId3"/>
            <a:srcRect l="34848"/>
            <a:stretch>
              <a:fillRect/>
            </a:stretch>
          </p:blipFill>
          <p:spPr bwMode="auto">
            <a:xfrm>
              <a:off x="3581400" y="3859213"/>
              <a:ext cx="4914900" cy="2846387"/>
            </a:xfrm>
            <a:prstGeom prst="rect">
              <a:avLst/>
            </a:prstGeom>
            <a:noFill/>
            <a:ln w="9525">
              <a:noFill/>
              <a:miter lim="800000"/>
              <a:headEnd/>
              <a:tailEnd/>
            </a:ln>
          </p:spPr>
        </p:pic>
        <p:sp>
          <p:nvSpPr>
            <p:cNvPr id="27652" name="AutoShape 6"/>
            <p:cNvSpPr>
              <a:spLocks noChangeArrowheads="1"/>
            </p:cNvSpPr>
            <p:nvPr/>
          </p:nvSpPr>
          <p:spPr bwMode="auto">
            <a:xfrm>
              <a:off x="838200" y="4343400"/>
              <a:ext cx="2971800" cy="1600200"/>
            </a:xfrm>
            <a:prstGeom prst="wedgeRoundRectCallout">
              <a:avLst>
                <a:gd name="adj1" fmla="val 94069"/>
                <a:gd name="adj2" fmla="val -199"/>
                <a:gd name="adj3" fmla="val 16667"/>
              </a:avLst>
            </a:prstGeom>
            <a:solidFill>
              <a:srgbClr val="FFFF00"/>
            </a:solidFill>
            <a:ln w="9525">
              <a:noFill/>
              <a:miter lim="800000"/>
              <a:headEnd/>
              <a:tailEnd/>
            </a:ln>
          </p:spPr>
          <p:txBody>
            <a:bodyPr/>
            <a:lstStyle/>
            <a:p>
              <a:pPr algn="ctr" eaLnBrk="1" hangingPunct="1"/>
              <a:r>
                <a:rPr lang="en-US" sz="2400">
                  <a:solidFill>
                    <a:srgbClr val="FF0000"/>
                  </a:solidFill>
                </a:rPr>
                <a:t>Unbiased</a:t>
              </a:r>
              <a:r>
                <a:rPr lang="en-US" sz="2400"/>
                <a:t>, but has a larger standard deviation so it is not as precise.</a:t>
              </a:r>
            </a:p>
          </p:txBody>
        </p:sp>
        <p:sp>
          <p:nvSpPr>
            <p:cNvPr id="27653" name="AutoShape 7"/>
            <p:cNvSpPr>
              <a:spLocks noChangeArrowheads="1"/>
            </p:cNvSpPr>
            <p:nvPr/>
          </p:nvSpPr>
          <p:spPr bwMode="auto">
            <a:xfrm>
              <a:off x="3733800" y="2895600"/>
              <a:ext cx="3276600" cy="1600200"/>
            </a:xfrm>
            <a:prstGeom prst="wedgeRoundRectCallout">
              <a:avLst>
                <a:gd name="adj1" fmla="val 63227"/>
                <a:gd name="adj2" fmla="val 70042"/>
                <a:gd name="adj3" fmla="val 16667"/>
              </a:avLst>
            </a:prstGeom>
            <a:solidFill>
              <a:srgbClr val="FFFF00"/>
            </a:solidFill>
            <a:ln w="9525">
              <a:noFill/>
              <a:miter lim="800000"/>
              <a:headEnd/>
              <a:tailEnd/>
            </a:ln>
          </p:spPr>
          <p:txBody>
            <a:bodyPr/>
            <a:lstStyle/>
            <a:p>
              <a:pPr algn="ctr" eaLnBrk="1" hangingPunct="1"/>
              <a:r>
                <a:rPr lang="en-US" sz="2400">
                  <a:solidFill>
                    <a:srgbClr val="FF0000"/>
                  </a:solidFill>
                </a:rPr>
                <a:t>Unbiased</a:t>
              </a:r>
              <a:r>
                <a:rPr lang="en-US" sz="2400"/>
                <a:t>, but has a smaller standard deviation so it is more precise.</a:t>
              </a:r>
            </a:p>
          </p:txBody>
        </p:sp>
      </p:grpSp>
      <p:sp>
        <p:nvSpPr>
          <p:cNvPr id="27650"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BED46633-CA12-4678-B30C-DD0693D70FFF}" type="slidenum">
              <a:rPr lang="en-US" sz="1200">
                <a:solidFill>
                  <a:schemeClr val="bg1"/>
                </a:solidFill>
                <a:cs typeface="Arial" pitchFamily="34" charset="0"/>
              </a:rPr>
              <a:pPr algn="ctr" eaLnBrk="1" hangingPunct="1"/>
              <a:t>11</a:t>
            </a:fld>
            <a:endParaRPr lang="en-US" sz="1200">
              <a:solidFill>
                <a:schemeClr val="bg1"/>
              </a:solidFill>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3925888" y="115888"/>
            <a:ext cx="6418262" cy="1143000"/>
          </a:xfrm>
        </p:spPr>
        <p:txBody>
          <a:bodyPr/>
          <a:lstStyle/>
          <a:p>
            <a:r>
              <a:rPr lang="en-US" b="1"/>
              <a:t>Interval Estimation</a:t>
            </a:r>
          </a:p>
        </p:txBody>
      </p:sp>
      <p:sp>
        <p:nvSpPr>
          <p:cNvPr id="3" name="Content Placeholder 2"/>
          <p:cNvSpPr>
            <a:spLocks noGrp="1"/>
          </p:cNvSpPr>
          <p:nvPr>
            <p:ph idx="1"/>
          </p:nvPr>
        </p:nvSpPr>
        <p:spPr>
          <a:xfrm>
            <a:off x="1847850" y="1844676"/>
            <a:ext cx="8229600" cy="4525963"/>
          </a:xfrm>
        </p:spPr>
        <p:txBody>
          <a:bodyPr/>
          <a:lstStyle/>
          <a:p>
            <a:pPr algn="just">
              <a:buFont typeface="Arial" charset="0"/>
              <a:buChar char="•"/>
              <a:defRPr/>
            </a:pPr>
            <a:r>
              <a:rPr lang="en-US" dirty="0">
                <a:ea typeface="ＭＳ Ｐゴシック" charset="0"/>
                <a:cs typeface="ＭＳ Ｐゴシック" charset="0"/>
              </a:rPr>
              <a:t>Constructing an interval that contains the parameter (we hope!)</a:t>
            </a:r>
          </a:p>
          <a:p>
            <a:pPr marL="0" indent="0" algn="just">
              <a:buNone/>
              <a:defRPr/>
            </a:pPr>
            <a:endParaRPr lang="en-US" dirty="0">
              <a:ea typeface="ＭＳ Ｐゴシック" charset="0"/>
              <a:cs typeface="ＭＳ Ｐゴシック" charset="0"/>
            </a:endParaRPr>
          </a:p>
          <a:p>
            <a:pPr algn="just">
              <a:buFont typeface="Arial" charset="0"/>
              <a:buChar char="•"/>
              <a:defRPr/>
            </a:pPr>
            <a:r>
              <a:rPr lang="en-US" dirty="0">
                <a:ea typeface="ＭＳ Ｐゴシック" charset="0"/>
                <a:cs typeface="ＭＳ Ｐゴシック" charset="0"/>
              </a:rPr>
              <a:t>Inference about a parameter should provide not only a point estimate but should also indicate its likely precision</a:t>
            </a:r>
          </a:p>
        </p:txBody>
      </p:sp>
      <p:sp>
        <p:nvSpPr>
          <p:cNvPr id="29699"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C61FF77B-2A02-4F37-B118-ED6894DCB78F}" type="slidenum">
              <a:rPr lang="en-US" sz="1200">
                <a:solidFill>
                  <a:schemeClr val="bg1"/>
                </a:solidFill>
                <a:cs typeface="Arial" pitchFamily="34" charset="0"/>
              </a:rPr>
              <a:pPr algn="ctr" eaLnBrk="1" hangingPunct="1"/>
              <a:t>12</a:t>
            </a:fld>
            <a:endParaRPr lang="en-US" sz="1200">
              <a:solidFill>
                <a:schemeClr val="bg1"/>
              </a:solidFill>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3636963" y="115888"/>
            <a:ext cx="6780212" cy="1143000"/>
          </a:xfrm>
        </p:spPr>
        <p:txBody>
          <a:bodyPr/>
          <a:lstStyle/>
          <a:p>
            <a:r>
              <a:rPr lang="en-US" b="1"/>
              <a:t>Confidence Interval (CI)</a:t>
            </a:r>
          </a:p>
        </p:txBody>
      </p:sp>
      <p:sp>
        <p:nvSpPr>
          <p:cNvPr id="3" name="Content Placeholder 2"/>
          <p:cNvSpPr>
            <a:spLocks noGrp="1"/>
          </p:cNvSpPr>
          <p:nvPr>
            <p:ph idx="1"/>
          </p:nvPr>
        </p:nvSpPr>
        <p:spPr>
          <a:xfrm>
            <a:off x="1981200" y="1855788"/>
            <a:ext cx="8229600" cy="4525962"/>
          </a:xfrm>
        </p:spPr>
        <p:txBody>
          <a:bodyPr/>
          <a:lstStyle/>
          <a:p>
            <a:pPr algn="just">
              <a:lnSpc>
                <a:spcPct val="90000"/>
              </a:lnSpc>
              <a:buFont typeface="Arial" charset="0"/>
              <a:buChar char="•"/>
              <a:defRPr/>
            </a:pPr>
            <a:r>
              <a:rPr lang="en-US" dirty="0">
                <a:ea typeface="ＭＳ Ｐゴシック" charset="0"/>
                <a:cs typeface="ＭＳ Ｐゴシック" charset="0"/>
              </a:rPr>
              <a:t>A </a:t>
            </a:r>
            <a:r>
              <a:rPr lang="en-US" i="1" dirty="0">
                <a:solidFill>
                  <a:srgbClr val="FF0000"/>
                </a:solidFill>
                <a:ea typeface="ＭＳ Ｐゴシック" charset="0"/>
                <a:cs typeface="ＭＳ Ｐゴシック" charset="0"/>
              </a:rPr>
              <a:t>confidence interval (CI) </a:t>
            </a:r>
            <a:r>
              <a:rPr lang="en-US" dirty="0">
                <a:ea typeface="ＭＳ Ｐゴシック" charset="0"/>
                <a:cs typeface="ＭＳ Ｐゴシック" charset="0"/>
              </a:rPr>
              <a:t>is an interval containing the most believable values for a parameter.</a:t>
            </a:r>
          </a:p>
          <a:p>
            <a:pPr marL="0" indent="0" algn="just">
              <a:lnSpc>
                <a:spcPct val="90000"/>
              </a:lnSpc>
              <a:buNone/>
              <a:defRPr/>
            </a:pPr>
            <a:r>
              <a:rPr lang="en-US" dirty="0">
                <a:ea typeface="ＭＳ Ｐゴシック" charset="0"/>
                <a:cs typeface="ＭＳ Ｐゴシック" charset="0"/>
              </a:rPr>
              <a:t> </a:t>
            </a:r>
          </a:p>
          <a:p>
            <a:pPr algn="just">
              <a:lnSpc>
                <a:spcPct val="90000"/>
              </a:lnSpc>
              <a:buFont typeface="Arial" charset="0"/>
              <a:buChar char="•"/>
              <a:defRPr/>
            </a:pPr>
            <a:r>
              <a:rPr lang="en-US" dirty="0">
                <a:ea typeface="ＭＳ Ｐゴシック" charset="0"/>
                <a:cs typeface="ＭＳ Ｐゴシック" charset="0"/>
              </a:rPr>
              <a:t>The probability that this method produces an interval that contains the parameter is called the </a:t>
            </a:r>
            <a:r>
              <a:rPr lang="en-US" i="1" dirty="0">
                <a:solidFill>
                  <a:srgbClr val="FF0000"/>
                </a:solidFill>
                <a:ea typeface="ＭＳ Ｐゴシック" charset="0"/>
                <a:cs typeface="ＭＳ Ｐゴシック" charset="0"/>
              </a:rPr>
              <a:t>confidence level</a:t>
            </a:r>
            <a:r>
              <a:rPr lang="en-US" dirty="0">
                <a:solidFill>
                  <a:srgbClr val="FF0000"/>
                </a:solidFill>
                <a:ea typeface="ＭＳ Ｐゴシック" charset="0"/>
                <a:cs typeface="ＭＳ Ｐゴシック" charset="0"/>
              </a:rPr>
              <a:t> </a:t>
            </a:r>
          </a:p>
          <a:p>
            <a:pPr lvl="1" algn="just">
              <a:lnSpc>
                <a:spcPct val="90000"/>
              </a:lnSpc>
              <a:buFont typeface="Arial" charset="0"/>
              <a:buChar char="–"/>
              <a:defRPr/>
            </a:pPr>
            <a:r>
              <a:rPr lang="en-US" sz="2400" dirty="0">
                <a:ea typeface="ＭＳ Ｐゴシック" charset="0"/>
                <a:cs typeface="+mn-cs"/>
              </a:rPr>
              <a:t>This is a number chosen to be close to 1, most  commonly  0.95</a:t>
            </a:r>
          </a:p>
          <a:p>
            <a:pPr algn="just">
              <a:buFont typeface="Arial" charset="0"/>
              <a:buChar char="•"/>
              <a:defRPr/>
            </a:pPr>
            <a:endParaRPr lang="en-MY" dirty="0">
              <a:ea typeface="ＭＳ Ｐゴシック" charset="0"/>
              <a:cs typeface="ＭＳ Ｐゴシック" charset="0"/>
            </a:endParaRPr>
          </a:p>
          <a:p>
            <a:pPr lvl="1" algn="just">
              <a:lnSpc>
                <a:spcPct val="90000"/>
              </a:lnSpc>
              <a:buFont typeface="Arial" charset="0"/>
              <a:buChar char="–"/>
              <a:defRPr/>
            </a:pPr>
            <a:endParaRPr lang="en-US" sz="2400" dirty="0">
              <a:ea typeface="ＭＳ Ｐゴシック" charset="0"/>
              <a:cs typeface="+mn-cs"/>
            </a:endParaRPr>
          </a:p>
        </p:txBody>
      </p:sp>
      <p:sp>
        <p:nvSpPr>
          <p:cNvPr id="30723"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85F28CC7-9D99-40FE-8899-4DA13FBE7F17}" type="slidenum">
              <a:rPr lang="en-US" sz="1200">
                <a:solidFill>
                  <a:schemeClr val="bg1"/>
                </a:solidFill>
                <a:cs typeface="Arial" pitchFamily="34" charset="0"/>
              </a:rPr>
              <a:pPr algn="ctr" eaLnBrk="1" hangingPunct="1"/>
              <a:t>13</a:t>
            </a:fld>
            <a:endParaRPr lang="en-US" sz="1200">
              <a:solidFill>
                <a:schemeClr val="bg1"/>
              </a:solidFill>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Content Placeholder 2"/>
          <p:cNvSpPr>
            <a:spLocks noGrp="1"/>
          </p:cNvSpPr>
          <p:nvPr>
            <p:ph idx="1"/>
          </p:nvPr>
        </p:nvSpPr>
        <p:spPr/>
        <p:txBody>
          <a:bodyPr/>
          <a:lstStyle/>
          <a:p>
            <a:pPr algn="just"/>
            <a:r>
              <a:rPr lang="en-US"/>
              <a:t>What is the logic behind constructing a confidence interval?</a:t>
            </a:r>
          </a:p>
          <a:p>
            <a:pPr lvl="1" algn="just"/>
            <a:r>
              <a:rPr lang="en-US" sz="2400"/>
              <a:t>To construct a confidence interval for a population proportion, start with the </a:t>
            </a:r>
            <a:r>
              <a:rPr lang="en-US" sz="2400" i="1">
                <a:solidFill>
                  <a:srgbClr val="FF0000"/>
                </a:solidFill>
              </a:rPr>
              <a:t>sampling distribution of a sample proportion.</a:t>
            </a:r>
            <a:endParaRPr lang="en-US" sz="2400">
              <a:solidFill>
                <a:srgbClr val="FF0000"/>
              </a:solidFill>
            </a:endParaRPr>
          </a:p>
          <a:p>
            <a:endParaRPr lang="en-US"/>
          </a:p>
        </p:txBody>
      </p:sp>
      <p:sp>
        <p:nvSpPr>
          <p:cNvPr id="31746"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8C851051-126D-4CEE-A736-41B6520EB33B}" type="slidenum">
              <a:rPr lang="en-US" sz="1200">
                <a:solidFill>
                  <a:schemeClr val="bg1"/>
                </a:solidFill>
                <a:cs typeface="Arial" pitchFamily="34" charset="0"/>
              </a:rPr>
              <a:pPr algn="ctr" eaLnBrk="1" hangingPunct="1"/>
              <a:t>14</a:t>
            </a:fld>
            <a:endParaRPr lang="en-US" sz="1200">
              <a:solidFill>
                <a:schemeClr val="bg1"/>
              </a:solidFill>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3997325" y="115888"/>
            <a:ext cx="6491288" cy="1143000"/>
          </a:xfrm>
        </p:spPr>
        <p:txBody>
          <a:bodyPr/>
          <a:lstStyle/>
          <a:p>
            <a:r>
              <a:rPr lang="en-US" sz="2800" b="1">
                <a:latin typeface="Century Gothic" pitchFamily="34" charset="0"/>
              </a:rPr>
              <a:t>The Sampling Distribution of the </a:t>
            </a:r>
            <a:r>
              <a:rPr lang="en-US" sz="2800" b="1">
                <a:solidFill>
                  <a:srgbClr val="0000FF"/>
                </a:solidFill>
                <a:latin typeface="Century Gothic" pitchFamily="34" charset="0"/>
              </a:rPr>
              <a:t>Sample Proportion</a:t>
            </a:r>
          </a:p>
        </p:txBody>
      </p:sp>
      <p:sp>
        <p:nvSpPr>
          <p:cNvPr id="32770" name="Content Placeholder 2"/>
          <p:cNvSpPr>
            <a:spLocks noGrp="1"/>
          </p:cNvSpPr>
          <p:nvPr>
            <p:ph idx="1"/>
          </p:nvPr>
        </p:nvSpPr>
        <p:spPr/>
        <p:txBody>
          <a:bodyPr/>
          <a:lstStyle/>
          <a:p>
            <a:pPr algn="just"/>
            <a:r>
              <a:rPr lang="en-US"/>
              <a:t>Gives the possible values for the sample proportion and their probabilities. </a:t>
            </a:r>
          </a:p>
          <a:p>
            <a:pPr algn="just"/>
            <a:r>
              <a:rPr lang="en-US"/>
              <a:t>Is approximately a normal distribution for large random samples.  </a:t>
            </a:r>
          </a:p>
          <a:p>
            <a:pPr algn="just"/>
            <a:r>
              <a:rPr lang="en-US"/>
              <a:t>Has a mean equal to the population proportion.</a:t>
            </a:r>
          </a:p>
          <a:p>
            <a:pPr algn="just"/>
            <a:r>
              <a:rPr lang="en-US"/>
              <a:t>Has a standard deviation called the standard error.</a:t>
            </a:r>
          </a:p>
          <a:p>
            <a:pPr algn="just"/>
            <a:endParaRPr lang="en-US"/>
          </a:p>
        </p:txBody>
      </p:sp>
      <p:sp>
        <p:nvSpPr>
          <p:cNvPr id="32771"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57B84D61-9034-4FA9-B4F1-7F044BF69D8E}" type="slidenum">
              <a:rPr lang="en-US" sz="1200">
                <a:solidFill>
                  <a:schemeClr val="bg1"/>
                </a:solidFill>
                <a:cs typeface="Arial" pitchFamily="34" charset="0"/>
              </a:rPr>
              <a:pPr algn="ctr" eaLnBrk="1" hangingPunct="1"/>
              <a:t>15</a:t>
            </a:fld>
            <a:endParaRPr lang="en-US" sz="1200">
              <a:solidFill>
                <a:schemeClr val="bg1"/>
              </a:solidFill>
              <a:cs typeface="Arial"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4151314" y="115888"/>
            <a:ext cx="6059487" cy="1143000"/>
          </a:xfrm>
        </p:spPr>
        <p:txBody>
          <a:bodyPr/>
          <a:lstStyle/>
          <a:p>
            <a:r>
              <a:rPr lang="en-US" b="1"/>
              <a:t>Margin of Error</a:t>
            </a:r>
          </a:p>
        </p:txBody>
      </p:sp>
      <p:sp>
        <p:nvSpPr>
          <p:cNvPr id="3" name="Content Placeholder 2"/>
          <p:cNvSpPr>
            <a:spLocks noGrp="1"/>
          </p:cNvSpPr>
          <p:nvPr>
            <p:ph idx="1"/>
          </p:nvPr>
        </p:nvSpPr>
        <p:spPr/>
        <p:txBody>
          <a:bodyPr/>
          <a:lstStyle/>
          <a:p>
            <a:pPr algn="just">
              <a:buFont typeface="Arial" charset="0"/>
              <a:buChar char="•"/>
              <a:defRPr/>
            </a:pPr>
            <a:r>
              <a:rPr lang="en-US" dirty="0">
                <a:ea typeface="ＭＳ Ｐゴシック" charset="0"/>
                <a:cs typeface="ＭＳ Ｐゴシック" charset="0"/>
              </a:rPr>
              <a:t>The </a:t>
            </a:r>
            <a:r>
              <a:rPr lang="en-US" b="1" i="1" dirty="0">
                <a:solidFill>
                  <a:srgbClr val="FF0000"/>
                </a:solidFill>
                <a:ea typeface="ＭＳ Ｐゴシック" charset="0"/>
                <a:cs typeface="ＭＳ Ｐゴシック" charset="0"/>
              </a:rPr>
              <a:t>margin of error</a:t>
            </a:r>
            <a:r>
              <a:rPr lang="en-US" b="1" dirty="0">
                <a:solidFill>
                  <a:srgbClr val="FF0000"/>
                </a:solidFill>
                <a:ea typeface="ＭＳ Ｐゴシック" charset="0"/>
                <a:cs typeface="ＭＳ Ｐゴシック" charset="0"/>
              </a:rPr>
              <a:t> </a:t>
            </a:r>
            <a:r>
              <a:rPr lang="en-US" dirty="0">
                <a:ea typeface="ＭＳ Ｐゴシック" charset="0"/>
                <a:cs typeface="ＭＳ Ｐゴシック" charset="0"/>
              </a:rPr>
              <a:t>measures how accurate the point estimate is likely to be in estimating a parameter.</a:t>
            </a:r>
          </a:p>
          <a:p>
            <a:pPr marL="0" indent="0" algn="just">
              <a:buNone/>
              <a:defRPr/>
            </a:pPr>
            <a:endParaRPr lang="en-US" dirty="0">
              <a:ea typeface="ＭＳ Ｐゴシック" charset="0"/>
              <a:cs typeface="ＭＳ Ｐゴシック" charset="0"/>
            </a:endParaRPr>
          </a:p>
          <a:p>
            <a:pPr algn="just">
              <a:buFont typeface="Arial" charset="0"/>
              <a:buChar char="•"/>
              <a:defRPr/>
            </a:pPr>
            <a:r>
              <a:rPr lang="en-US" dirty="0">
                <a:ea typeface="ＭＳ Ｐゴシック" charset="0"/>
                <a:cs typeface="ＭＳ Ｐゴシック" charset="0"/>
              </a:rPr>
              <a:t>The distance of 1.96 standard errors in the margin of error for a 95% confidence interval. </a:t>
            </a:r>
          </a:p>
          <a:p>
            <a:pPr algn="just">
              <a:buFont typeface="Arial" charset="0"/>
              <a:buChar char="•"/>
              <a:defRPr/>
            </a:pPr>
            <a:endParaRPr lang="en-MY" dirty="0">
              <a:ea typeface="ＭＳ Ｐゴシック" charset="0"/>
              <a:cs typeface="ＭＳ Ｐゴシック" charset="0"/>
            </a:endParaRPr>
          </a:p>
        </p:txBody>
      </p:sp>
      <p:sp>
        <p:nvSpPr>
          <p:cNvPr id="33795"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6F4CFDBD-C442-4364-A48F-6A50C1C388C7}" type="slidenum">
              <a:rPr lang="en-US" sz="1200">
                <a:solidFill>
                  <a:schemeClr val="bg1"/>
                </a:solidFill>
                <a:cs typeface="Arial" pitchFamily="34" charset="0"/>
              </a:rPr>
              <a:pPr algn="ctr" eaLnBrk="1" hangingPunct="1"/>
              <a:t>16</a:t>
            </a:fld>
            <a:endParaRPr lang="en-US" sz="1200">
              <a:solidFill>
                <a:schemeClr val="bg1"/>
              </a:solidFill>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05000" y="2638426"/>
            <a:ext cx="8382000" cy="1323975"/>
          </a:xfrm>
          <a:prstGeom prst="rect">
            <a:avLst/>
          </a:prstGeom>
          <a:solidFill>
            <a:schemeClr val="accent1">
              <a:alpha val="36000"/>
            </a:schemeClr>
          </a:solidFill>
        </p:spPr>
        <p:txBody>
          <a:bodyPr>
            <a:spAutoFit/>
          </a:bodyPr>
          <a:lstStyle>
            <a:lvl1pPr>
              <a:defRPr sz="2400" b="1">
                <a:solidFill>
                  <a:schemeClr val="tx1"/>
                </a:solidFill>
                <a:latin typeface="Arial" charset="0"/>
                <a:ea typeface="ＭＳ Ｐゴシック" pitchFamily="96" charset="-128"/>
              </a:defRPr>
            </a:lvl1pPr>
            <a:lvl2pPr marL="742950" indent="-285750">
              <a:defRPr sz="2400" b="1">
                <a:solidFill>
                  <a:schemeClr val="tx1"/>
                </a:solidFill>
                <a:latin typeface="Arial" charset="0"/>
                <a:ea typeface="ＭＳ Ｐゴシック" pitchFamily="96" charset="-128"/>
              </a:defRPr>
            </a:lvl2pPr>
            <a:lvl3pPr marL="1143000" indent="-228600">
              <a:defRPr sz="2400" b="1">
                <a:solidFill>
                  <a:schemeClr val="tx1"/>
                </a:solidFill>
                <a:latin typeface="Arial" charset="0"/>
                <a:ea typeface="ＭＳ Ｐゴシック" pitchFamily="96" charset="-128"/>
              </a:defRPr>
            </a:lvl3pPr>
            <a:lvl4pPr marL="1600200" indent="-228600">
              <a:defRPr sz="2400" b="1">
                <a:solidFill>
                  <a:schemeClr val="tx1"/>
                </a:solidFill>
                <a:latin typeface="Arial" charset="0"/>
                <a:ea typeface="ＭＳ Ｐゴシック" pitchFamily="96" charset="-128"/>
              </a:defRPr>
            </a:lvl4pPr>
            <a:lvl5pPr marL="2057400" indent="-228600">
              <a:defRPr sz="2400" b="1">
                <a:solidFill>
                  <a:schemeClr val="tx1"/>
                </a:solidFill>
                <a:latin typeface="Arial" charset="0"/>
                <a:ea typeface="ＭＳ Ｐゴシック" pitchFamily="96"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96"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96"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96"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96" charset="-128"/>
              </a:defRPr>
            </a:lvl9pPr>
          </a:lstStyle>
          <a:p>
            <a:pPr algn="ctr" eaLnBrk="1" hangingPunct="1">
              <a:defRPr/>
            </a:pPr>
            <a:r>
              <a:rPr lang="en-US" sz="4000" dirty="0">
                <a:cs typeface="ＭＳ Ｐゴシック" charset="0"/>
              </a:rPr>
              <a:t>Confidence Interval Estimator for Proportion</a:t>
            </a:r>
            <a:endParaRPr lang="en-US" altLang="en-US" sz="4000" b="0" dirty="0">
              <a:solidFill>
                <a:srgbClr val="0D0D0D"/>
              </a:solidFill>
              <a:effectLst>
                <a:outerShdw blurRad="38100" dist="38100" dir="2700000" algn="tl">
                  <a:srgbClr val="FFFFFF"/>
                </a:outerShdw>
              </a:effectLst>
              <a:latin typeface="Arial Rounded MT Bold" pitchFamily="34" charset="0"/>
              <a:cs typeface="ＭＳ Ｐゴシック" charset="0"/>
            </a:endParaRPr>
          </a:p>
        </p:txBody>
      </p:sp>
      <p:sp>
        <p:nvSpPr>
          <p:cNvPr id="34818"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BC1080DD-84E7-467A-AE28-537B48E57250}" type="slidenum">
              <a:rPr lang="en-US" sz="1200">
                <a:solidFill>
                  <a:schemeClr val="bg1"/>
                </a:solidFill>
                <a:cs typeface="Arial" pitchFamily="34" charset="0"/>
              </a:rPr>
              <a:pPr algn="ctr" eaLnBrk="1" hangingPunct="1"/>
              <a:t>17</a:t>
            </a:fld>
            <a:endParaRPr lang="en-US" sz="1200">
              <a:solidFill>
                <a:schemeClr val="bg1"/>
              </a:solidFill>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3997325" y="115888"/>
            <a:ext cx="6491288" cy="1143000"/>
          </a:xfrm>
        </p:spPr>
        <p:txBody>
          <a:bodyPr/>
          <a:lstStyle/>
          <a:p>
            <a:r>
              <a:rPr lang="en-US" sz="2800" b="1">
                <a:latin typeface="Century Gothic" pitchFamily="34" charset="0"/>
              </a:rPr>
              <a:t>The General Properties for Sampling Distributions of </a:t>
            </a:r>
            <a:r>
              <a:rPr lang="en-US" sz="2800" b="1" i="1">
                <a:latin typeface="Century Gothic" pitchFamily="34" charset="0"/>
              </a:rPr>
              <a:t>p</a:t>
            </a:r>
            <a:endParaRPr lang="en-US" sz="2800" b="1">
              <a:latin typeface="Century Gothic" pitchFamily="34" charset="0"/>
            </a:endParaRPr>
          </a:p>
        </p:txBody>
      </p:sp>
      <p:sp>
        <p:nvSpPr>
          <p:cNvPr id="15" name="Rectangle 3"/>
          <p:cNvSpPr txBox="1">
            <a:spLocks noChangeArrowheads="1"/>
          </p:cNvSpPr>
          <p:nvPr/>
        </p:nvSpPr>
        <p:spPr bwMode="auto">
          <a:xfrm>
            <a:off x="1981200" y="1905000"/>
            <a:ext cx="8153400" cy="4648200"/>
          </a:xfrm>
          <a:prstGeom prst="rect">
            <a:avLst/>
          </a:prstGeom>
          <a:noFill/>
          <a:ln w="9525">
            <a:noFill/>
            <a:miter lim="800000"/>
            <a:headEnd/>
            <a:tailEnd/>
          </a:ln>
          <a:effectLst/>
        </p:spPr>
        <p:txBody>
          <a:bodyPr/>
          <a:lstStyle/>
          <a:p>
            <a:pPr marL="342900" indent="-342900">
              <a:spcBef>
                <a:spcPct val="20000"/>
              </a:spcBef>
              <a:defRPr/>
            </a:pPr>
            <a:r>
              <a:rPr lang="en-US" sz="2800" kern="0" dirty="0">
                <a:latin typeface="+mn-lt"/>
                <a:ea typeface="+mn-ea"/>
              </a:rPr>
              <a:t>1. </a:t>
            </a:r>
          </a:p>
          <a:p>
            <a:pPr marL="342900" indent="-342900">
              <a:spcBef>
                <a:spcPct val="20000"/>
              </a:spcBef>
              <a:defRPr/>
            </a:pPr>
            <a:endParaRPr lang="en-US" sz="3600" kern="0" dirty="0">
              <a:solidFill>
                <a:srgbClr val="00CC00"/>
              </a:solidFill>
              <a:latin typeface="Comic Sans MS" pitchFamily="66" charset="0"/>
              <a:ea typeface="+mn-ea"/>
            </a:endParaRPr>
          </a:p>
          <a:p>
            <a:pPr marL="342900" indent="-342900">
              <a:spcBef>
                <a:spcPct val="20000"/>
              </a:spcBef>
              <a:defRPr/>
            </a:pPr>
            <a:r>
              <a:rPr lang="en-US" kern="0" dirty="0">
                <a:latin typeface="+mn-lt"/>
                <a:ea typeface="+mn-ea"/>
              </a:rPr>
              <a:t>2.</a:t>
            </a:r>
          </a:p>
          <a:p>
            <a:pPr marL="342900" indent="-342900">
              <a:spcBef>
                <a:spcPct val="20000"/>
              </a:spcBef>
              <a:defRPr/>
            </a:pPr>
            <a:endParaRPr lang="en-US" sz="3600" kern="0" dirty="0">
              <a:solidFill>
                <a:srgbClr val="00CC00"/>
              </a:solidFill>
              <a:latin typeface="Comic Sans MS" pitchFamily="66" charset="0"/>
              <a:ea typeface="+mn-ea"/>
            </a:endParaRPr>
          </a:p>
        </p:txBody>
      </p:sp>
      <p:graphicFrame>
        <p:nvGraphicFramePr>
          <p:cNvPr id="35843" name="Object 4"/>
          <p:cNvGraphicFramePr>
            <a:graphicFrameLocks noChangeAspect="1"/>
          </p:cNvGraphicFramePr>
          <p:nvPr/>
        </p:nvGraphicFramePr>
        <p:xfrm>
          <a:off x="2514600" y="1903414"/>
          <a:ext cx="1339850" cy="687387"/>
        </p:xfrm>
        <a:graphic>
          <a:graphicData uri="http://schemas.openxmlformats.org/presentationml/2006/ole">
            <mc:AlternateContent xmlns:mc="http://schemas.openxmlformats.org/markup-compatibility/2006">
              <mc:Choice xmlns:v="urn:schemas-microsoft-com:vml" Requires="v">
                <p:oleObj name="Equation" r:id="rId2" imgW="494657" imgH="253939" progId="Equation.3">
                  <p:embed/>
                </p:oleObj>
              </mc:Choice>
              <mc:Fallback>
                <p:oleObj name="Equation" r:id="rId2" imgW="494657" imgH="253939"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903414"/>
                        <a:ext cx="1339850"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5"/>
          <p:cNvGraphicFramePr>
            <a:graphicFrameLocks noChangeAspect="1"/>
          </p:cNvGraphicFramePr>
          <p:nvPr/>
        </p:nvGraphicFramePr>
        <p:xfrm>
          <a:off x="2595564" y="2895601"/>
          <a:ext cx="2586037" cy="1077913"/>
        </p:xfrm>
        <a:graphic>
          <a:graphicData uri="http://schemas.openxmlformats.org/presentationml/2006/ole">
            <mc:AlternateContent xmlns:mc="http://schemas.openxmlformats.org/markup-compatibility/2006">
              <mc:Choice xmlns:v="urn:schemas-microsoft-com:vml" Requires="v">
                <p:oleObj name="Equation" r:id="rId4" imgW="1066524" imgH="444247" progId="Equation.3">
                  <p:embed/>
                </p:oleObj>
              </mc:Choice>
              <mc:Fallback>
                <p:oleObj name="Equation" r:id="rId4" imgW="1066524" imgH="444247"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5564" y="2895601"/>
                        <a:ext cx="2586037" cy="1077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10"/>
          <p:cNvSpPr txBox="1">
            <a:spLocks noChangeArrowheads="1"/>
          </p:cNvSpPr>
          <p:nvPr/>
        </p:nvSpPr>
        <p:spPr bwMode="auto">
          <a:xfrm>
            <a:off x="5486400" y="2895600"/>
            <a:ext cx="4800600" cy="1384300"/>
          </a:xfrm>
          <a:prstGeom prst="rect">
            <a:avLst/>
          </a:prstGeom>
          <a:noFill/>
          <a:ln w="9525" algn="ctr">
            <a:noFill/>
            <a:miter lim="800000"/>
            <a:headEnd/>
            <a:tailEnd/>
          </a:ln>
          <a:effectLst/>
        </p:spPr>
        <p:txBody>
          <a:bodyPr>
            <a:spAutoFit/>
          </a:bodyPr>
          <a:lstStyle/>
          <a:p>
            <a:pPr eaLnBrk="1" hangingPunct="1">
              <a:defRPr/>
            </a:pPr>
            <a:r>
              <a:rPr lang="en-US" sz="2400" dirty="0">
                <a:solidFill>
                  <a:srgbClr val="3333FF"/>
                </a:solidFill>
                <a:latin typeface="+mn-lt"/>
                <a:ea typeface="ＭＳ Ｐゴシック" charset="0"/>
                <a:cs typeface="ＭＳ Ｐゴシック" charset="0"/>
              </a:rPr>
              <a:t>As long as the sample size is less than 10% of the population</a:t>
            </a:r>
          </a:p>
          <a:p>
            <a:pPr eaLnBrk="1" hangingPunct="1">
              <a:spcBef>
                <a:spcPct val="50000"/>
              </a:spcBef>
              <a:defRPr/>
            </a:pPr>
            <a:endParaRPr lang="en-US" sz="2400" dirty="0">
              <a:solidFill>
                <a:srgbClr val="00CC00"/>
              </a:solidFill>
              <a:latin typeface="Calibri" charset="0"/>
              <a:ea typeface="ＭＳ Ｐゴシック" charset="0"/>
              <a:cs typeface="ＭＳ Ｐゴシック" charset="0"/>
            </a:endParaRPr>
          </a:p>
        </p:txBody>
      </p:sp>
      <p:grpSp>
        <p:nvGrpSpPr>
          <p:cNvPr id="35846" name="Group 27"/>
          <p:cNvGrpSpPr>
            <a:grpSpLocks/>
          </p:cNvGrpSpPr>
          <p:nvPr/>
        </p:nvGrpSpPr>
        <p:grpSpPr bwMode="auto">
          <a:xfrm>
            <a:off x="9372600" y="914400"/>
            <a:ext cx="285750" cy="76200"/>
            <a:chOff x="4343400" y="5562600"/>
            <a:chExt cx="285750" cy="76200"/>
          </a:xfrm>
        </p:grpSpPr>
        <p:sp>
          <p:nvSpPr>
            <p:cNvPr id="35851" name="Line 12"/>
            <p:cNvSpPr>
              <a:spLocks noChangeShapeType="1"/>
            </p:cNvSpPr>
            <p:nvPr/>
          </p:nvSpPr>
          <p:spPr bwMode="auto">
            <a:xfrm flipV="1">
              <a:off x="4343400" y="5562600"/>
              <a:ext cx="152400" cy="76200"/>
            </a:xfrm>
            <a:prstGeom prst="line">
              <a:avLst/>
            </a:prstGeom>
            <a:noFill/>
            <a:ln w="28575">
              <a:solidFill>
                <a:schemeClr val="bg1"/>
              </a:solidFill>
              <a:round/>
              <a:headEnd/>
              <a:tailEnd/>
            </a:ln>
          </p:spPr>
          <p:txBody>
            <a:bodyPr/>
            <a:lstStyle/>
            <a:p>
              <a:endParaRPr lang="en-US"/>
            </a:p>
          </p:txBody>
        </p:sp>
        <p:sp>
          <p:nvSpPr>
            <p:cNvPr id="35852" name="Line 13"/>
            <p:cNvSpPr>
              <a:spLocks noChangeShapeType="1"/>
            </p:cNvSpPr>
            <p:nvPr/>
          </p:nvSpPr>
          <p:spPr bwMode="auto">
            <a:xfrm flipH="1" flipV="1">
              <a:off x="4476750" y="5562600"/>
              <a:ext cx="152400" cy="76200"/>
            </a:xfrm>
            <a:prstGeom prst="line">
              <a:avLst/>
            </a:prstGeom>
            <a:noFill/>
            <a:ln w="28575">
              <a:solidFill>
                <a:schemeClr val="bg1"/>
              </a:solidFill>
              <a:round/>
              <a:headEnd/>
              <a:tailEnd/>
            </a:ln>
          </p:spPr>
          <p:txBody>
            <a:bodyPr/>
            <a:lstStyle/>
            <a:p>
              <a:endParaRPr lang="en-US"/>
            </a:p>
          </p:txBody>
        </p:sp>
      </p:grpSp>
      <p:sp>
        <p:nvSpPr>
          <p:cNvPr id="35847" name="Rectangle 28"/>
          <p:cNvSpPr>
            <a:spLocks noChangeArrowheads="1"/>
          </p:cNvSpPr>
          <p:nvPr/>
        </p:nvSpPr>
        <p:spPr bwMode="auto">
          <a:xfrm>
            <a:off x="1981200" y="4191001"/>
            <a:ext cx="8153400" cy="830263"/>
          </a:xfrm>
          <a:prstGeom prst="rect">
            <a:avLst/>
          </a:prstGeom>
          <a:noFill/>
          <a:ln w="9525">
            <a:noFill/>
            <a:miter lim="800000"/>
            <a:headEnd/>
            <a:tailEnd/>
          </a:ln>
        </p:spPr>
        <p:txBody>
          <a:bodyPr>
            <a:spAutoFit/>
          </a:bodyPr>
          <a:lstStyle/>
          <a:p>
            <a:pPr marL="342900" indent="-342900" eaLnBrk="1" hangingPunct="1"/>
            <a:r>
              <a:rPr lang="en-US" sz="2400"/>
              <a:t>3.  As long as </a:t>
            </a:r>
            <a:r>
              <a:rPr lang="en-US" sz="2400" i="1"/>
              <a:t>n</a:t>
            </a:r>
            <a:r>
              <a:rPr lang="en-US" sz="2400"/>
              <a:t> is large (</a:t>
            </a:r>
            <a:r>
              <a:rPr lang="en-US" sz="2400" i="1"/>
              <a:t>np</a:t>
            </a:r>
            <a:r>
              <a:rPr lang="en-US" sz="2400"/>
              <a:t> </a:t>
            </a:r>
            <a:r>
              <a:rPr lang="en-US" sz="2400" u="sng"/>
              <a:t>&gt;</a:t>
            </a:r>
            <a:r>
              <a:rPr lang="en-US" sz="2400"/>
              <a:t> 10 and </a:t>
            </a:r>
            <a:r>
              <a:rPr lang="en-US" sz="2400" i="1"/>
              <a:t>n </a:t>
            </a:r>
            <a:r>
              <a:rPr lang="en-US" sz="2400"/>
              <a:t>(1-</a:t>
            </a:r>
            <a:r>
              <a:rPr lang="en-US" sz="2400" i="1"/>
              <a:t>p</a:t>
            </a:r>
            <a:r>
              <a:rPr lang="en-US" sz="2400"/>
              <a:t>) </a:t>
            </a:r>
            <a:r>
              <a:rPr lang="en-US" sz="2400" u="sng"/>
              <a:t>&gt;</a:t>
            </a:r>
            <a:r>
              <a:rPr lang="en-US" sz="2400"/>
              <a:t> 10)  the sampling distribution of     is approximately normal.</a:t>
            </a:r>
          </a:p>
        </p:txBody>
      </p:sp>
      <p:graphicFrame>
        <p:nvGraphicFramePr>
          <p:cNvPr id="35848" name="Object 7"/>
          <p:cNvGraphicFramePr>
            <a:graphicFrameLocks noChangeAspect="1"/>
          </p:cNvGraphicFramePr>
          <p:nvPr/>
        </p:nvGraphicFramePr>
        <p:xfrm>
          <a:off x="4192589" y="4652963"/>
          <a:ext cx="276225" cy="431800"/>
        </p:xfrm>
        <a:graphic>
          <a:graphicData uri="http://schemas.openxmlformats.org/presentationml/2006/ole">
            <mc:AlternateContent xmlns:mc="http://schemas.openxmlformats.org/markup-compatibility/2006">
              <mc:Choice xmlns:v="urn:schemas-microsoft-com:vml" Requires="v">
                <p:oleObj name="Equation" r:id="rId6" imgW="279446" imgH="431570" progId="Equation.3">
                  <p:embed/>
                </p:oleObj>
              </mc:Choice>
              <mc:Fallback>
                <p:oleObj name="Equation" r:id="rId6" imgW="279446" imgH="43157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2589" y="4652963"/>
                        <a:ext cx="27622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9" name="Rectangle 34"/>
          <p:cNvSpPr>
            <a:spLocks noChangeArrowheads="1"/>
          </p:cNvSpPr>
          <p:nvPr/>
        </p:nvSpPr>
        <p:spPr bwMode="auto">
          <a:xfrm>
            <a:off x="1952625" y="5391151"/>
            <a:ext cx="8153400" cy="830263"/>
          </a:xfrm>
          <a:prstGeom prst="rect">
            <a:avLst/>
          </a:prstGeom>
          <a:noFill/>
          <a:ln w="9525">
            <a:noFill/>
            <a:miter lim="800000"/>
            <a:headEnd/>
            <a:tailEnd/>
          </a:ln>
        </p:spPr>
        <p:txBody>
          <a:bodyPr>
            <a:spAutoFit/>
          </a:bodyPr>
          <a:lstStyle/>
          <a:p>
            <a:pPr algn="ctr" eaLnBrk="1" hangingPunct="1"/>
            <a:r>
              <a:rPr lang="en-US" sz="2400">
                <a:solidFill>
                  <a:srgbClr val="FF0000"/>
                </a:solidFill>
              </a:rPr>
              <a:t>These are the conditions that must be true in order to calculate a </a:t>
            </a:r>
            <a:r>
              <a:rPr lang="en-US" sz="2400" u="sng">
                <a:solidFill>
                  <a:srgbClr val="FF0000"/>
                </a:solidFill>
              </a:rPr>
              <a:t>large-sample confidence interval </a:t>
            </a:r>
            <a:r>
              <a:rPr lang="en-US" sz="2400">
                <a:solidFill>
                  <a:srgbClr val="FF0000"/>
                </a:solidFill>
              </a:rPr>
              <a:t>for </a:t>
            </a:r>
            <a:r>
              <a:rPr lang="en-US" sz="2400" i="1">
                <a:solidFill>
                  <a:srgbClr val="FF0000"/>
                </a:solidFill>
              </a:rPr>
              <a:t>p</a:t>
            </a:r>
          </a:p>
        </p:txBody>
      </p:sp>
      <p:sp>
        <p:nvSpPr>
          <p:cNvPr id="35850"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ED084294-C9A4-4509-8037-E19D3898CE83}" type="slidenum">
              <a:rPr lang="en-US" sz="1200">
                <a:solidFill>
                  <a:schemeClr val="bg1"/>
                </a:solidFill>
                <a:cs typeface="Arial" pitchFamily="34" charset="0"/>
              </a:rPr>
              <a:pPr algn="ctr" eaLnBrk="1" hangingPunct="1"/>
              <a:t>18</a:t>
            </a:fld>
            <a:endParaRPr lang="en-US" sz="1200">
              <a:solidFill>
                <a:schemeClr val="bg1"/>
              </a:solidFill>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a:xfrm>
            <a:off x="3852864" y="115888"/>
            <a:ext cx="6491287" cy="838200"/>
          </a:xfrm>
        </p:spPr>
        <p:txBody>
          <a:bodyPr/>
          <a:lstStyle/>
          <a:p>
            <a:r>
              <a:rPr lang="en-US" sz="2800" b="1">
                <a:latin typeface="Century Gothic" pitchFamily="34" charset="0"/>
              </a:rPr>
              <a:t>The Large-Sample Confidence Interval for </a:t>
            </a:r>
            <a:r>
              <a:rPr lang="en-US" sz="2800" b="1" i="1">
                <a:latin typeface="Century Gothic" pitchFamily="34" charset="0"/>
              </a:rPr>
              <a:t>p</a:t>
            </a:r>
            <a:endParaRPr lang="en-US" sz="2800" b="1">
              <a:latin typeface="Century Gothic" pitchFamily="34" charset="0"/>
            </a:endParaRPr>
          </a:p>
        </p:txBody>
      </p:sp>
      <p:sp>
        <p:nvSpPr>
          <p:cNvPr id="36866" name="Content Placeholder 2"/>
          <p:cNvSpPr>
            <a:spLocks noGrp="1"/>
          </p:cNvSpPr>
          <p:nvPr>
            <p:ph idx="1"/>
          </p:nvPr>
        </p:nvSpPr>
        <p:spPr>
          <a:xfrm>
            <a:off x="1992313" y="1196976"/>
            <a:ext cx="8229600" cy="4525963"/>
          </a:xfrm>
        </p:spPr>
        <p:txBody>
          <a:bodyPr/>
          <a:lstStyle/>
          <a:p>
            <a:pPr algn="just"/>
            <a:r>
              <a:rPr lang="en-US"/>
              <a:t>We symbolize a population proportion by </a:t>
            </a:r>
            <a:r>
              <a:rPr lang="en-US" b="1" i="1">
                <a:solidFill>
                  <a:srgbClr val="FF0000"/>
                </a:solidFill>
              </a:rPr>
              <a:t>p</a:t>
            </a:r>
            <a:endParaRPr lang="en-US" b="1">
              <a:solidFill>
                <a:srgbClr val="FF0000"/>
              </a:solidFill>
            </a:endParaRPr>
          </a:p>
          <a:p>
            <a:pPr algn="just"/>
            <a:r>
              <a:rPr lang="en-US"/>
              <a:t>The point estimate of the population proportion is the </a:t>
            </a:r>
            <a:r>
              <a:rPr lang="en-US" i="1">
                <a:solidFill>
                  <a:srgbClr val="FF0000"/>
                </a:solidFill>
              </a:rPr>
              <a:t>sample proportion</a:t>
            </a:r>
            <a:endParaRPr lang="en-US">
              <a:solidFill>
                <a:srgbClr val="FF0000"/>
              </a:solidFill>
            </a:endParaRPr>
          </a:p>
          <a:p>
            <a:pPr algn="just"/>
            <a:r>
              <a:rPr lang="en-US"/>
              <a:t>We symbolize the sample proportion by </a:t>
            </a:r>
          </a:p>
          <a:p>
            <a:pPr algn="just"/>
            <a:r>
              <a:rPr lang="en-US"/>
              <a:t>The general formula for a confidence interval for a population proportion</a:t>
            </a:r>
          </a:p>
        </p:txBody>
      </p:sp>
      <p:graphicFrame>
        <p:nvGraphicFramePr>
          <p:cNvPr id="36867" name="Object 2"/>
          <p:cNvGraphicFramePr>
            <a:graphicFrameLocks noChangeAspect="1"/>
          </p:cNvGraphicFramePr>
          <p:nvPr/>
        </p:nvGraphicFramePr>
        <p:xfrm>
          <a:off x="9082089" y="2852738"/>
          <a:ext cx="327025" cy="506412"/>
        </p:xfrm>
        <a:graphic>
          <a:graphicData uri="http://schemas.openxmlformats.org/presentationml/2006/ole">
            <mc:AlternateContent xmlns:mc="http://schemas.openxmlformats.org/markup-compatibility/2006">
              <mc:Choice xmlns:v="urn:schemas-microsoft-com:vml" Requires="v">
                <p:oleObj name="Equation" r:id="rId3" imgW="279446" imgH="431570" progId="Equation.3">
                  <p:embed/>
                </p:oleObj>
              </mc:Choice>
              <mc:Fallback>
                <p:oleObj name="Equation" r:id="rId3" imgW="279446" imgH="43157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2089" y="2852738"/>
                        <a:ext cx="327025"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36868" name="Group 5"/>
          <p:cNvGrpSpPr>
            <a:grpSpLocks/>
          </p:cNvGrpSpPr>
          <p:nvPr/>
        </p:nvGrpSpPr>
        <p:grpSpPr bwMode="auto">
          <a:xfrm>
            <a:off x="9448800" y="914400"/>
            <a:ext cx="285750" cy="76200"/>
            <a:chOff x="4343400" y="5562600"/>
            <a:chExt cx="285750" cy="76200"/>
          </a:xfrm>
        </p:grpSpPr>
        <p:sp>
          <p:nvSpPr>
            <p:cNvPr id="36874" name="Line 12"/>
            <p:cNvSpPr>
              <a:spLocks noChangeShapeType="1"/>
            </p:cNvSpPr>
            <p:nvPr/>
          </p:nvSpPr>
          <p:spPr bwMode="auto">
            <a:xfrm flipV="1">
              <a:off x="4343400" y="5562600"/>
              <a:ext cx="152400" cy="76200"/>
            </a:xfrm>
            <a:prstGeom prst="line">
              <a:avLst/>
            </a:prstGeom>
            <a:noFill/>
            <a:ln w="28575">
              <a:solidFill>
                <a:schemeClr val="bg1"/>
              </a:solidFill>
              <a:round/>
              <a:headEnd/>
              <a:tailEnd/>
            </a:ln>
          </p:spPr>
          <p:txBody>
            <a:bodyPr/>
            <a:lstStyle/>
            <a:p>
              <a:endParaRPr lang="en-US"/>
            </a:p>
          </p:txBody>
        </p:sp>
        <p:sp>
          <p:nvSpPr>
            <p:cNvPr id="36875" name="Line 13"/>
            <p:cNvSpPr>
              <a:spLocks noChangeShapeType="1"/>
            </p:cNvSpPr>
            <p:nvPr/>
          </p:nvSpPr>
          <p:spPr bwMode="auto">
            <a:xfrm flipH="1" flipV="1">
              <a:off x="4476750" y="5562600"/>
              <a:ext cx="152400" cy="76200"/>
            </a:xfrm>
            <a:prstGeom prst="line">
              <a:avLst/>
            </a:prstGeom>
            <a:noFill/>
            <a:ln w="28575">
              <a:solidFill>
                <a:schemeClr val="bg1"/>
              </a:solidFill>
              <a:round/>
              <a:headEnd/>
              <a:tailEnd/>
            </a:ln>
          </p:spPr>
          <p:txBody>
            <a:bodyPr/>
            <a:lstStyle/>
            <a:p>
              <a:endParaRPr lang="en-US"/>
            </a:p>
          </p:txBody>
        </p:sp>
      </p:grpSp>
      <p:graphicFrame>
        <p:nvGraphicFramePr>
          <p:cNvPr id="36869" name="Object 4"/>
          <p:cNvGraphicFramePr>
            <a:graphicFrameLocks noChangeAspect="1"/>
          </p:cNvGraphicFramePr>
          <p:nvPr/>
        </p:nvGraphicFramePr>
        <p:xfrm>
          <a:off x="2971801" y="4691064"/>
          <a:ext cx="5038725" cy="1044575"/>
        </p:xfrm>
        <a:graphic>
          <a:graphicData uri="http://schemas.openxmlformats.org/presentationml/2006/ole">
            <mc:AlternateContent xmlns:mc="http://schemas.openxmlformats.org/markup-compatibility/2006">
              <mc:Choice xmlns:v="urn:schemas-microsoft-com:vml" Requires="v">
                <p:oleObj name="Equation" r:id="rId5" imgW="2818711" imgH="584246" progId="Equation.3">
                  <p:embed/>
                </p:oleObj>
              </mc:Choice>
              <mc:Fallback>
                <p:oleObj name="Equation" r:id="rId5" imgW="2818711" imgH="58424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1" y="4691064"/>
                        <a:ext cx="5038725" cy="1044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Oval 12"/>
          <p:cNvSpPr>
            <a:spLocks noChangeArrowheads="1"/>
          </p:cNvSpPr>
          <p:nvPr/>
        </p:nvSpPr>
        <p:spPr bwMode="auto">
          <a:xfrm>
            <a:off x="3581400" y="4495800"/>
            <a:ext cx="5105400" cy="1447800"/>
          </a:xfrm>
          <a:prstGeom prst="ellipse">
            <a:avLst/>
          </a:prstGeom>
          <a:noFill/>
          <a:ln w="38100">
            <a:solidFill>
              <a:srgbClr val="FF0000"/>
            </a:solidFill>
            <a:round/>
            <a:headEnd/>
            <a:tailEnd/>
          </a:ln>
        </p:spPr>
        <p:txBody>
          <a:bodyPr wrap="none" anchor="ctr"/>
          <a:lstStyle/>
          <a:p>
            <a:pPr eaLnBrk="1" hangingPunct="1"/>
            <a:endParaRPr lang="en-US"/>
          </a:p>
        </p:txBody>
      </p:sp>
      <p:sp>
        <p:nvSpPr>
          <p:cNvPr id="36871" name="Rectangle 12"/>
          <p:cNvSpPr>
            <a:spLocks noChangeArrowheads="1"/>
          </p:cNvSpPr>
          <p:nvPr/>
        </p:nvSpPr>
        <p:spPr bwMode="auto">
          <a:xfrm>
            <a:off x="3886200" y="5907088"/>
            <a:ext cx="4572000" cy="646112"/>
          </a:xfrm>
          <a:prstGeom prst="rect">
            <a:avLst/>
          </a:prstGeom>
          <a:noFill/>
          <a:ln w="9525">
            <a:noFill/>
            <a:miter lim="800000"/>
            <a:headEnd/>
            <a:tailEnd/>
          </a:ln>
        </p:spPr>
        <p:txBody>
          <a:bodyPr>
            <a:spAutoFit/>
          </a:bodyPr>
          <a:lstStyle/>
          <a:p>
            <a:pPr algn="ctr" eaLnBrk="1" hangingPunct="1"/>
            <a:r>
              <a:rPr lang="en-US"/>
              <a:t>This is also called the </a:t>
            </a:r>
            <a:r>
              <a:rPr lang="en-US">
                <a:solidFill>
                  <a:srgbClr val="FF0000"/>
                </a:solidFill>
              </a:rPr>
              <a:t>margin of error/bound on the error estimation</a:t>
            </a:r>
          </a:p>
        </p:txBody>
      </p:sp>
      <p:cxnSp>
        <p:nvCxnSpPr>
          <p:cNvPr id="25609" name="Curved Connector 19"/>
          <p:cNvCxnSpPr>
            <a:cxnSpLocks noChangeShapeType="1"/>
          </p:cNvCxnSpPr>
          <p:nvPr/>
        </p:nvCxnSpPr>
        <p:spPr bwMode="auto">
          <a:xfrm rot="5400000">
            <a:off x="8020845" y="5572920"/>
            <a:ext cx="579437" cy="466725"/>
          </a:xfrm>
          <a:prstGeom prst="curvedConnector3">
            <a:avLst>
              <a:gd name="adj1" fmla="val 50000"/>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36873"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0889CC5D-ED33-423A-84A8-6EBD596FD4A6}" type="slidenum">
              <a:rPr lang="en-US" sz="1200">
                <a:solidFill>
                  <a:schemeClr val="bg1"/>
                </a:solidFill>
                <a:cs typeface="Arial" pitchFamily="34" charset="0"/>
              </a:rPr>
              <a:pPr algn="ctr" eaLnBrk="1" hangingPunct="1"/>
              <a:t>19</a:t>
            </a:fld>
            <a:endParaRPr lang="en-US" sz="1200">
              <a:solidFill>
                <a:schemeClr val="bg1"/>
              </a:solidFill>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3852864" y="-26988"/>
            <a:ext cx="6707187" cy="993776"/>
          </a:xfrm>
        </p:spPr>
        <p:txBody>
          <a:bodyPr/>
          <a:lstStyle/>
          <a:p>
            <a:r>
              <a:rPr lang="en-US" sz="2400" b="1">
                <a:latin typeface="Century Gothic" pitchFamily="34" charset="0"/>
              </a:rPr>
              <a:t>Three Commonly Used Confidence Levels </a:t>
            </a:r>
          </a:p>
        </p:txBody>
      </p:sp>
      <p:sp>
        <p:nvSpPr>
          <p:cNvPr id="38914" name="Content Placeholder 2"/>
          <p:cNvSpPr>
            <a:spLocks noGrp="1"/>
          </p:cNvSpPr>
          <p:nvPr>
            <p:ph idx="1"/>
          </p:nvPr>
        </p:nvSpPr>
        <p:spPr>
          <a:xfrm>
            <a:off x="1919288" y="1000108"/>
            <a:ext cx="8229600" cy="4343400"/>
          </a:xfrm>
        </p:spPr>
        <p:txBody>
          <a:bodyPr/>
          <a:lstStyle/>
          <a:p>
            <a:r>
              <a:rPr lang="en-US" sz="2800" dirty="0"/>
              <a:t>A </a:t>
            </a:r>
            <a:r>
              <a:rPr lang="en-US" sz="2800" dirty="0">
                <a:solidFill>
                  <a:srgbClr val="FF0000"/>
                </a:solidFill>
              </a:rPr>
              <a:t>90%</a:t>
            </a:r>
            <a:r>
              <a:rPr lang="en-US" sz="2800" dirty="0"/>
              <a:t> confidence interval for a population proportion</a:t>
            </a:r>
          </a:p>
          <a:p>
            <a:endParaRPr lang="en-US" sz="2800" dirty="0"/>
          </a:p>
          <a:p>
            <a:endParaRPr lang="en-US" sz="2800" dirty="0"/>
          </a:p>
          <a:p>
            <a:r>
              <a:rPr lang="en-US" sz="2800" dirty="0"/>
              <a:t>A </a:t>
            </a:r>
            <a:r>
              <a:rPr lang="en-US" sz="2800" dirty="0">
                <a:solidFill>
                  <a:srgbClr val="0000FF"/>
                </a:solidFill>
              </a:rPr>
              <a:t>95%</a:t>
            </a:r>
            <a:r>
              <a:rPr lang="en-US" sz="2800" dirty="0"/>
              <a:t> confidence interval for a population proportion</a:t>
            </a:r>
            <a:endParaRPr lang="en-US" sz="2800" i="1" dirty="0"/>
          </a:p>
          <a:p>
            <a:endParaRPr lang="en-US" sz="2800" dirty="0"/>
          </a:p>
          <a:p>
            <a:endParaRPr lang="en-US" sz="2800" dirty="0"/>
          </a:p>
          <a:p>
            <a:r>
              <a:rPr lang="en-US" sz="2800" dirty="0"/>
              <a:t>A </a:t>
            </a:r>
            <a:r>
              <a:rPr lang="en-US" sz="2800" dirty="0">
                <a:solidFill>
                  <a:srgbClr val="008000"/>
                </a:solidFill>
              </a:rPr>
              <a:t>99% </a:t>
            </a:r>
            <a:r>
              <a:rPr lang="en-US" sz="2800" dirty="0"/>
              <a:t>confidence interval for a population proportion</a:t>
            </a:r>
          </a:p>
          <a:p>
            <a:endParaRPr lang="en-US" sz="2800" dirty="0"/>
          </a:p>
          <a:p>
            <a:endParaRPr lang="en-US" sz="2800" dirty="0"/>
          </a:p>
        </p:txBody>
      </p:sp>
      <p:graphicFrame>
        <p:nvGraphicFramePr>
          <p:cNvPr id="38915" name="Object 3"/>
          <p:cNvGraphicFramePr>
            <a:graphicFrameLocks noChangeAspect="1"/>
          </p:cNvGraphicFramePr>
          <p:nvPr>
            <p:extLst>
              <p:ext uri="{D42A27DB-BD31-4B8C-83A1-F6EECF244321}">
                <p14:modId xmlns:p14="http://schemas.microsoft.com/office/powerpoint/2010/main" val="3267812104"/>
              </p:ext>
            </p:extLst>
          </p:nvPr>
        </p:nvGraphicFramePr>
        <p:xfrm>
          <a:off x="4440238" y="1857364"/>
          <a:ext cx="2835506" cy="1011236"/>
        </p:xfrm>
        <a:graphic>
          <a:graphicData uri="http://schemas.openxmlformats.org/presentationml/2006/ole">
            <mc:AlternateContent xmlns:mc="http://schemas.openxmlformats.org/markup-compatibility/2006">
              <mc:Choice xmlns:v="urn:schemas-microsoft-com:vml" Requires="v">
                <p:oleObj name="Equation" r:id="rId3" imgW="1244554" imgH="444247" progId="Equation.3">
                  <p:embed/>
                </p:oleObj>
              </mc:Choice>
              <mc:Fallback>
                <p:oleObj name="Equation" r:id="rId3" imgW="1244554" imgH="444247"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238" y="1857364"/>
                        <a:ext cx="2835506" cy="1011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6" name="Object 3"/>
          <p:cNvGraphicFramePr>
            <a:graphicFrameLocks noChangeAspect="1"/>
          </p:cNvGraphicFramePr>
          <p:nvPr/>
        </p:nvGraphicFramePr>
        <p:xfrm>
          <a:off x="4524364" y="3714753"/>
          <a:ext cx="2812026" cy="1068399"/>
        </p:xfrm>
        <a:graphic>
          <a:graphicData uri="http://schemas.openxmlformats.org/presentationml/2006/ole">
            <mc:AlternateContent xmlns:mc="http://schemas.openxmlformats.org/markup-compatibility/2006">
              <mc:Choice xmlns:v="urn:schemas-microsoft-com:vml" Requires="v">
                <p:oleObj name="Equation" r:id="rId5" imgW="1167941" imgH="444247" progId="Equation.3">
                  <p:embed/>
                </p:oleObj>
              </mc:Choice>
              <mc:Fallback>
                <p:oleObj name="Equation" r:id="rId5" imgW="1167941" imgH="444247"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4364" y="3714753"/>
                        <a:ext cx="2812026" cy="10683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7" name="Object 3"/>
          <p:cNvGraphicFramePr>
            <a:graphicFrameLocks noChangeAspect="1"/>
          </p:cNvGraphicFramePr>
          <p:nvPr/>
        </p:nvGraphicFramePr>
        <p:xfrm>
          <a:off x="4595802" y="5429265"/>
          <a:ext cx="2915850" cy="1095361"/>
        </p:xfrm>
        <a:graphic>
          <a:graphicData uri="http://schemas.openxmlformats.org/presentationml/2006/ole">
            <mc:AlternateContent xmlns:mc="http://schemas.openxmlformats.org/markup-compatibility/2006">
              <mc:Choice xmlns:v="urn:schemas-microsoft-com:vml" Requires="v">
                <p:oleObj name="Equation" r:id="rId7" imgW="1180618" imgH="444247" progId="Equation.3">
                  <p:embed/>
                </p:oleObj>
              </mc:Choice>
              <mc:Fallback>
                <p:oleObj name="Equation" r:id="rId7" imgW="1180618" imgH="444247"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5802" y="5429265"/>
                        <a:ext cx="2915850" cy="10953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8" name="Object 7"/>
          <p:cNvGraphicFramePr>
            <a:graphicFrameLocks noChangeAspect="1"/>
          </p:cNvGraphicFramePr>
          <p:nvPr/>
        </p:nvGraphicFramePr>
        <p:xfrm>
          <a:off x="8605858" y="1000108"/>
          <a:ext cx="317500" cy="495300"/>
        </p:xfrm>
        <a:graphic>
          <a:graphicData uri="http://schemas.openxmlformats.org/presentationml/2006/ole">
            <mc:AlternateContent xmlns:mc="http://schemas.openxmlformats.org/markup-compatibility/2006">
              <mc:Choice xmlns:v="urn:schemas-microsoft-com:vml" Requires="v">
                <p:oleObj name="Equation" r:id="rId9" imgW="279446" imgH="431570" progId="">
                  <p:embed/>
                </p:oleObj>
              </mc:Choice>
              <mc:Fallback>
                <p:oleObj name="Equation" r:id="rId9" imgW="279446" imgH="431570" progId="">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05858" y="1000108"/>
                        <a:ext cx="3175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19" name="Object 8"/>
          <p:cNvGraphicFramePr>
            <a:graphicFrameLocks noChangeAspect="1"/>
          </p:cNvGraphicFramePr>
          <p:nvPr/>
        </p:nvGraphicFramePr>
        <p:xfrm>
          <a:off x="8636020" y="3025758"/>
          <a:ext cx="317500" cy="495300"/>
        </p:xfrm>
        <a:graphic>
          <a:graphicData uri="http://schemas.openxmlformats.org/presentationml/2006/ole">
            <mc:AlternateContent xmlns:mc="http://schemas.openxmlformats.org/markup-compatibility/2006">
              <mc:Choice xmlns:v="urn:schemas-microsoft-com:vml" Requires="v">
                <p:oleObj name="Equation" r:id="rId9" imgW="279446" imgH="431570" progId="">
                  <p:embed/>
                </p:oleObj>
              </mc:Choice>
              <mc:Fallback>
                <p:oleObj name="Equation" r:id="rId9" imgW="279446" imgH="431570" progId="">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36020" y="3025758"/>
                        <a:ext cx="3175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0" name="Object 9"/>
          <p:cNvGraphicFramePr>
            <a:graphicFrameLocks noChangeAspect="1"/>
          </p:cNvGraphicFramePr>
          <p:nvPr/>
        </p:nvGraphicFramePr>
        <p:xfrm>
          <a:off x="8605858" y="4960921"/>
          <a:ext cx="317500" cy="495300"/>
        </p:xfrm>
        <a:graphic>
          <a:graphicData uri="http://schemas.openxmlformats.org/presentationml/2006/ole">
            <mc:AlternateContent xmlns:mc="http://schemas.openxmlformats.org/markup-compatibility/2006">
              <mc:Choice xmlns:v="urn:schemas-microsoft-com:vml" Requires="v">
                <p:oleObj name="Equation" r:id="rId11" imgW="279446" imgH="431570" progId="Equation.3">
                  <p:embed/>
                </p:oleObj>
              </mc:Choice>
              <mc:Fallback>
                <p:oleObj name="Equation" r:id="rId11" imgW="279446" imgH="43157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05858" y="4960921"/>
                        <a:ext cx="3175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8921" name="Slide Number Placeholder 1"/>
          <p:cNvSpPr>
            <a:spLocks noGrp="1"/>
          </p:cNvSpPr>
          <p:nvPr>
            <p:ph type="sldNum" sz="quarter" idx="12"/>
          </p:nvPr>
        </p:nvSpPr>
        <p:spPr bwMode="auto">
          <a:xfrm>
            <a:off x="5808663" y="6519864"/>
            <a:ext cx="538162" cy="365125"/>
          </a:xfrm>
          <a:noFill/>
          <a:ln>
            <a:miter lim="800000"/>
            <a:headEnd/>
            <a:tailEnd/>
          </a:ln>
        </p:spPr>
        <p:txBody>
          <a:bodyPr/>
          <a:lstStyle/>
          <a:p>
            <a:pPr algn="ctr"/>
            <a:fld id="{8E3B6393-F9B0-47FF-AE9B-62700B94A8C3}" type="slidenum">
              <a:rPr lang="en-US">
                <a:solidFill>
                  <a:schemeClr val="bg1"/>
                </a:solidFill>
              </a:rPr>
              <a:pPr algn="ctr"/>
              <a:t>20</a:t>
            </a:fld>
            <a:endParaRPr lang="en-US">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4295775" y="188913"/>
            <a:ext cx="6084888" cy="685800"/>
          </a:xfrm>
        </p:spPr>
        <p:txBody>
          <a:bodyPr/>
          <a:lstStyle/>
          <a:p>
            <a:r>
              <a:rPr lang="en-US" sz="3200" b="1">
                <a:latin typeface="Century Gothic" pitchFamily="34" charset="0"/>
              </a:rPr>
              <a:t>Four Commonly Used </a:t>
            </a:r>
            <a:br>
              <a:rPr lang="en-US" sz="3200" b="1">
                <a:latin typeface="Century Gothic" pitchFamily="34" charset="0"/>
              </a:rPr>
            </a:br>
            <a:r>
              <a:rPr lang="en-US" sz="3200" b="1">
                <a:latin typeface="Century Gothic" pitchFamily="34" charset="0"/>
              </a:rPr>
              <a:t>Confidence Levels</a:t>
            </a:r>
          </a:p>
        </p:txBody>
      </p:sp>
      <p:sp>
        <p:nvSpPr>
          <p:cNvPr id="9" name="Rectangle 3"/>
          <p:cNvSpPr txBox="1">
            <a:spLocks noChangeArrowheads="1"/>
          </p:cNvSpPr>
          <p:nvPr/>
        </p:nvSpPr>
        <p:spPr bwMode="auto">
          <a:xfrm>
            <a:off x="1765300" y="1295401"/>
            <a:ext cx="8434388" cy="4797425"/>
          </a:xfrm>
          <a:prstGeom prst="rect">
            <a:avLst/>
          </a:prstGeom>
          <a:noFill/>
          <a:ln w="9525">
            <a:noFill/>
            <a:miter lim="800000"/>
            <a:headEnd/>
            <a:tailEnd/>
          </a:ln>
          <a:effectLst/>
        </p:spPr>
        <p:txBody>
          <a:bodyPr/>
          <a:lstStyle/>
          <a:p>
            <a:pPr marL="342900" indent="-342900">
              <a:spcBef>
                <a:spcPct val="20000"/>
              </a:spcBef>
              <a:defRPr/>
            </a:pPr>
            <a:endParaRPr lang="en-US" sz="2400" kern="0" dirty="0">
              <a:latin typeface="+mn-lt"/>
              <a:ea typeface="+mn-ea"/>
            </a:endParaRPr>
          </a:p>
          <a:p>
            <a:pPr marL="342900" indent="-342900">
              <a:spcBef>
                <a:spcPct val="20000"/>
              </a:spcBef>
              <a:defRPr/>
            </a:pPr>
            <a:r>
              <a:rPr lang="en-US" sz="2400" b="1" kern="0" dirty="0">
                <a:latin typeface="+mn-lt"/>
                <a:ea typeface="+mn-ea"/>
              </a:rPr>
              <a:t>Confidence Level</a:t>
            </a:r>
          </a:p>
        </p:txBody>
      </p:sp>
      <p:pic>
        <p:nvPicPr>
          <p:cNvPr id="40963" name="Picture 7"/>
          <p:cNvPicPr>
            <a:picLocks noChangeAspect="1" noChangeArrowheads="1"/>
          </p:cNvPicPr>
          <p:nvPr/>
        </p:nvPicPr>
        <p:blipFill>
          <a:blip r:embed="rId3"/>
          <a:srcRect/>
          <a:stretch>
            <a:fillRect/>
          </a:stretch>
        </p:blipFill>
        <p:spPr bwMode="auto">
          <a:xfrm>
            <a:off x="3505200" y="2590800"/>
            <a:ext cx="5181600" cy="2451100"/>
          </a:xfrm>
          <a:prstGeom prst="rect">
            <a:avLst/>
          </a:prstGeom>
          <a:noFill/>
          <a:ln w="9525">
            <a:solidFill>
              <a:srgbClr val="0000FF"/>
            </a:solidFill>
            <a:miter lim="800000"/>
            <a:headEnd/>
            <a:tailEnd/>
          </a:ln>
        </p:spPr>
      </p:pic>
      <p:sp>
        <p:nvSpPr>
          <p:cNvPr id="40964" name="Line 8"/>
          <p:cNvSpPr>
            <a:spLocks noChangeShapeType="1"/>
          </p:cNvSpPr>
          <p:nvPr/>
        </p:nvSpPr>
        <p:spPr bwMode="auto">
          <a:xfrm>
            <a:off x="3886200" y="2133600"/>
            <a:ext cx="0" cy="228600"/>
          </a:xfrm>
          <a:prstGeom prst="line">
            <a:avLst/>
          </a:prstGeom>
          <a:noFill/>
          <a:ln w="19050">
            <a:solidFill>
              <a:srgbClr val="0000FF"/>
            </a:solidFill>
            <a:round/>
            <a:headEnd/>
            <a:tailEnd type="arrow" w="med" len="med"/>
          </a:ln>
        </p:spPr>
        <p:txBody>
          <a:bodyPr wrap="none" anchor="ctr"/>
          <a:lstStyle/>
          <a:p>
            <a:endParaRPr lang="en-US"/>
          </a:p>
        </p:txBody>
      </p:sp>
      <p:sp>
        <p:nvSpPr>
          <p:cNvPr id="40965" name="Rectangle 9"/>
          <p:cNvSpPr>
            <a:spLocks noChangeArrowheads="1"/>
          </p:cNvSpPr>
          <p:nvPr/>
        </p:nvSpPr>
        <p:spPr bwMode="auto">
          <a:xfrm>
            <a:off x="3200400" y="2362200"/>
            <a:ext cx="5791200" cy="2971800"/>
          </a:xfrm>
          <a:prstGeom prst="rect">
            <a:avLst/>
          </a:prstGeom>
          <a:noFill/>
          <a:ln w="19050">
            <a:solidFill>
              <a:schemeClr val="tx1"/>
            </a:solidFill>
            <a:prstDash val="dash"/>
            <a:miter lim="800000"/>
            <a:headEnd/>
            <a:tailEnd/>
          </a:ln>
        </p:spPr>
        <p:txBody>
          <a:bodyPr wrap="none" anchor="ctr"/>
          <a:lstStyle/>
          <a:p>
            <a:pPr eaLnBrk="1" hangingPunct="1"/>
            <a:endParaRPr lang="en-US"/>
          </a:p>
        </p:txBody>
      </p:sp>
      <p:sp>
        <p:nvSpPr>
          <p:cNvPr id="40966" name="Text Box 12"/>
          <p:cNvSpPr txBox="1">
            <a:spLocks noChangeArrowheads="1"/>
          </p:cNvSpPr>
          <p:nvPr/>
        </p:nvSpPr>
        <p:spPr bwMode="auto">
          <a:xfrm>
            <a:off x="4865688" y="6013450"/>
            <a:ext cx="2743200" cy="368300"/>
          </a:xfrm>
          <a:prstGeom prst="rect">
            <a:avLst/>
          </a:prstGeom>
          <a:noFill/>
          <a:ln w="9525">
            <a:noFill/>
            <a:miter lim="800000"/>
            <a:headEnd/>
            <a:tailEnd/>
          </a:ln>
        </p:spPr>
        <p:txBody>
          <a:bodyPr anchor="ctr">
            <a:spAutoFit/>
          </a:bodyPr>
          <a:lstStyle/>
          <a:p>
            <a:pPr eaLnBrk="1" hangingPunct="1">
              <a:spcBef>
                <a:spcPct val="50000"/>
              </a:spcBef>
            </a:pPr>
            <a:r>
              <a:rPr lang="en-US">
                <a:latin typeface="Tahoma" pitchFamily="34" charset="0"/>
              </a:rPr>
              <a:t>cut &amp; keep handy!</a:t>
            </a:r>
          </a:p>
        </p:txBody>
      </p:sp>
      <p:sp>
        <p:nvSpPr>
          <p:cNvPr id="3" name="Up Arrow 2"/>
          <p:cNvSpPr>
            <a:spLocks noChangeArrowheads="1"/>
          </p:cNvSpPr>
          <p:nvPr/>
        </p:nvSpPr>
        <p:spPr bwMode="auto">
          <a:xfrm>
            <a:off x="5664200" y="5373688"/>
            <a:ext cx="484188" cy="576262"/>
          </a:xfrm>
          <a:prstGeom prst="upArrow">
            <a:avLst>
              <a:gd name="adj1" fmla="val 50000"/>
              <a:gd name="adj2" fmla="val 49998"/>
            </a:avLst>
          </a:prstGeom>
          <a:gradFill rotWithShape="1">
            <a:gsLst>
              <a:gs pos="0">
                <a:srgbClr val="3A7CCB"/>
              </a:gs>
              <a:gs pos="20000">
                <a:srgbClr val="3C7BC7"/>
              </a:gs>
              <a:gs pos="100000">
                <a:srgbClr val="2C5D98"/>
              </a:gs>
            </a:gsLst>
            <a:lin ang="5400000"/>
          </a:gradFill>
          <a:ln w="9525">
            <a:solidFill>
              <a:srgbClr val="4A7EBB"/>
            </a:solidFill>
            <a:miter lim="800000"/>
            <a:headEnd/>
            <a:tailEnd/>
          </a:ln>
          <a:effectLst>
            <a:outerShdw dist="23000" dir="5400000" rotWithShape="0">
              <a:srgbClr val="808080">
                <a:alpha val="34998"/>
              </a:srgbClr>
            </a:outerShdw>
          </a:effectLst>
        </p:spPr>
        <p:txBody>
          <a:bodyPr anchor="ctr"/>
          <a:lstStyle/>
          <a:p>
            <a:pPr algn="ctr" eaLnBrk="1" hangingPunct="1">
              <a:defRPr/>
            </a:pPr>
            <a:endParaRPr lang="en-US">
              <a:solidFill>
                <a:schemeClr val="lt1"/>
              </a:solidFill>
              <a:latin typeface="+mn-lt"/>
              <a:ea typeface="+mn-ea"/>
            </a:endParaRPr>
          </a:p>
        </p:txBody>
      </p:sp>
      <p:sp>
        <p:nvSpPr>
          <p:cNvPr id="40968"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CD42A32A-2823-4E4C-9C7D-77479A9FF43C}" type="slidenum">
              <a:rPr lang="en-US" sz="1200">
                <a:solidFill>
                  <a:schemeClr val="bg1"/>
                </a:solidFill>
                <a:cs typeface="Arial" pitchFamily="34" charset="0"/>
              </a:rPr>
              <a:pPr algn="ctr" eaLnBrk="1" hangingPunct="1"/>
              <a:t>21</a:t>
            </a:fld>
            <a:endParaRPr lang="en-US" sz="1200">
              <a:solidFill>
                <a:schemeClr val="bg1"/>
              </a:solidFill>
              <a:cs typeface="Arial"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a:xfrm>
            <a:off x="4008438" y="333375"/>
            <a:ext cx="5791200" cy="685800"/>
          </a:xfrm>
        </p:spPr>
        <p:txBody>
          <a:bodyPr/>
          <a:lstStyle/>
          <a:p>
            <a:r>
              <a:rPr lang="en-US" sz="3200" b="1">
                <a:latin typeface="Century Gothic" pitchFamily="34" charset="0"/>
              </a:rPr>
              <a:t>Example #1</a:t>
            </a:r>
          </a:p>
        </p:txBody>
      </p:sp>
      <p:sp>
        <p:nvSpPr>
          <p:cNvPr id="41986" name="Content Placeholder 2"/>
          <p:cNvSpPr>
            <a:spLocks noGrp="1"/>
          </p:cNvSpPr>
          <p:nvPr>
            <p:ph idx="1"/>
          </p:nvPr>
        </p:nvSpPr>
        <p:spPr/>
        <p:txBody>
          <a:bodyPr/>
          <a:lstStyle/>
          <a:p>
            <a:pPr marL="0" indent="0" algn="just">
              <a:buNone/>
            </a:pPr>
            <a:r>
              <a:rPr lang="en-US" dirty="0"/>
              <a:t>In 2000, the GSS asked:  </a:t>
            </a:r>
            <a:r>
              <a:rPr lang="en-US" altLang="en-US" dirty="0"/>
              <a:t>“</a:t>
            </a:r>
            <a:r>
              <a:rPr lang="en-US" dirty="0"/>
              <a:t>Are you willing to pay much higher prices in order to protect the environment?</a:t>
            </a:r>
            <a:r>
              <a:rPr lang="en-US" altLang="en-US" dirty="0"/>
              <a:t>”</a:t>
            </a:r>
            <a:endParaRPr lang="en-US" dirty="0"/>
          </a:p>
          <a:p>
            <a:pPr lvl="1" algn="just">
              <a:buFont typeface="Wingdings" pitchFamily="2" charset="2"/>
              <a:buChar char="§"/>
            </a:pPr>
            <a:r>
              <a:rPr lang="en-US" i="1" dirty="0"/>
              <a:t>n</a:t>
            </a:r>
            <a:r>
              <a:rPr lang="en-US" dirty="0"/>
              <a:t> = 1154 respondents, 518 were willing to do so.</a:t>
            </a:r>
          </a:p>
          <a:p>
            <a:pPr lvl="1" algn="just">
              <a:buFont typeface="Wingdings" pitchFamily="2" charset="2"/>
              <a:buChar char="§"/>
            </a:pPr>
            <a:r>
              <a:rPr lang="en-US" dirty="0"/>
              <a:t>Find and interpret a 95% confidence interval for the population proportion of adult Americans willing to do so at the time of the survey.</a:t>
            </a:r>
          </a:p>
          <a:p>
            <a:pPr lvl="1" algn="just"/>
            <a:endParaRPr lang="en-US" b="1" dirty="0"/>
          </a:p>
        </p:txBody>
      </p:sp>
      <p:sp>
        <p:nvSpPr>
          <p:cNvPr id="41987"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E6E3BD5F-7162-4BD3-ABA7-056EC67FECA9}" type="slidenum">
              <a:rPr lang="en-US" sz="1200">
                <a:solidFill>
                  <a:schemeClr val="bg1"/>
                </a:solidFill>
                <a:cs typeface="Arial" pitchFamily="34" charset="0"/>
              </a:rPr>
              <a:pPr algn="ctr" eaLnBrk="1" hangingPunct="1"/>
              <a:t>22</a:t>
            </a:fld>
            <a:endParaRPr lang="en-US" sz="1200">
              <a:solidFill>
                <a:schemeClr val="bg1"/>
              </a:solidFill>
              <a:cs typeface="Arial"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r>
              <a:rPr lang="en-US" b="1"/>
              <a:t>Solution</a:t>
            </a:r>
          </a:p>
        </p:txBody>
      </p:sp>
      <p:sp>
        <p:nvSpPr>
          <p:cNvPr id="43010" name="Content Placeholder 2"/>
          <p:cNvSpPr>
            <a:spLocks noGrp="1"/>
          </p:cNvSpPr>
          <p:nvPr>
            <p:ph idx="1"/>
          </p:nvPr>
        </p:nvSpPr>
        <p:spPr/>
        <p:txBody>
          <a:bodyPr/>
          <a:lstStyle/>
          <a:p>
            <a:pPr algn="just"/>
            <a:r>
              <a:rPr lang="en-US" dirty="0"/>
              <a:t>Take a sample of size </a:t>
            </a:r>
            <a:r>
              <a:rPr lang="en-US" i="1" dirty="0"/>
              <a:t>n</a:t>
            </a:r>
            <a:r>
              <a:rPr lang="en-US" dirty="0"/>
              <a:t>, calculate    (pronounced </a:t>
            </a:r>
            <a:r>
              <a:rPr lang="en-US" i="1" dirty="0"/>
              <a:t>p-hat</a:t>
            </a:r>
            <a:r>
              <a:rPr lang="en-US" dirty="0"/>
              <a:t>) as the </a:t>
            </a:r>
            <a:r>
              <a:rPr lang="en-US" i="1" dirty="0"/>
              <a:t>sample proportion </a:t>
            </a:r>
            <a:r>
              <a:rPr lang="en-US" dirty="0"/>
              <a:t>of people who have that characteristic.</a:t>
            </a:r>
          </a:p>
          <a:p>
            <a:pPr algn="just"/>
            <a:r>
              <a:rPr lang="en-US" dirty="0"/>
              <a:t>Calculate the standard error (SE).</a:t>
            </a:r>
          </a:p>
          <a:p>
            <a:pPr algn="just"/>
            <a:r>
              <a:rPr lang="en-US" dirty="0"/>
              <a:t>Calculate confidence interval (i.e., 95%).</a:t>
            </a:r>
          </a:p>
        </p:txBody>
      </p:sp>
      <p:graphicFrame>
        <p:nvGraphicFramePr>
          <p:cNvPr id="43011" name="Object 2"/>
          <p:cNvGraphicFramePr>
            <a:graphicFrameLocks noChangeAspect="1"/>
          </p:cNvGraphicFramePr>
          <p:nvPr/>
        </p:nvGraphicFramePr>
        <p:xfrm>
          <a:off x="2063750" y="2205039"/>
          <a:ext cx="304800" cy="471487"/>
        </p:xfrm>
        <a:graphic>
          <a:graphicData uri="http://schemas.openxmlformats.org/presentationml/2006/ole">
            <mc:AlternateContent xmlns:mc="http://schemas.openxmlformats.org/markup-compatibility/2006">
              <mc:Choice xmlns:v="urn:schemas-microsoft-com:vml" Requires="v">
                <p:oleObj name="Equation" r:id="rId3" imgW="279446" imgH="431570" progId="Equation.3">
                  <p:embed/>
                </p:oleObj>
              </mc:Choice>
              <mc:Fallback>
                <p:oleObj name="Equation" r:id="rId3" imgW="279446" imgH="43157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2205039"/>
                        <a:ext cx="304800"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3012"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9DC5E47B-14DB-4F19-8145-634B282E9FD3}" type="slidenum">
              <a:rPr lang="en-US" sz="1200">
                <a:solidFill>
                  <a:schemeClr val="bg1"/>
                </a:solidFill>
                <a:cs typeface="Arial" pitchFamily="34" charset="0"/>
              </a:rPr>
              <a:pPr algn="ctr" eaLnBrk="1" hangingPunct="1"/>
              <a:t>23</a:t>
            </a:fld>
            <a:endParaRPr lang="en-US" sz="1200">
              <a:solidFill>
                <a:schemeClr val="bg1"/>
              </a:solidFill>
              <a:cs typeface="Arial"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r>
              <a:rPr lang="en-US" b="1"/>
              <a:t>Solution</a:t>
            </a:r>
          </a:p>
        </p:txBody>
      </p:sp>
      <p:graphicFrame>
        <p:nvGraphicFramePr>
          <p:cNvPr id="45058" name="Object 2"/>
          <p:cNvGraphicFramePr>
            <a:graphicFrameLocks noGrp="1" noChangeAspect="1"/>
          </p:cNvGraphicFramePr>
          <p:nvPr>
            <p:ph idx="1"/>
          </p:nvPr>
        </p:nvGraphicFramePr>
        <p:xfrm>
          <a:off x="2927350" y="1319214"/>
          <a:ext cx="6192838" cy="3959225"/>
        </p:xfrm>
        <a:graphic>
          <a:graphicData uri="http://schemas.openxmlformats.org/presentationml/2006/ole">
            <mc:AlternateContent xmlns:mc="http://schemas.openxmlformats.org/markup-compatibility/2006">
              <mc:Choice xmlns:v="urn:schemas-microsoft-com:vml" Requires="v">
                <p:oleObj name="Equation" r:id="rId2" imgW="1739510" imgH="1295262" progId="Equation.3">
                  <p:embed/>
                </p:oleObj>
              </mc:Choice>
              <mc:Fallback>
                <p:oleObj name="Equation" r:id="rId2" imgW="1739510" imgH="1295262" progId="Equation.3">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0" y="1319214"/>
                        <a:ext cx="6192838" cy="3959225"/>
                      </a:xfrm>
                      <a:prstGeom prst="rect">
                        <a:avLst/>
                      </a:prstGeom>
                      <a:solidFill>
                        <a:srgbClr val="FFFFFF"/>
                      </a:solidFill>
                    </p:spPr>
                  </p:pic>
                </p:oleObj>
              </mc:Fallback>
            </mc:AlternateContent>
          </a:graphicData>
        </a:graphic>
      </p:graphicFrame>
      <p:sp>
        <p:nvSpPr>
          <p:cNvPr id="45059" name="Line 6"/>
          <p:cNvSpPr>
            <a:spLocks noChangeShapeType="1"/>
          </p:cNvSpPr>
          <p:nvPr/>
        </p:nvSpPr>
        <p:spPr bwMode="auto">
          <a:xfrm flipH="1" flipV="1">
            <a:off x="7467600" y="5380038"/>
            <a:ext cx="457200" cy="533400"/>
          </a:xfrm>
          <a:prstGeom prst="line">
            <a:avLst/>
          </a:prstGeom>
          <a:noFill/>
          <a:ln w="9525">
            <a:solidFill>
              <a:srgbClr val="FF0000"/>
            </a:solidFill>
            <a:round/>
            <a:headEnd/>
            <a:tailEnd type="triangle" w="med" len="med"/>
          </a:ln>
        </p:spPr>
        <p:txBody>
          <a:bodyPr/>
          <a:lstStyle/>
          <a:p>
            <a:endParaRPr lang="en-US"/>
          </a:p>
        </p:txBody>
      </p:sp>
      <p:sp>
        <p:nvSpPr>
          <p:cNvPr id="3" name="TextBox 2"/>
          <p:cNvSpPr txBox="1"/>
          <p:nvPr/>
        </p:nvSpPr>
        <p:spPr>
          <a:xfrm>
            <a:off x="7032626" y="5940425"/>
            <a:ext cx="2671763" cy="36830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eaLnBrk="1" hangingPunct="1">
              <a:defRPr/>
            </a:pPr>
            <a:r>
              <a:rPr lang="en-US" dirty="0"/>
              <a:t>Confident interval of </a:t>
            </a:r>
            <a:r>
              <a:rPr lang="en-US" i="1" dirty="0"/>
              <a:t>p</a:t>
            </a:r>
            <a:r>
              <a:rPr lang="en-US" dirty="0"/>
              <a:t>-hat</a:t>
            </a:r>
          </a:p>
        </p:txBody>
      </p:sp>
      <p:sp>
        <p:nvSpPr>
          <p:cNvPr id="45061"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213C40FE-D3DE-4DE7-ABB1-40518EF532C7}" type="slidenum">
              <a:rPr lang="en-US" sz="1200">
                <a:solidFill>
                  <a:schemeClr val="bg1"/>
                </a:solidFill>
                <a:cs typeface="Arial" pitchFamily="34" charset="0"/>
              </a:rPr>
              <a:pPr algn="ctr" eaLnBrk="1" hangingPunct="1"/>
              <a:t>24</a:t>
            </a:fld>
            <a:endParaRPr lang="en-US" sz="1200">
              <a:solidFill>
                <a:schemeClr val="bg1"/>
              </a:solidFill>
              <a:cs typeface="Arial"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3935414" y="115889"/>
            <a:ext cx="6275387" cy="865187"/>
          </a:xfrm>
        </p:spPr>
        <p:txBody>
          <a:bodyPr/>
          <a:lstStyle/>
          <a:p>
            <a:r>
              <a:rPr lang="en-US" sz="3200" b="1">
                <a:latin typeface="Century Gothic" pitchFamily="34" charset="0"/>
              </a:rPr>
              <a:t>Example # 2</a:t>
            </a:r>
          </a:p>
        </p:txBody>
      </p:sp>
      <p:sp>
        <p:nvSpPr>
          <p:cNvPr id="46082" name="Content Placeholder 2"/>
          <p:cNvSpPr>
            <a:spLocks noGrp="1"/>
          </p:cNvSpPr>
          <p:nvPr>
            <p:ph idx="1"/>
          </p:nvPr>
        </p:nvSpPr>
        <p:spPr>
          <a:xfrm>
            <a:off x="1992313" y="1125538"/>
            <a:ext cx="8229600" cy="4525962"/>
          </a:xfrm>
        </p:spPr>
        <p:txBody>
          <a:bodyPr/>
          <a:lstStyle/>
          <a:p>
            <a:pPr marL="0" indent="0" algn="just">
              <a:buNone/>
            </a:pPr>
            <a:r>
              <a:rPr lang="en-US" sz="2800" dirty="0"/>
              <a:t>A recent study investigated the effects of a "Buckle Up Your Toddlers" campaign to get parents to use the grocery cart seat belts. Investigators observed a representative sample of parents at grocery stores in a large city, and found 192 out of 594 parents buckling up their toddlers.  </a:t>
            </a:r>
          </a:p>
          <a:p>
            <a:pPr marL="0" indent="0" algn="just">
              <a:buNone/>
            </a:pPr>
            <a:r>
              <a:rPr lang="en-US" sz="2800" dirty="0"/>
              <a:t>a. Compute a point estimate of the true proportion of all parents who buckle up their toddlers.</a:t>
            </a:r>
          </a:p>
          <a:p>
            <a:pPr marL="0" indent="0" algn="just">
              <a:buNone/>
            </a:pPr>
            <a:r>
              <a:rPr lang="en-US" sz="2800" dirty="0"/>
              <a:t>b. Construct and interpret a 95% confidence interval for the true proportion of all parents who buckle up their toddlers.</a:t>
            </a:r>
          </a:p>
          <a:p>
            <a:pPr marL="0" indent="0" algn="just"/>
            <a:endParaRPr lang="en-US" sz="2800" dirty="0"/>
          </a:p>
        </p:txBody>
      </p:sp>
      <p:sp>
        <p:nvSpPr>
          <p:cNvPr id="46083"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EE2CA445-6CED-46CE-807F-12249ADAF03B}" type="slidenum">
              <a:rPr lang="en-US" sz="1200">
                <a:solidFill>
                  <a:schemeClr val="bg1"/>
                </a:solidFill>
                <a:cs typeface="Arial" pitchFamily="34" charset="0"/>
              </a:rPr>
              <a:pPr algn="ctr" eaLnBrk="1" hangingPunct="1"/>
              <a:t>25</a:t>
            </a:fld>
            <a:endParaRPr lang="en-US" sz="1200">
              <a:solidFill>
                <a:schemeClr val="bg1"/>
              </a:solidFill>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a:xfrm>
            <a:off x="3349625" y="115888"/>
            <a:ext cx="7067550" cy="1143000"/>
          </a:xfrm>
        </p:spPr>
        <p:txBody>
          <a:bodyPr/>
          <a:lstStyle/>
          <a:p>
            <a:r>
              <a:rPr lang="en-US" b="1"/>
              <a:t>Solution</a:t>
            </a:r>
          </a:p>
        </p:txBody>
      </p:sp>
      <p:sp>
        <p:nvSpPr>
          <p:cNvPr id="47106" name="Content Placeholder 2"/>
          <p:cNvSpPr>
            <a:spLocks noGrp="1"/>
          </p:cNvSpPr>
          <p:nvPr>
            <p:ph idx="1"/>
          </p:nvPr>
        </p:nvSpPr>
        <p:spPr/>
        <p:txBody>
          <a:bodyPr/>
          <a:lstStyle/>
          <a:p>
            <a:pPr algn="just">
              <a:buFont typeface="Arial" pitchFamily="34" charset="0"/>
              <a:buNone/>
            </a:pPr>
            <a:r>
              <a:rPr lang="en-US" dirty="0"/>
              <a:t>	a) point estimate:     = 192 / 594 = 0.3232</a:t>
            </a:r>
          </a:p>
          <a:p>
            <a:pPr algn="just">
              <a:buFont typeface="Arial" pitchFamily="34" charset="0"/>
              <a:buNone/>
            </a:pPr>
            <a:br>
              <a:rPr lang="en-US" dirty="0"/>
            </a:br>
            <a:r>
              <a:rPr lang="en-US" dirty="0"/>
              <a:t>b)   95% CI:  =</a:t>
            </a:r>
          </a:p>
          <a:p>
            <a:pPr algn="just">
              <a:buFont typeface="Arial" pitchFamily="34" charset="0"/>
              <a:buNone/>
            </a:pPr>
            <a:r>
              <a:rPr lang="en-US" dirty="0"/>
              <a:t>          </a:t>
            </a:r>
          </a:p>
          <a:p>
            <a:pPr algn="just">
              <a:buFont typeface="Arial" pitchFamily="34" charset="0"/>
              <a:buNone/>
            </a:pPr>
            <a:r>
              <a:rPr lang="en-US" dirty="0"/>
              <a:t>	</a:t>
            </a:r>
          </a:p>
          <a:p>
            <a:pPr marL="0" indent="0" algn="just">
              <a:buNone/>
            </a:pPr>
            <a:r>
              <a:rPr lang="en-US" dirty="0"/>
              <a:t>I am 95% confident that the true proportion of   parents who buckle up their toddlers is between 0.286 and 0.361.</a:t>
            </a:r>
          </a:p>
          <a:p>
            <a:pPr algn="just"/>
            <a:endParaRPr lang="en-US" dirty="0"/>
          </a:p>
        </p:txBody>
      </p:sp>
      <p:pic>
        <p:nvPicPr>
          <p:cNvPr id="47107" name="Picture 3"/>
          <p:cNvPicPr>
            <a:picLocks noChangeAspect="1" noChangeArrowheads="1"/>
          </p:cNvPicPr>
          <p:nvPr/>
        </p:nvPicPr>
        <p:blipFill>
          <a:blip r:embed="rId3"/>
          <a:srcRect/>
          <a:stretch>
            <a:fillRect/>
          </a:stretch>
        </p:blipFill>
        <p:spPr bwMode="auto">
          <a:xfrm>
            <a:off x="2881291" y="3214686"/>
            <a:ext cx="6697313" cy="1071570"/>
          </a:xfrm>
          <a:prstGeom prst="rect">
            <a:avLst/>
          </a:prstGeom>
          <a:noFill/>
          <a:ln w="9525">
            <a:noFill/>
            <a:miter lim="800000"/>
            <a:headEnd/>
            <a:tailEnd/>
          </a:ln>
        </p:spPr>
      </p:pic>
      <p:graphicFrame>
        <p:nvGraphicFramePr>
          <p:cNvPr id="47108" name="Object 2"/>
          <p:cNvGraphicFramePr>
            <a:graphicFrameLocks noChangeAspect="1"/>
          </p:cNvGraphicFramePr>
          <p:nvPr/>
        </p:nvGraphicFramePr>
        <p:xfrm>
          <a:off x="5375276" y="1700213"/>
          <a:ext cx="327025" cy="506412"/>
        </p:xfrm>
        <a:graphic>
          <a:graphicData uri="http://schemas.openxmlformats.org/presentationml/2006/ole">
            <mc:AlternateContent xmlns:mc="http://schemas.openxmlformats.org/markup-compatibility/2006">
              <mc:Choice xmlns:v="urn:schemas-microsoft-com:vml" Requires="v">
                <p:oleObj name="Equation" r:id="rId4" imgW="279446" imgH="431570" progId="Equation.3">
                  <p:embed/>
                </p:oleObj>
              </mc:Choice>
              <mc:Fallback>
                <p:oleObj name="Equation" r:id="rId4" imgW="279446" imgH="43157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5276" y="1700213"/>
                        <a:ext cx="327025"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7109" name="Slide Number Placeholder 1"/>
          <p:cNvSpPr txBox="1">
            <a:spLocks/>
          </p:cNvSpPr>
          <p:nvPr/>
        </p:nvSpPr>
        <p:spPr bwMode="auto">
          <a:xfrm>
            <a:off x="5808663" y="6524626"/>
            <a:ext cx="538162" cy="365125"/>
          </a:xfrm>
          <a:prstGeom prst="rect">
            <a:avLst/>
          </a:prstGeom>
          <a:noFill/>
          <a:ln w="9525">
            <a:noFill/>
            <a:miter lim="800000"/>
            <a:headEnd/>
            <a:tailEnd/>
          </a:ln>
        </p:spPr>
        <p:txBody>
          <a:bodyPr anchor="ctr"/>
          <a:lstStyle/>
          <a:p>
            <a:pPr algn="ctr" eaLnBrk="1" hangingPunct="1"/>
            <a:fld id="{B8D37AFF-4C1D-4062-AC44-77A4DA59B0E4}" type="slidenum">
              <a:rPr lang="en-US" sz="1200">
                <a:solidFill>
                  <a:schemeClr val="bg1"/>
                </a:solidFill>
                <a:cs typeface="Arial" pitchFamily="34" charset="0"/>
              </a:rPr>
              <a:pPr algn="ctr" eaLnBrk="1" hangingPunct="1"/>
              <a:t>26</a:t>
            </a:fld>
            <a:endParaRPr lang="en-US" sz="1200">
              <a:solidFill>
                <a:schemeClr val="bg1"/>
              </a:solidFill>
              <a:cs typeface="Arial"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a:xfrm>
            <a:off x="1981200" y="274639"/>
            <a:ext cx="8229600" cy="706437"/>
          </a:xfrm>
        </p:spPr>
        <p:txBody>
          <a:bodyPr/>
          <a:lstStyle/>
          <a:p>
            <a:r>
              <a:rPr lang="en-US" b="1">
                <a:solidFill>
                  <a:srgbClr val="FF0000"/>
                </a:solidFill>
              </a:rPr>
              <a:t>Exercise # 1</a:t>
            </a:r>
          </a:p>
        </p:txBody>
      </p:sp>
      <p:sp>
        <p:nvSpPr>
          <p:cNvPr id="49154" name="Content Placeholder 2"/>
          <p:cNvSpPr>
            <a:spLocks noGrp="1"/>
          </p:cNvSpPr>
          <p:nvPr>
            <p:ph idx="1"/>
          </p:nvPr>
        </p:nvSpPr>
        <p:spPr/>
        <p:txBody>
          <a:bodyPr/>
          <a:lstStyle/>
          <a:p>
            <a:pPr algn="just"/>
            <a:r>
              <a:rPr lang="en-US"/>
              <a:t>A sample of 350 students from a college (with a total student population of 25,000) were asked is either both their parents had been to college. In this case, the given sample proportion was 0.789. What is the 90% CI?</a:t>
            </a:r>
          </a:p>
        </p:txBody>
      </p:sp>
      <p:sp>
        <p:nvSpPr>
          <p:cNvPr id="49155"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DECC155F-B00E-471B-A35E-75B7E3D3D0FE}" type="slidenum">
              <a:rPr lang="en-US" sz="1200">
                <a:solidFill>
                  <a:schemeClr val="bg1"/>
                </a:solidFill>
                <a:cs typeface="Arial" pitchFamily="34" charset="0"/>
              </a:rPr>
              <a:pPr algn="ctr" eaLnBrk="1" hangingPunct="1"/>
              <a:t>27</a:t>
            </a:fld>
            <a:endParaRPr lang="en-US" sz="1200">
              <a:solidFill>
                <a:schemeClr val="bg1"/>
              </a:solidFill>
              <a:cs typeface="Arial"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05000" y="2638426"/>
            <a:ext cx="8382000" cy="1323975"/>
          </a:xfrm>
          <a:prstGeom prst="rect">
            <a:avLst/>
          </a:prstGeom>
          <a:solidFill>
            <a:schemeClr val="accent1">
              <a:alpha val="36000"/>
            </a:schemeClr>
          </a:solidFill>
        </p:spPr>
        <p:txBody>
          <a:bodyPr>
            <a:spAutoFit/>
          </a:bodyPr>
          <a:lstStyle>
            <a:lvl1pPr>
              <a:defRPr sz="2400" b="1">
                <a:solidFill>
                  <a:schemeClr val="tx1"/>
                </a:solidFill>
                <a:latin typeface="Arial" charset="0"/>
                <a:ea typeface="ＭＳ Ｐゴシック" pitchFamily="96" charset="-128"/>
              </a:defRPr>
            </a:lvl1pPr>
            <a:lvl2pPr marL="742950" indent="-285750">
              <a:defRPr sz="2400" b="1">
                <a:solidFill>
                  <a:schemeClr val="tx1"/>
                </a:solidFill>
                <a:latin typeface="Arial" charset="0"/>
                <a:ea typeface="ＭＳ Ｐゴシック" pitchFamily="96" charset="-128"/>
              </a:defRPr>
            </a:lvl2pPr>
            <a:lvl3pPr marL="1143000" indent="-228600">
              <a:defRPr sz="2400" b="1">
                <a:solidFill>
                  <a:schemeClr val="tx1"/>
                </a:solidFill>
                <a:latin typeface="Arial" charset="0"/>
                <a:ea typeface="ＭＳ Ｐゴシック" pitchFamily="96" charset="-128"/>
              </a:defRPr>
            </a:lvl3pPr>
            <a:lvl4pPr marL="1600200" indent="-228600">
              <a:defRPr sz="2400" b="1">
                <a:solidFill>
                  <a:schemeClr val="tx1"/>
                </a:solidFill>
                <a:latin typeface="Arial" charset="0"/>
                <a:ea typeface="ＭＳ Ｐゴシック" pitchFamily="96" charset="-128"/>
              </a:defRPr>
            </a:lvl4pPr>
            <a:lvl5pPr marL="2057400" indent="-228600">
              <a:defRPr sz="2400" b="1">
                <a:solidFill>
                  <a:schemeClr val="tx1"/>
                </a:solidFill>
                <a:latin typeface="Arial" charset="0"/>
                <a:ea typeface="ＭＳ Ｐゴシック" pitchFamily="96"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pitchFamily="96"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pitchFamily="96"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pitchFamily="96"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pitchFamily="96" charset="-128"/>
              </a:defRPr>
            </a:lvl9pPr>
          </a:lstStyle>
          <a:p>
            <a:pPr algn="ctr" eaLnBrk="1" hangingPunct="1">
              <a:defRPr/>
            </a:pPr>
            <a:r>
              <a:rPr lang="en-US" sz="4000" dirty="0">
                <a:cs typeface="ＭＳ Ｐゴシック" charset="0"/>
              </a:rPr>
              <a:t>Confidence Interval Estimator for Mean</a:t>
            </a:r>
            <a:endParaRPr lang="en-US" altLang="en-US" sz="4000" b="0" dirty="0">
              <a:solidFill>
                <a:srgbClr val="0D0D0D"/>
              </a:solidFill>
              <a:effectLst>
                <a:outerShdw blurRad="38100" dist="38100" dir="2700000" algn="tl">
                  <a:srgbClr val="FFFFFF"/>
                </a:outerShdw>
              </a:effectLst>
              <a:latin typeface="Arial Rounded MT Bold" pitchFamily="34" charset="0"/>
              <a:cs typeface="ＭＳ Ｐゴシック" charset="0"/>
            </a:endParaRPr>
          </a:p>
        </p:txBody>
      </p:sp>
      <p:sp>
        <p:nvSpPr>
          <p:cNvPr id="52226"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FFAEA592-1B90-48F5-8F8F-B26AE6A688DC}" type="slidenum">
              <a:rPr lang="en-US" sz="1200">
                <a:solidFill>
                  <a:schemeClr val="bg1"/>
                </a:solidFill>
                <a:cs typeface="Arial" pitchFamily="34" charset="0"/>
              </a:rPr>
              <a:pPr algn="ctr" eaLnBrk="1" hangingPunct="1"/>
              <a:t>28</a:t>
            </a:fld>
            <a:endParaRPr lang="en-US" sz="1200">
              <a:solidFill>
                <a:schemeClr val="bg1"/>
              </a:solidFill>
              <a:cs typeface="Arial"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Content Placeholder 2"/>
          <p:cNvSpPr>
            <a:spLocks noGrp="1"/>
          </p:cNvSpPr>
          <p:nvPr>
            <p:ph idx="1"/>
          </p:nvPr>
        </p:nvSpPr>
        <p:spPr/>
        <p:txBody>
          <a:bodyPr/>
          <a:lstStyle/>
          <a:p>
            <a:r>
              <a:rPr lang="en-US" b="1"/>
              <a:t>The general formula for a confidence interval (CI) for a population </a:t>
            </a:r>
            <a:r>
              <a:rPr lang="en-US" b="1">
                <a:solidFill>
                  <a:srgbClr val="0000FF"/>
                </a:solidFill>
              </a:rPr>
              <a:t>mean</a:t>
            </a:r>
            <a:r>
              <a:rPr lang="en-US" b="1"/>
              <a:t> when:</a:t>
            </a:r>
          </a:p>
          <a:p>
            <a:pPr lvl="1">
              <a:buClr>
                <a:srgbClr val="FF0000"/>
              </a:buClr>
              <a:buFont typeface="Wingdings" pitchFamily="2" charset="2"/>
              <a:buChar char="§"/>
            </a:pPr>
            <a:r>
              <a:rPr lang="en-US">
                <a:solidFill>
                  <a:srgbClr val="FF0000"/>
                </a:solidFill>
              </a:rPr>
              <a:t> </a:t>
            </a:r>
            <a:r>
              <a:rPr lang="en-US" i="1">
                <a:latin typeface="Times New Roman" pitchFamily="18" charset="0"/>
              </a:rPr>
              <a:t>x </a:t>
            </a:r>
            <a:r>
              <a:rPr lang="en-US">
                <a:solidFill>
                  <a:srgbClr val="008000"/>
                </a:solidFill>
              </a:rPr>
              <a:t>is the sample mean from a random sample,</a:t>
            </a:r>
          </a:p>
          <a:p>
            <a:pPr lvl="1">
              <a:buClr>
                <a:srgbClr val="FF0000"/>
              </a:buClr>
              <a:buFont typeface="Wingdings" pitchFamily="2" charset="2"/>
              <a:buChar char="§"/>
            </a:pPr>
            <a:r>
              <a:rPr lang="en-US">
                <a:solidFill>
                  <a:srgbClr val="008000"/>
                </a:solidFill>
              </a:rPr>
              <a:t> the sample size </a:t>
            </a:r>
            <a:r>
              <a:rPr lang="en-US" i="1">
                <a:solidFill>
                  <a:srgbClr val="000000"/>
                </a:solidFill>
                <a:latin typeface="Times New Roman" pitchFamily="18" charset="0"/>
              </a:rPr>
              <a:t>n</a:t>
            </a:r>
            <a:r>
              <a:rPr lang="en-US">
                <a:solidFill>
                  <a:srgbClr val="008000"/>
                </a:solidFill>
              </a:rPr>
              <a:t> is large (</a:t>
            </a:r>
            <a:r>
              <a:rPr lang="en-US" i="1">
                <a:solidFill>
                  <a:srgbClr val="000000"/>
                </a:solidFill>
                <a:latin typeface="Times New Roman" pitchFamily="18" charset="0"/>
              </a:rPr>
              <a:t>n</a:t>
            </a:r>
            <a:r>
              <a:rPr lang="en-US">
                <a:solidFill>
                  <a:srgbClr val="008000"/>
                </a:solidFill>
              </a:rPr>
              <a:t> </a:t>
            </a:r>
            <a:r>
              <a:rPr lang="en-US" u="sng">
                <a:solidFill>
                  <a:srgbClr val="008000"/>
                </a:solidFill>
              </a:rPr>
              <a:t>&gt;</a:t>
            </a:r>
            <a:r>
              <a:rPr lang="en-US">
                <a:solidFill>
                  <a:srgbClr val="008000"/>
                </a:solidFill>
              </a:rPr>
              <a:t> 30), and</a:t>
            </a:r>
          </a:p>
          <a:p>
            <a:pPr lvl="1">
              <a:buClr>
                <a:srgbClr val="FF0000"/>
              </a:buClr>
              <a:buFont typeface="Wingdings" pitchFamily="2" charset="2"/>
              <a:buChar char="§"/>
            </a:pPr>
            <a:r>
              <a:rPr lang="en-US" i="1">
                <a:solidFill>
                  <a:srgbClr val="000000"/>
                </a:solidFill>
                <a:latin typeface="Symbol" pitchFamily="18" charset="2"/>
              </a:rPr>
              <a:t>s</a:t>
            </a:r>
            <a:r>
              <a:rPr lang="en-US">
                <a:solidFill>
                  <a:srgbClr val="008000"/>
                </a:solidFill>
              </a:rPr>
              <a:t>, the population standard deviation, is known.</a:t>
            </a:r>
          </a:p>
          <a:p>
            <a:endParaRPr lang="en-US" b="1"/>
          </a:p>
          <a:p>
            <a:endParaRPr lang="en-US"/>
          </a:p>
        </p:txBody>
      </p:sp>
      <p:graphicFrame>
        <p:nvGraphicFramePr>
          <p:cNvPr id="122882" name="Object 2"/>
          <p:cNvGraphicFramePr>
            <a:graphicFrameLocks noChangeAspect="1"/>
          </p:cNvGraphicFramePr>
          <p:nvPr/>
        </p:nvGraphicFramePr>
        <p:xfrm>
          <a:off x="3717925" y="4489451"/>
          <a:ext cx="4910138" cy="1336675"/>
        </p:xfrm>
        <a:graphic>
          <a:graphicData uri="http://schemas.openxmlformats.org/presentationml/2006/ole">
            <mc:AlternateContent xmlns:mc="http://schemas.openxmlformats.org/markup-compatibility/2006">
              <mc:Choice xmlns:v="urn:schemas-microsoft-com:vml" Requires="v">
                <p:oleObj name="Equation" r:id="rId3" imgW="1587500" imgH="431800" progId="Equation.3">
                  <p:embed/>
                </p:oleObj>
              </mc:Choice>
              <mc:Fallback>
                <p:oleObj name="Equation" r:id="rId3" imgW="1587500" imgH="431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7925" y="4489451"/>
                        <a:ext cx="4910138" cy="1336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1"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24D395C0-BA83-4EC7-8CDF-CB5D0634E209}" type="slidenum">
              <a:rPr lang="en-US" sz="1200">
                <a:solidFill>
                  <a:schemeClr val="bg1"/>
                </a:solidFill>
                <a:cs typeface="Arial" pitchFamily="34" charset="0"/>
              </a:rPr>
              <a:pPr algn="ctr" eaLnBrk="1" hangingPunct="1"/>
              <a:t>29</a:t>
            </a:fld>
            <a:endParaRPr lang="en-US" sz="1200">
              <a:solidFill>
                <a:schemeClr val="bg1"/>
              </a:solidFill>
              <a:cs typeface="Arial" pitchFamily="34" charset="0"/>
            </a:endParaRPr>
          </a:p>
        </p:txBody>
      </p:sp>
      <p:sp>
        <p:nvSpPr>
          <p:cNvPr id="53252" name="Title 1"/>
          <p:cNvSpPr>
            <a:spLocks noGrp="1"/>
          </p:cNvSpPr>
          <p:nvPr>
            <p:ph type="title"/>
          </p:nvPr>
        </p:nvSpPr>
        <p:spPr>
          <a:xfrm>
            <a:off x="3852864" y="125413"/>
            <a:ext cx="6491287" cy="1143000"/>
          </a:xfrm>
        </p:spPr>
        <p:txBody>
          <a:bodyPr/>
          <a:lstStyle/>
          <a:p>
            <a:r>
              <a:rPr lang="en-US" sz="3600" b="1"/>
              <a:t>Confidence Interval for </a:t>
            </a:r>
            <a:r>
              <a:rPr lang="en-US" sz="3600" b="1">
                <a:sym typeface="Symbol" pitchFamily="18" charset="2"/>
              </a:rPr>
              <a:t>mean</a:t>
            </a:r>
            <a:r>
              <a:rPr lang="en-US" sz="3600" b="1"/>
              <a:t> </a:t>
            </a:r>
            <a:br>
              <a:rPr lang="en-US" sz="3600" b="1"/>
            </a:br>
            <a:r>
              <a:rPr lang="en-US" sz="3600" b="1"/>
              <a:t>when </a:t>
            </a:r>
            <a:r>
              <a:rPr lang="en-US" sz="3600" b="1">
                <a:sym typeface="Symbol" pitchFamily="18" charset="2"/>
              </a:rPr>
              <a:t> </a:t>
            </a:r>
            <a:r>
              <a:rPr lang="en-US" sz="3600" b="1"/>
              <a:t>is known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228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4008438" y="188913"/>
            <a:ext cx="6202362" cy="849312"/>
          </a:xfrm>
        </p:spPr>
        <p:txBody>
          <a:bodyPr/>
          <a:lstStyle/>
          <a:p>
            <a:r>
              <a:rPr lang="en-US" b="1">
                <a:latin typeface="Century Gothic" pitchFamily="34" charset="0"/>
              </a:rPr>
              <a:t>Example</a:t>
            </a:r>
          </a:p>
        </p:txBody>
      </p:sp>
      <p:sp>
        <p:nvSpPr>
          <p:cNvPr id="3" name="Content Placeholder 2"/>
          <p:cNvSpPr>
            <a:spLocks noGrp="1"/>
          </p:cNvSpPr>
          <p:nvPr>
            <p:ph idx="1"/>
          </p:nvPr>
        </p:nvSpPr>
        <p:spPr>
          <a:xfrm>
            <a:off x="1919288" y="1268413"/>
            <a:ext cx="8229600" cy="4525962"/>
          </a:xfrm>
        </p:spPr>
        <p:txBody>
          <a:bodyPr/>
          <a:lstStyle/>
          <a:p>
            <a:pPr marL="0" indent="0" algn="just">
              <a:buNone/>
              <a:defRPr/>
            </a:pPr>
            <a:r>
              <a:rPr lang="en-US" sz="2800" dirty="0">
                <a:ea typeface="ＭＳ Ｐゴシック" charset="0"/>
                <a:cs typeface="ＭＳ Ｐゴシック" charset="0"/>
              </a:rPr>
              <a:t>A computer company samples demand during lead time over 25 time periods:</a:t>
            </a:r>
          </a:p>
          <a:p>
            <a:pPr>
              <a:buFont typeface="Arial" charset="0"/>
              <a:buChar char="•"/>
              <a:defRPr/>
            </a:pPr>
            <a:endParaRPr lang="en-US" sz="2800" dirty="0">
              <a:ea typeface="ＭＳ Ｐゴシック" charset="0"/>
              <a:cs typeface="ＭＳ Ｐゴシック" charset="0"/>
            </a:endParaRPr>
          </a:p>
          <a:p>
            <a:pPr>
              <a:buFont typeface="Arial" charset="0"/>
              <a:buChar char="•"/>
              <a:defRPr/>
            </a:pPr>
            <a:endParaRPr lang="en-US" sz="2800" dirty="0">
              <a:ea typeface="ＭＳ Ｐゴシック" charset="0"/>
              <a:cs typeface="ＭＳ Ｐゴシック" charset="0"/>
            </a:endParaRPr>
          </a:p>
          <a:p>
            <a:pPr>
              <a:buFont typeface="Arial" charset="0"/>
              <a:buChar char="•"/>
              <a:defRPr/>
            </a:pPr>
            <a:endParaRPr lang="en-US" sz="2800" dirty="0">
              <a:ea typeface="ＭＳ Ｐゴシック" charset="0"/>
              <a:cs typeface="ＭＳ Ｐゴシック" charset="0"/>
            </a:endParaRPr>
          </a:p>
          <a:p>
            <a:pPr>
              <a:buFont typeface="Arial" charset="0"/>
              <a:buNone/>
              <a:defRPr/>
            </a:pPr>
            <a:r>
              <a:rPr lang="en-US" sz="2800" dirty="0">
                <a:ea typeface="ＭＳ Ｐゴシック" charset="0"/>
                <a:cs typeface="ＭＳ Ｐゴシック" charset="0"/>
              </a:rPr>
              <a:t>    </a:t>
            </a:r>
          </a:p>
          <a:p>
            <a:pPr marL="0" indent="0" algn="just">
              <a:buNone/>
              <a:defRPr/>
            </a:pPr>
            <a:r>
              <a:rPr lang="en-US" sz="2800" dirty="0">
                <a:ea typeface="ＭＳ Ｐゴシック" charset="0"/>
                <a:cs typeface="ＭＳ Ｐゴシック" charset="0"/>
              </a:rPr>
              <a:t> Its is known that the standard deviation of demand over lead time is 75 computers. We want to estimate the </a:t>
            </a:r>
            <a:r>
              <a:rPr lang="en-US" sz="2800" b="1" i="1" dirty="0">
                <a:ea typeface="ＭＳ Ｐゴシック" charset="0"/>
                <a:cs typeface="ＭＳ Ｐゴシック" charset="0"/>
              </a:rPr>
              <a:t>mean</a:t>
            </a:r>
            <a:r>
              <a:rPr lang="en-US" sz="2800" dirty="0">
                <a:ea typeface="ＭＳ Ｐゴシック" charset="0"/>
                <a:cs typeface="ＭＳ Ｐゴシック" charset="0"/>
              </a:rPr>
              <a:t> demand over lead time with 95% confidence level in order to set inventory levels.</a:t>
            </a:r>
          </a:p>
          <a:p>
            <a:pPr algn="just">
              <a:buFont typeface="Arial" charset="0"/>
              <a:buChar char="•"/>
              <a:defRPr/>
            </a:pPr>
            <a:endParaRPr lang="en-US" sz="2800" dirty="0">
              <a:ea typeface="ＭＳ Ｐゴシック" charset="0"/>
              <a:cs typeface="ＭＳ Ｐゴシック" charset="0"/>
            </a:endParaRPr>
          </a:p>
          <a:p>
            <a:pPr>
              <a:buFont typeface="Arial" charset="0"/>
              <a:buChar char="•"/>
              <a:defRPr/>
            </a:pPr>
            <a:endParaRPr lang="en-US" sz="2800" dirty="0">
              <a:ea typeface="ＭＳ Ｐゴシック" charset="0"/>
              <a:cs typeface="ＭＳ Ｐゴシック" charset="0"/>
            </a:endParaRPr>
          </a:p>
          <a:p>
            <a:pPr>
              <a:buFont typeface="Arial" charset="0"/>
              <a:buChar char="•"/>
              <a:defRPr/>
            </a:pPr>
            <a:endParaRPr lang="en-MY" sz="2800" dirty="0">
              <a:ea typeface="ＭＳ Ｐゴシック" charset="0"/>
              <a:cs typeface="ＭＳ Ｐゴシック" charset="0"/>
            </a:endParaRPr>
          </a:p>
        </p:txBody>
      </p:sp>
      <p:pic>
        <p:nvPicPr>
          <p:cNvPr id="55299" name="Picture 4"/>
          <p:cNvPicPr>
            <a:picLocks noChangeAspect="1" noChangeArrowheads="1"/>
          </p:cNvPicPr>
          <p:nvPr/>
        </p:nvPicPr>
        <p:blipFill>
          <a:blip r:embed="rId2"/>
          <a:srcRect/>
          <a:stretch>
            <a:fillRect/>
          </a:stretch>
        </p:blipFill>
        <p:spPr bwMode="auto">
          <a:xfrm>
            <a:off x="2351088" y="2420939"/>
            <a:ext cx="6265862" cy="1647825"/>
          </a:xfrm>
          <a:prstGeom prst="rect">
            <a:avLst/>
          </a:prstGeom>
          <a:noFill/>
          <a:ln w="9525">
            <a:noFill/>
            <a:miter lim="800000"/>
            <a:headEnd/>
            <a:tailEnd/>
          </a:ln>
        </p:spPr>
      </p:pic>
      <p:sp>
        <p:nvSpPr>
          <p:cNvPr id="55300"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883A80A2-DD28-4447-AE51-AF0C52FCE7D2}" type="slidenum">
              <a:rPr lang="en-US" sz="1200">
                <a:solidFill>
                  <a:schemeClr val="bg1"/>
                </a:solidFill>
                <a:cs typeface="Arial" pitchFamily="34" charset="0"/>
              </a:rPr>
              <a:pPr algn="ctr" eaLnBrk="1" hangingPunct="1"/>
              <a:t>30</a:t>
            </a:fld>
            <a:endParaRPr lang="en-US" sz="1200">
              <a:solidFill>
                <a:schemeClr val="bg1"/>
              </a:solidFill>
              <a:cs typeface="Arial"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r>
              <a:rPr lang="en-US" b="1"/>
              <a:t>Solution</a:t>
            </a:r>
          </a:p>
        </p:txBody>
      </p:sp>
      <p:sp>
        <p:nvSpPr>
          <p:cNvPr id="56322" name="Content Placeholder 2"/>
          <p:cNvSpPr>
            <a:spLocks noGrp="1"/>
          </p:cNvSpPr>
          <p:nvPr>
            <p:ph idx="1"/>
          </p:nvPr>
        </p:nvSpPr>
        <p:spPr/>
        <p:txBody>
          <a:bodyPr/>
          <a:lstStyle/>
          <a:p>
            <a:pPr algn="just"/>
            <a:r>
              <a:rPr lang="en-US" altLang="en-US" dirty="0"/>
              <a:t>“</a:t>
            </a:r>
            <a:r>
              <a:rPr lang="en-US" dirty="0"/>
              <a:t>We want to estimate the </a:t>
            </a:r>
            <a:r>
              <a:rPr lang="en-US" b="1" i="1" dirty="0"/>
              <a:t>mean</a:t>
            </a:r>
            <a:r>
              <a:rPr lang="en-US" dirty="0"/>
              <a:t> demand over lead time with 95% confidence level in order to set inventory levels…</a:t>
            </a:r>
            <a:r>
              <a:rPr lang="en-US" altLang="en-US" dirty="0"/>
              <a:t>”</a:t>
            </a:r>
            <a:endParaRPr lang="en-US" dirty="0"/>
          </a:p>
          <a:p>
            <a:pPr algn="just"/>
            <a:r>
              <a:rPr lang="en-US" dirty="0"/>
              <a:t>Thus, the parameter to be estimated is the population mean:</a:t>
            </a:r>
          </a:p>
          <a:p>
            <a:pPr algn="just"/>
            <a:r>
              <a:rPr lang="en-US" dirty="0"/>
              <a:t>And so our confidence interval estimator will be:</a:t>
            </a:r>
          </a:p>
        </p:txBody>
      </p:sp>
      <p:pic>
        <p:nvPicPr>
          <p:cNvPr id="56323" name="Picture 8"/>
          <p:cNvPicPr>
            <a:picLocks noChangeAspect="1" noChangeArrowheads="1"/>
          </p:cNvPicPr>
          <p:nvPr/>
        </p:nvPicPr>
        <p:blipFill>
          <a:blip r:embed="rId3"/>
          <a:srcRect/>
          <a:stretch>
            <a:fillRect/>
          </a:stretch>
        </p:blipFill>
        <p:spPr bwMode="auto">
          <a:xfrm>
            <a:off x="4800600" y="5013325"/>
            <a:ext cx="2211388" cy="1168400"/>
          </a:xfrm>
          <a:prstGeom prst="rect">
            <a:avLst/>
          </a:prstGeom>
          <a:noFill/>
          <a:ln w="9525">
            <a:noFill/>
            <a:miter lim="800000"/>
            <a:headEnd/>
            <a:tailEnd/>
          </a:ln>
        </p:spPr>
      </p:pic>
      <p:pic>
        <p:nvPicPr>
          <p:cNvPr id="56324" name="Picture 5"/>
          <p:cNvPicPr>
            <a:picLocks noChangeAspect="1" noChangeArrowheads="1"/>
          </p:cNvPicPr>
          <p:nvPr/>
        </p:nvPicPr>
        <p:blipFill>
          <a:blip r:embed="rId4"/>
          <a:srcRect/>
          <a:stretch>
            <a:fillRect/>
          </a:stretch>
        </p:blipFill>
        <p:spPr bwMode="auto">
          <a:xfrm>
            <a:off x="5375276" y="3716339"/>
            <a:ext cx="466725" cy="517525"/>
          </a:xfrm>
          <a:prstGeom prst="rect">
            <a:avLst/>
          </a:prstGeom>
          <a:noFill/>
          <a:ln w="9525">
            <a:noFill/>
            <a:miter lim="800000"/>
            <a:headEnd/>
            <a:tailEnd/>
          </a:ln>
        </p:spPr>
      </p:pic>
      <p:sp>
        <p:nvSpPr>
          <p:cNvPr id="56325"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8982FC98-50E2-445A-9DE0-55FC4922F9CE}" type="slidenum">
              <a:rPr lang="en-US" sz="1200">
                <a:solidFill>
                  <a:schemeClr val="bg1"/>
                </a:solidFill>
                <a:cs typeface="Arial" pitchFamily="34" charset="0"/>
              </a:rPr>
              <a:pPr algn="ctr" eaLnBrk="1" hangingPunct="1"/>
              <a:t>31</a:t>
            </a:fld>
            <a:endParaRPr lang="en-US" sz="1200">
              <a:solidFill>
                <a:schemeClr val="bg1"/>
              </a:solidFill>
              <a:cs typeface="Arial"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Content Placeholder 2"/>
          <p:cNvSpPr>
            <a:spLocks noGrp="1"/>
          </p:cNvSpPr>
          <p:nvPr>
            <p:ph idx="1"/>
          </p:nvPr>
        </p:nvSpPr>
        <p:spPr>
          <a:xfrm>
            <a:off x="1919288" y="981076"/>
            <a:ext cx="8229600" cy="4525963"/>
          </a:xfrm>
        </p:spPr>
        <p:txBody>
          <a:bodyPr/>
          <a:lstStyle/>
          <a:p>
            <a:pPr algn="just"/>
            <a:r>
              <a:rPr lang="en-US" dirty="0"/>
              <a:t>In order to use our confidence interval estimator, we need the following pieces of data:</a:t>
            </a:r>
          </a:p>
          <a:p>
            <a:pPr algn="just"/>
            <a:endParaRPr lang="en-US" dirty="0"/>
          </a:p>
        </p:txBody>
      </p:sp>
      <p:pic>
        <p:nvPicPr>
          <p:cNvPr id="58370" name="Picture 3"/>
          <p:cNvPicPr>
            <a:picLocks noChangeAspect="1" noChangeArrowheads="1"/>
          </p:cNvPicPr>
          <p:nvPr/>
        </p:nvPicPr>
        <p:blipFill>
          <a:blip r:embed="rId3"/>
          <a:srcRect/>
          <a:stretch>
            <a:fillRect/>
          </a:stretch>
        </p:blipFill>
        <p:spPr bwMode="auto">
          <a:xfrm>
            <a:off x="2362201" y="2590800"/>
            <a:ext cx="7686675" cy="3887788"/>
          </a:xfrm>
          <a:prstGeom prst="rect">
            <a:avLst/>
          </a:prstGeom>
          <a:noFill/>
          <a:ln w="9525">
            <a:noFill/>
            <a:miter lim="800000"/>
            <a:headEnd/>
            <a:tailEnd/>
          </a:ln>
        </p:spPr>
      </p:pic>
      <p:sp>
        <p:nvSpPr>
          <p:cNvPr id="58371"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07DE8E92-81BC-4C97-8A9D-6688DA5DEFB5}" type="slidenum">
              <a:rPr lang="en-US" sz="1200">
                <a:solidFill>
                  <a:schemeClr val="bg1"/>
                </a:solidFill>
                <a:cs typeface="Arial" pitchFamily="34" charset="0"/>
              </a:rPr>
              <a:pPr algn="ctr" eaLnBrk="1" hangingPunct="1"/>
              <a:t>32</a:t>
            </a:fld>
            <a:endParaRPr lang="en-US" sz="1200">
              <a:solidFill>
                <a:schemeClr val="bg1"/>
              </a:solidFill>
              <a:cs typeface="Arial"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a:xfrm>
            <a:off x="3852864" y="125413"/>
            <a:ext cx="6491287" cy="1143000"/>
          </a:xfrm>
        </p:spPr>
        <p:txBody>
          <a:bodyPr/>
          <a:lstStyle/>
          <a:p>
            <a:r>
              <a:rPr lang="en-US" sz="3600" b="1"/>
              <a:t>Confidence Interval for </a:t>
            </a:r>
            <a:r>
              <a:rPr lang="en-US" sz="3600" b="1">
                <a:sym typeface="Symbol" pitchFamily="18" charset="2"/>
              </a:rPr>
              <a:t></a:t>
            </a:r>
            <a:r>
              <a:rPr lang="en-US" sz="3600" b="1"/>
              <a:t> </a:t>
            </a:r>
            <a:br>
              <a:rPr lang="en-US" sz="3600" b="1"/>
            </a:br>
            <a:r>
              <a:rPr lang="en-US" sz="3600" b="1"/>
              <a:t>when </a:t>
            </a:r>
            <a:r>
              <a:rPr lang="en-US" sz="3600" b="1">
                <a:sym typeface="Symbol" pitchFamily="18" charset="2"/>
              </a:rPr>
              <a:t> </a:t>
            </a:r>
            <a:r>
              <a:rPr lang="en-US" sz="3600" b="1"/>
              <a:t>is unknown</a:t>
            </a:r>
          </a:p>
        </p:txBody>
      </p:sp>
      <p:sp>
        <p:nvSpPr>
          <p:cNvPr id="60418" name="Content Placeholder 2"/>
          <p:cNvSpPr>
            <a:spLocks noGrp="1"/>
          </p:cNvSpPr>
          <p:nvPr>
            <p:ph idx="1"/>
          </p:nvPr>
        </p:nvSpPr>
        <p:spPr>
          <a:xfrm>
            <a:off x="1774826" y="1412876"/>
            <a:ext cx="8569325" cy="4525963"/>
          </a:xfrm>
        </p:spPr>
        <p:txBody>
          <a:bodyPr/>
          <a:lstStyle/>
          <a:p>
            <a:pPr algn="just"/>
            <a:r>
              <a:rPr lang="en-US" dirty="0"/>
              <a:t>The confidence interval just developed has an obvious drawback:</a:t>
            </a:r>
          </a:p>
          <a:p>
            <a:pPr marL="742950" lvl="2" indent="-342900" algn="just">
              <a:buBlip>
                <a:blip r:embed="rId2"/>
              </a:buBlip>
            </a:pPr>
            <a:r>
              <a:rPr lang="en-US" dirty="0"/>
              <a:t>To compute the interval endpoints, </a:t>
            </a:r>
            <a:r>
              <a:rPr lang="en-US" dirty="0">
                <a:sym typeface="Symbol" pitchFamily="18" charset="2"/>
              </a:rPr>
              <a:t> </a:t>
            </a:r>
            <a:r>
              <a:rPr lang="en-US" dirty="0"/>
              <a:t>must be known.</a:t>
            </a:r>
          </a:p>
          <a:p>
            <a:pPr algn="just"/>
            <a:r>
              <a:rPr lang="en-US" dirty="0"/>
              <a:t>If </a:t>
            </a:r>
            <a:r>
              <a:rPr lang="en-US" dirty="0">
                <a:sym typeface="Symbol" pitchFamily="18" charset="2"/>
              </a:rPr>
              <a:t> </a:t>
            </a:r>
            <a:r>
              <a:rPr lang="en-US" dirty="0"/>
              <a:t>is </a:t>
            </a:r>
            <a:r>
              <a:rPr lang="en-US" dirty="0">
                <a:solidFill>
                  <a:srgbClr val="FF0000"/>
                </a:solidFill>
              </a:rPr>
              <a:t>unknown</a:t>
            </a:r>
            <a:r>
              <a:rPr lang="en-US" dirty="0"/>
              <a:t>, we must use the sample data to estimate </a:t>
            </a:r>
            <a:r>
              <a:rPr lang="en-US" dirty="0">
                <a:sym typeface="Symbol" pitchFamily="18" charset="2"/>
              </a:rPr>
              <a:t>. </a:t>
            </a:r>
          </a:p>
          <a:p>
            <a:pPr algn="just"/>
            <a:r>
              <a:rPr lang="en-US" dirty="0">
                <a:sym typeface="Symbol" pitchFamily="18" charset="2"/>
              </a:rPr>
              <a:t>If we use the sample standard deviation as our estimate, the result is a different standardized variable denoted by </a:t>
            </a:r>
            <a:r>
              <a:rPr lang="en-US" i="1" dirty="0">
                <a:latin typeface="Times New Roman" pitchFamily="18" charset="0"/>
                <a:cs typeface="Times New Roman" pitchFamily="18" charset="0"/>
                <a:sym typeface="Symbol" pitchFamily="18" charset="2"/>
              </a:rPr>
              <a:t>t</a:t>
            </a:r>
            <a:r>
              <a:rPr lang="en-US" dirty="0">
                <a:sym typeface="Symbol" pitchFamily="18" charset="2"/>
              </a:rPr>
              <a:t>: </a:t>
            </a:r>
            <a:endParaRPr lang="en-US" dirty="0"/>
          </a:p>
        </p:txBody>
      </p:sp>
      <p:graphicFrame>
        <p:nvGraphicFramePr>
          <p:cNvPr id="60419" name="Object 4"/>
          <p:cNvGraphicFramePr>
            <a:graphicFrameLocks noChangeAspect="1"/>
          </p:cNvGraphicFramePr>
          <p:nvPr/>
        </p:nvGraphicFramePr>
        <p:xfrm>
          <a:off x="5956300" y="5208588"/>
          <a:ext cx="1219200" cy="1244600"/>
        </p:xfrm>
        <a:graphic>
          <a:graphicData uri="http://schemas.openxmlformats.org/presentationml/2006/ole">
            <mc:AlternateContent xmlns:mc="http://schemas.openxmlformats.org/markup-compatibility/2006">
              <mc:Choice xmlns:v="urn:schemas-microsoft-com:vml" Requires="v">
                <p:oleObj name="Equation" r:id="rId3" imgW="609600" imgH="622277" progId="Equation.3">
                  <p:embed/>
                </p:oleObj>
              </mc:Choice>
              <mc:Fallback>
                <p:oleObj name="Equation" r:id="rId3" imgW="609600" imgH="62227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6300" y="5208588"/>
                        <a:ext cx="1219200" cy="124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20" name="Slide Number Placeholder 1"/>
          <p:cNvSpPr txBox="1">
            <a:spLocks/>
          </p:cNvSpPr>
          <p:nvPr/>
        </p:nvSpPr>
        <p:spPr bwMode="auto">
          <a:xfrm>
            <a:off x="5808663" y="6519864"/>
            <a:ext cx="538162" cy="365125"/>
          </a:xfrm>
          <a:prstGeom prst="rect">
            <a:avLst/>
          </a:prstGeom>
          <a:noFill/>
          <a:ln w="9525">
            <a:noFill/>
            <a:miter lim="800000"/>
            <a:headEnd/>
            <a:tailEnd/>
          </a:ln>
        </p:spPr>
        <p:txBody>
          <a:bodyPr anchor="ctr"/>
          <a:lstStyle/>
          <a:p>
            <a:pPr algn="ctr" eaLnBrk="1" hangingPunct="1"/>
            <a:fld id="{71A4D65F-EA23-4699-8395-1A43761FEA22}" type="slidenum">
              <a:rPr lang="en-US" sz="1200">
                <a:solidFill>
                  <a:schemeClr val="bg1"/>
                </a:solidFill>
                <a:cs typeface="Arial" pitchFamily="34" charset="0"/>
              </a:rPr>
              <a:pPr algn="ctr" eaLnBrk="1" hangingPunct="1"/>
              <a:t>33</a:t>
            </a:fld>
            <a:endParaRPr lang="en-US" sz="1200">
              <a:solidFill>
                <a:schemeClr val="bg1"/>
              </a:solidFill>
              <a:cs typeface="Arial"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3863975" y="44450"/>
            <a:ext cx="6624638" cy="1143000"/>
          </a:xfrm>
        </p:spPr>
        <p:txBody>
          <a:bodyPr/>
          <a:lstStyle/>
          <a:p>
            <a:r>
              <a:rPr lang="en-US" sz="3600" b="1"/>
              <a:t>One-sample </a:t>
            </a:r>
            <a:r>
              <a:rPr lang="en-US" sz="3600" b="1" i="1">
                <a:latin typeface="Times New Roman" pitchFamily="18" charset="0"/>
                <a:cs typeface="Times New Roman" pitchFamily="18" charset="0"/>
              </a:rPr>
              <a:t>t</a:t>
            </a:r>
            <a:r>
              <a:rPr lang="en-US" sz="3600" b="1"/>
              <a:t> confidence interval for </a:t>
            </a:r>
            <a:r>
              <a:rPr lang="en-US" sz="3600" b="1">
                <a:sym typeface="Symbol" pitchFamily="18" charset="2"/>
              </a:rPr>
              <a:t></a:t>
            </a:r>
            <a:endParaRPr lang="en-US" sz="3600" b="1"/>
          </a:p>
        </p:txBody>
      </p:sp>
      <p:sp>
        <p:nvSpPr>
          <p:cNvPr id="61442" name="Content Placeholder 2"/>
          <p:cNvSpPr>
            <a:spLocks noGrp="1"/>
          </p:cNvSpPr>
          <p:nvPr>
            <p:ph idx="1"/>
          </p:nvPr>
        </p:nvSpPr>
        <p:spPr>
          <a:xfrm>
            <a:off x="1703389" y="1412876"/>
            <a:ext cx="8785225" cy="4824413"/>
          </a:xfrm>
        </p:spPr>
        <p:txBody>
          <a:bodyPr/>
          <a:lstStyle/>
          <a:p>
            <a:pPr algn="just"/>
            <a:r>
              <a:rPr lang="en-US" sz="2800" dirty="0"/>
              <a:t>       is the sample mean from a simple random sample.</a:t>
            </a:r>
          </a:p>
          <a:p>
            <a:pPr algn="just"/>
            <a:r>
              <a:rPr lang="en-US" sz="2800" dirty="0"/>
              <a:t>The population distribution is normal, or the sample size </a:t>
            </a:r>
            <a:r>
              <a:rPr lang="en-US" sz="2800" i="1" dirty="0">
                <a:latin typeface="Times New Roman" pitchFamily="18" charset="0"/>
                <a:cs typeface="Times New Roman" pitchFamily="18" charset="0"/>
              </a:rPr>
              <a:t>n</a:t>
            </a:r>
            <a:r>
              <a:rPr lang="en-US" sz="2800" dirty="0"/>
              <a:t> is large (generally, </a:t>
            </a:r>
            <a:r>
              <a:rPr lang="en-US" sz="2800" i="1" dirty="0">
                <a:latin typeface="Times New Roman" pitchFamily="18" charset="0"/>
                <a:cs typeface="Times New Roman" pitchFamily="18" charset="0"/>
              </a:rPr>
              <a:t>n</a:t>
            </a:r>
            <a:r>
              <a:rPr lang="en-US" sz="2800" dirty="0"/>
              <a:t> </a:t>
            </a:r>
            <a:r>
              <a:rPr lang="en-US" sz="2800" u="sng" dirty="0"/>
              <a:t>&gt;</a:t>
            </a:r>
            <a:r>
              <a:rPr lang="en-US" sz="2800" dirty="0"/>
              <a:t> 30), and</a:t>
            </a:r>
          </a:p>
          <a:p>
            <a:pPr algn="just"/>
            <a:r>
              <a:rPr lang="en-US" sz="2800" i="1" dirty="0">
                <a:latin typeface="Symbol" pitchFamily="18" charset="2"/>
              </a:rPr>
              <a:t>s</a:t>
            </a:r>
            <a:r>
              <a:rPr lang="en-US" sz="2800" dirty="0"/>
              <a:t>, the population standard deviation, is unknown.</a:t>
            </a:r>
          </a:p>
          <a:p>
            <a:pPr lvl="1" algn="just">
              <a:buFont typeface="Arial" pitchFamily="34" charset="0"/>
              <a:buNone/>
            </a:pPr>
            <a:endParaRPr lang="en-US" sz="2400" dirty="0"/>
          </a:p>
          <a:p>
            <a:pPr lvl="1" algn="just">
              <a:buFont typeface="Arial" pitchFamily="34" charset="0"/>
              <a:buNone/>
            </a:pPr>
            <a:r>
              <a:rPr lang="en-US" sz="2400" dirty="0">
                <a:solidFill>
                  <a:srgbClr val="0000FF"/>
                </a:solidFill>
              </a:rPr>
              <a:t>One-sample </a:t>
            </a:r>
            <a:r>
              <a:rPr lang="en-US" sz="2400" i="1" dirty="0">
                <a:solidFill>
                  <a:srgbClr val="0000FF"/>
                </a:solidFill>
                <a:latin typeface="Times New Roman" pitchFamily="18" charset="0"/>
              </a:rPr>
              <a:t>t</a:t>
            </a:r>
            <a:r>
              <a:rPr lang="en-US" sz="2400" dirty="0">
                <a:solidFill>
                  <a:srgbClr val="0000FF"/>
                </a:solidFill>
              </a:rPr>
              <a:t> confidence interval for </a:t>
            </a:r>
            <a:r>
              <a:rPr lang="en-US" sz="2400" dirty="0">
                <a:solidFill>
                  <a:srgbClr val="0000FF"/>
                </a:solidFill>
                <a:sym typeface="Symbol" pitchFamily="18" charset="2"/>
              </a:rPr>
              <a:t> is,</a:t>
            </a:r>
          </a:p>
          <a:p>
            <a:pPr algn="just">
              <a:buFont typeface="Arial" pitchFamily="34" charset="0"/>
              <a:buNone/>
            </a:pPr>
            <a:endParaRPr lang="en-US" sz="2800" dirty="0">
              <a:sym typeface="Symbol" pitchFamily="18" charset="2"/>
            </a:endParaRPr>
          </a:p>
          <a:p>
            <a:pPr algn="just">
              <a:buFont typeface="Arial" pitchFamily="34" charset="0"/>
              <a:buNone/>
            </a:pPr>
            <a:endParaRPr lang="en-US" sz="2800" dirty="0">
              <a:sym typeface="Symbol" pitchFamily="18" charset="2"/>
            </a:endParaRPr>
          </a:p>
          <a:p>
            <a:pPr algn="just">
              <a:buFont typeface="Arial" pitchFamily="34" charset="0"/>
              <a:buNone/>
            </a:pPr>
            <a:endParaRPr lang="en-US" sz="2800" dirty="0">
              <a:sym typeface="Symbol" pitchFamily="18" charset="2"/>
            </a:endParaRPr>
          </a:p>
          <a:p>
            <a:pPr lvl="1" algn="just">
              <a:buFont typeface="Arial" pitchFamily="34" charset="0"/>
              <a:buNone/>
            </a:pPr>
            <a:r>
              <a:rPr lang="en-US" sz="2400" dirty="0">
                <a:solidFill>
                  <a:srgbClr val="0000FF"/>
                </a:solidFill>
                <a:sym typeface="Symbol" pitchFamily="18" charset="2"/>
              </a:rPr>
              <a:t>where the </a:t>
            </a:r>
            <a:r>
              <a:rPr lang="en-US" sz="2400" i="1" dirty="0">
                <a:solidFill>
                  <a:srgbClr val="0000FF"/>
                </a:solidFill>
                <a:latin typeface="Times New Roman" pitchFamily="18" charset="0"/>
                <a:sym typeface="Symbol" pitchFamily="18" charset="2"/>
              </a:rPr>
              <a:t>t</a:t>
            </a:r>
            <a:r>
              <a:rPr lang="en-US" sz="2400" dirty="0">
                <a:solidFill>
                  <a:srgbClr val="0000FF"/>
                </a:solidFill>
                <a:sym typeface="Symbol" pitchFamily="18" charset="2"/>
              </a:rPr>
              <a:t> critical value is based on degree of freedom, </a:t>
            </a:r>
            <a:r>
              <a:rPr lang="en-US" sz="2400" dirty="0" err="1">
                <a:solidFill>
                  <a:srgbClr val="0000FF"/>
                </a:solidFill>
                <a:sym typeface="Symbol" pitchFamily="18" charset="2"/>
              </a:rPr>
              <a:t>df</a:t>
            </a:r>
            <a:r>
              <a:rPr lang="en-US" sz="2400" dirty="0">
                <a:solidFill>
                  <a:srgbClr val="0000FF"/>
                </a:solidFill>
                <a:sym typeface="Symbol" pitchFamily="18" charset="2"/>
              </a:rPr>
              <a:t> = </a:t>
            </a:r>
            <a:r>
              <a:rPr lang="en-US" sz="2400" i="1" dirty="0">
                <a:solidFill>
                  <a:srgbClr val="0000FF"/>
                </a:solidFill>
                <a:latin typeface="Times New Roman" pitchFamily="18" charset="0"/>
                <a:sym typeface="Symbol" pitchFamily="18" charset="2"/>
              </a:rPr>
              <a:t>n</a:t>
            </a:r>
            <a:r>
              <a:rPr lang="en-US" sz="2400" dirty="0">
                <a:solidFill>
                  <a:srgbClr val="0000FF"/>
                </a:solidFill>
                <a:sym typeface="Symbol" pitchFamily="18" charset="2"/>
              </a:rPr>
              <a:t>-1.</a:t>
            </a:r>
            <a:endParaRPr lang="en-US" sz="2400" dirty="0">
              <a:solidFill>
                <a:srgbClr val="0000FF"/>
              </a:solidFill>
            </a:endParaRPr>
          </a:p>
        </p:txBody>
      </p:sp>
      <p:sp>
        <p:nvSpPr>
          <p:cNvPr id="61443" name="Slide Number Placeholder 3"/>
          <p:cNvSpPr>
            <a:spLocks noGrp="1"/>
          </p:cNvSpPr>
          <p:nvPr>
            <p:ph type="sldNum" sz="quarter" idx="12"/>
          </p:nvPr>
        </p:nvSpPr>
        <p:spPr bwMode="auto">
          <a:xfrm>
            <a:off x="5519739" y="6519864"/>
            <a:ext cx="1258887" cy="365125"/>
          </a:xfrm>
          <a:noFill/>
          <a:ln>
            <a:miter lim="800000"/>
            <a:headEnd/>
            <a:tailEnd/>
          </a:ln>
        </p:spPr>
        <p:txBody>
          <a:bodyPr/>
          <a:lstStyle/>
          <a:p>
            <a:pPr algn="ctr"/>
            <a:fld id="{D093A577-1F0D-4DC5-9E1B-8EDFE44CF1BF}" type="slidenum">
              <a:rPr lang="en-US">
                <a:solidFill>
                  <a:schemeClr val="bg1"/>
                </a:solidFill>
              </a:rPr>
              <a:pPr algn="ctr"/>
              <a:t>34</a:t>
            </a:fld>
            <a:endParaRPr lang="en-US">
              <a:solidFill>
                <a:schemeClr val="bg1"/>
              </a:solidFill>
            </a:endParaRPr>
          </a:p>
        </p:txBody>
      </p:sp>
      <p:graphicFrame>
        <p:nvGraphicFramePr>
          <p:cNvPr id="61444" name="Object 2"/>
          <p:cNvGraphicFramePr>
            <a:graphicFrameLocks noChangeAspect="1"/>
          </p:cNvGraphicFramePr>
          <p:nvPr/>
        </p:nvGraphicFramePr>
        <p:xfrm>
          <a:off x="2208214" y="1484313"/>
          <a:ext cx="344487" cy="381000"/>
        </p:xfrm>
        <a:graphic>
          <a:graphicData uri="http://schemas.openxmlformats.org/presentationml/2006/ole">
            <mc:AlternateContent xmlns:mc="http://schemas.openxmlformats.org/markup-compatibility/2006">
              <mc:Choice xmlns:v="urn:schemas-microsoft-com:vml" Requires="v">
                <p:oleObj name="Equation" r:id="rId2" imgW="139616" imgH="165000" progId="Equation.3">
                  <p:embed/>
                </p:oleObj>
              </mc:Choice>
              <mc:Fallback>
                <p:oleObj name="Equation" r:id="rId2" imgW="139616" imgH="1650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1484313"/>
                        <a:ext cx="34448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5" name="Object 5"/>
          <p:cNvGraphicFramePr>
            <a:graphicFrameLocks noChangeAspect="1"/>
          </p:cNvGraphicFramePr>
          <p:nvPr/>
        </p:nvGraphicFramePr>
        <p:xfrm>
          <a:off x="4038600" y="4521201"/>
          <a:ext cx="3390900" cy="942975"/>
        </p:xfrm>
        <a:graphic>
          <a:graphicData uri="http://schemas.openxmlformats.org/presentationml/2006/ole">
            <mc:AlternateContent xmlns:mc="http://schemas.openxmlformats.org/markup-compatibility/2006">
              <mc:Choice xmlns:v="urn:schemas-microsoft-com:vml" Requires="v">
                <p:oleObj name="Equation" r:id="rId4" imgW="1600200" imgH="444500" progId="Equation.3">
                  <p:embed/>
                </p:oleObj>
              </mc:Choice>
              <mc:Fallback>
                <p:oleObj name="Equation" r:id="rId4" imgW="1600200" imgH="444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4521201"/>
                        <a:ext cx="3390900" cy="942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a:xfrm>
            <a:off x="3852864" y="115888"/>
            <a:ext cx="6491287" cy="792162"/>
          </a:xfrm>
        </p:spPr>
        <p:txBody>
          <a:bodyPr/>
          <a:lstStyle/>
          <a:p>
            <a:r>
              <a:rPr lang="en-US" sz="3200" b="1">
                <a:latin typeface="Century Gothic" pitchFamily="34" charset="0"/>
              </a:rPr>
              <a:t>Example</a:t>
            </a:r>
          </a:p>
        </p:txBody>
      </p:sp>
      <p:sp>
        <p:nvSpPr>
          <p:cNvPr id="62466" name="Content Placeholder 2"/>
          <p:cNvSpPr>
            <a:spLocks noGrp="1"/>
          </p:cNvSpPr>
          <p:nvPr>
            <p:ph idx="1"/>
          </p:nvPr>
        </p:nvSpPr>
        <p:spPr>
          <a:xfrm>
            <a:off x="1992313" y="1125538"/>
            <a:ext cx="8280400" cy="5303858"/>
          </a:xfrm>
        </p:spPr>
        <p:txBody>
          <a:bodyPr/>
          <a:lstStyle/>
          <a:p>
            <a:pPr marL="0" indent="0" algn="just">
              <a:lnSpc>
                <a:spcPct val="80000"/>
              </a:lnSpc>
              <a:buNone/>
            </a:pPr>
            <a:r>
              <a:rPr lang="en-US" sz="2400" dirty="0"/>
              <a:t>The article </a:t>
            </a:r>
            <a:r>
              <a:rPr lang="en-US" altLang="en-US" sz="2400" dirty="0"/>
              <a:t>“</a:t>
            </a:r>
            <a:r>
              <a:rPr lang="en-US" sz="2400" dirty="0"/>
              <a:t>Chimps Aren</a:t>
            </a:r>
            <a:r>
              <a:rPr lang="en-US" altLang="en-US" sz="2400" dirty="0"/>
              <a:t>’</a:t>
            </a:r>
            <a:r>
              <a:rPr lang="en-US" sz="2400" dirty="0"/>
              <a:t>t Charitable</a:t>
            </a:r>
            <a:r>
              <a:rPr lang="en-US" altLang="en-US" sz="2400" dirty="0"/>
              <a:t>”</a:t>
            </a:r>
            <a:r>
              <a:rPr lang="en-US" sz="2400" dirty="0"/>
              <a:t> (</a:t>
            </a:r>
            <a:r>
              <a:rPr lang="en-US" sz="2400" i="1" dirty="0"/>
              <a:t>Newsday</a:t>
            </a:r>
            <a:r>
              <a:rPr lang="en-US" sz="2400" dirty="0"/>
              <a:t>, November 2, 2005) summarized the results of a research study published in the journal </a:t>
            </a:r>
            <a:r>
              <a:rPr lang="en-US" sz="2400" i="1" dirty="0"/>
              <a:t>Nature</a:t>
            </a:r>
            <a:r>
              <a:rPr lang="en-US" sz="2400" dirty="0"/>
              <a:t>.  In this study, chimpanzees learned to use an apparatus that dispersed food when either of two ropes was pulled. When one of the ropes was pulled, only the chimp controlling the apparatus received food.  When the other rope was pulled, food was dispensed both to the chimp controlling the apparatus and also a chimp in the adjoining cage. The accompanying data represent the number of times out of 36 trials that each of seven chimps chose the option that would provide food to both chimps (charitable response).</a:t>
            </a:r>
          </a:p>
          <a:p>
            <a:pPr marL="0" indent="0" algn="ctr">
              <a:lnSpc>
                <a:spcPct val="80000"/>
              </a:lnSpc>
              <a:buNone/>
            </a:pPr>
            <a:r>
              <a:rPr lang="en-US" sz="2400" dirty="0">
                <a:solidFill>
                  <a:srgbClr val="FF0000"/>
                </a:solidFill>
              </a:rPr>
              <a:t>    </a:t>
            </a:r>
          </a:p>
          <a:p>
            <a:pPr marL="0" indent="0" algn="ctr">
              <a:lnSpc>
                <a:spcPct val="80000"/>
              </a:lnSpc>
              <a:buNone/>
            </a:pPr>
            <a:r>
              <a:rPr lang="en-US" dirty="0">
                <a:solidFill>
                  <a:srgbClr val="FF0000"/>
                </a:solidFill>
              </a:rPr>
              <a:t>23	 22	21	24	19	20	20</a:t>
            </a:r>
          </a:p>
          <a:p>
            <a:pPr marL="0" indent="0" algn="just">
              <a:lnSpc>
                <a:spcPct val="80000"/>
              </a:lnSpc>
              <a:buNone/>
            </a:pPr>
            <a:r>
              <a:rPr lang="en-US" sz="2400" dirty="0">
                <a:solidFill>
                  <a:srgbClr val="00CC00"/>
                </a:solidFill>
              </a:rPr>
              <a:t>	</a:t>
            </a:r>
          </a:p>
          <a:p>
            <a:pPr marL="0" indent="0" algn="just">
              <a:lnSpc>
                <a:spcPct val="80000"/>
              </a:lnSpc>
              <a:buNone/>
            </a:pPr>
            <a:r>
              <a:rPr lang="en-US" sz="2400" dirty="0"/>
              <a:t>Compute a 99% confidence interval for the mean number of charitable responses for the population of all chimps.</a:t>
            </a:r>
          </a:p>
          <a:p>
            <a:pPr marL="0" indent="0" algn="just">
              <a:lnSpc>
                <a:spcPct val="80000"/>
              </a:lnSpc>
            </a:pPr>
            <a:endParaRPr lang="en-US" sz="2400" dirty="0"/>
          </a:p>
        </p:txBody>
      </p:sp>
      <p:sp>
        <p:nvSpPr>
          <p:cNvPr id="62467" name="Slide Number Placeholder 3"/>
          <p:cNvSpPr txBox="1">
            <a:spLocks/>
          </p:cNvSpPr>
          <p:nvPr/>
        </p:nvSpPr>
        <p:spPr bwMode="auto">
          <a:xfrm>
            <a:off x="5519739" y="6519864"/>
            <a:ext cx="1258887" cy="365125"/>
          </a:xfrm>
          <a:prstGeom prst="rect">
            <a:avLst/>
          </a:prstGeom>
          <a:noFill/>
          <a:ln w="9525">
            <a:noFill/>
            <a:miter lim="800000"/>
            <a:headEnd/>
            <a:tailEnd/>
          </a:ln>
        </p:spPr>
        <p:txBody>
          <a:bodyPr anchor="ctr"/>
          <a:lstStyle/>
          <a:p>
            <a:pPr algn="ctr" eaLnBrk="1" hangingPunct="1"/>
            <a:fld id="{00A144C9-DEDC-4D03-B653-11797FE2726D}" type="slidenum">
              <a:rPr lang="en-US" sz="1200">
                <a:solidFill>
                  <a:schemeClr val="bg1"/>
                </a:solidFill>
                <a:cs typeface="Arial" pitchFamily="34" charset="0"/>
              </a:rPr>
              <a:pPr algn="ctr" eaLnBrk="1" hangingPunct="1"/>
              <a:t>35</a:t>
            </a:fld>
            <a:endParaRPr lang="en-US" sz="1200">
              <a:solidFill>
                <a:schemeClr val="bg1"/>
              </a:solidFill>
              <a:cs typeface="Arial"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3852864" y="44450"/>
            <a:ext cx="6491287" cy="863600"/>
          </a:xfrm>
        </p:spPr>
        <p:txBody>
          <a:bodyPr/>
          <a:lstStyle/>
          <a:p>
            <a:r>
              <a:rPr lang="en-US" b="1">
                <a:solidFill>
                  <a:srgbClr val="0000FF"/>
                </a:solidFill>
              </a:rPr>
              <a:t>Solution</a:t>
            </a:r>
          </a:p>
        </p:txBody>
      </p:sp>
      <p:sp>
        <p:nvSpPr>
          <p:cNvPr id="63490" name="Content Placeholder 2"/>
          <p:cNvSpPr>
            <a:spLocks noGrp="1"/>
          </p:cNvSpPr>
          <p:nvPr>
            <p:ph idx="1"/>
          </p:nvPr>
        </p:nvSpPr>
        <p:spPr>
          <a:xfrm>
            <a:off x="1981201" y="1063626"/>
            <a:ext cx="8507413" cy="4525963"/>
          </a:xfrm>
        </p:spPr>
        <p:txBody>
          <a:bodyPr/>
          <a:lstStyle/>
          <a:p>
            <a:pPr>
              <a:spcBef>
                <a:spcPct val="50000"/>
              </a:spcBef>
              <a:buFont typeface="Arial" pitchFamily="34" charset="0"/>
              <a:buNone/>
            </a:pPr>
            <a:r>
              <a:rPr lang="en-US"/>
              <a:t>Data:</a:t>
            </a:r>
            <a:r>
              <a:rPr lang="en-US" b="1"/>
              <a:t> 23  22  21  24  19  20  20</a:t>
            </a:r>
          </a:p>
          <a:p>
            <a:pPr>
              <a:spcBef>
                <a:spcPct val="50000"/>
              </a:spcBef>
            </a:pPr>
            <a:r>
              <a:rPr lang="en-US"/>
              <a:t>    = 21.29 and </a:t>
            </a:r>
            <a:r>
              <a:rPr lang="en-US" i="1"/>
              <a:t>s</a:t>
            </a:r>
            <a:r>
              <a:rPr lang="en-US"/>
              <a:t> = 1.80			</a:t>
            </a:r>
          </a:p>
          <a:p>
            <a:pPr>
              <a:spcBef>
                <a:spcPct val="50000"/>
              </a:spcBef>
            </a:pPr>
            <a:r>
              <a:rPr lang="en-US"/>
              <a:t>df = 7 – 1 = 6 ; </a:t>
            </a:r>
            <a:r>
              <a:rPr lang="en-US" sz="2800"/>
              <a:t>confidence level = 99% (α=0.01)</a:t>
            </a:r>
          </a:p>
          <a:p>
            <a:endParaRPr lang="en-US"/>
          </a:p>
        </p:txBody>
      </p:sp>
      <p:graphicFrame>
        <p:nvGraphicFramePr>
          <p:cNvPr id="175106" name="Object 2"/>
          <p:cNvGraphicFramePr>
            <a:graphicFrameLocks noChangeAspect="1"/>
          </p:cNvGraphicFramePr>
          <p:nvPr/>
        </p:nvGraphicFramePr>
        <p:xfrm>
          <a:off x="2279651" y="3213100"/>
          <a:ext cx="5121275" cy="1828800"/>
        </p:xfrm>
        <a:graphic>
          <a:graphicData uri="http://schemas.openxmlformats.org/presentationml/2006/ole">
            <mc:AlternateContent xmlns:mc="http://schemas.openxmlformats.org/markup-compatibility/2006">
              <mc:Choice xmlns:v="urn:schemas-microsoft-com:vml" Requires="v">
                <p:oleObj name="Equation" r:id="rId3" imgW="2183757" imgH="914400" progId="Equation.3">
                  <p:embed/>
                </p:oleObj>
              </mc:Choice>
              <mc:Fallback>
                <p:oleObj name="Equation" r:id="rId3" imgW="2183757" imgH="914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9651" y="3213100"/>
                        <a:ext cx="512127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2" name="Rectangle 5"/>
          <p:cNvSpPr>
            <a:spLocks noChangeArrowheads="1"/>
          </p:cNvSpPr>
          <p:nvPr/>
        </p:nvSpPr>
        <p:spPr bwMode="auto">
          <a:xfrm>
            <a:off x="1981200" y="5397500"/>
            <a:ext cx="8229600" cy="1200150"/>
          </a:xfrm>
          <a:prstGeom prst="rect">
            <a:avLst/>
          </a:prstGeom>
          <a:noFill/>
          <a:ln w="9525">
            <a:noFill/>
            <a:miter lim="800000"/>
            <a:headEnd/>
            <a:tailEnd/>
          </a:ln>
        </p:spPr>
        <p:txBody>
          <a:bodyPr>
            <a:spAutoFit/>
          </a:bodyPr>
          <a:lstStyle/>
          <a:p>
            <a:pPr marL="57150" algn="just" eaLnBrk="1" hangingPunct="1">
              <a:spcBef>
                <a:spcPct val="50000"/>
              </a:spcBef>
            </a:pPr>
            <a:r>
              <a:rPr lang="en-US" sz="2400" dirty="0"/>
              <a:t>We are 99% confident that the mean number of charitable responses for the population of all chimps is between 18.77 and 23.81.</a:t>
            </a:r>
          </a:p>
        </p:txBody>
      </p:sp>
      <p:graphicFrame>
        <p:nvGraphicFramePr>
          <p:cNvPr id="63493" name="Object 3"/>
          <p:cNvGraphicFramePr>
            <a:graphicFrameLocks noChangeAspect="1"/>
          </p:cNvGraphicFramePr>
          <p:nvPr/>
        </p:nvGraphicFramePr>
        <p:xfrm>
          <a:off x="2351089" y="1895475"/>
          <a:ext cx="344487" cy="381000"/>
        </p:xfrm>
        <a:graphic>
          <a:graphicData uri="http://schemas.openxmlformats.org/presentationml/2006/ole">
            <mc:AlternateContent xmlns:mc="http://schemas.openxmlformats.org/markup-compatibility/2006">
              <mc:Choice xmlns:v="urn:schemas-microsoft-com:vml" Requires="v">
                <p:oleObj name="Equation" r:id="rId5" imgW="139616" imgH="165000" progId="Equation.3">
                  <p:embed/>
                </p:oleObj>
              </mc:Choice>
              <mc:Fallback>
                <p:oleObj name="Equation" r:id="rId5" imgW="139616" imgH="165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1089" y="1895475"/>
                        <a:ext cx="34448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4" name="Slide Number Placeholder 3"/>
          <p:cNvSpPr txBox="1">
            <a:spLocks/>
          </p:cNvSpPr>
          <p:nvPr/>
        </p:nvSpPr>
        <p:spPr bwMode="auto">
          <a:xfrm>
            <a:off x="5519739" y="6519864"/>
            <a:ext cx="1258887" cy="365125"/>
          </a:xfrm>
          <a:prstGeom prst="rect">
            <a:avLst/>
          </a:prstGeom>
          <a:noFill/>
          <a:ln w="9525">
            <a:noFill/>
            <a:miter lim="800000"/>
            <a:headEnd/>
            <a:tailEnd/>
          </a:ln>
        </p:spPr>
        <p:txBody>
          <a:bodyPr anchor="ctr"/>
          <a:lstStyle/>
          <a:p>
            <a:pPr algn="ctr" eaLnBrk="1" hangingPunct="1"/>
            <a:fld id="{3C03B327-73CD-470A-BFB1-F03192B5234B}" type="slidenum">
              <a:rPr lang="en-US" sz="1200">
                <a:solidFill>
                  <a:schemeClr val="bg1"/>
                </a:solidFill>
                <a:cs typeface="Arial" pitchFamily="34" charset="0"/>
              </a:rPr>
              <a:pPr algn="ctr" eaLnBrk="1" hangingPunct="1"/>
              <a:t>36</a:t>
            </a:fld>
            <a:endParaRPr lang="en-US" sz="1200">
              <a:solidFill>
                <a:schemeClr val="bg1"/>
              </a:solidFill>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5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a:xfrm>
            <a:off x="4079876" y="188914"/>
            <a:ext cx="6130925" cy="706437"/>
          </a:xfrm>
        </p:spPr>
        <p:txBody>
          <a:bodyPr/>
          <a:lstStyle/>
          <a:p>
            <a:r>
              <a:rPr lang="en-US" sz="4000" b="1">
                <a:solidFill>
                  <a:srgbClr val="FF0000"/>
                </a:solidFill>
                <a:latin typeface="Century Gothic" pitchFamily="34" charset="0"/>
              </a:rPr>
              <a:t>Exercise # 2</a:t>
            </a:r>
          </a:p>
        </p:txBody>
      </p:sp>
      <p:sp>
        <p:nvSpPr>
          <p:cNvPr id="65538" name="Content Placeholder 2"/>
          <p:cNvSpPr>
            <a:spLocks noGrp="1"/>
          </p:cNvSpPr>
          <p:nvPr>
            <p:ph idx="1"/>
          </p:nvPr>
        </p:nvSpPr>
        <p:spPr>
          <a:xfrm>
            <a:off x="1774826" y="1052513"/>
            <a:ext cx="8569325" cy="5040312"/>
          </a:xfrm>
        </p:spPr>
        <p:txBody>
          <a:bodyPr/>
          <a:lstStyle/>
          <a:p>
            <a:pPr marL="0" indent="0" algn="just">
              <a:spcBef>
                <a:spcPct val="0"/>
              </a:spcBef>
              <a:spcAft>
                <a:spcPts val="1200"/>
              </a:spcAft>
              <a:buNone/>
            </a:pPr>
            <a:r>
              <a:rPr lang="en-US" sz="2000" dirty="0">
                <a:latin typeface="Century Gothic" pitchFamily="34" charset="0"/>
              </a:rPr>
              <a:t>A new species of sea crab has been discovered, and an experiment conducted to determine whether or not the animal can regulate its temperature. If the animal can maintain a body temperature different from the surroundings, this would be considered evidence of regulating capability. Ten of these sea crabs were exposed to ambient temperatures of 24 degrees Celsius. Their body temperatures were measured with the results below:</a:t>
            </a:r>
          </a:p>
          <a:p>
            <a:pPr marL="0" indent="0" algn="just">
              <a:spcBef>
                <a:spcPct val="0"/>
              </a:spcBef>
              <a:spcAft>
                <a:spcPts val="1200"/>
              </a:spcAft>
              <a:buNone/>
            </a:pPr>
            <a:r>
              <a:rPr lang="en-US" sz="2000" b="1" dirty="0">
                <a:latin typeface="Century Gothic" pitchFamily="34" charset="0"/>
              </a:rPr>
              <a:t>     24.33, 24.61, 24.67, 24.64, 24.42, 24.97, 25.23, 24.73, 24.90, 24.44</a:t>
            </a:r>
          </a:p>
          <a:p>
            <a:pPr marL="0" indent="0" algn="just">
              <a:spcBef>
                <a:spcPct val="0"/>
              </a:spcBef>
              <a:spcAft>
                <a:spcPts val="1200"/>
              </a:spcAft>
              <a:buNone/>
            </a:pPr>
            <a:r>
              <a:rPr lang="en-US" sz="2000" dirty="0">
                <a:latin typeface="Century Gothic" pitchFamily="34" charset="0"/>
              </a:rPr>
              <a:t>For purposes of this example, assume that it is reasonable to regard</a:t>
            </a:r>
          </a:p>
          <a:p>
            <a:pPr marL="0" indent="0" algn="just">
              <a:spcBef>
                <a:spcPct val="0"/>
              </a:spcBef>
              <a:spcAft>
                <a:spcPts val="1200"/>
              </a:spcAft>
              <a:buNone/>
            </a:pPr>
            <a:r>
              <a:rPr lang="en-US" sz="2000" dirty="0">
                <a:latin typeface="Century Gothic" pitchFamily="34" charset="0"/>
              </a:rPr>
              <a:t>these 10 crabs as a random sample from the population of all crabs</a:t>
            </a:r>
          </a:p>
          <a:p>
            <a:pPr marL="0" indent="0" algn="just">
              <a:spcBef>
                <a:spcPct val="0"/>
              </a:spcBef>
              <a:spcAft>
                <a:spcPts val="1200"/>
              </a:spcAft>
              <a:buNone/>
            </a:pPr>
            <a:r>
              <a:rPr lang="en-US" sz="2000" dirty="0">
                <a:latin typeface="Century Gothic" pitchFamily="34" charset="0"/>
              </a:rPr>
              <a:t>of this species.</a:t>
            </a:r>
          </a:p>
          <a:p>
            <a:pPr marL="0" indent="0" algn="just">
              <a:spcBef>
                <a:spcPct val="0"/>
              </a:spcBef>
              <a:spcAft>
                <a:spcPts val="1200"/>
              </a:spcAft>
              <a:buNone/>
            </a:pPr>
            <a:r>
              <a:rPr lang="en-US" sz="2000" dirty="0">
                <a:latin typeface="Century Gothic" pitchFamily="34" charset="0"/>
              </a:rPr>
              <a:t>a) Calculate a point estimate of the population mean, μ </a:t>
            </a:r>
          </a:p>
          <a:p>
            <a:pPr marL="0" indent="0" algn="just">
              <a:spcBef>
                <a:spcPct val="0"/>
              </a:spcBef>
              <a:spcAft>
                <a:spcPts val="1200"/>
              </a:spcAft>
              <a:buNone/>
            </a:pPr>
            <a:r>
              <a:rPr lang="en-US" sz="2000" dirty="0">
                <a:latin typeface="Century Gothic" pitchFamily="34" charset="0"/>
              </a:rPr>
              <a:t>b) Construct and interpret a 99% confidence interval for μ.</a:t>
            </a:r>
          </a:p>
          <a:p>
            <a:pPr marL="0" indent="0" algn="just">
              <a:spcBef>
                <a:spcPct val="0"/>
              </a:spcBef>
              <a:spcAft>
                <a:spcPts val="1200"/>
              </a:spcAft>
              <a:buNone/>
            </a:pPr>
            <a:r>
              <a:rPr lang="en-US" sz="2000" dirty="0">
                <a:latin typeface="Century Gothic" pitchFamily="34" charset="0"/>
              </a:rPr>
              <a:t> </a:t>
            </a:r>
          </a:p>
          <a:p>
            <a:pPr marL="0" indent="0" algn="just">
              <a:spcBef>
                <a:spcPct val="0"/>
              </a:spcBef>
              <a:spcAft>
                <a:spcPts val="1200"/>
              </a:spcAft>
            </a:pPr>
            <a:endParaRPr lang="en-US" sz="2000" dirty="0">
              <a:latin typeface="Century Gothic" pitchFamily="34" charset="0"/>
            </a:endParaRPr>
          </a:p>
        </p:txBody>
      </p:sp>
      <p:sp>
        <p:nvSpPr>
          <p:cNvPr id="65539" name="Slide Number Placeholder 3"/>
          <p:cNvSpPr txBox="1">
            <a:spLocks/>
          </p:cNvSpPr>
          <p:nvPr/>
        </p:nvSpPr>
        <p:spPr bwMode="auto">
          <a:xfrm>
            <a:off x="5519739" y="6519864"/>
            <a:ext cx="1258887" cy="365125"/>
          </a:xfrm>
          <a:prstGeom prst="rect">
            <a:avLst/>
          </a:prstGeom>
          <a:noFill/>
          <a:ln w="9525">
            <a:noFill/>
            <a:miter lim="800000"/>
            <a:headEnd/>
            <a:tailEnd/>
          </a:ln>
        </p:spPr>
        <p:txBody>
          <a:bodyPr anchor="ctr"/>
          <a:lstStyle/>
          <a:p>
            <a:pPr algn="ctr" eaLnBrk="1" hangingPunct="1"/>
            <a:fld id="{4051B163-24E4-4375-BED5-541DE7529255}" type="slidenum">
              <a:rPr lang="en-US" sz="1200">
                <a:solidFill>
                  <a:schemeClr val="bg1"/>
                </a:solidFill>
                <a:cs typeface="Arial" pitchFamily="34" charset="0"/>
              </a:rPr>
              <a:pPr algn="ctr" eaLnBrk="1" hangingPunct="1"/>
              <a:t>37</a:t>
            </a:fld>
            <a:endParaRPr lang="en-US" sz="1200">
              <a:solidFill>
                <a:schemeClr val="bg1"/>
              </a:solidFill>
              <a:cs typeface="Arial"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a:xfrm>
            <a:off x="3719514" y="115889"/>
            <a:ext cx="6130925" cy="706437"/>
          </a:xfrm>
        </p:spPr>
        <p:txBody>
          <a:bodyPr/>
          <a:lstStyle/>
          <a:p>
            <a:r>
              <a:rPr lang="en-US" sz="3600" b="1">
                <a:solidFill>
                  <a:srgbClr val="FF0000"/>
                </a:solidFill>
                <a:latin typeface="Century Gothic" pitchFamily="34" charset="0"/>
              </a:rPr>
              <a:t>Exercise # 3</a:t>
            </a:r>
          </a:p>
        </p:txBody>
      </p:sp>
      <p:sp>
        <p:nvSpPr>
          <p:cNvPr id="68610" name="Content Placeholder 2"/>
          <p:cNvSpPr>
            <a:spLocks noGrp="1"/>
          </p:cNvSpPr>
          <p:nvPr>
            <p:ph idx="1"/>
          </p:nvPr>
        </p:nvSpPr>
        <p:spPr>
          <a:xfrm>
            <a:off x="1774826" y="1196975"/>
            <a:ext cx="8569325" cy="5111750"/>
          </a:xfrm>
        </p:spPr>
        <p:txBody>
          <a:bodyPr/>
          <a:lstStyle/>
          <a:p>
            <a:pPr marL="0" indent="0" algn="just">
              <a:spcBef>
                <a:spcPct val="0"/>
              </a:spcBef>
              <a:spcAft>
                <a:spcPts val="1200"/>
              </a:spcAft>
              <a:buNone/>
            </a:pPr>
            <a:r>
              <a:rPr lang="en-US" sz="1800" dirty="0">
                <a:latin typeface="Century Gothic" pitchFamily="34" charset="0"/>
              </a:rPr>
              <a:t>Logging activity in forests is thought to affect the behavior of black bears (</a:t>
            </a:r>
            <a:r>
              <a:rPr lang="en-US" sz="1800" i="1" dirty="0" err="1">
                <a:latin typeface="Century Gothic" pitchFamily="34" charset="0"/>
              </a:rPr>
              <a:t>Ursus</a:t>
            </a:r>
            <a:r>
              <a:rPr lang="en-US" sz="1800" i="1" dirty="0">
                <a:latin typeface="Century Gothic" pitchFamily="34" charset="0"/>
              </a:rPr>
              <a:t> </a:t>
            </a:r>
            <a:r>
              <a:rPr lang="en-US" sz="1800" i="1" dirty="0" err="1">
                <a:latin typeface="Century Gothic" pitchFamily="34" charset="0"/>
              </a:rPr>
              <a:t>americanus</a:t>
            </a:r>
            <a:r>
              <a:rPr lang="en-US" sz="1800" dirty="0">
                <a:latin typeface="Century Gothic" pitchFamily="34" charset="0"/>
              </a:rPr>
              <a:t>).  An important measure of animal behavior is the home range, the area used by animals in their lives.  In a study of black bears in a logged Canadian forest, the spring and early summer home range (in) of 12 radio-collared female black bears was measured with the following results:</a:t>
            </a:r>
          </a:p>
          <a:p>
            <a:pPr marL="0" indent="0" algn="just">
              <a:spcBef>
                <a:spcPct val="0"/>
              </a:spcBef>
              <a:spcAft>
                <a:spcPts val="1200"/>
              </a:spcAft>
              <a:buNone/>
            </a:pPr>
            <a:r>
              <a:rPr lang="en-US" sz="1800" dirty="0">
                <a:latin typeface="Century Gothic" pitchFamily="34" charset="0"/>
              </a:rPr>
              <a:t>     </a:t>
            </a:r>
            <a:r>
              <a:rPr lang="en-US" sz="1800" b="1" dirty="0">
                <a:latin typeface="Century Gothic" pitchFamily="34" charset="0"/>
              </a:rPr>
              <a:t>39.9,  23.5,  42.1,  29.4,  34.4,  40.9,  27.9,  22.3,  13.0,  20.1,  13.3,  8.6</a:t>
            </a:r>
          </a:p>
          <a:p>
            <a:pPr marL="0" indent="0" algn="just">
              <a:spcBef>
                <a:spcPct val="0"/>
              </a:spcBef>
              <a:spcAft>
                <a:spcPts val="1200"/>
              </a:spcAft>
              <a:buNone/>
            </a:pPr>
            <a:endParaRPr lang="en-US" sz="1800" dirty="0">
              <a:latin typeface="Century Gothic" pitchFamily="34" charset="0"/>
            </a:endParaRPr>
          </a:p>
          <a:p>
            <a:pPr marL="344488" indent="-344488" algn="just">
              <a:spcBef>
                <a:spcPct val="0"/>
              </a:spcBef>
              <a:spcAft>
                <a:spcPts val="1200"/>
              </a:spcAft>
              <a:buNone/>
            </a:pPr>
            <a:r>
              <a:rPr lang="en-US" sz="1800" dirty="0">
                <a:latin typeface="Century Gothic" pitchFamily="34" charset="0"/>
              </a:rPr>
              <a:t>a) Construct and interpret a 95% confidence interval for the mean home range of female black bears in this logged forest.</a:t>
            </a:r>
          </a:p>
          <a:p>
            <a:pPr marL="284163" indent="-284163" algn="just">
              <a:spcBef>
                <a:spcPct val="0"/>
              </a:spcBef>
              <a:spcAft>
                <a:spcPts val="1200"/>
              </a:spcAft>
              <a:buNone/>
            </a:pPr>
            <a:r>
              <a:rPr lang="en-US" sz="1800" dirty="0">
                <a:latin typeface="Century Gothic" pitchFamily="34" charset="0"/>
              </a:rPr>
              <a:t>b) The typical home range of females in forests with no logging is 20.  Based on the confidence interval from part (a), do you think that the mean home range size of females in this logged forest could be the same as the mean home range size in non-logged forests?  Explain, using appropriate statistical terminology.</a:t>
            </a:r>
          </a:p>
          <a:p>
            <a:pPr marL="0" indent="0" algn="just">
              <a:spcBef>
                <a:spcPct val="0"/>
              </a:spcBef>
              <a:spcAft>
                <a:spcPts val="1200"/>
              </a:spcAft>
            </a:pPr>
            <a:endParaRPr lang="en-US" sz="1800" dirty="0">
              <a:latin typeface="Century Gothic" pitchFamily="34" charset="0"/>
            </a:endParaRPr>
          </a:p>
          <a:p>
            <a:pPr marL="0" indent="0" algn="just">
              <a:spcBef>
                <a:spcPct val="0"/>
              </a:spcBef>
              <a:spcAft>
                <a:spcPts val="1200"/>
              </a:spcAft>
              <a:buNone/>
            </a:pPr>
            <a:r>
              <a:rPr lang="en-US" sz="1800" dirty="0">
                <a:latin typeface="Century Gothic" pitchFamily="34" charset="0"/>
              </a:rPr>
              <a:t> </a:t>
            </a:r>
          </a:p>
          <a:p>
            <a:pPr marL="0" indent="0" algn="just">
              <a:spcBef>
                <a:spcPct val="0"/>
              </a:spcBef>
              <a:spcAft>
                <a:spcPts val="1200"/>
              </a:spcAft>
              <a:buNone/>
            </a:pPr>
            <a:r>
              <a:rPr lang="en-US" sz="1800" dirty="0">
                <a:latin typeface="Century Gothic" pitchFamily="34" charset="0"/>
              </a:rPr>
              <a:t> </a:t>
            </a:r>
          </a:p>
          <a:p>
            <a:pPr marL="0" indent="0" algn="just">
              <a:spcBef>
                <a:spcPct val="0"/>
              </a:spcBef>
              <a:spcAft>
                <a:spcPts val="1200"/>
              </a:spcAft>
            </a:pPr>
            <a:endParaRPr lang="en-US" sz="1800" dirty="0">
              <a:latin typeface="Century Gothic" pitchFamily="34" charset="0"/>
            </a:endParaRPr>
          </a:p>
        </p:txBody>
      </p:sp>
      <p:sp>
        <p:nvSpPr>
          <p:cNvPr id="68611" name="Slide Number Placeholder 3"/>
          <p:cNvSpPr>
            <a:spLocks noGrp="1"/>
          </p:cNvSpPr>
          <p:nvPr>
            <p:ph type="sldNum" sz="quarter" idx="12"/>
          </p:nvPr>
        </p:nvSpPr>
        <p:spPr bwMode="auto">
          <a:xfrm>
            <a:off x="5880100" y="6492876"/>
            <a:ext cx="477838" cy="365125"/>
          </a:xfrm>
          <a:noFill/>
          <a:ln>
            <a:miter lim="800000"/>
            <a:headEnd/>
            <a:tailEnd/>
          </a:ln>
        </p:spPr>
        <p:txBody>
          <a:bodyPr/>
          <a:lstStyle/>
          <a:p>
            <a:pPr algn="ctr"/>
            <a:fld id="{60814A6B-F7F4-449C-B289-9A2196F6C9A7}" type="slidenum">
              <a:rPr lang="en-US">
                <a:solidFill>
                  <a:schemeClr val="bg1"/>
                </a:solidFill>
              </a:rPr>
              <a:pPr algn="ctr"/>
              <a:t>38</a:t>
            </a:fld>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502</TotalTime>
  <Words>2223</Words>
  <Application>Microsoft Office PowerPoint</Application>
  <PresentationFormat>Widescreen</PresentationFormat>
  <Paragraphs>240</Paragraphs>
  <Slides>38</Slides>
  <Notes>15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51" baseType="lpstr">
      <vt:lpstr>ＭＳ Ｐゴシック</vt:lpstr>
      <vt:lpstr>Arial</vt:lpstr>
      <vt:lpstr>Arial Rounded MT Bold</vt:lpstr>
      <vt:lpstr>Calibri</vt:lpstr>
      <vt:lpstr>Century Gothic</vt:lpstr>
      <vt:lpstr>Comic Sans MS</vt:lpstr>
      <vt:lpstr>Poppins</vt:lpstr>
      <vt:lpstr>Symbol</vt:lpstr>
      <vt:lpstr>Tahoma</vt:lpstr>
      <vt:lpstr>Times New Roman</vt:lpstr>
      <vt:lpstr>Wingdings</vt:lpstr>
      <vt:lpstr>Office Theme</vt:lpstr>
      <vt:lpstr>Equation</vt:lpstr>
      <vt:lpstr>PowerPoint Presentation</vt:lpstr>
      <vt:lpstr>Preview</vt:lpstr>
      <vt:lpstr>PowerPoint Presentation</vt:lpstr>
      <vt:lpstr>Point Estimate</vt:lpstr>
      <vt:lpstr>Interval Estimate</vt:lpstr>
      <vt:lpstr>Point Estimate vs Interval Estimate</vt:lpstr>
      <vt:lpstr>PowerPoint Presentation</vt:lpstr>
      <vt:lpstr>Point Estimation</vt:lpstr>
      <vt:lpstr>Properties of Point Estimators</vt:lpstr>
      <vt:lpstr>PowerPoint Presentation</vt:lpstr>
      <vt:lpstr>PowerPoint Presentation</vt:lpstr>
      <vt:lpstr>Interval Estimation</vt:lpstr>
      <vt:lpstr>Confidence Interval (CI)</vt:lpstr>
      <vt:lpstr>PowerPoint Presentation</vt:lpstr>
      <vt:lpstr>The Sampling Distribution of the Sample Proportion</vt:lpstr>
      <vt:lpstr>Margin of Error</vt:lpstr>
      <vt:lpstr>PowerPoint Presentation</vt:lpstr>
      <vt:lpstr>The General Properties for Sampling Distributions of p</vt:lpstr>
      <vt:lpstr>The Large-Sample Confidence Interval for p</vt:lpstr>
      <vt:lpstr>Three Commonly Used Confidence Levels </vt:lpstr>
      <vt:lpstr>Four Commonly Used  Confidence Levels</vt:lpstr>
      <vt:lpstr>Example #1</vt:lpstr>
      <vt:lpstr>Solution</vt:lpstr>
      <vt:lpstr>Solution</vt:lpstr>
      <vt:lpstr>Example # 2</vt:lpstr>
      <vt:lpstr>Solution</vt:lpstr>
      <vt:lpstr>Exercise # 1</vt:lpstr>
      <vt:lpstr>PowerPoint Presentation</vt:lpstr>
      <vt:lpstr>Confidence Interval for mean  when  is known</vt:lpstr>
      <vt:lpstr>Example</vt:lpstr>
      <vt:lpstr>Solution</vt:lpstr>
      <vt:lpstr>PowerPoint Presentation</vt:lpstr>
      <vt:lpstr>Confidence Interval for   when  is unknown</vt:lpstr>
      <vt:lpstr>One-sample t confidence interval for </vt:lpstr>
      <vt:lpstr>Example</vt:lpstr>
      <vt:lpstr>Solution</vt:lpstr>
      <vt:lpstr>Exercise # 2</vt:lpstr>
      <vt:lpstr>Exercise #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feddy</dc:creator>
  <cp:lastModifiedBy>SEAH CHOON SEN 17182</cp:lastModifiedBy>
  <cp:revision>51</cp:revision>
  <dcterms:created xsi:type="dcterms:W3CDTF">2013-09-06T00:21:50Z</dcterms:created>
  <dcterms:modified xsi:type="dcterms:W3CDTF">2026-03-27T10:44:15Z</dcterms:modified>
</cp:coreProperties>
</file>