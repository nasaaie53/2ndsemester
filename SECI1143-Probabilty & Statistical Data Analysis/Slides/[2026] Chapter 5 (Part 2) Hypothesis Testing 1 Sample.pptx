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handoutMasterIdLst>
    <p:handoutMasterId r:id="rId70"/>
  </p:handoutMasterIdLst>
  <p:sldIdLst>
    <p:sldId id="550" r:id="rId2"/>
    <p:sldId id="441" r:id="rId3"/>
    <p:sldId id="544" r:id="rId4"/>
    <p:sldId id="545" r:id="rId5"/>
    <p:sldId id="443" r:id="rId6"/>
    <p:sldId id="444" r:id="rId7"/>
    <p:sldId id="445" r:id="rId8"/>
    <p:sldId id="446" r:id="rId9"/>
    <p:sldId id="447" r:id="rId10"/>
    <p:sldId id="519" r:id="rId11"/>
    <p:sldId id="520" r:id="rId12"/>
    <p:sldId id="521" r:id="rId13"/>
    <p:sldId id="522" r:id="rId14"/>
    <p:sldId id="449" r:id="rId15"/>
    <p:sldId id="450" r:id="rId16"/>
    <p:sldId id="451" r:id="rId17"/>
    <p:sldId id="452" r:id="rId18"/>
    <p:sldId id="453" r:id="rId19"/>
    <p:sldId id="546" r:id="rId20"/>
    <p:sldId id="518" r:id="rId21"/>
    <p:sldId id="455" r:id="rId22"/>
    <p:sldId id="456" r:id="rId23"/>
    <p:sldId id="457" r:id="rId24"/>
    <p:sldId id="547" r:id="rId25"/>
    <p:sldId id="516" r:id="rId26"/>
    <p:sldId id="548" r:id="rId27"/>
    <p:sldId id="524" r:id="rId28"/>
    <p:sldId id="526" r:id="rId29"/>
    <p:sldId id="527" r:id="rId30"/>
    <p:sldId id="458" r:id="rId31"/>
    <p:sldId id="528" r:id="rId32"/>
    <p:sldId id="465" r:id="rId33"/>
    <p:sldId id="466" r:id="rId34"/>
    <p:sldId id="467" r:id="rId35"/>
    <p:sldId id="468" r:id="rId36"/>
    <p:sldId id="476" r:id="rId37"/>
    <p:sldId id="477" r:id="rId38"/>
    <p:sldId id="537" r:id="rId39"/>
    <p:sldId id="478" r:id="rId40"/>
    <p:sldId id="479" r:id="rId41"/>
    <p:sldId id="480" r:id="rId42"/>
    <p:sldId id="481" r:id="rId43"/>
    <p:sldId id="515" r:id="rId44"/>
    <p:sldId id="549" r:id="rId45"/>
    <p:sldId id="543" r:id="rId46"/>
    <p:sldId id="484" r:id="rId47"/>
    <p:sldId id="538" r:id="rId48"/>
    <p:sldId id="485" r:id="rId49"/>
    <p:sldId id="487" r:id="rId50"/>
    <p:sldId id="488" r:id="rId51"/>
    <p:sldId id="489" r:id="rId52"/>
    <p:sldId id="490" r:id="rId53"/>
    <p:sldId id="491" r:id="rId54"/>
    <p:sldId id="541" r:id="rId55"/>
    <p:sldId id="494" r:id="rId56"/>
    <p:sldId id="495" r:id="rId57"/>
    <p:sldId id="496" r:id="rId58"/>
    <p:sldId id="498" r:id="rId59"/>
    <p:sldId id="501" r:id="rId60"/>
    <p:sldId id="542" r:id="rId61"/>
    <p:sldId id="504" r:id="rId62"/>
    <p:sldId id="506" r:id="rId63"/>
    <p:sldId id="507" r:id="rId64"/>
    <p:sldId id="508" r:id="rId65"/>
    <p:sldId id="532" r:id="rId66"/>
    <p:sldId id="510" r:id="rId67"/>
    <p:sldId id="512" r:id="rId68"/>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65"/>
  </p:normalViewPr>
  <p:slideViewPr>
    <p:cSldViewPr>
      <p:cViewPr varScale="1">
        <p:scale>
          <a:sx n="69" d="100"/>
          <a:sy n="69" d="100"/>
        </p:scale>
        <p:origin x="468" y="56"/>
      </p:cViewPr>
      <p:guideLst>
        <p:guide orient="horz" pos="2160"/>
        <p:guide pos="3840"/>
      </p:guideLst>
    </p:cSldViewPr>
  </p:slideViewPr>
  <p:outlineViewPr>
    <p:cViewPr>
      <p:scale>
        <a:sx n="33" d="100"/>
        <a:sy n="33" d="100"/>
      </p:scale>
      <p:origin x="0" y="-151384"/>
    </p:cViewPr>
  </p:outlineViewPr>
  <p:notesTextViewPr>
    <p:cViewPr>
      <p:scale>
        <a:sx n="1" d="1"/>
        <a:sy n="1" d="1"/>
      </p:scale>
      <p:origin x="0" y="0"/>
    </p:cViewPr>
  </p:notesTextViewPr>
  <p:sorterViewPr>
    <p:cViewPr>
      <p:scale>
        <a:sx n="1" d="1"/>
        <a:sy n="1" d="1"/>
      </p:scale>
      <p:origin x="0" y="468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diagrams/_rels/data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image" Target="../media/image26.jpeg"/></Relationships>
</file>

<file path=ppt/diagrams/_rels/data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image" Target="../media/image26.jpeg"/></Relationships>
</file>

<file path=ppt/diagrams/_rels/data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image" Target="../media/image26.jpeg"/></Relationships>
</file>

<file path=ppt/diagrams/_rels/data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image" Target="../media/image26.jpeg"/></Relationships>
</file>

<file path=ppt/diagrams/_rels/drawing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image" Target="../media/image26.jpeg"/></Relationships>
</file>

<file path=ppt/diagrams/_rels/drawing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image" Target="../media/image26.jpeg"/></Relationships>
</file>

<file path=ppt/diagrams/_rels/drawing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image" Target="../media/image26.jpeg"/></Relationships>
</file>

<file path=ppt/diagrams/_rels/drawing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image" Target="../media/image26.jpe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4343F7-A4FE-1240-A441-A200FDC0F52B}" type="doc">
      <dgm:prSet loTypeId="urn:microsoft.com/office/officeart/2005/8/layout/orgChart1" loCatId="hierarchy" qsTypeId="urn:microsoft.com/office/officeart/2005/8/quickstyle/simple1" qsCatId="simple" csTypeId="urn:microsoft.com/office/officeart/2005/8/colors/colorful4" csCatId="colorful"/>
      <dgm:spPr/>
      <dgm:t>
        <a:bodyPr/>
        <a:lstStyle/>
        <a:p>
          <a:endParaRPr lang="en-GB"/>
        </a:p>
      </dgm:t>
    </dgm:pt>
    <dgm:pt modelId="{241831C9-38AE-F947-883F-951A6228C4E8}">
      <dgm:prSet/>
      <dgm:spPr/>
      <dgm:t>
        <a:bodyPr/>
        <a:lstStyle/>
        <a:p>
          <a:r>
            <a:rPr lang="en-US" i="1"/>
            <a:t>P</a:t>
          </a:r>
          <a:r>
            <a:rPr lang="en-US"/>
            <a:t>-value method</a:t>
          </a:r>
          <a:endParaRPr lang="en-MY"/>
        </a:p>
      </dgm:t>
    </dgm:pt>
    <dgm:pt modelId="{C604D6C5-7A06-D041-B446-A51DAC25E424}" type="parTrans" cxnId="{E1AE0747-AF8A-3945-9CBA-A78DF7F1C34D}">
      <dgm:prSet/>
      <dgm:spPr/>
      <dgm:t>
        <a:bodyPr/>
        <a:lstStyle/>
        <a:p>
          <a:endParaRPr lang="en-GB"/>
        </a:p>
      </dgm:t>
    </dgm:pt>
    <dgm:pt modelId="{F179AA0B-BB49-EC45-875F-3AF887AAFB25}" type="sibTrans" cxnId="{E1AE0747-AF8A-3945-9CBA-A78DF7F1C34D}">
      <dgm:prSet/>
      <dgm:spPr/>
      <dgm:t>
        <a:bodyPr/>
        <a:lstStyle/>
        <a:p>
          <a:endParaRPr lang="en-GB"/>
        </a:p>
      </dgm:t>
    </dgm:pt>
    <dgm:pt modelId="{49A4D8E3-60FB-4E45-B34C-81E50F39FD75}">
      <dgm:prSet/>
      <dgm:spPr/>
      <dgm:t>
        <a:bodyPr/>
        <a:lstStyle/>
        <a:p>
          <a:r>
            <a:rPr lang="en-US"/>
            <a:t>Critical Region method</a:t>
          </a:r>
          <a:endParaRPr lang="en-MY"/>
        </a:p>
      </dgm:t>
    </dgm:pt>
    <dgm:pt modelId="{1CF918BC-DEB9-E64C-8C29-438116C64D3C}" type="parTrans" cxnId="{F502B7FF-711E-5746-9FD7-D84CF5E50141}">
      <dgm:prSet/>
      <dgm:spPr/>
      <dgm:t>
        <a:bodyPr/>
        <a:lstStyle/>
        <a:p>
          <a:endParaRPr lang="en-GB"/>
        </a:p>
      </dgm:t>
    </dgm:pt>
    <dgm:pt modelId="{B89AA197-8BC0-B949-B0EC-BA723145F94C}" type="sibTrans" cxnId="{F502B7FF-711E-5746-9FD7-D84CF5E50141}">
      <dgm:prSet/>
      <dgm:spPr/>
      <dgm:t>
        <a:bodyPr/>
        <a:lstStyle/>
        <a:p>
          <a:endParaRPr lang="en-GB"/>
        </a:p>
      </dgm:t>
    </dgm:pt>
    <dgm:pt modelId="{2A85EB10-C531-0B47-A884-E8FF8F0F315A}" type="pres">
      <dgm:prSet presAssocID="{4C4343F7-A4FE-1240-A441-A200FDC0F52B}" presName="hierChild1" presStyleCnt="0">
        <dgm:presLayoutVars>
          <dgm:orgChart val="1"/>
          <dgm:chPref val="1"/>
          <dgm:dir/>
          <dgm:animOne val="branch"/>
          <dgm:animLvl val="lvl"/>
          <dgm:resizeHandles/>
        </dgm:presLayoutVars>
      </dgm:prSet>
      <dgm:spPr/>
    </dgm:pt>
    <dgm:pt modelId="{43D5DCF5-AE8E-984C-BD02-3F4BA71C8680}" type="pres">
      <dgm:prSet presAssocID="{241831C9-38AE-F947-883F-951A6228C4E8}" presName="hierRoot1" presStyleCnt="0">
        <dgm:presLayoutVars>
          <dgm:hierBranch val="init"/>
        </dgm:presLayoutVars>
      </dgm:prSet>
      <dgm:spPr/>
    </dgm:pt>
    <dgm:pt modelId="{CE81E4D6-DB89-3C45-BAC8-D7EDCAEE4716}" type="pres">
      <dgm:prSet presAssocID="{241831C9-38AE-F947-883F-951A6228C4E8}" presName="rootComposite1" presStyleCnt="0"/>
      <dgm:spPr/>
    </dgm:pt>
    <dgm:pt modelId="{CF681314-B32B-AA42-9757-1C3305E760DD}" type="pres">
      <dgm:prSet presAssocID="{241831C9-38AE-F947-883F-951A6228C4E8}" presName="rootText1" presStyleLbl="node0" presStyleIdx="0" presStyleCnt="2">
        <dgm:presLayoutVars>
          <dgm:chPref val="3"/>
        </dgm:presLayoutVars>
      </dgm:prSet>
      <dgm:spPr/>
    </dgm:pt>
    <dgm:pt modelId="{DEB626A3-FCA5-A945-99FE-4EA1A3C2A42F}" type="pres">
      <dgm:prSet presAssocID="{241831C9-38AE-F947-883F-951A6228C4E8}" presName="rootConnector1" presStyleLbl="node1" presStyleIdx="0" presStyleCnt="0"/>
      <dgm:spPr/>
    </dgm:pt>
    <dgm:pt modelId="{A8A8E44F-054E-4048-960E-308F0C354039}" type="pres">
      <dgm:prSet presAssocID="{241831C9-38AE-F947-883F-951A6228C4E8}" presName="hierChild2" presStyleCnt="0"/>
      <dgm:spPr/>
    </dgm:pt>
    <dgm:pt modelId="{F75D6391-8209-AA40-8637-D30EF2152989}" type="pres">
      <dgm:prSet presAssocID="{241831C9-38AE-F947-883F-951A6228C4E8}" presName="hierChild3" presStyleCnt="0"/>
      <dgm:spPr/>
    </dgm:pt>
    <dgm:pt modelId="{7BD16242-0811-BF42-8CA1-D8E23B8184CD}" type="pres">
      <dgm:prSet presAssocID="{49A4D8E3-60FB-4E45-B34C-81E50F39FD75}" presName="hierRoot1" presStyleCnt="0">
        <dgm:presLayoutVars>
          <dgm:hierBranch val="init"/>
        </dgm:presLayoutVars>
      </dgm:prSet>
      <dgm:spPr/>
    </dgm:pt>
    <dgm:pt modelId="{3206DA5B-85B1-EC43-87FE-A2CE8FF5F354}" type="pres">
      <dgm:prSet presAssocID="{49A4D8E3-60FB-4E45-B34C-81E50F39FD75}" presName="rootComposite1" presStyleCnt="0"/>
      <dgm:spPr/>
    </dgm:pt>
    <dgm:pt modelId="{458EB371-07F6-0741-A94B-4A5674D20EFB}" type="pres">
      <dgm:prSet presAssocID="{49A4D8E3-60FB-4E45-B34C-81E50F39FD75}" presName="rootText1" presStyleLbl="node0" presStyleIdx="1" presStyleCnt="2">
        <dgm:presLayoutVars>
          <dgm:chPref val="3"/>
        </dgm:presLayoutVars>
      </dgm:prSet>
      <dgm:spPr/>
    </dgm:pt>
    <dgm:pt modelId="{8F2DA7D1-D50A-9041-8480-AAF41D70891F}" type="pres">
      <dgm:prSet presAssocID="{49A4D8E3-60FB-4E45-B34C-81E50F39FD75}" presName="rootConnector1" presStyleLbl="node1" presStyleIdx="0" presStyleCnt="0"/>
      <dgm:spPr/>
    </dgm:pt>
    <dgm:pt modelId="{DDB18530-47D6-6748-A942-8E74C097D08A}" type="pres">
      <dgm:prSet presAssocID="{49A4D8E3-60FB-4E45-B34C-81E50F39FD75}" presName="hierChild2" presStyleCnt="0"/>
      <dgm:spPr/>
    </dgm:pt>
    <dgm:pt modelId="{BE64E6B5-CCAD-004F-8CE6-FC5B41D43F34}" type="pres">
      <dgm:prSet presAssocID="{49A4D8E3-60FB-4E45-B34C-81E50F39FD75}" presName="hierChild3" presStyleCnt="0"/>
      <dgm:spPr/>
    </dgm:pt>
  </dgm:ptLst>
  <dgm:cxnLst>
    <dgm:cxn modelId="{8CCE9503-DCF8-D945-882C-521E918A84E9}" type="presOf" srcId="{49A4D8E3-60FB-4E45-B34C-81E50F39FD75}" destId="{458EB371-07F6-0741-A94B-4A5674D20EFB}" srcOrd="0" destOrd="0" presId="urn:microsoft.com/office/officeart/2005/8/layout/orgChart1"/>
    <dgm:cxn modelId="{B8B86826-6CE8-F547-86DC-1920BF64CB33}" type="presOf" srcId="{49A4D8E3-60FB-4E45-B34C-81E50F39FD75}" destId="{8F2DA7D1-D50A-9041-8480-AAF41D70891F}" srcOrd="1" destOrd="0" presId="urn:microsoft.com/office/officeart/2005/8/layout/orgChart1"/>
    <dgm:cxn modelId="{E1AE0747-AF8A-3945-9CBA-A78DF7F1C34D}" srcId="{4C4343F7-A4FE-1240-A441-A200FDC0F52B}" destId="{241831C9-38AE-F947-883F-951A6228C4E8}" srcOrd="0" destOrd="0" parTransId="{C604D6C5-7A06-D041-B446-A51DAC25E424}" sibTransId="{F179AA0B-BB49-EC45-875F-3AF887AAFB25}"/>
    <dgm:cxn modelId="{05FF108A-2EEB-2E49-9EA1-79B93C849F56}" type="presOf" srcId="{4C4343F7-A4FE-1240-A441-A200FDC0F52B}" destId="{2A85EB10-C531-0B47-A884-E8FF8F0F315A}" srcOrd="0" destOrd="0" presId="urn:microsoft.com/office/officeart/2005/8/layout/orgChart1"/>
    <dgm:cxn modelId="{52355890-2C5E-074C-91BC-5857FD3E51A4}" type="presOf" srcId="{241831C9-38AE-F947-883F-951A6228C4E8}" destId="{CF681314-B32B-AA42-9757-1C3305E760DD}" srcOrd="0" destOrd="0" presId="urn:microsoft.com/office/officeart/2005/8/layout/orgChart1"/>
    <dgm:cxn modelId="{0A9612C8-456F-B24E-A2A8-E10409FEEAF8}" type="presOf" srcId="{241831C9-38AE-F947-883F-951A6228C4E8}" destId="{DEB626A3-FCA5-A945-99FE-4EA1A3C2A42F}" srcOrd="1" destOrd="0" presId="urn:microsoft.com/office/officeart/2005/8/layout/orgChart1"/>
    <dgm:cxn modelId="{F502B7FF-711E-5746-9FD7-D84CF5E50141}" srcId="{4C4343F7-A4FE-1240-A441-A200FDC0F52B}" destId="{49A4D8E3-60FB-4E45-B34C-81E50F39FD75}" srcOrd="1" destOrd="0" parTransId="{1CF918BC-DEB9-E64C-8C29-438116C64D3C}" sibTransId="{B89AA197-8BC0-B949-B0EC-BA723145F94C}"/>
    <dgm:cxn modelId="{280F5C1C-77B7-5F41-9D80-AC911FC84E9B}" type="presParOf" srcId="{2A85EB10-C531-0B47-A884-E8FF8F0F315A}" destId="{43D5DCF5-AE8E-984C-BD02-3F4BA71C8680}" srcOrd="0" destOrd="0" presId="urn:microsoft.com/office/officeart/2005/8/layout/orgChart1"/>
    <dgm:cxn modelId="{09B8FEEC-5FB2-AB4A-BFD3-E9FE9685737B}" type="presParOf" srcId="{43D5DCF5-AE8E-984C-BD02-3F4BA71C8680}" destId="{CE81E4D6-DB89-3C45-BAC8-D7EDCAEE4716}" srcOrd="0" destOrd="0" presId="urn:microsoft.com/office/officeart/2005/8/layout/orgChart1"/>
    <dgm:cxn modelId="{4D5347AB-F2C1-0444-AC03-C4A26B9577D0}" type="presParOf" srcId="{CE81E4D6-DB89-3C45-BAC8-D7EDCAEE4716}" destId="{CF681314-B32B-AA42-9757-1C3305E760DD}" srcOrd="0" destOrd="0" presId="urn:microsoft.com/office/officeart/2005/8/layout/orgChart1"/>
    <dgm:cxn modelId="{CD528950-F39A-064F-9FCE-8F90A256B5D2}" type="presParOf" srcId="{CE81E4D6-DB89-3C45-BAC8-D7EDCAEE4716}" destId="{DEB626A3-FCA5-A945-99FE-4EA1A3C2A42F}" srcOrd="1" destOrd="0" presId="urn:microsoft.com/office/officeart/2005/8/layout/orgChart1"/>
    <dgm:cxn modelId="{F3B991B9-1517-4A46-BB0E-9A86878739D2}" type="presParOf" srcId="{43D5DCF5-AE8E-984C-BD02-3F4BA71C8680}" destId="{A8A8E44F-054E-4048-960E-308F0C354039}" srcOrd="1" destOrd="0" presId="urn:microsoft.com/office/officeart/2005/8/layout/orgChart1"/>
    <dgm:cxn modelId="{1AC8D295-9112-EB45-B598-BED356EF1C8D}" type="presParOf" srcId="{43D5DCF5-AE8E-984C-BD02-3F4BA71C8680}" destId="{F75D6391-8209-AA40-8637-D30EF2152989}" srcOrd="2" destOrd="0" presId="urn:microsoft.com/office/officeart/2005/8/layout/orgChart1"/>
    <dgm:cxn modelId="{45BBCE02-9D01-E34A-A212-0DF9A7CDB49B}" type="presParOf" srcId="{2A85EB10-C531-0B47-A884-E8FF8F0F315A}" destId="{7BD16242-0811-BF42-8CA1-D8E23B8184CD}" srcOrd="1" destOrd="0" presId="urn:microsoft.com/office/officeart/2005/8/layout/orgChart1"/>
    <dgm:cxn modelId="{4DF0CBAE-7446-FA4C-8792-26EB310BA211}" type="presParOf" srcId="{7BD16242-0811-BF42-8CA1-D8E23B8184CD}" destId="{3206DA5B-85B1-EC43-87FE-A2CE8FF5F354}" srcOrd="0" destOrd="0" presId="urn:microsoft.com/office/officeart/2005/8/layout/orgChart1"/>
    <dgm:cxn modelId="{E7E2C85F-4472-C54F-9F72-CA22F8236C80}" type="presParOf" srcId="{3206DA5B-85B1-EC43-87FE-A2CE8FF5F354}" destId="{458EB371-07F6-0741-A94B-4A5674D20EFB}" srcOrd="0" destOrd="0" presId="urn:microsoft.com/office/officeart/2005/8/layout/orgChart1"/>
    <dgm:cxn modelId="{31846993-6F8B-574C-A9E9-22A4F2D9119C}" type="presParOf" srcId="{3206DA5B-85B1-EC43-87FE-A2CE8FF5F354}" destId="{8F2DA7D1-D50A-9041-8480-AAF41D70891F}" srcOrd="1" destOrd="0" presId="urn:microsoft.com/office/officeart/2005/8/layout/orgChart1"/>
    <dgm:cxn modelId="{75D59D80-09B7-2F46-9934-6595AA61F301}" type="presParOf" srcId="{7BD16242-0811-BF42-8CA1-D8E23B8184CD}" destId="{DDB18530-47D6-6748-A942-8E74C097D08A}" srcOrd="1" destOrd="0" presId="urn:microsoft.com/office/officeart/2005/8/layout/orgChart1"/>
    <dgm:cxn modelId="{5D1524CB-BA92-9241-BC7F-1AAD7D444F2B}" type="presParOf" srcId="{7BD16242-0811-BF42-8CA1-D8E23B8184CD}" destId="{BE64E6B5-CCAD-004F-8CE6-FC5B41D43F3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5273A1-E5D1-B04E-95BF-659B93F92F7D}" type="doc">
      <dgm:prSet loTypeId="urn:microsoft.com/office/officeart/2005/8/layout/vList3" loCatId="list" qsTypeId="urn:microsoft.com/office/officeart/2005/8/quickstyle/simple1" qsCatId="simple" csTypeId="urn:microsoft.com/office/officeart/2005/8/colors/colorful3" csCatId="colorful" phldr="1"/>
      <dgm:spPr/>
      <dgm:t>
        <a:bodyPr/>
        <a:lstStyle/>
        <a:p>
          <a:endParaRPr lang="en-GB"/>
        </a:p>
      </dgm:t>
    </dgm:pt>
    <dgm:pt modelId="{C7C3A01B-9457-4640-A307-A3FD8BF3FED0}">
      <dgm:prSet/>
      <dgm:spPr/>
      <dgm:t>
        <a:bodyPr/>
        <a:lstStyle/>
        <a:p>
          <a:r>
            <a:rPr lang="en-AU" dirty="0"/>
            <a:t>Test on mean, variance known.</a:t>
          </a:r>
          <a:endParaRPr lang="en-MY" dirty="0"/>
        </a:p>
      </dgm:t>
    </dgm:pt>
    <dgm:pt modelId="{7958EFBD-20ED-A74F-9D1A-52E54FCD226B}" type="parTrans" cxnId="{F4BFFAF2-7E3F-3C4A-AA52-48D73842B0A8}">
      <dgm:prSet/>
      <dgm:spPr/>
      <dgm:t>
        <a:bodyPr/>
        <a:lstStyle/>
        <a:p>
          <a:endParaRPr lang="en-GB"/>
        </a:p>
      </dgm:t>
    </dgm:pt>
    <dgm:pt modelId="{A49045F8-F818-464E-ABE2-FB1E386B86A6}" type="sibTrans" cxnId="{F4BFFAF2-7E3F-3C4A-AA52-48D73842B0A8}">
      <dgm:prSet/>
      <dgm:spPr/>
      <dgm:t>
        <a:bodyPr/>
        <a:lstStyle/>
        <a:p>
          <a:endParaRPr lang="en-GB"/>
        </a:p>
      </dgm:t>
    </dgm:pt>
    <dgm:pt modelId="{037FE542-E8DE-E84C-9FC8-403E364B89A2}">
      <dgm:prSet/>
      <dgm:spPr/>
      <dgm:t>
        <a:bodyPr/>
        <a:lstStyle/>
        <a:p>
          <a:r>
            <a:rPr lang="en-AU"/>
            <a:t>Test on mean, variance unknown.</a:t>
          </a:r>
          <a:endParaRPr lang="en-MY"/>
        </a:p>
      </dgm:t>
    </dgm:pt>
    <dgm:pt modelId="{D9585AFC-8ABF-F944-8B07-C4DCB5D3209C}" type="parTrans" cxnId="{EB7E5B3D-EE02-F74F-AF5C-55997E415AE4}">
      <dgm:prSet/>
      <dgm:spPr/>
      <dgm:t>
        <a:bodyPr/>
        <a:lstStyle/>
        <a:p>
          <a:endParaRPr lang="en-GB"/>
        </a:p>
      </dgm:t>
    </dgm:pt>
    <dgm:pt modelId="{1BB26860-4B8E-3D41-8693-DD57A6D49EEF}" type="sibTrans" cxnId="{EB7E5B3D-EE02-F74F-AF5C-55997E415AE4}">
      <dgm:prSet/>
      <dgm:spPr/>
      <dgm:t>
        <a:bodyPr/>
        <a:lstStyle/>
        <a:p>
          <a:endParaRPr lang="en-GB"/>
        </a:p>
      </dgm:t>
    </dgm:pt>
    <dgm:pt modelId="{170378AB-18CB-BB4F-9BC5-49DEABA1FB11}">
      <dgm:prSet/>
      <dgm:spPr/>
      <dgm:t>
        <a:bodyPr/>
        <a:lstStyle/>
        <a:p>
          <a:r>
            <a:rPr lang="en-AU"/>
            <a:t>Test on variance/standard deviation.</a:t>
          </a:r>
          <a:endParaRPr lang="en-MY"/>
        </a:p>
      </dgm:t>
    </dgm:pt>
    <dgm:pt modelId="{D3EB5E94-A9F9-004F-A12F-67EAAA7266B7}" type="parTrans" cxnId="{A7B192CA-5FD0-B54C-915B-05F0F4B31D6B}">
      <dgm:prSet/>
      <dgm:spPr/>
      <dgm:t>
        <a:bodyPr/>
        <a:lstStyle/>
        <a:p>
          <a:endParaRPr lang="en-GB"/>
        </a:p>
      </dgm:t>
    </dgm:pt>
    <dgm:pt modelId="{6E4679DD-A9E8-1741-B643-28325CE32E0A}" type="sibTrans" cxnId="{A7B192CA-5FD0-B54C-915B-05F0F4B31D6B}">
      <dgm:prSet/>
      <dgm:spPr/>
      <dgm:t>
        <a:bodyPr/>
        <a:lstStyle/>
        <a:p>
          <a:endParaRPr lang="en-GB"/>
        </a:p>
      </dgm:t>
    </dgm:pt>
    <dgm:pt modelId="{BF34846B-A289-B64F-8C8E-012CE2D0ACD1}" type="pres">
      <dgm:prSet presAssocID="{CD5273A1-E5D1-B04E-95BF-659B93F92F7D}" presName="linearFlow" presStyleCnt="0">
        <dgm:presLayoutVars>
          <dgm:dir/>
          <dgm:resizeHandles val="exact"/>
        </dgm:presLayoutVars>
      </dgm:prSet>
      <dgm:spPr/>
    </dgm:pt>
    <dgm:pt modelId="{283823C1-075C-2D44-88FD-A14B2A5A5B31}" type="pres">
      <dgm:prSet presAssocID="{C7C3A01B-9457-4640-A307-A3FD8BF3FED0}" presName="composite" presStyleCnt="0"/>
      <dgm:spPr/>
    </dgm:pt>
    <dgm:pt modelId="{5D2EE72D-DDD4-634E-9D96-236D8E0FDDA0}" type="pres">
      <dgm:prSet presAssocID="{C7C3A01B-9457-4640-A307-A3FD8BF3FED0}" presName="imgShp"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a:solidFill>
            <a:schemeClr val="accent3"/>
          </a:solidFill>
        </a:ln>
      </dgm:spPr>
    </dgm:pt>
    <dgm:pt modelId="{0558B358-BC26-BC4B-B3AD-FD76AFCD5205}" type="pres">
      <dgm:prSet presAssocID="{C7C3A01B-9457-4640-A307-A3FD8BF3FED0}" presName="txShp" presStyleLbl="node1" presStyleIdx="0" presStyleCnt="3">
        <dgm:presLayoutVars>
          <dgm:bulletEnabled val="1"/>
        </dgm:presLayoutVars>
      </dgm:prSet>
      <dgm:spPr/>
    </dgm:pt>
    <dgm:pt modelId="{8F0D425C-BC93-584E-ACCD-B8EB16744AE5}" type="pres">
      <dgm:prSet presAssocID="{A49045F8-F818-464E-ABE2-FB1E386B86A6}" presName="spacing" presStyleCnt="0"/>
      <dgm:spPr/>
    </dgm:pt>
    <dgm:pt modelId="{72540BC9-6F42-D84C-A03B-F230B6794D1C}" type="pres">
      <dgm:prSet presAssocID="{037FE542-E8DE-E84C-9FC8-403E364B89A2}" presName="composite" presStyleCnt="0"/>
      <dgm:spPr/>
    </dgm:pt>
    <dgm:pt modelId="{EDACB2B6-4EBC-F344-8C50-0259A9F30BB6}" type="pres">
      <dgm:prSet presAssocID="{037FE542-E8DE-E84C-9FC8-403E364B89A2}" presName="imgShp" presStyleLbl="fgImgPlace1" presStyleIdx="1"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a:solidFill>
            <a:schemeClr val="accent5"/>
          </a:solidFill>
        </a:ln>
      </dgm:spPr>
    </dgm:pt>
    <dgm:pt modelId="{CB0DE6A7-BCD7-1445-A8A4-D4ABFDE77439}" type="pres">
      <dgm:prSet presAssocID="{037FE542-E8DE-E84C-9FC8-403E364B89A2}" presName="txShp" presStyleLbl="node1" presStyleIdx="1" presStyleCnt="3">
        <dgm:presLayoutVars>
          <dgm:bulletEnabled val="1"/>
        </dgm:presLayoutVars>
      </dgm:prSet>
      <dgm:spPr/>
    </dgm:pt>
    <dgm:pt modelId="{162503DB-86EF-5647-8D7F-2B49F16C7866}" type="pres">
      <dgm:prSet presAssocID="{1BB26860-4B8E-3D41-8693-DD57A6D49EEF}" presName="spacing" presStyleCnt="0"/>
      <dgm:spPr/>
    </dgm:pt>
    <dgm:pt modelId="{47C18B3E-08B9-9C41-A3B9-52B2519E0A13}" type="pres">
      <dgm:prSet presAssocID="{170378AB-18CB-BB4F-9BC5-49DEABA1FB11}" presName="composite" presStyleCnt="0"/>
      <dgm:spPr/>
    </dgm:pt>
    <dgm:pt modelId="{B9FC12A4-ED91-7D44-BFDA-3D37C9F80CC5}" type="pres">
      <dgm:prSet presAssocID="{170378AB-18CB-BB4F-9BC5-49DEABA1FB11}" presName="imgShp" presStyleLbl="fgImgPlace1" presStyleIdx="2" presStyleCnt="3"/>
      <dgm:spPr>
        <a:blipFill>
          <a:blip xmlns:r="http://schemas.openxmlformats.org/officeDocument/2006/relationships" r:embed="rId2" cstate="email">
            <a:extLst>
              <a:ext uri="{28A0092B-C50C-407E-A947-70E740481C1C}">
                <a14:useLocalDpi xmlns:a14="http://schemas.microsoft.com/office/drawing/2010/main" val="0"/>
              </a:ext>
            </a:extLst>
          </a:blip>
          <a:srcRect/>
          <a:stretch>
            <a:fillRect l="-27000" r="-27000"/>
          </a:stretch>
        </a:blipFill>
        <a:ln>
          <a:solidFill>
            <a:schemeClr val="accent4">
              <a:lumMod val="75000"/>
            </a:schemeClr>
          </a:solidFill>
        </a:ln>
      </dgm:spPr>
    </dgm:pt>
    <dgm:pt modelId="{18457066-1DC8-0247-B51E-77D189F5A5F4}" type="pres">
      <dgm:prSet presAssocID="{170378AB-18CB-BB4F-9BC5-49DEABA1FB11}" presName="txShp" presStyleLbl="node1" presStyleIdx="2" presStyleCnt="3">
        <dgm:presLayoutVars>
          <dgm:bulletEnabled val="1"/>
        </dgm:presLayoutVars>
      </dgm:prSet>
      <dgm:spPr/>
    </dgm:pt>
  </dgm:ptLst>
  <dgm:cxnLst>
    <dgm:cxn modelId="{EB7E5B3D-EE02-F74F-AF5C-55997E415AE4}" srcId="{CD5273A1-E5D1-B04E-95BF-659B93F92F7D}" destId="{037FE542-E8DE-E84C-9FC8-403E364B89A2}" srcOrd="1" destOrd="0" parTransId="{D9585AFC-8ABF-F944-8B07-C4DCB5D3209C}" sibTransId="{1BB26860-4B8E-3D41-8693-DD57A6D49EEF}"/>
    <dgm:cxn modelId="{03218172-267B-8F43-9F01-1798DC1FE46D}" type="presOf" srcId="{037FE542-E8DE-E84C-9FC8-403E364B89A2}" destId="{CB0DE6A7-BCD7-1445-A8A4-D4ABFDE77439}" srcOrd="0" destOrd="0" presId="urn:microsoft.com/office/officeart/2005/8/layout/vList3"/>
    <dgm:cxn modelId="{67BC1A8E-411B-6F4A-9ED0-8E11F4F2079E}" type="presOf" srcId="{C7C3A01B-9457-4640-A307-A3FD8BF3FED0}" destId="{0558B358-BC26-BC4B-B3AD-FD76AFCD5205}" srcOrd="0" destOrd="0" presId="urn:microsoft.com/office/officeart/2005/8/layout/vList3"/>
    <dgm:cxn modelId="{A7B192CA-5FD0-B54C-915B-05F0F4B31D6B}" srcId="{CD5273A1-E5D1-B04E-95BF-659B93F92F7D}" destId="{170378AB-18CB-BB4F-9BC5-49DEABA1FB11}" srcOrd="2" destOrd="0" parTransId="{D3EB5E94-A9F9-004F-A12F-67EAAA7266B7}" sibTransId="{6E4679DD-A9E8-1741-B643-28325CE32E0A}"/>
    <dgm:cxn modelId="{D097F4D1-BA19-3246-959D-53BD9F39408F}" type="presOf" srcId="{170378AB-18CB-BB4F-9BC5-49DEABA1FB11}" destId="{18457066-1DC8-0247-B51E-77D189F5A5F4}" srcOrd="0" destOrd="0" presId="urn:microsoft.com/office/officeart/2005/8/layout/vList3"/>
    <dgm:cxn modelId="{F4BFFAF2-7E3F-3C4A-AA52-48D73842B0A8}" srcId="{CD5273A1-E5D1-B04E-95BF-659B93F92F7D}" destId="{C7C3A01B-9457-4640-A307-A3FD8BF3FED0}" srcOrd="0" destOrd="0" parTransId="{7958EFBD-20ED-A74F-9D1A-52E54FCD226B}" sibTransId="{A49045F8-F818-464E-ABE2-FB1E386B86A6}"/>
    <dgm:cxn modelId="{EFFD27FB-7BF9-2149-B5E3-23818583C7A0}" type="presOf" srcId="{CD5273A1-E5D1-B04E-95BF-659B93F92F7D}" destId="{BF34846B-A289-B64F-8C8E-012CE2D0ACD1}" srcOrd="0" destOrd="0" presId="urn:microsoft.com/office/officeart/2005/8/layout/vList3"/>
    <dgm:cxn modelId="{09378AFD-10DE-CC49-9F27-CF9FB6F06558}" type="presParOf" srcId="{BF34846B-A289-B64F-8C8E-012CE2D0ACD1}" destId="{283823C1-075C-2D44-88FD-A14B2A5A5B31}" srcOrd="0" destOrd="0" presId="urn:microsoft.com/office/officeart/2005/8/layout/vList3"/>
    <dgm:cxn modelId="{4E789CF5-CB0A-394F-8F51-BAF2BED1AAAF}" type="presParOf" srcId="{283823C1-075C-2D44-88FD-A14B2A5A5B31}" destId="{5D2EE72D-DDD4-634E-9D96-236D8E0FDDA0}" srcOrd="0" destOrd="0" presId="urn:microsoft.com/office/officeart/2005/8/layout/vList3"/>
    <dgm:cxn modelId="{6D876370-FF42-0141-8E2A-D586D4DD84FC}" type="presParOf" srcId="{283823C1-075C-2D44-88FD-A14B2A5A5B31}" destId="{0558B358-BC26-BC4B-B3AD-FD76AFCD5205}" srcOrd="1" destOrd="0" presId="urn:microsoft.com/office/officeart/2005/8/layout/vList3"/>
    <dgm:cxn modelId="{26896AE1-6374-DC43-9F32-1676BF770F0F}" type="presParOf" srcId="{BF34846B-A289-B64F-8C8E-012CE2D0ACD1}" destId="{8F0D425C-BC93-584E-ACCD-B8EB16744AE5}" srcOrd="1" destOrd="0" presId="urn:microsoft.com/office/officeart/2005/8/layout/vList3"/>
    <dgm:cxn modelId="{478F5E89-918C-BB4C-85EF-AB33DF8C6081}" type="presParOf" srcId="{BF34846B-A289-B64F-8C8E-012CE2D0ACD1}" destId="{72540BC9-6F42-D84C-A03B-F230B6794D1C}" srcOrd="2" destOrd="0" presId="urn:microsoft.com/office/officeart/2005/8/layout/vList3"/>
    <dgm:cxn modelId="{D7714309-C84C-D747-8045-07094DDC3756}" type="presParOf" srcId="{72540BC9-6F42-D84C-A03B-F230B6794D1C}" destId="{EDACB2B6-4EBC-F344-8C50-0259A9F30BB6}" srcOrd="0" destOrd="0" presId="urn:microsoft.com/office/officeart/2005/8/layout/vList3"/>
    <dgm:cxn modelId="{3D81C5ED-A0DF-E744-AF9D-F57054A51477}" type="presParOf" srcId="{72540BC9-6F42-D84C-A03B-F230B6794D1C}" destId="{CB0DE6A7-BCD7-1445-A8A4-D4ABFDE77439}" srcOrd="1" destOrd="0" presId="urn:microsoft.com/office/officeart/2005/8/layout/vList3"/>
    <dgm:cxn modelId="{0326ADB5-7A54-AA47-8F2F-69A3D6221B11}" type="presParOf" srcId="{BF34846B-A289-B64F-8C8E-012CE2D0ACD1}" destId="{162503DB-86EF-5647-8D7F-2B49F16C7866}" srcOrd="3" destOrd="0" presId="urn:microsoft.com/office/officeart/2005/8/layout/vList3"/>
    <dgm:cxn modelId="{0B4EF698-FA3F-404C-95B6-49591107FB3D}" type="presParOf" srcId="{BF34846B-A289-B64F-8C8E-012CE2D0ACD1}" destId="{47C18B3E-08B9-9C41-A3B9-52B2519E0A13}" srcOrd="4" destOrd="0" presId="urn:microsoft.com/office/officeart/2005/8/layout/vList3"/>
    <dgm:cxn modelId="{20F4F4CF-857B-944A-8A9F-2C9994E2D95A}" type="presParOf" srcId="{47C18B3E-08B9-9C41-A3B9-52B2519E0A13}" destId="{B9FC12A4-ED91-7D44-BFDA-3D37C9F80CC5}" srcOrd="0" destOrd="0" presId="urn:microsoft.com/office/officeart/2005/8/layout/vList3"/>
    <dgm:cxn modelId="{272BF9DC-14C7-9E4A-8C98-36AD53319D5E}" type="presParOf" srcId="{47C18B3E-08B9-9C41-A3B9-52B2519E0A13}" destId="{18457066-1DC8-0247-B51E-77D189F5A5F4}"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D5273A1-E5D1-B04E-95BF-659B93F92F7D}" type="doc">
      <dgm:prSet loTypeId="urn:microsoft.com/office/officeart/2005/8/layout/vList3" loCatId="list" qsTypeId="urn:microsoft.com/office/officeart/2005/8/quickstyle/simple1" qsCatId="simple" csTypeId="urn:microsoft.com/office/officeart/2005/8/colors/colorful3" csCatId="colorful" phldr="1"/>
      <dgm:spPr/>
      <dgm:t>
        <a:bodyPr/>
        <a:lstStyle/>
        <a:p>
          <a:endParaRPr lang="en-GB"/>
        </a:p>
      </dgm:t>
    </dgm:pt>
    <dgm:pt modelId="{C7C3A01B-9457-4640-A307-A3FD8BF3FED0}">
      <dgm:prSet/>
      <dgm:spPr/>
      <dgm:t>
        <a:bodyPr/>
        <a:lstStyle/>
        <a:p>
          <a:r>
            <a:rPr lang="en-AU" dirty="0"/>
            <a:t>Test on mean, variance known.</a:t>
          </a:r>
          <a:endParaRPr lang="en-MY" dirty="0"/>
        </a:p>
      </dgm:t>
    </dgm:pt>
    <dgm:pt modelId="{7958EFBD-20ED-A74F-9D1A-52E54FCD226B}" type="parTrans" cxnId="{F4BFFAF2-7E3F-3C4A-AA52-48D73842B0A8}">
      <dgm:prSet/>
      <dgm:spPr/>
      <dgm:t>
        <a:bodyPr/>
        <a:lstStyle/>
        <a:p>
          <a:endParaRPr lang="en-GB"/>
        </a:p>
      </dgm:t>
    </dgm:pt>
    <dgm:pt modelId="{A49045F8-F818-464E-ABE2-FB1E386B86A6}" type="sibTrans" cxnId="{F4BFFAF2-7E3F-3C4A-AA52-48D73842B0A8}">
      <dgm:prSet/>
      <dgm:spPr/>
      <dgm:t>
        <a:bodyPr/>
        <a:lstStyle/>
        <a:p>
          <a:endParaRPr lang="en-GB"/>
        </a:p>
      </dgm:t>
    </dgm:pt>
    <dgm:pt modelId="{037FE542-E8DE-E84C-9FC8-403E364B89A2}">
      <dgm:prSet/>
      <dgm:spPr/>
      <dgm:t>
        <a:bodyPr/>
        <a:lstStyle/>
        <a:p>
          <a:r>
            <a:rPr lang="en-AU"/>
            <a:t>Test on mean, variance unknown.</a:t>
          </a:r>
          <a:endParaRPr lang="en-MY"/>
        </a:p>
      </dgm:t>
    </dgm:pt>
    <dgm:pt modelId="{D9585AFC-8ABF-F944-8B07-C4DCB5D3209C}" type="parTrans" cxnId="{EB7E5B3D-EE02-F74F-AF5C-55997E415AE4}">
      <dgm:prSet/>
      <dgm:spPr/>
      <dgm:t>
        <a:bodyPr/>
        <a:lstStyle/>
        <a:p>
          <a:endParaRPr lang="en-GB"/>
        </a:p>
      </dgm:t>
    </dgm:pt>
    <dgm:pt modelId="{1BB26860-4B8E-3D41-8693-DD57A6D49EEF}" type="sibTrans" cxnId="{EB7E5B3D-EE02-F74F-AF5C-55997E415AE4}">
      <dgm:prSet/>
      <dgm:spPr/>
      <dgm:t>
        <a:bodyPr/>
        <a:lstStyle/>
        <a:p>
          <a:endParaRPr lang="en-GB"/>
        </a:p>
      </dgm:t>
    </dgm:pt>
    <dgm:pt modelId="{170378AB-18CB-BB4F-9BC5-49DEABA1FB11}">
      <dgm:prSet/>
      <dgm:spPr/>
      <dgm:t>
        <a:bodyPr/>
        <a:lstStyle/>
        <a:p>
          <a:r>
            <a:rPr lang="en-AU"/>
            <a:t>Test on variance/standard deviation.</a:t>
          </a:r>
          <a:endParaRPr lang="en-MY"/>
        </a:p>
      </dgm:t>
    </dgm:pt>
    <dgm:pt modelId="{D3EB5E94-A9F9-004F-A12F-67EAAA7266B7}" type="parTrans" cxnId="{A7B192CA-5FD0-B54C-915B-05F0F4B31D6B}">
      <dgm:prSet/>
      <dgm:spPr/>
      <dgm:t>
        <a:bodyPr/>
        <a:lstStyle/>
        <a:p>
          <a:endParaRPr lang="en-GB"/>
        </a:p>
      </dgm:t>
    </dgm:pt>
    <dgm:pt modelId="{6E4679DD-A9E8-1741-B643-28325CE32E0A}" type="sibTrans" cxnId="{A7B192CA-5FD0-B54C-915B-05F0F4B31D6B}">
      <dgm:prSet/>
      <dgm:spPr/>
      <dgm:t>
        <a:bodyPr/>
        <a:lstStyle/>
        <a:p>
          <a:endParaRPr lang="en-GB"/>
        </a:p>
      </dgm:t>
    </dgm:pt>
    <dgm:pt modelId="{BF34846B-A289-B64F-8C8E-012CE2D0ACD1}" type="pres">
      <dgm:prSet presAssocID="{CD5273A1-E5D1-B04E-95BF-659B93F92F7D}" presName="linearFlow" presStyleCnt="0">
        <dgm:presLayoutVars>
          <dgm:dir/>
          <dgm:resizeHandles val="exact"/>
        </dgm:presLayoutVars>
      </dgm:prSet>
      <dgm:spPr/>
    </dgm:pt>
    <dgm:pt modelId="{283823C1-075C-2D44-88FD-A14B2A5A5B31}" type="pres">
      <dgm:prSet presAssocID="{C7C3A01B-9457-4640-A307-A3FD8BF3FED0}" presName="composite" presStyleCnt="0"/>
      <dgm:spPr/>
    </dgm:pt>
    <dgm:pt modelId="{5D2EE72D-DDD4-634E-9D96-236D8E0FDDA0}" type="pres">
      <dgm:prSet presAssocID="{C7C3A01B-9457-4640-A307-A3FD8BF3FED0}" presName="imgShp"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a:solidFill>
            <a:schemeClr val="accent3"/>
          </a:solidFill>
        </a:ln>
      </dgm:spPr>
    </dgm:pt>
    <dgm:pt modelId="{0558B358-BC26-BC4B-B3AD-FD76AFCD5205}" type="pres">
      <dgm:prSet presAssocID="{C7C3A01B-9457-4640-A307-A3FD8BF3FED0}" presName="txShp" presStyleLbl="node1" presStyleIdx="0" presStyleCnt="3">
        <dgm:presLayoutVars>
          <dgm:bulletEnabled val="1"/>
        </dgm:presLayoutVars>
      </dgm:prSet>
      <dgm:spPr/>
    </dgm:pt>
    <dgm:pt modelId="{8F0D425C-BC93-584E-ACCD-B8EB16744AE5}" type="pres">
      <dgm:prSet presAssocID="{A49045F8-F818-464E-ABE2-FB1E386B86A6}" presName="spacing" presStyleCnt="0"/>
      <dgm:spPr/>
    </dgm:pt>
    <dgm:pt modelId="{72540BC9-6F42-D84C-A03B-F230B6794D1C}" type="pres">
      <dgm:prSet presAssocID="{037FE542-E8DE-E84C-9FC8-403E364B89A2}" presName="composite" presStyleCnt="0"/>
      <dgm:spPr/>
    </dgm:pt>
    <dgm:pt modelId="{EDACB2B6-4EBC-F344-8C50-0259A9F30BB6}" type="pres">
      <dgm:prSet presAssocID="{037FE542-E8DE-E84C-9FC8-403E364B89A2}" presName="imgShp" presStyleLbl="fgImgPlace1" presStyleIdx="1"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a:solidFill>
            <a:schemeClr val="accent5"/>
          </a:solidFill>
        </a:ln>
      </dgm:spPr>
    </dgm:pt>
    <dgm:pt modelId="{CB0DE6A7-BCD7-1445-A8A4-D4ABFDE77439}" type="pres">
      <dgm:prSet presAssocID="{037FE542-E8DE-E84C-9FC8-403E364B89A2}" presName="txShp" presStyleLbl="node1" presStyleIdx="1" presStyleCnt="3">
        <dgm:presLayoutVars>
          <dgm:bulletEnabled val="1"/>
        </dgm:presLayoutVars>
      </dgm:prSet>
      <dgm:spPr/>
    </dgm:pt>
    <dgm:pt modelId="{162503DB-86EF-5647-8D7F-2B49F16C7866}" type="pres">
      <dgm:prSet presAssocID="{1BB26860-4B8E-3D41-8693-DD57A6D49EEF}" presName="spacing" presStyleCnt="0"/>
      <dgm:spPr/>
    </dgm:pt>
    <dgm:pt modelId="{47C18B3E-08B9-9C41-A3B9-52B2519E0A13}" type="pres">
      <dgm:prSet presAssocID="{170378AB-18CB-BB4F-9BC5-49DEABA1FB11}" presName="composite" presStyleCnt="0"/>
      <dgm:spPr/>
    </dgm:pt>
    <dgm:pt modelId="{B9FC12A4-ED91-7D44-BFDA-3D37C9F80CC5}" type="pres">
      <dgm:prSet presAssocID="{170378AB-18CB-BB4F-9BC5-49DEABA1FB11}" presName="imgShp" presStyleLbl="fgImgPlace1" presStyleIdx="2" presStyleCnt="3"/>
      <dgm:spPr>
        <a:blipFill>
          <a:blip xmlns:r="http://schemas.openxmlformats.org/officeDocument/2006/relationships" r:embed="rId2" cstate="email">
            <a:extLst>
              <a:ext uri="{28A0092B-C50C-407E-A947-70E740481C1C}">
                <a14:useLocalDpi xmlns:a14="http://schemas.microsoft.com/office/drawing/2010/main" val="0"/>
              </a:ext>
            </a:extLst>
          </a:blip>
          <a:srcRect/>
          <a:stretch>
            <a:fillRect l="-27000" r="-27000"/>
          </a:stretch>
        </a:blipFill>
        <a:ln>
          <a:solidFill>
            <a:schemeClr val="accent4">
              <a:lumMod val="75000"/>
            </a:schemeClr>
          </a:solidFill>
        </a:ln>
      </dgm:spPr>
    </dgm:pt>
    <dgm:pt modelId="{18457066-1DC8-0247-B51E-77D189F5A5F4}" type="pres">
      <dgm:prSet presAssocID="{170378AB-18CB-BB4F-9BC5-49DEABA1FB11}" presName="txShp" presStyleLbl="node1" presStyleIdx="2" presStyleCnt="3">
        <dgm:presLayoutVars>
          <dgm:bulletEnabled val="1"/>
        </dgm:presLayoutVars>
      </dgm:prSet>
      <dgm:spPr/>
    </dgm:pt>
  </dgm:ptLst>
  <dgm:cxnLst>
    <dgm:cxn modelId="{EB7E5B3D-EE02-F74F-AF5C-55997E415AE4}" srcId="{CD5273A1-E5D1-B04E-95BF-659B93F92F7D}" destId="{037FE542-E8DE-E84C-9FC8-403E364B89A2}" srcOrd="1" destOrd="0" parTransId="{D9585AFC-8ABF-F944-8B07-C4DCB5D3209C}" sibTransId="{1BB26860-4B8E-3D41-8693-DD57A6D49EEF}"/>
    <dgm:cxn modelId="{03218172-267B-8F43-9F01-1798DC1FE46D}" type="presOf" srcId="{037FE542-E8DE-E84C-9FC8-403E364B89A2}" destId="{CB0DE6A7-BCD7-1445-A8A4-D4ABFDE77439}" srcOrd="0" destOrd="0" presId="urn:microsoft.com/office/officeart/2005/8/layout/vList3"/>
    <dgm:cxn modelId="{67BC1A8E-411B-6F4A-9ED0-8E11F4F2079E}" type="presOf" srcId="{C7C3A01B-9457-4640-A307-A3FD8BF3FED0}" destId="{0558B358-BC26-BC4B-B3AD-FD76AFCD5205}" srcOrd="0" destOrd="0" presId="urn:microsoft.com/office/officeart/2005/8/layout/vList3"/>
    <dgm:cxn modelId="{A7B192CA-5FD0-B54C-915B-05F0F4B31D6B}" srcId="{CD5273A1-E5D1-B04E-95BF-659B93F92F7D}" destId="{170378AB-18CB-BB4F-9BC5-49DEABA1FB11}" srcOrd="2" destOrd="0" parTransId="{D3EB5E94-A9F9-004F-A12F-67EAAA7266B7}" sibTransId="{6E4679DD-A9E8-1741-B643-28325CE32E0A}"/>
    <dgm:cxn modelId="{D097F4D1-BA19-3246-959D-53BD9F39408F}" type="presOf" srcId="{170378AB-18CB-BB4F-9BC5-49DEABA1FB11}" destId="{18457066-1DC8-0247-B51E-77D189F5A5F4}" srcOrd="0" destOrd="0" presId="urn:microsoft.com/office/officeart/2005/8/layout/vList3"/>
    <dgm:cxn modelId="{F4BFFAF2-7E3F-3C4A-AA52-48D73842B0A8}" srcId="{CD5273A1-E5D1-B04E-95BF-659B93F92F7D}" destId="{C7C3A01B-9457-4640-A307-A3FD8BF3FED0}" srcOrd="0" destOrd="0" parTransId="{7958EFBD-20ED-A74F-9D1A-52E54FCD226B}" sibTransId="{A49045F8-F818-464E-ABE2-FB1E386B86A6}"/>
    <dgm:cxn modelId="{EFFD27FB-7BF9-2149-B5E3-23818583C7A0}" type="presOf" srcId="{CD5273A1-E5D1-B04E-95BF-659B93F92F7D}" destId="{BF34846B-A289-B64F-8C8E-012CE2D0ACD1}" srcOrd="0" destOrd="0" presId="urn:microsoft.com/office/officeart/2005/8/layout/vList3"/>
    <dgm:cxn modelId="{09378AFD-10DE-CC49-9F27-CF9FB6F06558}" type="presParOf" srcId="{BF34846B-A289-B64F-8C8E-012CE2D0ACD1}" destId="{283823C1-075C-2D44-88FD-A14B2A5A5B31}" srcOrd="0" destOrd="0" presId="urn:microsoft.com/office/officeart/2005/8/layout/vList3"/>
    <dgm:cxn modelId="{4E789CF5-CB0A-394F-8F51-BAF2BED1AAAF}" type="presParOf" srcId="{283823C1-075C-2D44-88FD-A14B2A5A5B31}" destId="{5D2EE72D-DDD4-634E-9D96-236D8E0FDDA0}" srcOrd="0" destOrd="0" presId="urn:microsoft.com/office/officeart/2005/8/layout/vList3"/>
    <dgm:cxn modelId="{6D876370-FF42-0141-8E2A-D586D4DD84FC}" type="presParOf" srcId="{283823C1-075C-2D44-88FD-A14B2A5A5B31}" destId="{0558B358-BC26-BC4B-B3AD-FD76AFCD5205}" srcOrd="1" destOrd="0" presId="urn:microsoft.com/office/officeart/2005/8/layout/vList3"/>
    <dgm:cxn modelId="{26896AE1-6374-DC43-9F32-1676BF770F0F}" type="presParOf" srcId="{BF34846B-A289-B64F-8C8E-012CE2D0ACD1}" destId="{8F0D425C-BC93-584E-ACCD-B8EB16744AE5}" srcOrd="1" destOrd="0" presId="urn:microsoft.com/office/officeart/2005/8/layout/vList3"/>
    <dgm:cxn modelId="{478F5E89-918C-BB4C-85EF-AB33DF8C6081}" type="presParOf" srcId="{BF34846B-A289-B64F-8C8E-012CE2D0ACD1}" destId="{72540BC9-6F42-D84C-A03B-F230B6794D1C}" srcOrd="2" destOrd="0" presId="urn:microsoft.com/office/officeart/2005/8/layout/vList3"/>
    <dgm:cxn modelId="{D7714309-C84C-D747-8045-07094DDC3756}" type="presParOf" srcId="{72540BC9-6F42-D84C-A03B-F230B6794D1C}" destId="{EDACB2B6-4EBC-F344-8C50-0259A9F30BB6}" srcOrd="0" destOrd="0" presId="urn:microsoft.com/office/officeart/2005/8/layout/vList3"/>
    <dgm:cxn modelId="{3D81C5ED-A0DF-E744-AF9D-F57054A51477}" type="presParOf" srcId="{72540BC9-6F42-D84C-A03B-F230B6794D1C}" destId="{CB0DE6A7-BCD7-1445-A8A4-D4ABFDE77439}" srcOrd="1" destOrd="0" presId="urn:microsoft.com/office/officeart/2005/8/layout/vList3"/>
    <dgm:cxn modelId="{0326ADB5-7A54-AA47-8F2F-69A3D6221B11}" type="presParOf" srcId="{BF34846B-A289-B64F-8C8E-012CE2D0ACD1}" destId="{162503DB-86EF-5647-8D7F-2B49F16C7866}" srcOrd="3" destOrd="0" presId="urn:microsoft.com/office/officeart/2005/8/layout/vList3"/>
    <dgm:cxn modelId="{0B4EF698-FA3F-404C-95B6-49591107FB3D}" type="presParOf" srcId="{BF34846B-A289-B64F-8C8E-012CE2D0ACD1}" destId="{47C18B3E-08B9-9C41-A3B9-52B2519E0A13}" srcOrd="4" destOrd="0" presId="urn:microsoft.com/office/officeart/2005/8/layout/vList3"/>
    <dgm:cxn modelId="{20F4F4CF-857B-944A-8A9F-2C9994E2D95A}" type="presParOf" srcId="{47C18B3E-08B9-9C41-A3B9-52B2519E0A13}" destId="{B9FC12A4-ED91-7D44-BFDA-3D37C9F80CC5}" srcOrd="0" destOrd="0" presId="urn:microsoft.com/office/officeart/2005/8/layout/vList3"/>
    <dgm:cxn modelId="{272BF9DC-14C7-9E4A-8C98-36AD53319D5E}" type="presParOf" srcId="{47C18B3E-08B9-9C41-A3B9-52B2519E0A13}" destId="{18457066-1DC8-0247-B51E-77D189F5A5F4}"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D5273A1-E5D1-B04E-95BF-659B93F92F7D}" type="doc">
      <dgm:prSet loTypeId="urn:microsoft.com/office/officeart/2005/8/layout/vList3" loCatId="list" qsTypeId="urn:microsoft.com/office/officeart/2005/8/quickstyle/simple1" qsCatId="simple" csTypeId="urn:microsoft.com/office/officeart/2005/8/colors/colorful3" csCatId="colorful" phldr="1"/>
      <dgm:spPr/>
      <dgm:t>
        <a:bodyPr/>
        <a:lstStyle/>
        <a:p>
          <a:endParaRPr lang="en-GB"/>
        </a:p>
      </dgm:t>
    </dgm:pt>
    <dgm:pt modelId="{C7C3A01B-9457-4640-A307-A3FD8BF3FED0}">
      <dgm:prSet/>
      <dgm:spPr/>
      <dgm:t>
        <a:bodyPr/>
        <a:lstStyle/>
        <a:p>
          <a:r>
            <a:rPr lang="en-AU" dirty="0"/>
            <a:t>Test on mean, variance known.</a:t>
          </a:r>
          <a:endParaRPr lang="en-MY" dirty="0"/>
        </a:p>
      </dgm:t>
    </dgm:pt>
    <dgm:pt modelId="{7958EFBD-20ED-A74F-9D1A-52E54FCD226B}" type="parTrans" cxnId="{F4BFFAF2-7E3F-3C4A-AA52-48D73842B0A8}">
      <dgm:prSet/>
      <dgm:spPr/>
      <dgm:t>
        <a:bodyPr/>
        <a:lstStyle/>
        <a:p>
          <a:endParaRPr lang="en-GB"/>
        </a:p>
      </dgm:t>
    </dgm:pt>
    <dgm:pt modelId="{A49045F8-F818-464E-ABE2-FB1E386B86A6}" type="sibTrans" cxnId="{F4BFFAF2-7E3F-3C4A-AA52-48D73842B0A8}">
      <dgm:prSet/>
      <dgm:spPr/>
      <dgm:t>
        <a:bodyPr/>
        <a:lstStyle/>
        <a:p>
          <a:endParaRPr lang="en-GB"/>
        </a:p>
      </dgm:t>
    </dgm:pt>
    <dgm:pt modelId="{037FE542-E8DE-E84C-9FC8-403E364B89A2}">
      <dgm:prSet/>
      <dgm:spPr/>
      <dgm:t>
        <a:bodyPr/>
        <a:lstStyle/>
        <a:p>
          <a:r>
            <a:rPr lang="en-AU"/>
            <a:t>Test on mean, variance unknown.</a:t>
          </a:r>
          <a:endParaRPr lang="en-MY"/>
        </a:p>
      </dgm:t>
    </dgm:pt>
    <dgm:pt modelId="{D9585AFC-8ABF-F944-8B07-C4DCB5D3209C}" type="parTrans" cxnId="{EB7E5B3D-EE02-F74F-AF5C-55997E415AE4}">
      <dgm:prSet/>
      <dgm:spPr/>
      <dgm:t>
        <a:bodyPr/>
        <a:lstStyle/>
        <a:p>
          <a:endParaRPr lang="en-GB"/>
        </a:p>
      </dgm:t>
    </dgm:pt>
    <dgm:pt modelId="{1BB26860-4B8E-3D41-8693-DD57A6D49EEF}" type="sibTrans" cxnId="{EB7E5B3D-EE02-F74F-AF5C-55997E415AE4}">
      <dgm:prSet/>
      <dgm:spPr/>
      <dgm:t>
        <a:bodyPr/>
        <a:lstStyle/>
        <a:p>
          <a:endParaRPr lang="en-GB"/>
        </a:p>
      </dgm:t>
    </dgm:pt>
    <dgm:pt modelId="{170378AB-18CB-BB4F-9BC5-49DEABA1FB11}">
      <dgm:prSet/>
      <dgm:spPr/>
      <dgm:t>
        <a:bodyPr/>
        <a:lstStyle/>
        <a:p>
          <a:r>
            <a:rPr lang="en-AU"/>
            <a:t>Test on variance/standard deviation.</a:t>
          </a:r>
          <a:endParaRPr lang="en-MY"/>
        </a:p>
      </dgm:t>
    </dgm:pt>
    <dgm:pt modelId="{D3EB5E94-A9F9-004F-A12F-67EAAA7266B7}" type="parTrans" cxnId="{A7B192CA-5FD0-B54C-915B-05F0F4B31D6B}">
      <dgm:prSet/>
      <dgm:spPr/>
      <dgm:t>
        <a:bodyPr/>
        <a:lstStyle/>
        <a:p>
          <a:endParaRPr lang="en-GB"/>
        </a:p>
      </dgm:t>
    </dgm:pt>
    <dgm:pt modelId="{6E4679DD-A9E8-1741-B643-28325CE32E0A}" type="sibTrans" cxnId="{A7B192CA-5FD0-B54C-915B-05F0F4B31D6B}">
      <dgm:prSet/>
      <dgm:spPr/>
      <dgm:t>
        <a:bodyPr/>
        <a:lstStyle/>
        <a:p>
          <a:endParaRPr lang="en-GB"/>
        </a:p>
      </dgm:t>
    </dgm:pt>
    <dgm:pt modelId="{BF34846B-A289-B64F-8C8E-012CE2D0ACD1}" type="pres">
      <dgm:prSet presAssocID="{CD5273A1-E5D1-B04E-95BF-659B93F92F7D}" presName="linearFlow" presStyleCnt="0">
        <dgm:presLayoutVars>
          <dgm:dir/>
          <dgm:resizeHandles val="exact"/>
        </dgm:presLayoutVars>
      </dgm:prSet>
      <dgm:spPr/>
    </dgm:pt>
    <dgm:pt modelId="{283823C1-075C-2D44-88FD-A14B2A5A5B31}" type="pres">
      <dgm:prSet presAssocID="{C7C3A01B-9457-4640-A307-A3FD8BF3FED0}" presName="composite" presStyleCnt="0"/>
      <dgm:spPr/>
    </dgm:pt>
    <dgm:pt modelId="{5D2EE72D-DDD4-634E-9D96-236D8E0FDDA0}" type="pres">
      <dgm:prSet presAssocID="{C7C3A01B-9457-4640-A307-A3FD8BF3FED0}" presName="imgShp"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a:solidFill>
            <a:schemeClr val="accent3"/>
          </a:solidFill>
        </a:ln>
      </dgm:spPr>
    </dgm:pt>
    <dgm:pt modelId="{0558B358-BC26-BC4B-B3AD-FD76AFCD5205}" type="pres">
      <dgm:prSet presAssocID="{C7C3A01B-9457-4640-A307-A3FD8BF3FED0}" presName="txShp" presStyleLbl="node1" presStyleIdx="0" presStyleCnt="3">
        <dgm:presLayoutVars>
          <dgm:bulletEnabled val="1"/>
        </dgm:presLayoutVars>
      </dgm:prSet>
      <dgm:spPr/>
    </dgm:pt>
    <dgm:pt modelId="{8F0D425C-BC93-584E-ACCD-B8EB16744AE5}" type="pres">
      <dgm:prSet presAssocID="{A49045F8-F818-464E-ABE2-FB1E386B86A6}" presName="spacing" presStyleCnt="0"/>
      <dgm:spPr/>
    </dgm:pt>
    <dgm:pt modelId="{72540BC9-6F42-D84C-A03B-F230B6794D1C}" type="pres">
      <dgm:prSet presAssocID="{037FE542-E8DE-E84C-9FC8-403E364B89A2}" presName="composite" presStyleCnt="0"/>
      <dgm:spPr/>
    </dgm:pt>
    <dgm:pt modelId="{EDACB2B6-4EBC-F344-8C50-0259A9F30BB6}" type="pres">
      <dgm:prSet presAssocID="{037FE542-E8DE-E84C-9FC8-403E364B89A2}" presName="imgShp" presStyleLbl="fgImgPlace1" presStyleIdx="1"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a:solidFill>
            <a:schemeClr val="accent5"/>
          </a:solidFill>
        </a:ln>
      </dgm:spPr>
    </dgm:pt>
    <dgm:pt modelId="{CB0DE6A7-BCD7-1445-A8A4-D4ABFDE77439}" type="pres">
      <dgm:prSet presAssocID="{037FE542-E8DE-E84C-9FC8-403E364B89A2}" presName="txShp" presStyleLbl="node1" presStyleIdx="1" presStyleCnt="3">
        <dgm:presLayoutVars>
          <dgm:bulletEnabled val="1"/>
        </dgm:presLayoutVars>
      </dgm:prSet>
      <dgm:spPr/>
    </dgm:pt>
    <dgm:pt modelId="{162503DB-86EF-5647-8D7F-2B49F16C7866}" type="pres">
      <dgm:prSet presAssocID="{1BB26860-4B8E-3D41-8693-DD57A6D49EEF}" presName="spacing" presStyleCnt="0"/>
      <dgm:spPr/>
    </dgm:pt>
    <dgm:pt modelId="{47C18B3E-08B9-9C41-A3B9-52B2519E0A13}" type="pres">
      <dgm:prSet presAssocID="{170378AB-18CB-BB4F-9BC5-49DEABA1FB11}" presName="composite" presStyleCnt="0"/>
      <dgm:spPr/>
    </dgm:pt>
    <dgm:pt modelId="{B9FC12A4-ED91-7D44-BFDA-3D37C9F80CC5}" type="pres">
      <dgm:prSet presAssocID="{170378AB-18CB-BB4F-9BC5-49DEABA1FB11}" presName="imgShp" presStyleLbl="fgImgPlace1" presStyleIdx="2" presStyleCnt="3"/>
      <dgm:spPr>
        <a:blipFill>
          <a:blip xmlns:r="http://schemas.openxmlformats.org/officeDocument/2006/relationships" r:embed="rId2" cstate="email">
            <a:extLst>
              <a:ext uri="{28A0092B-C50C-407E-A947-70E740481C1C}">
                <a14:useLocalDpi xmlns:a14="http://schemas.microsoft.com/office/drawing/2010/main" val="0"/>
              </a:ext>
            </a:extLst>
          </a:blip>
          <a:srcRect/>
          <a:stretch>
            <a:fillRect l="-27000" r="-27000"/>
          </a:stretch>
        </a:blipFill>
        <a:ln>
          <a:solidFill>
            <a:schemeClr val="accent4">
              <a:lumMod val="75000"/>
            </a:schemeClr>
          </a:solidFill>
        </a:ln>
      </dgm:spPr>
    </dgm:pt>
    <dgm:pt modelId="{18457066-1DC8-0247-B51E-77D189F5A5F4}" type="pres">
      <dgm:prSet presAssocID="{170378AB-18CB-BB4F-9BC5-49DEABA1FB11}" presName="txShp" presStyleLbl="node1" presStyleIdx="2" presStyleCnt="3">
        <dgm:presLayoutVars>
          <dgm:bulletEnabled val="1"/>
        </dgm:presLayoutVars>
      </dgm:prSet>
      <dgm:spPr/>
    </dgm:pt>
  </dgm:ptLst>
  <dgm:cxnLst>
    <dgm:cxn modelId="{EB7E5B3D-EE02-F74F-AF5C-55997E415AE4}" srcId="{CD5273A1-E5D1-B04E-95BF-659B93F92F7D}" destId="{037FE542-E8DE-E84C-9FC8-403E364B89A2}" srcOrd="1" destOrd="0" parTransId="{D9585AFC-8ABF-F944-8B07-C4DCB5D3209C}" sibTransId="{1BB26860-4B8E-3D41-8693-DD57A6D49EEF}"/>
    <dgm:cxn modelId="{03218172-267B-8F43-9F01-1798DC1FE46D}" type="presOf" srcId="{037FE542-E8DE-E84C-9FC8-403E364B89A2}" destId="{CB0DE6A7-BCD7-1445-A8A4-D4ABFDE77439}" srcOrd="0" destOrd="0" presId="urn:microsoft.com/office/officeart/2005/8/layout/vList3"/>
    <dgm:cxn modelId="{67BC1A8E-411B-6F4A-9ED0-8E11F4F2079E}" type="presOf" srcId="{C7C3A01B-9457-4640-A307-A3FD8BF3FED0}" destId="{0558B358-BC26-BC4B-B3AD-FD76AFCD5205}" srcOrd="0" destOrd="0" presId="urn:microsoft.com/office/officeart/2005/8/layout/vList3"/>
    <dgm:cxn modelId="{A7B192CA-5FD0-B54C-915B-05F0F4B31D6B}" srcId="{CD5273A1-E5D1-B04E-95BF-659B93F92F7D}" destId="{170378AB-18CB-BB4F-9BC5-49DEABA1FB11}" srcOrd="2" destOrd="0" parTransId="{D3EB5E94-A9F9-004F-A12F-67EAAA7266B7}" sibTransId="{6E4679DD-A9E8-1741-B643-28325CE32E0A}"/>
    <dgm:cxn modelId="{D097F4D1-BA19-3246-959D-53BD9F39408F}" type="presOf" srcId="{170378AB-18CB-BB4F-9BC5-49DEABA1FB11}" destId="{18457066-1DC8-0247-B51E-77D189F5A5F4}" srcOrd="0" destOrd="0" presId="urn:microsoft.com/office/officeart/2005/8/layout/vList3"/>
    <dgm:cxn modelId="{F4BFFAF2-7E3F-3C4A-AA52-48D73842B0A8}" srcId="{CD5273A1-E5D1-B04E-95BF-659B93F92F7D}" destId="{C7C3A01B-9457-4640-A307-A3FD8BF3FED0}" srcOrd="0" destOrd="0" parTransId="{7958EFBD-20ED-A74F-9D1A-52E54FCD226B}" sibTransId="{A49045F8-F818-464E-ABE2-FB1E386B86A6}"/>
    <dgm:cxn modelId="{EFFD27FB-7BF9-2149-B5E3-23818583C7A0}" type="presOf" srcId="{CD5273A1-E5D1-B04E-95BF-659B93F92F7D}" destId="{BF34846B-A289-B64F-8C8E-012CE2D0ACD1}" srcOrd="0" destOrd="0" presId="urn:microsoft.com/office/officeart/2005/8/layout/vList3"/>
    <dgm:cxn modelId="{09378AFD-10DE-CC49-9F27-CF9FB6F06558}" type="presParOf" srcId="{BF34846B-A289-B64F-8C8E-012CE2D0ACD1}" destId="{283823C1-075C-2D44-88FD-A14B2A5A5B31}" srcOrd="0" destOrd="0" presId="urn:microsoft.com/office/officeart/2005/8/layout/vList3"/>
    <dgm:cxn modelId="{4E789CF5-CB0A-394F-8F51-BAF2BED1AAAF}" type="presParOf" srcId="{283823C1-075C-2D44-88FD-A14B2A5A5B31}" destId="{5D2EE72D-DDD4-634E-9D96-236D8E0FDDA0}" srcOrd="0" destOrd="0" presId="urn:microsoft.com/office/officeart/2005/8/layout/vList3"/>
    <dgm:cxn modelId="{6D876370-FF42-0141-8E2A-D586D4DD84FC}" type="presParOf" srcId="{283823C1-075C-2D44-88FD-A14B2A5A5B31}" destId="{0558B358-BC26-BC4B-B3AD-FD76AFCD5205}" srcOrd="1" destOrd="0" presId="urn:microsoft.com/office/officeart/2005/8/layout/vList3"/>
    <dgm:cxn modelId="{26896AE1-6374-DC43-9F32-1676BF770F0F}" type="presParOf" srcId="{BF34846B-A289-B64F-8C8E-012CE2D0ACD1}" destId="{8F0D425C-BC93-584E-ACCD-B8EB16744AE5}" srcOrd="1" destOrd="0" presId="urn:microsoft.com/office/officeart/2005/8/layout/vList3"/>
    <dgm:cxn modelId="{478F5E89-918C-BB4C-85EF-AB33DF8C6081}" type="presParOf" srcId="{BF34846B-A289-B64F-8C8E-012CE2D0ACD1}" destId="{72540BC9-6F42-D84C-A03B-F230B6794D1C}" srcOrd="2" destOrd="0" presId="urn:microsoft.com/office/officeart/2005/8/layout/vList3"/>
    <dgm:cxn modelId="{D7714309-C84C-D747-8045-07094DDC3756}" type="presParOf" srcId="{72540BC9-6F42-D84C-A03B-F230B6794D1C}" destId="{EDACB2B6-4EBC-F344-8C50-0259A9F30BB6}" srcOrd="0" destOrd="0" presId="urn:microsoft.com/office/officeart/2005/8/layout/vList3"/>
    <dgm:cxn modelId="{3D81C5ED-A0DF-E744-AF9D-F57054A51477}" type="presParOf" srcId="{72540BC9-6F42-D84C-A03B-F230B6794D1C}" destId="{CB0DE6A7-BCD7-1445-A8A4-D4ABFDE77439}" srcOrd="1" destOrd="0" presId="urn:microsoft.com/office/officeart/2005/8/layout/vList3"/>
    <dgm:cxn modelId="{0326ADB5-7A54-AA47-8F2F-69A3D6221B11}" type="presParOf" srcId="{BF34846B-A289-B64F-8C8E-012CE2D0ACD1}" destId="{162503DB-86EF-5647-8D7F-2B49F16C7866}" srcOrd="3" destOrd="0" presId="urn:microsoft.com/office/officeart/2005/8/layout/vList3"/>
    <dgm:cxn modelId="{0B4EF698-FA3F-404C-95B6-49591107FB3D}" type="presParOf" srcId="{BF34846B-A289-B64F-8C8E-012CE2D0ACD1}" destId="{47C18B3E-08B9-9C41-A3B9-52B2519E0A13}" srcOrd="4" destOrd="0" presId="urn:microsoft.com/office/officeart/2005/8/layout/vList3"/>
    <dgm:cxn modelId="{20F4F4CF-857B-944A-8A9F-2C9994E2D95A}" type="presParOf" srcId="{47C18B3E-08B9-9C41-A3B9-52B2519E0A13}" destId="{B9FC12A4-ED91-7D44-BFDA-3D37C9F80CC5}" srcOrd="0" destOrd="0" presId="urn:microsoft.com/office/officeart/2005/8/layout/vList3"/>
    <dgm:cxn modelId="{272BF9DC-14C7-9E4A-8C98-36AD53319D5E}" type="presParOf" srcId="{47C18B3E-08B9-9C41-A3B9-52B2519E0A13}" destId="{18457066-1DC8-0247-B51E-77D189F5A5F4}"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D5273A1-E5D1-B04E-95BF-659B93F92F7D}" type="doc">
      <dgm:prSet loTypeId="urn:microsoft.com/office/officeart/2005/8/layout/vList3" loCatId="list" qsTypeId="urn:microsoft.com/office/officeart/2005/8/quickstyle/simple1" qsCatId="simple" csTypeId="urn:microsoft.com/office/officeart/2005/8/colors/colorful3" csCatId="colorful" phldr="1"/>
      <dgm:spPr/>
      <dgm:t>
        <a:bodyPr/>
        <a:lstStyle/>
        <a:p>
          <a:endParaRPr lang="en-GB"/>
        </a:p>
      </dgm:t>
    </dgm:pt>
    <dgm:pt modelId="{C7C3A01B-9457-4640-A307-A3FD8BF3FED0}">
      <dgm:prSet/>
      <dgm:spPr/>
      <dgm:t>
        <a:bodyPr/>
        <a:lstStyle/>
        <a:p>
          <a:r>
            <a:rPr lang="en-AU" dirty="0"/>
            <a:t>Test on mean, variance known.</a:t>
          </a:r>
          <a:endParaRPr lang="en-MY" dirty="0"/>
        </a:p>
      </dgm:t>
    </dgm:pt>
    <dgm:pt modelId="{7958EFBD-20ED-A74F-9D1A-52E54FCD226B}" type="parTrans" cxnId="{F4BFFAF2-7E3F-3C4A-AA52-48D73842B0A8}">
      <dgm:prSet/>
      <dgm:spPr/>
      <dgm:t>
        <a:bodyPr/>
        <a:lstStyle/>
        <a:p>
          <a:endParaRPr lang="en-GB"/>
        </a:p>
      </dgm:t>
    </dgm:pt>
    <dgm:pt modelId="{A49045F8-F818-464E-ABE2-FB1E386B86A6}" type="sibTrans" cxnId="{F4BFFAF2-7E3F-3C4A-AA52-48D73842B0A8}">
      <dgm:prSet/>
      <dgm:spPr/>
      <dgm:t>
        <a:bodyPr/>
        <a:lstStyle/>
        <a:p>
          <a:endParaRPr lang="en-GB"/>
        </a:p>
      </dgm:t>
    </dgm:pt>
    <dgm:pt modelId="{037FE542-E8DE-E84C-9FC8-403E364B89A2}">
      <dgm:prSet/>
      <dgm:spPr/>
      <dgm:t>
        <a:bodyPr/>
        <a:lstStyle/>
        <a:p>
          <a:r>
            <a:rPr lang="en-AU"/>
            <a:t>Test on mean, variance unknown.</a:t>
          </a:r>
          <a:endParaRPr lang="en-MY"/>
        </a:p>
      </dgm:t>
    </dgm:pt>
    <dgm:pt modelId="{D9585AFC-8ABF-F944-8B07-C4DCB5D3209C}" type="parTrans" cxnId="{EB7E5B3D-EE02-F74F-AF5C-55997E415AE4}">
      <dgm:prSet/>
      <dgm:spPr/>
      <dgm:t>
        <a:bodyPr/>
        <a:lstStyle/>
        <a:p>
          <a:endParaRPr lang="en-GB"/>
        </a:p>
      </dgm:t>
    </dgm:pt>
    <dgm:pt modelId="{1BB26860-4B8E-3D41-8693-DD57A6D49EEF}" type="sibTrans" cxnId="{EB7E5B3D-EE02-F74F-AF5C-55997E415AE4}">
      <dgm:prSet/>
      <dgm:spPr/>
      <dgm:t>
        <a:bodyPr/>
        <a:lstStyle/>
        <a:p>
          <a:endParaRPr lang="en-GB"/>
        </a:p>
      </dgm:t>
    </dgm:pt>
    <dgm:pt modelId="{170378AB-18CB-BB4F-9BC5-49DEABA1FB11}">
      <dgm:prSet/>
      <dgm:spPr/>
      <dgm:t>
        <a:bodyPr/>
        <a:lstStyle/>
        <a:p>
          <a:r>
            <a:rPr lang="en-AU"/>
            <a:t>Test on variance/standard deviation.</a:t>
          </a:r>
          <a:endParaRPr lang="en-MY"/>
        </a:p>
      </dgm:t>
    </dgm:pt>
    <dgm:pt modelId="{D3EB5E94-A9F9-004F-A12F-67EAAA7266B7}" type="parTrans" cxnId="{A7B192CA-5FD0-B54C-915B-05F0F4B31D6B}">
      <dgm:prSet/>
      <dgm:spPr/>
      <dgm:t>
        <a:bodyPr/>
        <a:lstStyle/>
        <a:p>
          <a:endParaRPr lang="en-GB"/>
        </a:p>
      </dgm:t>
    </dgm:pt>
    <dgm:pt modelId="{6E4679DD-A9E8-1741-B643-28325CE32E0A}" type="sibTrans" cxnId="{A7B192CA-5FD0-B54C-915B-05F0F4B31D6B}">
      <dgm:prSet/>
      <dgm:spPr/>
      <dgm:t>
        <a:bodyPr/>
        <a:lstStyle/>
        <a:p>
          <a:endParaRPr lang="en-GB"/>
        </a:p>
      </dgm:t>
    </dgm:pt>
    <dgm:pt modelId="{BF34846B-A289-B64F-8C8E-012CE2D0ACD1}" type="pres">
      <dgm:prSet presAssocID="{CD5273A1-E5D1-B04E-95BF-659B93F92F7D}" presName="linearFlow" presStyleCnt="0">
        <dgm:presLayoutVars>
          <dgm:dir/>
          <dgm:resizeHandles val="exact"/>
        </dgm:presLayoutVars>
      </dgm:prSet>
      <dgm:spPr/>
    </dgm:pt>
    <dgm:pt modelId="{283823C1-075C-2D44-88FD-A14B2A5A5B31}" type="pres">
      <dgm:prSet presAssocID="{C7C3A01B-9457-4640-A307-A3FD8BF3FED0}" presName="composite" presStyleCnt="0"/>
      <dgm:spPr/>
    </dgm:pt>
    <dgm:pt modelId="{5D2EE72D-DDD4-634E-9D96-236D8E0FDDA0}" type="pres">
      <dgm:prSet presAssocID="{C7C3A01B-9457-4640-A307-A3FD8BF3FED0}" presName="imgShp"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a:solidFill>
            <a:schemeClr val="accent3"/>
          </a:solidFill>
        </a:ln>
      </dgm:spPr>
    </dgm:pt>
    <dgm:pt modelId="{0558B358-BC26-BC4B-B3AD-FD76AFCD5205}" type="pres">
      <dgm:prSet presAssocID="{C7C3A01B-9457-4640-A307-A3FD8BF3FED0}" presName="txShp" presStyleLbl="node1" presStyleIdx="0" presStyleCnt="3">
        <dgm:presLayoutVars>
          <dgm:bulletEnabled val="1"/>
        </dgm:presLayoutVars>
      </dgm:prSet>
      <dgm:spPr/>
    </dgm:pt>
    <dgm:pt modelId="{8F0D425C-BC93-584E-ACCD-B8EB16744AE5}" type="pres">
      <dgm:prSet presAssocID="{A49045F8-F818-464E-ABE2-FB1E386B86A6}" presName="spacing" presStyleCnt="0"/>
      <dgm:spPr/>
    </dgm:pt>
    <dgm:pt modelId="{72540BC9-6F42-D84C-A03B-F230B6794D1C}" type="pres">
      <dgm:prSet presAssocID="{037FE542-E8DE-E84C-9FC8-403E364B89A2}" presName="composite" presStyleCnt="0"/>
      <dgm:spPr/>
    </dgm:pt>
    <dgm:pt modelId="{EDACB2B6-4EBC-F344-8C50-0259A9F30BB6}" type="pres">
      <dgm:prSet presAssocID="{037FE542-E8DE-E84C-9FC8-403E364B89A2}" presName="imgShp" presStyleLbl="fgImgPlace1" presStyleIdx="1"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a:solidFill>
            <a:schemeClr val="accent5"/>
          </a:solidFill>
        </a:ln>
      </dgm:spPr>
    </dgm:pt>
    <dgm:pt modelId="{CB0DE6A7-BCD7-1445-A8A4-D4ABFDE77439}" type="pres">
      <dgm:prSet presAssocID="{037FE542-E8DE-E84C-9FC8-403E364B89A2}" presName="txShp" presStyleLbl="node1" presStyleIdx="1" presStyleCnt="3">
        <dgm:presLayoutVars>
          <dgm:bulletEnabled val="1"/>
        </dgm:presLayoutVars>
      </dgm:prSet>
      <dgm:spPr/>
    </dgm:pt>
    <dgm:pt modelId="{162503DB-86EF-5647-8D7F-2B49F16C7866}" type="pres">
      <dgm:prSet presAssocID="{1BB26860-4B8E-3D41-8693-DD57A6D49EEF}" presName="spacing" presStyleCnt="0"/>
      <dgm:spPr/>
    </dgm:pt>
    <dgm:pt modelId="{47C18B3E-08B9-9C41-A3B9-52B2519E0A13}" type="pres">
      <dgm:prSet presAssocID="{170378AB-18CB-BB4F-9BC5-49DEABA1FB11}" presName="composite" presStyleCnt="0"/>
      <dgm:spPr/>
    </dgm:pt>
    <dgm:pt modelId="{B9FC12A4-ED91-7D44-BFDA-3D37C9F80CC5}" type="pres">
      <dgm:prSet presAssocID="{170378AB-18CB-BB4F-9BC5-49DEABA1FB11}" presName="imgShp" presStyleLbl="fgImgPlace1" presStyleIdx="2" presStyleCnt="3"/>
      <dgm:spPr>
        <a:blipFill>
          <a:blip xmlns:r="http://schemas.openxmlformats.org/officeDocument/2006/relationships" r:embed="rId2" cstate="email">
            <a:extLst>
              <a:ext uri="{28A0092B-C50C-407E-A947-70E740481C1C}">
                <a14:useLocalDpi xmlns:a14="http://schemas.microsoft.com/office/drawing/2010/main" val="0"/>
              </a:ext>
            </a:extLst>
          </a:blip>
          <a:srcRect/>
          <a:stretch>
            <a:fillRect l="-27000" r="-27000"/>
          </a:stretch>
        </a:blipFill>
        <a:ln>
          <a:solidFill>
            <a:schemeClr val="accent4">
              <a:lumMod val="75000"/>
            </a:schemeClr>
          </a:solidFill>
        </a:ln>
      </dgm:spPr>
    </dgm:pt>
    <dgm:pt modelId="{18457066-1DC8-0247-B51E-77D189F5A5F4}" type="pres">
      <dgm:prSet presAssocID="{170378AB-18CB-BB4F-9BC5-49DEABA1FB11}" presName="txShp" presStyleLbl="node1" presStyleIdx="2" presStyleCnt="3">
        <dgm:presLayoutVars>
          <dgm:bulletEnabled val="1"/>
        </dgm:presLayoutVars>
      </dgm:prSet>
      <dgm:spPr/>
    </dgm:pt>
  </dgm:ptLst>
  <dgm:cxnLst>
    <dgm:cxn modelId="{EB7E5B3D-EE02-F74F-AF5C-55997E415AE4}" srcId="{CD5273A1-E5D1-B04E-95BF-659B93F92F7D}" destId="{037FE542-E8DE-E84C-9FC8-403E364B89A2}" srcOrd="1" destOrd="0" parTransId="{D9585AFC-8ABF-F944-8B07-C4DCB5D3209C}" sibTransId="{1BB26860-4B8E-3D41-8693-DD57A6D49EEF}"/>
    <dgm:cxn modelId="{03218172-267B-8F43-9F01-1798DC1FE46D}" type="presOf" srcId="{037FE542-E8DE-E84C-9FC8-403E364B89A2}" destId="{CB0DE6A7-BCD7-1445-A8A4-D4ABFDE77439}" srcOrd="0" destOrd="0" presId="urn:microsoft.com/office/officeart/2005/8/layout/vList3"/>
    <dgm:cxn modelId="{67BC1A8E-411B-6F4A-9ED0-8E11F4F2079E}" type="presOf" srcId="{C7C3A01B-9457-4640-A307-A3FD8BF3FED0}" destId="{0558B358-BC26-BC4B-B3AD-FD76AFCD5205}" srcOrd="0" destOrd="0" presId="urn:microsoft.com/office/officeart/2005/8/layout/vList3"/>
    <dgm:cxn modelId="{A7B192CA-5FD0-B54C-915B-05F0F4B31D6B}" srcId="{CD5273A1-E5D1-B04E-95BF-659B93F92F7D}" destId="{170378AB-18CB-BB4F-9BC5-49DEABA1FB11}" srcOrd="2" destOrd="0" parTransId="{D3EB5E94-A9F9-004F-A12F-67EAAA7266B7}" sibTransId="{6E4679DD-A9E8-1741-B643-28325CE32E0A}"/>
    <dgm:cxn modelId="{D097F4D1-BA19-3246-959D-53BD9F39408F}" type="presOf" srcId="{170378AB-18CB-BB4F-9BC5-49DEABA1FB11}" destId="{18457066-1DC8-0247-B51E-77D189F5A5F4}" srcOrd="0" destOrd="0" presId="urn:microsoft.com/office/officeart/2005/8/layout/vList3"/>
    <dgm:cxn modelId="{F4BFFAF2-7E3F-3C4A-AA52-48D73842B0A8}" srcId="{CD5273A1-E5D1-B04E-95BF-659B93F92F7D}" destId="{C7C3A01B-9457-4640-A307-A3FD8BF3FED0}" srcOrd="0" destOrd="0" parTransId="{7958EFBD-20ED-A74F-9D1A-52E54FCD226B}" sibTransId="{A49045F8-F818-464E-ABE2-FB1E386B86A6}"/>
    <dgm:cxn modelId="{EFFD27FB-7BF9-2149-B5E3-23818583C7A0}" type="presOf" srcId="{CD5273A1-E5D1-B04E-95BF-659B93F92F7D}" destId="{BF34846B-A289-B64F-8C8E-012CE2D0ACD1}" srcOrd="0" destOrd="0" presId="urn:microsoft.com/office/officeart/2005/8/layout/vList3"/>
    <dgm:cxn modelId="{09378AFD-10DE-CC49-9F27-CF9FB6F06558}" type="presParOf" srcId="{BF34846B-A289-B64F-8C8E-012CE2D0ACD1}" destId="{283823C1-075C-2D44-88FD-A14B2A5A5B31}" srcOrd="0" destOrd="0" presId="urn:microsoft.com/office/officeart/2005/8/layout/vList3"/>
    <dgm:cxn modelId="{4E789CF5-CB0A-394F-8F51-BAF2BED1AAAF}" type="presParOf" srcId="{283823C1-075C-2D44-88FD-A14B2A5A5B31}" destId="{5D2EE72D-DDD4-634E-9D96-236D8E0FDDA0}" srcOrd="0" destOrd="0" presId="urn:microsoft.com/office/officeart/2005/8/layout/vList3"/>
    <dgm:cxn modelId="{6D876370-FF42-0141-8E2A-D586D4DD84FC}" type="presParOf" srcId="{283823C1-075C-2D44-88FD-A14B2A5A5B31}" destId="{0558B358-BC26-BC4B-B3AD-FD76AFCD5205}" srcOrd="1" destOrd="0" presId="urn:microsoft.com/office/officeart/2005/8/layout/vList3"/>
    <dgm:cxn modelId="{26896AE1-6374-DC43-9F32-1676BF770F0F}" type="presParOf" srcId="{BF34846B-A289-B64F-8C8E-012CE2D0ACD1}" destId="{8F0D425C-BC93-584E-ACCD-B8EB16744AE5}" srcOrd="1" destOrd="0" presId="urn:microsoft.com/office/officeart/2005/8/layout/vList3"/>
    <dgm:cxn modelId="{478F5E89-918C-BB4C-85EF-AB33DF8C6081}" type="presParOf" srcId="{BF34846B-A289-B64F-8C8E-012CE2D0ACD1}" destId="{72540BC9-6F42-D84C-A03B-F230B6794D1C}" srcOrd="2" destOrd="0" presId="urn:microsoft.com/office/officeart/2005/8/layout/vList3"/>
    <dgm:cxn modelId="{D7714309-C84C-D747-8045-07094DDC3756}" type="presParOf" srcId="{72540BC9-6F42-D84C-A03B-F230B6794D1C}" destId="{EDACB2B6-4EBC-F344-8C50-0259A9F30BB6}" srcOrd="0" destOrd="0" presId="urn:microsoft.com/office/officeart/2005/8/layout/vList3"/>
    <dgm:cxn modelId="{3D81C5ED-A0DF-E744-AF9D-F57054A51477}" type="presParOf" srcId="{72540BC9-6F42-D84C-A03B-F230B6794D1C}" destId="{CB0DE6A7-BCD7-1445-A8A4-D4ABFDE77439}" srcOrd="1" destOrd="0" presId="urn:microsoft.com/office/officeart/2005/8/layout/vList3"/>
    <dgm:cxn modelId="{0326ADB5-7A54-AA47-8F2F-69A3D6221B11}" type="presParOf" srcId="{BF34846B-A289-B64F-8C8E-012CE2D0ACD1}" destId="{162503DB-86EF-5647-8D7F-2B49F16C7866}" srcOrd="3" destOrd="0" presId="urn:microsoft.com/office/officeart/2005/8/layout/vList3"/>
    <dgm:cxn modelId="{0B4EF698-FA3F-404C-95B6-49591107FB3D}" type="presParOf" srcId="{BF34846B-A289-B64F-8C8E-012CE2D0ACD1}" destId="{47C18B3E-08B9-9C41-A3B9-52B2519E0A13}" srcOrd="4" destOrd="0" presId="urn:microsoft.com/office/officeart/2005/8/layout/vList3"/>
    <dgm:cxn modelId="{20F4F4CF-857B-944A-8A9F-2C9994E2D95A}" type="presParOf" srcId="{47C18B3E-08B9-9C41-A3B9-52B2519E0A13}" destId="{B9FC12A4-ED91-7D44-BFDA-3D37C9F80CC5}" srcOrd="0" destOrd="0" presId="urn:microsoft.com/office/officeart/2005/8/layout/vList3"/>
    <dgm:cxn modelId="{272BF9DC-14C7-9E4A-8C98-36AD53319D5E}" type="presParOf" srcId="{47C18B3E-08B9-9C41-A3B9-52B2519E0A13}" destId="{18457066-1DC8-0247-B51E-77D189F5A5F4}"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681314-B32B-AA42-9757-1C3305E760DD}">
      <dsp:nvSpPr>
        <dsp:cNvPr id="0" name=""/>
        <dsp:cNvSpPr/>
      </dsp:nvSpPr>
      <dsp:spPr>
        <a:xfrm>
          <a:off x="1763" y="506387"/>
          <a:ext cx="3308449" cy="165422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90000"/>
            </a:lnSpc>
            <a:spcBef>
              <a:spcPct val="0"/>
            </a:spcBef>
            <a:spcAft>
              <a:spcPct val="35000"/>
            </a:spcAft>
            <a:buNone/>
          </a:pPr>
          <a:r>
            <a:rPr lang="en-US" sz="4400" i="1" kern="1200"/>
            <a:t>P</a:t>
          </a:r>
          <a:r>
            <a:rPr lang="en-US" sz="4400" kern="1200"/>
            <a:t>-value method</a:t>
          </a:r>
          <a:endParaRPr lang="en-MY" sz="4400" kern="1200"/>
        </a:p>
      </dsp:txBody>
      <dsp:txXfrm>
        <a:off x="1763" y="506387"/>
        <a:ext cx="3308449" cy="1654224"/>
      </dsp:txXfrm>
    </dsp:sp>
    <dsp:sp modelId="{458EB371-07F6-0741-A94B-4A5674D20EFB}">
      <dsp:nvSpPr>
        <dsp:cNvPr id="0" name=""/>
        <dsp:cNvSpPr/>
      </dsp:nvSpPr>
      <dsp:spPr>
        <a:xfrm>
          <a:off x="4004987" y="506387"/>
          <a:ext cx="3308449" cy="165422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1955800">
            <a:lnSpc>
              <a:spcPct val="90000"/>
            </a:lnSpc>
            <a:spcBef>
              <a:spcPct val="0"/>
            </a:spcBef>
            <a:spcAft>
              <a:spcPct val="35000"/>
            </a:spcAft>
            <a:buNone/>
          </a:pPr>
          <a:r>
            <a:rPr lang="en-US" sz="4400" kern="1200"/>
            <a:t>Critical Region method</a:t>
          </a:r>
          <a:endParaRPr lang="en-MY" sz="4400" kern="1200"/>
        </a:p>
      </dsp:txBody>
      <dsp:txXfrm>
        <a:off x="4004987" y="506387"/>
        <a:ext cx="3308449" cy="16542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58B358-BC26-BC4B-B3AD-FD76AFCD5205}">
      <dsp:nvSpPr>
        <dsp:cNvPr id="0" name=""/>
        <dsp:cNvSpPr/>
      </dsp:nvSpPr>
      <dsp:spPr>
        <a:xfrm rot="10800000">
          <a:off x="1807599" y="2113"/>
          <a:ext cx="5928741" cy="1257080"/>
        </a:xfrm>
        <a:prstGeom prst="homePlat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4337" tIns="133350" rIns="248920" bIns="133350" numCol="1" spcCol="1270" anchor="ctr" anchorCtr="0">
          <a:noAutofit/>
        </a:bodyPr>
        <a:lstStyle/>
        <a:p>
          <a:pPr marL="0" lvl="0" indent="0" algn="ctr" defTabSz="1555750">
            <a:lnSpc>
              <a:spcPct val="90000"/>
            </a:lnSpc>
            <a:spcBef>
              <a:spcPct val="0"/>
            </a:spcBef>
            <a:spcAft>
              <a:spcPct val="35000"/>
            </a:spcAft>
            <a:buNone/>
          </a:pPr>
          <a:r>
            <a:rPr lang="en-AU" sz="3500" kern="1200" dirty="0"/>
            <a:t>Test on mean, variance known.</a:t>
          </a:r>
          <a:endParaRPr lang="en-MY" sz="3500" kern="1200" dirty="0"/>
        </a:p>
      </dsp:txBody>
      <dsp:txXfrm rot="10800000">
        <a:off x="2121869" y="2113"/>
        <a:ext cx="5614471" cy="1257080"/>
      </dsp:txXfrm>
    </dsp:sp>
    <dsp:sp modelId="{5D2EE72D-DDD4-634E-9D96-236D8E0FDDA0}">
      <dsp:nvSpPr>
        <dsp:cNvPr id="0" name=""/>
        <dsp:cNvSpPr/>
      </dsp:nvSpPr>
      <dsp:spPr>
        <a:xfrm>
          <a:off x="1179059" y="2113"/>
          <a:ext cx="1257080" cy="125708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w="25400" cap="flat" cmpd="sng" algn="ctr">
          <a:solidFill>
            <a:schemeClr val="accent3"/>
          </a:solidFill>
          <a:prstDash val="solid"/>
        </a:ln>
        <a:effectLst/>
      </dsp:spPr>
      <dsp:style>
        <a:lnRef idx="2">
          <a:scrgbClr r="0" g="0" b="0"/>
        </a:lnRef>
        <a:fillRef idx="1">
          <a:scrgbClr r="0" g="0" b="0"/>
        </a:fillRef>
        <a:effectRef idx="0">
          <a:scrgbClr r="0" g="0" b="0"/>
        </a:effectRef>
        <a:fontRef idx="minor"/>
      </dsp:style>
    </dsp:sp>
    <dsp:sp modelId="{CB0DE6A7-BCD7-1445-A8A4-D4ABFDE77439}">
      <dsp:nvSpPr>
        <dsp:cNvPr id="0" name=""/>
        <dsp:cNvSpPr/>
      </dsp:nvSpPr>
      <dsp:spPr>
        <a:xfrm rot="10800000">
          <a:off x="1807599" y="1634441"/>
          <a:ext cx="5928741" cy="1257080"/>
        </a:xfrm>
        <a:prstGeom prst="homePlate">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4337" tIns="133350" rIns="248920" bIns="133350" numCol="1" spcCol="1270" anchor="ctr" anchorCtr="0">
          <a:noAutofit/>
        </a:bodyPr>
        <a:lstStyle/>
        <a:p>
          <a:pPr marL="0" lvl="0" indent="0" algn="ctr" defTabSz="1555750">
            <a:lnSpc>
              <a:spcPct val="90000"/>
            </a:lnSpc>
            <a:spcBef>
              <a:spcPct val="0"/>
            </a:spcBef>
            <a:spcAft>
              <a:spcPct val="35000"/>
            </a:spcAft>
            <a:buNone/>
          </a:pPr>
          <a:r>
            <a:rPr lang="en-AU" sz="3500" kern="1200"/>
            <a:t>Test on mean, variance unknown.</a:t>
          </a:r>
          <a:endParaRPr lang="en-MY" sz="3500" kern="1200"/>
        </a:p>
      </dsp:txBody>
      <dsp:txXfrm rot="10800000">
        <a:off x="2121869" y="1634441"/>
        <a:ext cx="5614471" cy="1257080"/>
      </dsp:txXfrm>
    </dsp:sp>
    <dsp:sp modelId="{EDACB2B6-4EBC-F344-8C50-0259A9F30BB6}">
      <dsp:nvSpPr>
        <dsp:cNvPr id="0" name=""/>
        <dsp:cNvSpPr/>
      </dsp:nvSpPr>
      <dsp:spPr>
        <a:xfrm>
          <a:off x="1179059" y="1634441"/>
          <a:ext cx="1257080" cy="125708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w="25400" cap="flat" cmpd="sng" algn="ctr">
          <a:solidFill>
            <a:schemeClr val="accent5"/>
          </a:solidFill>
          <a:prstDash val="solid"/>
        </a:ln>
        <a:effectLst/>
      </dsp:spPr>
      <dsp:style>
        <a:lnRef idx="2">
          <a:scrgbClr r="0" g="0" b="0"/>
        </a:lnRef>
        <a:fillRef idx="1">
          <a:scrgbClr r="0" g="0" b="0"/>
        </a:fillRef>
        <a:effectRef idx="0">
          <a:scrgbClr r="0" g="0" b="0"/>
        </a:effectRef>
        <a:fontRef idx="minor"/>
      </dsp:style>
    </dsp:sp>
    <dsp:sp modelId="{18457066-1DC8-0247-B51E-77D189F5A5F4}">
      <dsp:nvSpPr>
        <dsp:cNvPr id="0" name=""/>
        <dsp:cNvSpPr/>
      </dsp:nvSpPr>
      <dsp:spPr>
        <a:xfrm rot="10800000">
          <a:off x="1807599" y="3266769"/>
          <a:ext cx="5928741" cy="1257080"/>
        </a:xfrm>
        <a:prstGeom prst="homePlate">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4337" tIns="133350" rIns="248920" bIns="133350" numCol="1" spcCol="1270" anchor="ctr" anchorCtr="0">
          <a:noAutofit/>
        </a:bodyPr>
        <a:lstStyle/>
        <a:p>
          <a:pPr marL="0" lvl="0" indent="0" algn="ctr" defTabSz="1555750">
            <a:lnSpc>
              <a:spcPct val="90000"/>
            </a:lnSpc>
            <a:spcBef>
              <a:spcPct val="0"/>
            </a:spcBef>
            <a:spcAft>
              <a:spcPct val="35000"/>
            </a:spcAft>
            <a:buNone/>
          </a:pPr>
          <a:r>
            <a:rPr lang="en-AU" sz="3500" kern="1200"/>
            <a:t>Test on variance/standard deviation.</a:t>
          </a:r>
          <a:endParaRPr lang="en-MY" sz="3500" kern="1200"/>
        </a:p>
      </dsp:txBody>
      <dsp:txXfrm rot="10800000">
        <a:off x="2121869" y="3266769"/>
        <a:ext cx="5614471" cy="1257080"/>
      </dsp:txXfrm>
    </dsp:sp>
    <dsp:sp modelId="{B9FC12A4-ED91-7D44-BFDA-3D37C9F80CC5}">
      <dsp:nvSpPr>
        <dsp:cNvPr id="0" name=""/>
        <dsp:cNvSpPr/>
      </dsp:nvSpPr>
      <dsp:spPr>
        <a:xfrm>
          <a:off x="1179059" y="3266769"/>
          <a:ext cx="1257080" cy="1257080"/>
        </a:xfrm>
        <a:prstGeom prst="ellipse">
          <a:avLst/>
        </a:prstGeom>
        <a:blipFill>
          <a:blip xmlns:r="http://schemas.openxmlformats.org/officeDocument/2006/relationships" r:embed="rId2" cstate="email">
            <a:extLst>
              <a:ext uri="{28A0092B-C50C-407E-A947-70E740481C1C}">
                <a14:useLocalDpi xmlns:a14="http://schemas.microsoft.com/office/drawing/2010/main" val="0"/>
              </a:ext>
            </a:extLst>
          </a:blip>
          <a:srcRect/>
          <a:stretch>
            <a:fillRect l="-27000" r="-27000"/>
          </a:stretch>
        </a:blipFill>
        <a:ln w="25400" cap="flat" cmpd="sng" algn="ctr">
          <a:solidFill>
            <a:schemeClr val="accent4">
              <a:lumMod val="7500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58B358-BC26-BC4B-B3AD-FD76AFCD5205}">
      <dsp:nvSpPr>
        <dsp:cNvPr id="0" name=""/>
        <dsp:cNvSpPr/>
      </dsp:nvSpPr>
      <dsp:spPr>
        <a:xfrm rot="10800000">
          <a:off x="1807599" y="2113"/>
          <a:ext cx="5928741" cy="1257080"/>
        </a:xfrm>
        <a:prstGeom prst="homePlat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4337" tIns="133350" rIns="248920" bIns="133350" numCol="1" spcCol="1270" anchor="ctr" anchorCtr="0">
          <a:noAutofit/>
        </a:bodyPr>
        <a:lstStyle/>
        <a:p>
          <a:pPr marL="0" lvl="0" indent="0" algn="ctr" defTabSz="1555750">
            <a:lnSpc>
              <a:spcPct val="90000"/>
            </a:lnSpc>
            <a:spcBef>
              <a:spcPct val="0"/>
            </a:spcBef>
            <a:spcAft>
              <a:spcPct val="35000"/>
            </a:spcAft>
            <a:buNone/>
          </a:pPr>
          <a:r>
            <a:rPr lang="en-AU" sz="3500" kern="1200" dirty="0"/>
            <a:t>Test on mean, variance known.</a:t>
          </a:r>
          <a:endParaRPr lang="en-MY" sz="3500" kern="1200" dirty="0"/>
        </a:p>
      </dsp:txBody>
      <dsp:txXfrm rot="10800000">
        <a:off x="2121869" y="2113"/>
        <a:ext cx="5614471" cy="1257080"/>
      </dsp:txXfrm>
    </dsp:sp>
    <dsp:sp modelId="{5D2EE72D-DDD4-634E-9D96-236D8E0FDDA0}">
      <dsp:nvSpPr>
        <dsp:cNvPr id="0" name=""/>
        <dsp:cNvSpPr/>
      </dsp:nvSpPr>
      <dsp:spPr>
        <a:xfrm>
          <a:off x="1179059" y="2113"/>
          <a:ext cx="1257080" cy="125708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w="25400" cap="flat" cmpd="sng" algn="ctr">
          <a:solidFill>
            <a:schemeClr val="accent3"/>
          </a:solidFill>
          <a:prstDash val="solid"/>
        </a:ln>
        <a:effectLst/>
      </dsp:spPr>
      <dsp:style>
        <a:lnRef idx="2">
          <a:scrgbClr r="0" g="0" b="0"/>
        </a:lnRef>
        <a:fillRef idx="1">
          <a:scrgbClr r="0" g="0" b="0"/>
        </a:fillRef>
        <a:effectRef idx="0">
          <a:scrgbClr r="0" g="0" b="0"/>
        </a:effectRef>
        <a:fontRef idx="minor"/>
      </dsp:style>
    </dsp:sp>
    <dsp:sp modelId="{CB0DE6A7-BCD7-1445-A8A4-D4ABFDE77439}">
      <dsp:nvSpPr>
        <dsp:cNvPr id="0" name=""/>
        <dsp:cNvSpPr/>
      </dsp:nvSpPr>
      <dsp:spPr>
        <a:xfrm rot="10800000">
          <a:off x="1807599" y="1634441"/>
          <a:ext cx="5928741" cy="1257080"/>
        </a:xfrm>
        <a:prstGeom prst="homePlate">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4337" tIns="133350" rIns="248920" bIns="133350" numCol="1" spcCol="1270" anchor="ctr" anchorCtr="0">
          <a:noAutofit/>
        </a:bodyPr>
        <a:lstStyle/>
        <a:p>
          <a:pPr marL="0" lvl="0" indent="0" algn="ctr" defTabSz="1555750">
            <a:lnSpc>
              <a:spcPct val="90000"/>
            </a:lnSpc>
            <a:spcBef>
              <a:spcPct val="0"/>
            </a:spcBef>
            <a:spcAft>
              <a:spcPct val="35000"/>
            </a:spcAft>
            <a:buNone/>
          </a:pPr>
          <a:r>
            <a:rPr lang="en-AU" sz="3500" kern="1200"/>
            <a:t>Test on mean, variance unknown.</a:t>
          </a:r>
          <a:endParaRPr lang="en-MY" sz="3500" kern="1200"/>
        </a:p>
      </dsp:txBody>
      <dsp:txXfrm rot="10800000">
        <a:off x="2121869" y="1634441"/>
        <a:ext cx="5614471" cy="1257080"/>
      </dsp:txXfrm>
    </dsp:sp>
    <dsp:sp modelId="{EDACB2B6-4EBC-F344-8C50-0259A9F30BB6}">
      <dsp:nvSpPr>
        <dsp:cNvPr id="0" name=""/>
        <dsp:cNvSpPr/>
      </dsp:nvSpPr>
      <dsp:spPr>
        <a:xfrm>
          <a:off x="1179059" y="1634441"/>
          <a:ext cx="1257080" cy="125708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w="25400" cap="flat" cmpd="sng" algn="ctr">
          <a:solidFill>
            <a:schemeClr val="accent5"/>
          </a:solidFill>
          <a:prstDash val="solid"/>
        </a:ln>
        <a:effectLst/>
      </dsp:spPr>
      <dsp:style>
        <a:lnRef idx="2">
          <a:scrgbClr r="0" g="0" b="0"/>
        </a:lnRef>
        <a:fillRef idx="1">
          <a:scrgbClr r="0" g="0" b="0"/>
        </a:fillRef>
        <a:effectRef idx="0">
          <a:scrgbClr r="0" g="0" b="0"/>
        </a:effectRef>
        <a:fontRef idx="minor"/>
      </dsp:style>
    </dsp:sp>
    <dsp:sp modelId="{18457066-1DC8-0247-B51E-77D189F5A5F4}">
      <dsp:nvSpPr>
        <dsp:cNvPr id="0" name=""/>
        <dsp:cNvSpPr/>
      </dsp:nvSpPr>
      <dsp:spPr>
        <a:xfrm rot="10800000">
          <a:off x="1807599" y="3266769"/>
          <a:ext cx="5928741" cy="1257080"/>
        </a:xfrm>
        <a:prstGeom prst="homePlate">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4337" tIns="133350" rIns="248920" bIns="133350" numCol="1" spcCol="1270" anchor="ctr" anchorCtr="0">
          <a:noAutofit/>
        </a:bodyPr>
        <a:lstStyle/>
        <a:p>
          <a:pPr marL="0" lvl="0" indent="0" algn="ctr" defTabSz="1555750">
            <a:lnSpc>
              <a:spcPct val="90000"/>
            </a:lnSpc>
            <a:spcBef>
              <a:spcPct val="0"/>
            </a:spcBef>
            <a:spcAft>
              <a:spcPct val="35000"/>
            </a:spcAft>
            <a:buNone/>
          </a:pPr>
          <a:r>
            <a:rPr lang="en-AU" sz="3500" kern="1200"/>
            <a:t>Test on variance/standard deviation.</a:t>
          </a:r>
          <a:endParaRPr lang="en-MY" sz="3500" kern="1200"/>
        </a:p>
      </dsp:txBody>
      <dsp:txXfrm rot="10800000">
        <a:off x="2121869" y="3266769"/>
        <a:ext cx="5614471" cy="1257080"/>
      </dsp:txXfrm>
    </dsp:sp>
    <dsp:sp modelId="{B9FC12A4-ED91-7D44-BFDA-3D37C9F80CC5}">
      <dsp:nvSpPr>
        <dsp:cNvPr id="0" name=""/>
        <dsp:cNvSpPr/>
      </dsp:nvSpPr>
      <dsp:spPr>
        <a:xfrm>
          <a:off x="1179059" y="3266769"/>
          <a:ext cx="1257080" cy="1257080"/>
        </a:xfrm>
        <a:prstGeom prst="ellipse">
          <a:avLst/>
        </a:prstGeom>
        <a:blipFill>
          <a:blip xmlns:r="http://schemas.openxmlformats.org/officeDocument/2006/relationships" r:embed="rId2" cstate="email">
            <a:extLst>
              <a:ext uri="{28A0092B-C50C-407E-A947-70E740481C1C}">
                <a14:useLocalDpi xmlns:a14="http://schemas.microsoft.com/office/drawing/2010/main" val="0"/>
              </a:ext>
            </a:extLst>
          </a:blip>
          <a:srcRect/>
          <a:stretch>
            <a:fillRect l="-27000" r="-27000"/>
          </a:stretch>
        </a:blipFill>
        <a:ln w="25400" cap="flat" cmpd="sng" algn="ctr">
          <a:solidFill>
            <a:schemeClr val="accent4">
              <a:lumMod val="7500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58B358-BC26-BC4B-B3AD-FD76AFCD5205}">
      <dsp:nvSpPr>
        <dsp:cNvPr id="0" name=""/>
        <dsp:cNvSpPr/>
      </dsp:nvSpPr>
      <dsp:spPr>
        <a:xfrm rot="10800000">
          <a:off x="1807599" y="2113"/>
          <a:ext cx="5928741" cy="1257080"/>
        </a:xfrm>
        <a:prstGeom prst="homePlat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4337" tIns="133350" rIns="248920" bIns="133350" numCol="1" spcCol="1270" anchor="ctr" anchorCtr="0">
          <a:noAutofit/>
        </a:bodyPr>
        <a:lstStyle/>
        <a:p>
          <a:pPr marL="0" lvl="0" indent="0" algn="ctr" defTabSz="1555750">
            <a:lnSpc>
              <a:spcPct val="90000"/>
            </a:lnSpc>
            <a:spcBef>
              <a:spcPct val="0"/>
            </a:spcBef>
            <a:spcAft>
              <a:spcPct val="35000"/>
            </a:spcAft>
            <a:buNone/>
          </a:pPr>
          <a:r>
            <a:rPr lang="en-AU" sz="3500" kern="1200" dirty="0"/>
            <a:t>Test on mean, variance known.</a:t>
          </a:r>
          <a:endParaRPr lang="en-MY" sz="3500" kern="1200" dirty="0"/>
        </a:p>
      </dsp:txBody>
      <dsp:txXfrm rot="10800000">
        <a:off x="2121869" y="2113"/>
        <a:ext cx="5614471" cy="1257080"/>
      </dsp:txXfrm>
    </dsp:sp>
    <dsp:sp modelId="{5D2EE72D-DDD4-634E-9D96-236D8E0FDDA0}">
      <dsp:nvSpPr>
        <dsp:cNvPr id="0" name=""/>
        <dsp:cNvSpPr/>
      </dsp:nvSpPr>
      <dsp:spPr>
        <a:xfrm>
          <a:off x="1179059" y="2113"/>
          <a:ext cx="1257080" cy="125708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w="25400" cap="flat" cmpd="sng" algn="ctr">
          <a:solidFill>
            <a:schemeClr val="accent3"/>
          </a:solidFill>
          <a:prstDash val="solid"/>
        </a:ln>
        <a:effectLst/>
      </dsp:spPr>
      <dsp:style>
        <a:lnRef idx="2">
          <a:scrgbClr r="0" g="0" b="0"/>
        </a:lnRef>
        <a:fillRef idx="1">
          <a:scrgbClr r="0" g="0" b="0"/>
        </a:fillRef>
        <a:effectRef idx="0">
          <a:scrgbClr r="0" g="0" b="0"/>
        </a:effectRef>
        <a:fontRef idx="minor"/>
      </dsp:style>
    </dsp:sp>
    <dsp:sp modelId="{CB0DE6A7-BCD7-1445-A8A4-D4ABFDE77439}">
      <dsp:nvSpPr>
        <dsp:cNvPr id="0" name=""/>
        <dsp:cNvSpPr/>
      </dsp:nvSpPr>
      <dsp:spPr>
        <a:xfrm rot="10800000">
          <a:off x="1807599" y="1634441"/>
          <a:ext cx="5928741" cy="1257080"/>
        </a:xfrm>
        <a:prstGeom prst="homePlate">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4337" tIns="133350" rIns="248920" bIns="133350" numCol="1" spcCol="1270" anchor="ctr" anchorCtr="0">
          <a:noAutofit/>
        </a:bodyPr>
        <a:lstStyle/>
        <a:p>
          <a:pPr marL="0" lvl="0" indent="0" algn="ctr" defTabSz="1555750">
            <a:lnSpc>
              <a:spcPct val="90000"/>
            </a:lnSpc>
            <a:spcBef>
              <a:spcPct val="0"/>
            </a:spcBef>
            <a:spcAft>
              <a:spcPct val="35000"/>
            </a:spcAft>
            <a:buNone/>
          </a:pPr>
          <a:r>
            <a:rPr lang="en-AU" sz="3500" kern="1200"/>
            <a:t>Test on mean, variance unknown.</a:t>
          </a:r>
          <a:endParaRPr lang="en-MY" sz="3500" kern="1200"/>
        </a:p>
      </dsp:txBody>
      <dsp:txXfrm rot="10800000">
        <a:off x="2121869" y="1634441"/>
        <a:ext cx="5614471" cy="1257080"/>
      </dsp:txXfrm>
    </dsp:sp>
    <dsp:sp modelId="{EDACB2B6-4EBC-F344-8C50-0259A9F30BB6}">
      <dsp:nvSpPr>
        <dsp:cNvPr id="0" name=""/>
        <dsp:cNvSpPr/>
      </dsp:nvSpPr>
      <dsp:spPr>
        <a:xfrm>
          <a:off x="1179059" y="1634441"/>
          <a:ext cx="1257080" cy="125708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w="25400" cap="flat" cmpd="sng" algn="ctr">
          <a:solidFill>
            <a:schemeClr val="accent5"/>
          </a:solidFill>
          <a:prstDash val="solid"/>
        </a:ln>
        <a:effectLst/>
      </dsp:spPr>
      <dsp:style>
        <a:lnRef idx="2">
          <a:scrgbClr r="0" g="0" b="0"/>
        </a:lnRef>
        <a:fillRef idx="1">
          <a:scrgbClr r="0" g="0" b="0"/>
        </a:fillRef>
        <a:effectRef idx="0">
          <a:scrgbClr r="0" g="0" b="0"/>
        </a:effectRef>
        <a:fontRef idx="minor"/>
      </dsp:style>
    </dsp:sp>
    <dsp:sp modelId="{18457066-1DC8-0247-B51E-77D189F5A5F4}">
      <dsp:nvSpPr>
        <dsp:cNvPr id="0" name=""/>
        <dsp:cNvSpPr/>
      </dsp:nvSpPr>
      <dsp:spPr>
        <a:xfrm rot="10800000">
          <a:off x="1807599" y="3266769"/>
          <a:ext cx="5928741" cy="1257080"/>
        </a:xfrm>
        <a:prstGeom prst="homePlate">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4337" tIns="133350" rIns="248920" bIns="133350" numCol="1" spcCol="1270" anchor="ctr" anchorCtr="0">
          <a:noAutofit/>
        </a:bodyPr>
        <a:lstStyle/>
        <a:p>
          <a:pPr marL="0" lvl="0" indent="0" algn="ctr" defTabSz="1555750">
            <a:lnSpc>
              <a:spcPct val="90000"/>
            </a:lnSpc>
            <a:spcBef>
              <a:spcPct val="0"/>
            </a:spcBef>
            <a:spcAft>
              <a:spcPct val="35000"/>
            </a:spcAft>
            <a:buNone/>
          </a:pPr>
          <a:r>
            <a:rPr lang="en-AU" sz="3500" kern="1200"/>
            <a:t>Test on variance/standard deviation.</a:t>
          </a:r>
          <a:endParaRPr lang="en-MY" sz="3500" kern="1200"/>
        </a:p>
      </dsp:txBody>
      <dsp:txXfrm rot="10800000">
        <a:off x="2121869" y="3266769"/>
        <a:ext cx="5614471" cy="1257080"/>
      </dsp:txXfrm>
    </dsp:sp>
    <dsp:sp modelId="{B9FC12A4-ED91-7D44-BFDA-3D37C9F80CC5}">
      <dsp:nvSpPr>
        <dsp:cNvPr id="0" name=""/>
        <dsp:cNvSpPr/>
      </dsp:nvSpPr>
      <dsp:spPr>
        <a:xfrm>
          <a:off x="1179059" y="3266769"/>
          <a:ext cx="1257080" cy="1257080"/>
        </a:xfrm>
        <a:prstGeom prst="ellipse">
          <a:avLst/>
        </a:prstGeom>
        <a:blipFill>
          <a:blip xmlns:r="http://schemas.openxmlformats.org/officeDocument/2006/relationships" r:embed="rId2" cstate="email">
            <a:extLst>
              <a:ext uri="{28A0092B-C50C-407E-A947-70E740481C1C}">
                <a14:useLocalDpi xmlns:a14="http://schemas.microsoft.com/office/drawing/2010/main" val="0"/>
              </a:ext>
            </a:extLst>
          </a:blip>
          <a:srcRect/>
          <a:stretch>
            <a:fillRect l="-27000" r="-27000"/>
          </a:stretch>
        </a:blipFill>
        <a:ln w="25400" cap="flat" cmpd="sng" algn="ctr">
          <a:solidFill>
            <a:schemeClr val="accent4">
              <a:lumMod val="7500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58B358-BC26-BC4B-B3AD-FD76AFCD5205}">
      <dsp:nvSpPr>
        <dsp:cNvPr id="0" name=""/>
        <dsp:cNvSpPr/>
      </dsp:nvSpPr>
      <dsp:spPr>
        <a:xfrm rot="10800000">
          <a:off x="1807599" y="2113"/>
          <a:ext cx="5928741" cy="1257080"/>
        </a:xfrm>
        <a:prstGeom prst="homePlat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4337" tIns="133350" rIns="248920" bIns="133350" numCol="1" spcCol="1270" anchor="ctr" anchorCtr="0">
          <a:noAutofit/>
        </a:bodyPr>
        <a:lstStyle/>
        <a:p>
          <a:pPr marL="0" lvl="0" indent="0" algn="ctr" defTabSz="1555750">
            <a:lnSpc>
              <a:spcPct val="90000"/>
            </a:lnSpc>
            <a:spcBef>
              <a:spcPct val="0"/>
            </a:spcBef>
            <a:spcAft>
              <a:spcPct val="35000"/>
            </a:spcAft>
            <a:buNone/>
          </a:pPr>
          <a:r>
            <a:rPr lang="en-AU" sz="3500" kern="1200" dirty="0"/>
            <a:t>Test on mean, variance known.</a:t>
          </a:r>
          <a:endParaRPr lang="en-MY" sz="3500" kern="1200" dirty="0"/>
        </a:p>
      </dsp:txBody>
      <dsp:txXfrm rot="10800000">
        <a:off x="2121869" y="2113"/>
        <a:ext cx="5614471" cy="1257080"/>
      </dsp:txXfrm>
    </dsp:sp>
    <dsp:sp modelId="{5D2EE72D-DDD4-634E-9D96-236D8E0FDDA0}">
      <dsp:nvSpPr>
        <dsp:cNvPr id="0" name=""/>
        <dsp:cNvSpPr/>
      </dsp:nvSpPr>
      <dsp:spPr>
        <a:xfrm>
          <a:off x="1179059" y="2113"/>
          <a:ext cx="1257080" cy="125708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w="25400" cap="flat" cmpd="sng" algn="ctr">
          <a:solidFill>
            <a:schemeClr val="accent3"/>
          </a:solidFill>
          <a:prstDash val="solid"/>
        </a:ln>
        <a:effectLst/>
      </dsp:spPr>
      <dsp:style>
        <a:lnRef idx="2">
          <a:scrgbClr r="0" g="0" b="0"/>
        </a:lnRef>
        <a:fillRef idx="1">
          <a:scrgbClr r="0" g="0" b="0"/>
        </a:fillRef>
        <a:effectRef idx="0">
          <a:scrgbClr r="0" g="0" b="0"/>
        </a:effectRef>
        <a:fontRef idx="minor"/>
      </dsp:style>
    </dsp:sp>
    <dsp:sp modelId="{CB0DE6A7-BCD7-1445-A8A4-D4ABFDE77439}">
      <dsp:nvSpPr>
        <dsp:cNvPr id="0" name=""/>
        <dsp:cNvSpPr/>
      </dsp:nvSpPr>
      <dsp:spPr>
        <a:xfrm rot="10800000">
          <a:off x="1807599" y="1634441"/>
          <a:ext cx="5928741" cy="1257080"/>
        </a:xfrm>
        <a:prstGeom prst="homePlate">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4337" tIns="133350" rIns="248920" bIns="133350" numCol="1" spcCol="1270" anchor="ctr" anchorCtr="0">
          <a:noAutofit/>
        </a:bodyPr>
        <a:lstStyle/>
        <a:p>
          <a:pPr marL="0" lvl="0" indent="0" algn="ctr" defTabSz="1555750">
            <a:lnSpc>
              <a:spcPct val="90000"/>
            </a:lnSpc>
            <a:spcBef>
              <a:spcPct val="0"/>
            </a:spcBef>
            <a:spcAft>
              <a:spcPct val="35000"/>
            </a:spcAft>
            <a:buNone/>
          </a:pPr>
          <a:r>
            <a:rPr lang="en-AU" sz="3500" kern="1200"/>
            <a:t>Test on mean, variance unknown.</a:t>
          </a:r>
          <a:endParaRPr lang="en-MY" sz="3500" kern="1200"/>
        </a:p>
      </dsp:txBody>
      <dsp:txXfrm rot="10800000">
        <a:off x="2121869" y="1634441"/>
        <a:ext cx="5614471" cy="1257080"/>
      </dsp:txXfrm>
    </dsp:sp>
    <dsp:sp modelId="{EDACB2B6-4EBC-F344-8C50-0259A9F30BB6}">
      <dsp:nvSpPr>
        <dsp:cNvPr id="0" name=""/>
        <dsp:cNvSpPr/>
      </dsp:nvSpPr>
      <dsp:spPr>
        <a:xfrm>
          <a:off x="1179059" y="1634441"/>
          <a:ext cx="1257080" cy="125708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w="25400" cap="flat" cmpd="sng" algn="ctr">
          <a:solidFill>
            <a:schemeClr val="accent5"/>
          </a:solidFill>
          <a:prstDash val="solid"/>
        </a:ln>
        <a:effectLst/>
      </dsp:spPr>
      <dsp:style>
        <a:lnRef idx="2">
          <a:scrgbClr r="0" g="0" b="0"/>
        </a:lnRef>
        <a:fillRef idx="1">
          <a:scrgbClr r="0" g="0" b="0"/>
        </a:fillRef>
        <a:effectRef idx="0">
          <a:scrgbClr r="0" g="0" b="0"/>
        </a:effectRef>
        <a:fontRef idx="minor"/>
      </dsp:style>
    </dsp:sp>
    <dsp:sp modelId="{18457066-1DC8-0247-B51E-77D189F5A5F4}">
      <dsp:nvSpPr>
        <dsp:cNvPr id="0" name=""/>
        <dsp:cNvSpPr/>
      </dsp:nvSpPr>
      <dsp:spPr>
        <a:xfrm rot="10800000">
          <a:off x="1807599" y="3266769"/>
          <a:ext cx="5928741" cy="1257080"/>
        </a:xfrm>
        <a:prstGeom prst="homePlate">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4337" tIns="133350" rIns="248920" bIns="133350" numCol="1" spcCol="1270" anchor="ctr" anchorCtr="0">
          <a:noAutofit/>
        </a:bodyPr>
        <a:lstStyle/>
        <a:p>
          <a:pPr marL="0" lvl="0" indent="0" algn="ctr" defTabSz="1555750">
            <a:lnSpc>
              <a:spcPct val="90000"/>
            </a:lnSpc>
            <a:spcBef>
              <a:spcPct val="0"/>
            </a:spcBef>
            <a:spcAft>
              <a:spcPct val="35000"/>
            </a:spcAft>
            <a:buNone/>
          </a:pPr>
          <a:r>
            <a:rPr lang="en-AU" sz="3500" kern="1200"/>
            <a:t>Test on variance/standard deviation.</a:t>
          </a:r>
          <a:endParaRPr lang="en-MY" sz="3500" kern="1200"/>
        </a:p>
      </dsp:txBody>
      <dsp:txXfrm rot="10800000">
        <a:off x="2121869" y="3266769"/>
        <a:ext cx="5614471" cy="1257080"/>
      </dsp:txXfrm>
    </dsp:sp>
    <dsp:sp modelId="{B9FC12A4-ED91-7D44-BFDA-3D37C9F80CC5}">
      <dsp:nvSpPr>
        <dsp:cNvPr id="0" name=""/>
        <dsp:cNvSpPr/>
      </dsp:nvSpPr>
      <dsp:spPr>
        <a:xfrm>
          <a:off x="1179059" y="3266769"/>
          <a:ext cx="1257080" cy="1257080"/>
        </a:xfrm>
        <a:prstGeom prst="ellipse">
          <a:avLst/>
        </a:prstGeom>
        <a:blipFill>
          <a:blip xmlns:r="http://schemas.openxmlformats.org/officeDocument/2006/relationships" r:embed="rId2" cstate="email">
            <a:extLst>
              <a:ext uri="{28A0092B-C50C-407E-A947-70E740481C1C}">
                <a14:useLocalDpi xmlns:a14="http://schemas.microsoft.com/office/drawing/2010/main" val="0"/>
              </a:ext>
            </a:extLst>
          </a:blip>
          <a:srcRect/>
          <a:stretch>
            <a:fillRect l="-27000" r="-27000"/>
          </a:stretch>
        </a:blipFill>
        <a:ln w="25400" cap="flat" cmpd="sng" algn="ctr">
          <a:solidFill>
            <a:schemeClr val="accent4">
              <a:lumMod val="7500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2C9677CF-7025-5240-9418-893D555BE64A}" type="datetimeFigureOut">
              <a:rPr lang="en-US"/>
              <a:pPr>
                <a:defRPr/>
              </a:pPr>
              <a:t>27-Mar-26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27403207-B2FB-5E4D-A996-DAB496A8B34D}" type="slidenum">
              <a:rPr lang="en-US"/>
              <a:pPr>
                <a:defRPr/>
              </a:pPr>
              <a:t>‹#›</a:t>
            </a:fld>
            <a:endParaRPr lang="en-US"/>
          </a:p>
        </p:txBody>
      </p:sp>
    </p:spTree>
    <p:extLst>
      <p:ext uri="{BB962C8B-B14F-4D97-AF65-F5344CB8AC3E}">
        <p14:creationId xmlns:p14="http://schemas.microsoft.com/office/powerpoint/2010/main" val="35693507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2E54A7E5-6329-5047-9A22-93618C074890}" type="datetimeFigureOut">
              <a:rPr lang="en-US"/>
              <a:pPr>
                <a:defRPr/>
              </a:pPr>
              <a:t>27-Mar-26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1787BD88-B114-B743-A28A-1A4CB952C392}" type="slidenum">
              <a:rPr lang="en-US"/>
              <a:pPr>
                <a:defRPr/>
              </a:pPr>
              <a:t>‹#›</a:t>
            </a:fld>
            <a:endParaRPr lang="en-US"/>
          </a:p>
        </p:txBody>
      </p:sp>
    </p:spTree>
    <p:extLst>
      <p:ext uri="{BB962C8B-B14F-4D97-AF65-F5344CB8AC3E}">
        <p14:creationId xmlns:p14="http://schemas.microsoft.com/office/powerpoint/2010/main" val="3085479493"/>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38248-4EBB-1F5D-5D32-316A9C59BA5D}"/>
            </a:ext>
          </a:extLst>
        </p:cNvPr>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01A7811A-443E-6CAB-38AB-D5FD9B7A8C89}"/>
              </a:ext>
            </a:extLst>
          </p:cNvPr>
          <p:cNvSpPr>
            <a:spLocks noGrp="1" noRot="1" noChangeAspect="1" noTextEdit="1"/>
          </p:cNvSpPr>
          <p:nvPr>
            <p:ph type="sldImg"/>
          </p:nvPr>
        </p:nvSpPr>
        <p:spPr>
          <a:xfrm>
            <a:off x="381000" y="685800"/>
            <a:ext cx="6096000" cy="3429000"/>
          </a:xfrm>
          <a:ln/>
        </p:spPr>
      </p:sp>
      <p:sp>
        <p:nvSpPr>
          <p:cNvPr id="97283" name="Notes Placeholder 2">
            <a:extLst>
              <a:ext uri="{FF2B5EF4-FFF2-40B4-BE49-F238E27FC236}">
                <a16:creationId xmlns:a16="http://schemas.microsoft.com/office/drawing/2014/main" id="{9A5ADDD2-4B69-96B3-AE53-EE252E205DF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MY" altLang="en-US">
              <a:ea typeface="ＭＳ Ｐゴシック" pitchFamily="34" charset="-128"/>
            </a:endParaRPr>
          </a:p>
        </p:txBody>
      </p:sp>
      <p:sp>
        <p:nvSpPr>
          <p:cNvPr id="97284" name="Footer Placeholder 3">
            <a:extLst>
              <a:ext uri="{FF2B5EF4-FFF2-40B4-BE49-F238E27FC236}">
                <a16:creationId xmlns:a16="http://schemas.microsoft.com/office/drawing/2014/main" id="{419E55BE-91F6-9D78-1F78-8FAC0C960D61}"/>
              </a:ext>
            </a:extLst>
          </p:cNvPr>
          <p:cNvSpPr>
            <a:spLocks noGrp="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249">
              <a:defRPr sz="2200" b="1">
                <a:solidFill>
                  <a:schemeClr val="tx1"/>
                </a:solidFill>
                <a:latin typeface="Arial" charset="0"/>
                <a:ea typeface="ＭＳ Ｐゴシック" pitchFamily="34" charset="-128"/>
              </a:defRPr>
            </a:lvl1pPr>
            <a:lvl2pPr marL="685669" indent="-263719" defTabSz="892249">
              <a:defRPr sz="2200" b="1">
                <a:solidFill>
                  <a:schemeClr val="tx1"/>
                </a:solidFill>
                <a:latin typeface="Arial" charset="0"/>
                <a:ea typeface="ＭＳ Ｐゴシック" pitchFamily="34" charset="-128"/>
              </a:defRPr>
            </a:lvl2pPr>
            <a:lvl3pPr marL="1054875" indent="-210975" defTabSz="892249">
              <a:defRPr sz="2200" b="1">
                <a:solidFill>
                  <a:schemeClr val="tx1"/>
                </a:solidFill>
                <a:latin typeface="Arial" charset="0"/>
                <a:ea typeface="ＭＳ Ｐゴシック" pitchFamily="34" charset="-128"/>
              </a:defRPr>
            </a:lvl3pPr>
            <a:lvl4pPr marL="1476825" indent="-210975" defTabSz="892249">
              <a:defRPr sz="2200" b="1">
                <a:solidFill>
                  <a:schemeClr val="tx1"/>
                </a:solidFill>
                <a:latin typeface="Arial" charset="0"/>
                <a:ea typeface="ＭＳ Ｐゴシック" pitchFamily="34" charset="-128"/>
              </a:defRPr>
            </a:lvl4pPr>
            <a:lvl5pPr marL="1898774" indent="-210975" defTabSz="892249">
              <a:defRPr sz="2200" b="1">
                <a:solidFill>
                  <a:schemeClr val="tx1"/>
                </a:solidFill>
                <a:latin typeface="Arial" charset="0"/>
                <a:ea typeface="ＭＳ Ｐゴシック" pitchFamily="34" charset="-128"/>
              </a:defRPr>
            </a:lvl5pPr>
            <a:lvl6pPr marL="23207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6pPr>
            <a:lvl7pPr marL="27426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7pPr>
            <a:lvl8pPr marL="31646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8pPr>
            <a:lvl9pPr marL="35865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9pPr>
          </a:lstStyle>
          <a:p>
            <a:r>
              <a:rPr lang="en-MY" altLang="en-US" sz="1200" b="0"/>
              <a:t>prepared by Razana Alwee / edited by Suhaila Mohamad Yusuf</a:t>
            </a:r>
            <a:endParaRPr lang="en-US" altLang="en-US" sz="1200" b="0"/>
          </a:p>
        </p:txBody>
      </p:sp>
      <p:sp>
        <p:nvSpPr>
          <p:cNvPr id="97285" name="Slide Number Placeholder 4">
            <a:extLst>
              <a:ext uri="{FF2B5EF4-FFF2-40B4-BE49-F238E27FC236}">
                <a16:creationId xmlns:a16="http://schemas.microsoft.com/office/drawing/2014/main" id="{11C0B6D5-1070-DECD-750E-5EDA8AA5C27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249">
              <a:defRPr sz="2200" b="1">
                <a:solidFill>
                  <a:schemeClr val="tx1"/>
                </a:solidFill>
                <a:latin typeface="Arial" charset="0"/>
                <a:ea typeface="ＭＳ Ｐゴシック" pitchFamily="34" charset="-128"/>
              </a:defRPr>
            </a:lvl1pPr>
            <a:lvl2pPr marL="685669" indent="-263719" defTabSz="892249">
              <a:defRPr sz="2200" b="1">
                <a:solidFill>
                  <a:schemeClr val="tx1"/>
                </a:solidFill>
                <a:latin typeface="Arial" charset="0"/>
                <a:ea typeface="ＭＳ Ｐゴシック" pitchFamily="34" charset="-128"/>
              </a:defRPr>
            </a:lvl2pPr>
            <a:lvl3pPr marL="1054875" indent="-210975" defTabSz="892249">
              <a:defRPr sz="2200" b="1">
                <a:solidFill>
                  <a:schemeClr val="tx1"/>
                </a:solidFill>
                <a:latin typeface="Arial" charset="0"/>
                <a:ea typeface="ＭＳ Ｐゴシック" pitchFamily="34" charset="-128"/>
              </a:defRPr>
            </a:lvl3pPr>
            <a:lvl4pPr marL="1476825" indent="-210975" defTabSz="892249">
              <a:defRPr sz="2200" b="1">
                <a:solidFill>
                  <a:schemeClr val="tx1"/>
                </a:solidFill>
                <a:latin typeface="Arial" charset="0"/>
                <a:ea typeface="ＭＳ Ｐゴシック" pitchFamily="34" charset="-128"/>
              </a:defRPr>
            </a:lvl4pPr>
            <a:lvl5pPr marL="1898774" indent="-210975" defTabSz="892249">
              <a:defRPr sz="2200" b="1">
                <a:solidFill>
                  <a:schemeClr val="tx1"/>
                </a:solidFill>
                <a:latin typeface="Arial" charset="0"/>
                <a:ea typeface="ＭＳ Ｐゴシック" pitchFamily="34" charset="-128"/>
              </a:defRPr>
            </a:lvl5pPr>
            <a:lvl6pPr marL="23207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6pPr>
            <a:lvl7pPr marL="27426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7pPr>
            <a:lvl8pPr marL="316462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8pPr>
            <a:lvl9pPr marL="3586574" indent="-210975" defTabSz="892249" eaLnBrk="0" fontAlgn="base" hangingPunct="0">
              <a:spcBef>
                <a:spcPct val="0"/>
              </a:spcBef>
              <a:spcAft>
                <a:spcPct val="0"/>
              </a:spcAft>
              <a:defRPr sz="2200" b="1">
                <a:solidFill>
                  <a:schemeClr val="tx1"/>
                </a:solidFill>
                <a:latin typeface="Arial" charset="0"/>
                <a:ea typeface="ＭＳ Ｐゴシック" pitchFamily="34" charset="-128"/>
              </a:defRPr>
            </a:lvl9pPr>
          </a:lstStyle>
          <a:p>
            <a:fld id="{9E2B35FF-2C05-4E5D-B5D1-428CB668629F}" type="slidenum">
              <a:rPr lang="en-US" altLang="en-US" sz="1200" b="0"/>
              <a:pPr/>
              <a:t>1</a:t>
            </a:fld>
            <a:endParaRPr lang="en-US" altLang="en-US" sz="1200" b="0"/>
          </a:p>
        </p:txBody>
      </p:sp>
    </p:spTree>
    <p:extLst>
      <p:ext uri="{BB962C8B-B14F-4D97-AF65-F5344CB8AC3E}">
        <p14:creationId xmlns:p14="http://schemas.microsoft.com/office/powerpoint/2010/main" val="2711130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4578"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
        <p:nvSpPr>
          <p:cNvPr id="24579" name="Footer Placeholder 3"/>
          <p:cNvSpPr>
            <a:spLocks noGrp="1"/>
          </p:cNvSpPr>
          <p:nvPr>
            <p:ph type="ftr" sz="quarter" idx="4"/>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200"/>
              <a:t>prepared by Razana Alwee</a:t>
            </a:r>
          </a:p>
        </p:txBody>
      </p:sp>
      <p:sp>
        <p:nvSpPr>
          <p:cNvPr id="24580" name="Slide Number Placeholder 4"/>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ED03A175-26EF-0040-8B35-757A07D0AEC7}" type="slidenum">
              <a:rPr lang="en-US" sz="1200"/>
              <a:pPr eaLnBrk="1" hangingPunct="1"/>
              <a:t>14</a:t>
            </a:fld>
            <a:endParaRPr lang="en-US" sz="1200"/>
          </a:p>
        </p:txBody>
      </p:sp>
    </p:spTree>
    <p:extLst>
      <p:ext uri="{BB962C8B-B14F-4D97-AF65-F5344CB8AC3E}">
        <p14:creationId xmlns:p14="http://schemas.microsoft.com/office/powerpoint/2010/main" val="121393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8674"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
        <p:nvSpPr>
          <p:cNvPr id="28675" name="Footer Placeholder 3"/>
          <p:cNvSpPr>
            <a:spLocks noGrp="1"/>
          </p:cNvSpPr>
          <p:nvPr>
            <p:ph type="ftr" sz="quarter" idx="4"/>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200"/>
              <a:t>prepared by Razana Alwee</a:t>
            </a:r>
          </a:p>
        </p:txBody>
      </p:sp>
      <p:sp>
        <p:nvSpPr>
          <p:cNvPr id="28676" name="Slide Number Placeholder 4"/>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6DF6F6BD-4233-2E43-ACFC-50A38E09CED4}" type="slidenum">
              <a:rPr lang="en-US" sz="1200"/>
              <a:pPr eaLnBrk="1" hangingPunct="1"/>
              <a:t>17</a:t>
            </a:fld>
            <a:endParaRPr lang="en-US" sz="1200"/>
          </a:p>
        </p:txBody>
      </p:sp>
    </p:spTree>
    <p:extLst>
      <p:ext uri="{BB962C8B-B14F-4D97-AF65-F5344CB8AC3E}">
        <p14:creationId xmlns:p14="http://schemas.microsoft.com/office/powerpoint/2010/main" val="1403351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4818"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
        <p:nvSpPr>
          <p:cNvPr id="34819" name="Footer Placeholder 3"/>
          <p:cNvSpPr>
            <a:spLocks noGrp="1"/>
          </p:cNvSpPr>
          <p:nvPr>
            <p:ph type="ftr" sz="quarter" idx="4"/>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200"/>
              <a:t>prepared by Razana Alwee</a:t>
            </a:r>
          </a:p>
        </p:txBody>
      </p:sp>
      <p:sp>
        <p:nvSpPr>
          <p:cNvPr id="34820" name="Slide Number Placeholder 4"/>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A83E4EFB-DAB4-9146-8C82-695C50EC5112}" type="slidenum">
              <a:rPr lang="en-US" sz="1200"/>
              <a:pPr eaLnBrk="1" hangingPunct="1"/>
              <a:t>23</a:t>
            </a:fld>
            <a:endParaRPr lang="en-US" sz="1200"/>
          </a:p>
        </p:txBody>
      </p:sp>
    </p:spTree>
    <p:extLst>
      <p:ext uri="{BB962C8B-B14F-4D97-AF65-F5344CB8AC3E}">
        <p14:creationId xmlns:p14="http://schemas.microsoft.com/office/powerpoint/2010/main" val="2718978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9938"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
        <p:nvSpPr>
          <p:cNvPr id="39939" name="Footer Placeholder 3"/>
          <p:cNvSpPr>
            <a:spLocks noGrp="1"/>
          </p:cNvSpPr>
          <p:nvPr>
            <p:ph type="ftr" sz="quarter" idx="4"/>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200"/>
              <a:t>prepared by Razana Alwee</a:t>
            </a:r>
          </a:p>
        </p:txBody>
      </p:sp>
      <p:sp>
        <p:nvSpPr>
          <p:cNvPr id="39940" name="Slide Number Placeholder 4"/>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AA23AAC1-23DE-1E45-9005-0FF71082FAA0}" type="slidenum">
              <a:rPr lang="en-US" sz="1200"/>
              <a:pPr eaLnBrk="1" hangingPunct="1"/>
              <a:t>28</a:t>
            </a:fld>
            <a:endParaRPr lang="en-US" sz="1200"/>
          </a:p>
        </p:txBody>
      </p:sp>
    </p:spTree>
    <p:extLst>
      <p:ext uri="{BB962C8B-B14F-4D97-AF65-F5344CB8AC3E}">
        <p14:creationId xmlns:p14="http://schemas.microsoft.com/office/powerpoint/2010/main" val="2853592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787BD88-B114-B743-A28A-1A4CB952C392}" type="slidenum">
              <a:rPr lang="en-US" smtClean="0"/>
              <a:pPr>
                <a:defRPr/>
              </a:pPr>
              <a:t>31</a:t>
            </a:fld>
            <a:endParaRPr lang="en-US"/>
          </a:p>
        </p:txBody>
      </p:sp>
    </p:spTree>
    <p:extLst>
      <p:ext uri="{BB962C8B-B14F-4D97-AF65-F5344CB8AC3E}">
        <p14:creationId xmlns:p14="http://schemas.microsoft.com/office/powerpoint/2010/main" val="693078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8130"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
        <p:nvSpPr>
          <p:cNvPr id="48131" name="Footer Placeholder 3"/>
          <p:cNvSpPr>
            <a:spLocks noGrp="1"/>
          </p:cNvSpPr>
          <p:nvPr>
            <p:ph type="ftr" sz="quarter" idx="4"/>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200"/>
              <a:t>prepared by Razana Alwee</a:t>
            </a:r>
          </a:p>
        </p:txBody>
      </p:sp>
      <p:sp>
        <p:nvSpPr>
          <p:cNvPr id="48132" name="Slide Number Placeholder 4"/>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99780613-B33C-9644-87C7-D03AC7F8FC9E}" type="slidenum">
              <a:rPr lang="en-US" sz="1200"/>
              <a:pPr eaLnBrk="1" hangingPunct="1"/>
              <a:t>35</a:t>
            </a:fld>
            <a:endParaRPr lang="en-US" sz="1200"/>
          </a:p>
        </p:txBody>
      </p:sp>
    </p:spTree>
    <p:extLst>
      <p:ext uri="{BB962C8B-B14F-4D97-AF65-F5344CB8AC3E}">
        <p14:creationId xmlns:p14="http://schemas.microsoft.com/office/powerpoint/2010/main" val="4230754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787BD88-B114-B743-A28A-1A4CB952C392}" type="slidenum">
              <a:rPr lang="en-US" smtClean="0"/>
              <a:pPr>
                <a:defRPr/>
              </a:pPr>
              <a:t>36</a:t>
            </a:fld>
            <a:endParaRPr lang="en-US"/>
          </a:p>
        </p:txBody>
      </p:sp>
    </p:spTree>
    <p:extLst>
      <p:ext uri="{BB962C8B-B14F-4D97-AF65-F5344CB8AC3E}">
        <p14:creationId xmlns:p14="http://schemas.microsoft.com/office/powerpoint/2010/main" val="40811030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787BD88-B114-B743-A28A-1A4CB952C392}" type="slidenum">
              <a:rPr lang="en-US" smtClean="0"/>
              <a:pPr>
                <a:defRPr/>
              </a:pPr>
              <a:t>37</a:t>
            </a:fld>
            <a:endParaRPr lang="en-US"/>
          </a:p>
        </p:txBody>
      </p:sp>
    </p:spTree>
    <p:extLst>
      <p:ext uri="{BB962C8B-B14F-4D97-AF65-F5344CB8AC3E}">
        <p14:creationId xmlns:p14="http://schemas.microsoft.com/office/powerpoint/2010/main" val="2057494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787BD88-B114-B743-A28A-1A4CB952C392}" type="slidenum">
              <a:rPr lang="en-US" smtClean="0"/>
              <a:pPr>
                <a:defRPr/>
              </a:pPr>
              <a:t>38</a:t>
            </a:fld>
            <a:endParaRPr lang="en-US"/>
          </a:p>
        </p:txBody>
      </p:sp>
    </p:spTree>
    <p:extLst>
      <p:ext uri="{BB962C8B-B14F-4D97-AF65-F5344CB8AC3E}">
        <p14:creationId xmlns:p14="http://schemas.microsoft.com/office/powerpoint/2010/main" val="3700809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1787BD88-B114-B743-A28A-1A4CB952C392}" type="slidenum">
              <a:rPr lang="en-US" smtClean="0"/>
              <a:pPr>
                <a:defRPr/>
              </a:pPr>
              <a:t>39</a:t>
            </a:fld>
            <a:endParaRPr lang="en-US"/>
          </a:p>
        </p:txBody>
      </p:sp>
    </p:spTree>
    <p:extLst>
      <p:ext uri="{BB962C8B-B14F-4D97-AF65-F5344CB8AC3E}">
        <p14:creationId xmlns:p14="http://schemas.microsoft.com/office/powerpoint/2010/main" val="1717143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6562"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
        <p:nvSpPr>
          <p:cNvPr id="66563" name="Footer Placeholder 3"/>
          <p:cNvSpPr>
            <a:spLocks noGrp="1"/>
          </p:cNvSpPr>
          <p:nvPr>
            <p:ph type="ftr" sz="quarter" idx="4"/>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200"/>
              <a:t>prepared by Razana Alwee</a:t>
            </a:r>
          </a:p>
        </p:txBody>
      </p:sp>
      <p:sp>
        <p:nvSpPr>
          <p:cNvPr id="66564" name="Slide Number Placeholder 4"/>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C80B24F-8C07-A744-8D4A-307F11CA0069}" type="slidenum">
              <a:rPr lang="en-US" sz="1200"/>
              <a:pPr eaLnBrk="1" hangingPunct="1"/>
              <a:t>48</a:t>
            </a:fld>
            <a:endParaRPr lang="en-US" sz="1200"/>
          </a:p>
        </p:txBody>
      </p:sp>
    </p:spTree>
    <p:extLst>
      <p:ext uri="{BB962C8B-B14F-4D97-AF65-F5344CB8AC3E}">
        <p14:creationId xmlns:p14="http://schemas.microsoft.com/office/powerpoint/2010/main" val="1813896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 name="Notes Placeholder 2"/>
          <p:cNvSpPr>
            <a:spLocks noGrp="1"/>
          </p:cNvSpPr>
          <p:nvPr>
            <p:ph type="body" idx="1"/>
          </p:nvPr>
        </p:nvSpPr>
        <p:spPr/>
        <p:txBody>
          <a:bodyPr>
            <a:normAutofit/>
          </a:bodyPr>
          <a:lstStyle/>
          <a:p>
            <a:pPr eaLnBrk="1" fontAlgn="t" hangingPunct="1">
              <a:defRPr/>
            </a:pPr>
            <a:r>
              <a:rPr lang="en-US" sz="1100" dirty="0">
                <a:latin typeface="Arial" charset="0"/>
                <a:ea typeface="ＭＳ Ｐゴシック" pitchFamily="96" charset="-128"/>
                <a:cs typeface="+mn-cs"/>
              </a:rPr>
              <a:t>Alternative hypothesis</a:t>
            </a:r>
          </a:p>
          <a:p>
            <a:pPr eaLnBrk="1" fontAlgn="t" hangingPunct="1">
              <a:defRPr/>
            </a:pPr>
            <a:r>
              <a:rPr lang="en-US" sz="1100" dirty="0">
                <a:latin typeface="Arial" charset="0"/>
                <a:ea typeface="ＭＳ Ｐゴシック" pitchFamily="96" charset="-128"/>
                <a:cs typeface="+mn-cs"/>
              </a:rPr>
              <a:t>Rejection Region</a:t>
            </a:r>
          </a:p>
          <a:p>
            <a:pPr eaLnBrk="1" fontAlgn="t" hangingPunct="1">
              <a:defRPr/>
            </a:pPr>
            <a:endParaRPr lang="en-US" sz="1100" dirty="0">
              <a:latin typeface="Arial" charset="0"/>
              <a:ea typeface="ＭＳ Ｐゴシック" pitchFamily="96" charset="-128"/>
              <a:cs typeface="+mn-cs"/>
            </a:endParaRPr>
          </a:p>
          <a:p>
            <a:pPr eaLnBrk="1" fontAlgn="t" hangingPunct="1">
              <a:defRPr/>
            </a:pPr>
            <a:endParaRPr lang="en-US" sz="1100" dirty="0">
              <a:latin typeface="Arial" charset="0"/>
              <a:ea typeface="ＭＳ Ｐゴシック" pitchFamily="96" charset="-128"/>
              <a:cs typeface="+mn-cs"/>
            </a:endParaRPr>
          </a:p>
          <a:p>
            <a:pPr eaLnBrk="1" fontAlgn="t" hangingPunct="1">
              <a:defRPr/>
            </a:pPr>
            <a:endParaRPr lang="en-US" sz="1100" dirty="0">
              <a:latin typeface="Arial" charset="0"/>
              <a:ea typeface="ＭＳ Ｐゴシック" pitchFamily="96" charset="-128"/>
              <a:cs typeface="+mn-cs"/>
            </a:endParaRPr>
          </a:p>
          <a:p>
            <a:pPr eaLnBrk="1" fontAlgn="t" hangingPunct="1">
              <a:defRPr/>
            </a:pPr>
            <a:endParaRPr lang="en-US" sz="1100" dirty="0">
              <a:latin typeface="Arial" charset="0"/>
              <a:ea typeface="ＭＳ Ｐゴシック" pitchFamily="96" charset="-128"/>
              <a:cs typeface="+mn-cs"/>
            </a:endParaRPr>
          </a:p>
          <a:p>
            <a:pPr eaLnBrk="1" fontAlgn="t" hangingPunct="1">
              <a:defRPr/>
            </a:pPr>
            <a:endParaRPr lang="en-US" sz="1100" dirty="0">
              <a:latin typeface="Arial" charset="0"/>
              <a:ea typeface="ＭＳ Ｐゴシック" pitchFamily="96" charset="-128"/>
              <a:cs typeface="+mn-cs"/>
            </a:endParaRPr>
          </a:p>
          <a:p>
            <a:pPr eaLnBrk="1" fontAlgn="t" hangingPunct="1">
              <a:defRPr/>
            </a:pPr>
            <a:endParaRPr lang="en-US" sz="1100" dirty="0">
              <a:latin typeface="Arial" charset="0"/>
              <a:ea typeface="ＭＳ Ｐゴシック" pitchFamily="96" charset="-128"/>
              <a:cs typeface="+mn-cs"/>
            </a:endParaRPr>
          </a:p>
          <a:p>
            <a:pPr>
              <a:defRPr/>
            </a:pPr>
            <a:endParaRPr lang="en-MY" dirty="0"/>
          </a:p>
        </p:txBody>
      </p:sp>
      <p:sp>
        <p:nvSpPr>
          <p:cNvPr id="70659" name="Footer Placeholder 3"/>
          <p:cNvSpPr>
            <a:spLocks noGrp="1"/>
          </p:cNvSpPr>
          <p:nvPr>
            <p:ph type="ftr" sz="quarter" idx="4"/>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200"/>
              <a:t>prepared by Razana Alwee</a:t>
            </a:r>
          </a:p>
        </p:txBody>
      </p:sp>
      <p:sp>
        <p:nvSpPr>
          <p:cNvPr id="70660" name="Slide Number Placeholder 4"/>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C0FBD940-F645-184C-963B-5A8BC75772FD}" type="slidenum">
              <a:rPr lang="en-US" sz="1200"/>
              <a:pPr eaLnBrk="1" hangingPunct="1"/>
              <a:t>50</a:t>
            </a:fld>
            <a:endParaRPr lang="en-US" sz="1200"/>
          </a:p>
        </p:txBody>
      </p:sp>
    </p:spTree>
    <p:extLst>
      <p:ext uri="{BB962C8B-B14F-4D97-AF65-F5344CB8AC3E}">
        <p14:creationId xmlns:p14="http://schemas.microsoft.com/office/powerpoint/2010/main" val="1251811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2706"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
        <p:nvSpPr>
          <p:cNvPr id="72707" name="Footer Placeholder 3"/>
          <p:cNvSpPr>
            <a:spLocks noGrp="1"/>
          </p:cNvSpPr>
          <p:nvPr>
            <p:ph type="ftr" sz="quarter" idx="4"/>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200"/>
              <a:t>prepared by Razana Alwee</a:t>
            </a:r>
          </a:p>
        </p:txBody>
      </p:sp>
      <p:sp>
        <p:nvSpPr>
          <p:cNvPr id="72708" name="Slide Number Placeholder 4"/>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3A83F9BF-7D8F-DD41-B144-AE42E0FC3345}" type="slidenum">
              <a:rPr lang="en-US" sz="1200"/>
              <a:pPr eaLnBrk="1" hangingPunct="1"/>
              <a:t>51</a:t>
            </a:fld>
            <a:endParaRPr lang="en-US" sz="1200"/>
          </a:p>
        </p:txBody>
      </p:sp>
    </p:spTree>
    <p:extLst>
      <p:ext uri="{BB962C8B-B14F-4D97-AF65-F5344CB8AC3E}">
        <p14:creationId xmlns:p14="http://schemas.microsoft.com/office/powerpoint/2010/main" val="23468504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88066"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
        <p:nvSpPr>
          <p:cNvPr id="88067" name="Footer Placeholder 3"/>
          <p:cNvSpPr>
            <a:spLocks noGrp="1"/>
          </p:cNvSpPr>
          <p:nvPr>
            <p:ph type="ftr" sz="quarter" idx="4"/>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200"/>
              <a:t>prepared by Razana Alwee</a:t>
            </a:r>
          </a:p>
        </p:txBody>
      </p:sp>
      <p:sp>
        <p:nvSpPr>
          <p:cNvPr id="88068" name="Slide Number Placeholder 4"/>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F0AC7126-85A5-D44A-A51D-991C286C855C}" type="slidenum">
              <a:rPr lang="en-US" sz="1200"/>
              <a:pPr eaLnBrk="1" hangingPunct="1"/>
              <a:t>61</a:t>
            </a:fld>
            <a:endParaRPr lang="en-US" sz="1200"/>
          </a:p>
        </p:txBody>
      </p:sp>
    </p:spTree>
    <p:extLst>
      <p:ext uri="{BB962C8B-B14F-4D97-AF65-F5344CB8AC3E}">
        <p14:creationId xmlns:p14="http://schemas.microsoft.com/office/powerpoint/2010/main" val="2946557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p>
            <a:r>
              <a:rPr lang="en-US"/>
              <a:t>Click to edit Master title style</a:t>
            </a:r>
            <a:endParaRPr lang="en-MY"/>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MY"/>
          </a:p>
        </p:txBody>
      </p:sp>
      <p:sp>
        <p:nvSpPr>
          <p:cNvPr id="4" name="Slide Number Placeholder 5"/>
          <p:cNvSpPr>
            <a:spLocks noGrp="1"/>
          </p:cNvSpPr>
          <p:nvPr>
            <p:ph type="sldNum" sz="quarter" idx="10"/>
          </p:nvPr>
        </p:nvSpPr>
        <p:spPr/>
        <p:txBody>
          <a:bodyPr/>
          <a:lstStyle>
            <a:lvl1pPr>
              <a:defRPr/>
            </a:lvl1pPr>
          </a:lstStyle>
          <a:p>
            <a:pPr>
              <a:defRPr/>
            </a:pPr>
            <a:fld id="{5A223343-2B58-8B4E-8500-2503AA592C86}" type="slidenum">
              <a:rPr lang="en-US"/>
              <a:pPr>
                <a:defRPr/>
              </a:pPr>
              <a:t>‹#›</a:t>
            </a:fld>
            <a:endParaRPr lang="en-US"/>
          </a:p>
        </p:txBody>
      </p:sp>
    </p:spTree>
    <p:extLst>
      <p:ext uri="{BB962C8B-B14F-4D97-AF65-F5344CB8AC3E}">
        <p14:creationId xmlns:p14="http://schemas.microsoft.com/office/powerpoint/2010/main" val="1994143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831637" y="274638"/>
            <a:ext cx="8750763" cy="1143000"/>
          </a:xfrm>
          <a:prstGeom prst="rect">
            <a:avLst/>
          </a:prstGeom>
        </p:spPr>
        <p:txBody>
          <a:bodyPr/>
          <a:lstStyle/>
          <a:p>
            <a:r>
              <a:rPr lang="en-US" dirty="0"/>
              <a:t>Click to edit Master title style</a:t>
            </a:r>
            <a:endParaRPr lang="en-MY" dirty="0"/>
          </a:p>
        </p:txBody>
      </p:sp>
      <p:sp>
        <p:nvSpPr>
          <p:cNvPr id="3" name="Content Placeholder 2"/>
          <p:cNvSpPr>
            <a:spLocks noGrp="1"/>
          </p:cNvSpPr>
          <p:nvPr>
            <p:ph idx="1"/>
          </p:nvPr>
        </p:nvSpPr>
        <p:spPr>
          <a:xfrm>
            <a:off x="2831637" y="1600201"/>
            <a:ext cx="8750763"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MY" dirty="0"/>
          </a:p>
        </p:txBody>
      </p:sp>
      <p:sp>
        <p:nvSpPr>
          <p:cNvPr id="4" name="Slide Number Placeholder 5"/>
          <p:cNvSpPr>
            <a:spLocks noGrp="1"/>
          </p:cNvSpPr>
          <p:nvPr>
            <p:ph type="sldNum" sz="quarter" idx="10"/>
          </p:nvPr>
        </p:nvSpPr>
        <p:spPr/>
        <p:txBody>
          <a:bodyPr/>
          <a:lstStyle>
            <a:lvl1pPr>
              <a:defRPr/>
            </a:lvl1pPr>
          </a:lstStyle>
          <a:p>
            <a:pPr>
              <a:defRPr/>
            </a:pPr>
            <a:fld id="{5DB23DFC-92DE-CC46-BB0A-37186FCE0B10}" type="slidenum">
              <a:rPr lang="en-US"/>
              <a:pPr>
                <a:defRPr/>
              </a:pPr>
              <a:t>‹#›</a:t>
            </a:fld>
            <a:endParaRPr lang="en-US"/>
          </a:p>
        </p:txBody>
      </p:sp>
    </p:spTree>
    <p:extLst>
      <p:ext uri="{BB962C8B-B14F-4D97-AF65-F5344CB8AC3E}">
        <p14:creationId xmlns:p14="http://schemas.microsoft.com/office/powerpoint/2010/main" val="2975469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endParaRPr lang="en-MY"/>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Slide Number Placeholder 5"/>
          <p:cNvSpPr>
            <a:spLocks noGrp="1"/>
          </p:cNvSpPr>
          <p:nvPr>
            <p:ph type="sldNum" sz="quarter" idx="10"/>
          </p:nvPr>
        </p:nvSpPr>
        <p:spPr/>
        <p:txBody>
          <a:bodyPr/>
          <a:lstStyle>
            <a:lvl1pPr>
              <a:defRPr/>
            </a:lvl1pPr>
          </a:lstStyle>
          <a:p>
            <a:pPr>
              <a:defRPr/>
            </a:pPr>
            <a:fld id="{0CF65E45-BB95-034D-B111-CD557694B737}" type="slidenum">
              <a:rPr lang="en-US"/>
              <a:pPr>
                <a:defRPr/>
              </a:pPr>
              <a:t>‹#›</a:t>
            </a:fld>
            <a:endParaRPr lang="en-US"/>
          </a:p>
        </p:txBody>
      </p:sp>
    </p:spTree>
    <p:extLst>
      <p:ext uri="{BB962C8B-B14F-4D97-AF65-F5344CB8AC3E}">
        <p14:creationId xmlns:p14="http://schemas.microsoft.com/office/powerpoint/2010/main" val="199602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543605" y="274638"/>
            <a:ext cx="9038795" cy="1143000"/>
          </a:xfrm>
          <a:prstGeom prst="rect">
            <a:avLst/>
          </a:prstGeom>
        </p:spPr>
        <p:txBody>
          <a:bodyPr/>
          <a:lstStyle/>
          <a:p>
            <a:r>
              <a:rPr lang="en-US"/>
              <a:t>Click to edit Master title style</a:t>
            </a:r>
            <a:endParaRPr lang="en-MY"/>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Slide Number Placeholder 5"/>
          <p:cNvSpPr>
            <a:spLocks noGrp="1"/>
          </p:cNvSpPr>
          <p:nvPr>
            <p:ph type="sldNum" sz="quarter" idx="10"/>
          </p:nvPr>
        </p:nvSpPr>
        <p:spPr/>
        <p:txBody>
          <a:bodyPr/>
          <a:lstStyle>
            <a:lvl1pPr>
              <a:defRPr/>
            </a:lvl1pPr>
          </a:lstStyle>
          <a:p>
            <a:pPr>
              <a:defRPr/>
            </a:pPr>
            <a:fld id="{C337A832-6AF9-D542-B6BA-A087EB8000A2}" type="slidenum">
              <a:rPr lang="en-US"/>
              <a:pPr>
                <a:defRPr/>
              </a:pPr>
              <a:t>‹#›</a:t>
            </a:fld>
            <a:endParaRPr lang="en-US"/>
          </a:p>
        </p:txBody>
      </p:sp>
    </p:spTree>
    <p:extLst>
      <p:ext uri="{BB962C8B-B14F-4D97-AF65-F5344CB8AC3E}">
        <p14:creationId xmlns:p14="http://schemas.microsoft.com/office/powerpoint/2010/main" val="944590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639616" y="274638"/>
            <a:ext cx="8942784" cy="1143000"/>
          </a:xfrm>
          <a:prstGeom prst="rect">
            <a:avLst/>
          </a:prstGeom>
        </p:spPr>
        <p:txBody>
          <a:bodyPr/>
          <a:lstStyle/>
          <a:p>
            <a:r>
              <a:rPr lang="en-US" dirty="0"/>
              <a:t>Click to edit Master title style</a:t>
            </a:r>
            <a:endParaRPr lang="en-MY" dirty="0"/>
          </a:p>
        </p:txBody>
      </p:sp>
      <p:sp>
        <p:nvSpPr>
          <p:cNvPr id="3" name="Slide Number Placeholder 5"/>
          <p:cNvSpPr>
            <a:spLocks noGrp="1"/>
          </p:cNvSpPr>
          <p:nvPr>
            <p:ph type="sldNum" sz="quarter" idx="10"/>
          </p:nvPr>
        </p:nvSpPr>
        <p:spPr/>
        <p:txBody>
          <a:bodyPr/>
          <a:lstStyle>
            <a:lvl1pPr>
              <a:defRPr/>
            </a:lvl1pPr>
          </a:lstStyle>
          <a:p>
            <a:pPr>
              <a:defRPr/>
            </a:pPr>
            <a:fld id="{45267BF7-C1CC-2842-B780-6F31B0666B25}" type="slidenum">
              <a:rPr lang="en-US"/>
              <a:pPr>
                <a:defRPr/>
              </a:pPr>
              <a:t>‹#›</a:t>
            </a:fld>
            <a:endParaRPr lang="en-US"/>
          </a:p>
        </p:txBody>
      </p:sp>
    </p:spTree>
    <p:extLst>
      <p:ext uri="{BB962C8B-B14F-4D97-AF65-F5344CB8AC3E}">
        <p14:creationId xmlns:p14="http://schemas.microsoft.com/office/powerpoint/2010/main" val="3939301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pPr>
              <a:defRPr/>
            </a:pPr>
            <a:fld id="{EA1CA94A-9A5A-3147-9F75-2E5E14565DC4}" type="slidenum">
              <a:rPr lang="en-US"/>
              <a:pPr>
                <a:defRPr/>
              </a:pPr>
              <a:t>‹#›</a:t>
            </a:fld>
            <a:endParaRPr lang="en-US"/>
          </a:p>
        </p:txBody>
      </p:sp>
    </p:spTree>
    <p:extLst>
      <p:ext uri="{BB962C8B-B14F-4D97-AF65-F5344CB8AC3E}">
        <p14:creationId xmlns:p14="http://schemas.microsoft.com/office/powerpoint/2010/main" val="4016978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endParaRPr lang="en-MY"/>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6594EE72-894E-424B-B36B-E4B37CAF6EB7}" type="slidenum">
              <a:rPr lang="en-US"/>
              <a:pPr>
                <a:defRPr/>
              </a:pPr>
              <a:t>‹#›</a:t>
            </a:fld>
            <a:endParaRPr lang="en-US"/>
          </a:p>
        </p:txBody>
      </p:sp>
    </p:spTree>
    <p:extLst>
      <p:ext uri="{BB962C8B-B14F-4D97-AF65-F5344CB8AC3E}">
        <p14:creationId xmlns:p14="http://schemas.microsoft.com/office/powerpoint/2010/main" val="415341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endParaRPr lang="en-MY"/>
          </a:p>
        </p:txBody>
      </p:sp>
      <p:sp>
        <p:nvSpPr>
          <p:cNvPr id="3" name="Picture Placeholder 2"/>
          <p:cNvSpPr>
            <a:spLocks noGrp="1"/>
          </p:cNvSpPr>
          <p:nvPr>
            <p:ph type="pic" idx="1"/>
          </p:nvPr>
        </p:nvSpPr>
        <p:spPr>
          <a:xfrm>
            <a:off x="2389717" y="612775"/>
            <a:ext cx="7315200" cy="41148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B8B5160A-A528-4A4C-9913-4ACEAE1DB40F}" type="slidenum">
              <a:rPr lang="en-US"/>
              <a:pPr>
                <a:defRPr/>
              </a:pPr>
              <a:t>‹#›</a:t>
            </a:fld>
            <a:endParaRPr lang="en-US"/>
          </a:p>
        </p:txBody>
      </p:sp>
    </p:spTree>
    <p:extLst>
      <p:ext uri="{BB962C8B-B14F-4D97-AF65-F5344CB8AC3E}">
        <p14:creationId xmlns:p14="http://schemas.microsoft.com/office/powerpoint/2010/main" val="1123114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735627" y="274638"/>
            <a:ext cx="8846773" cy="1143000"/>
          </a:xfrm>
          <a:prstGeom prst="rect">
            <a:avLst/>
          </a:prstGeom>
        </p:spPr>
        <p:txBody>
          <a:bodyPr/>
          <a:lstStyle/>
          <a:p>
            <a:r>
              <a:rPr lang="en-US"/>
              <a:t>Click to edit Master title style</a:t>
            </a:r>
            <a:endParaRPr lang="en-MY"/>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Slide Number Placeholder 5"/>
          <p:cNvSpPr>
            <a:spLocks noGrp="1"/>
          </p:cNvSpPr>
          <p:nvPr>
            <p:ph type="sldNum" sz="quarter" idx="10"/>
          </p:nvPr>
        </p:nvSpPr>
        <p:spPr/>
        <p:txBody>
          <a:bodyPr/>
          <a:lstStyle>
            <a:lvl1pPr>
              <a:defRPr/>
            </a:lvl1pPr>
          </a:lstStyle>
          <a:p>
            <a:pPr>
              <a:defRPr/>
            </a:pPr>
            <a:fld id="{B45B2EDA-C591-314C-9407-9C788F891AC0}" type="slidenum">
              <a:rPr lang="en-US"/>
              <a:pPr>
                <a:defRPr/>
              </a:pPr>
              <a:t>‹#›</a:t>
            </a:fld>
            <a:endParaRPr lang="en-US"/>
          </a:p>
        </p:txBody>
      </p:sp>
    </p:spTree>
    <p:extLst>
      <p:ext uri="{BB962C8B-B14F-4D97-AF65-F5344CB8AC3E}">
        <p14:creationId xmlns:p14="http://schemas.microsoft.com/office/powerpoint/2010/main" val="150676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Slide Number Placeholder 5"/>
          <p:cNvSpPr>
            <a:spLocks noGrp="1"/>
          </p:cNvSpPr>
          <p:nvPr>
            <p:ph type="sldNum" sz="quarter" idx="10"/>
          </p:nvPr>
        </p:nvSpPr>
        <p:spPr/>
        <p:txBody>
          <a:bodyPr/>
          <a:lstStyle>
            <a:lvl1pPr>
              <a:defRPr/>
            </a:lvl1pPr>
          </a:lstStyle>
          <a:p>
            <a:pPr>
              <a:defRPr/>
            </a:pPr>
            <a:fld id="{159865CE-60EA-0548-88AF-00AA46D38EA8}" type="slidenum">
              <a:rPr lang="en-US"/>
              <a:pPr>
                <a:defRPr/>
              </a:pPr>
              <a:t>‹#›</a:t>
            </a:fld>
            <a:endParaRPr lang="en-US"/>
          </a:p>
        </p:txBody>
      </p:sp>
    </p:spTree>
    <p:extLst>
      <p:ext uri="{BB962C8B-B14F-4D97-AF65-F5344CB8AC3E}">
        <p14:creationId xmlns:p14="http://schemas.microsoft.com/office/powerpoint/2010/main" val="1887542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9345084" y="6492876"/>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cs typeface="Arial" charset="0"/>
              </a:defRPr>
            </a:lvl1pPr>
          </a:lstStyle>
          <a:p>
            <a:pPr>
              <a:defRPr/>
            </a:pPr>
            <a:fld id="{2951C2CA-2891-7148-938E-62CA1B970C6E}" type="slidenum">
              <a:rPr lang="en-US"/>
              <a:pPr>
                <a:defRPr/>
              </a:pPr>
              <a:t>‹#›</a:t>
            </a:fld>
            <a:endParaRPr lang="en-US"/>
          </a:p>
        </p:txBody>
      </p:sp>
      <p:sp>
        <p:nvSpPr>
          <p:cNvPr id="1027" name="Title Placeholder 1"/>
          <p:cNvSpPr>
            <a:spLocks noGrp="1"/>
          </p:cNvSpPr>
          <p:nvPr>
            <p:ph type="title"/>
          </p:nvPr>
        </p:nvSpPr>
        <p:spPr bwMode="auto">
          <a:xfrm>
            <a:off x="2544233" y="476250"/>
            <a:ext cx="8839200" cy="649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2544234" y="1600200"/>
            <a:ext cx="9038167" cy="4445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oogle Shape;263;p1">
            <a:extLst>
              <a:ext uri="{FF2B5EF4-FFF2-40B4-BE49-F238E27FC236}">
                <a16:creationId xmlns:a16="http://schemas.microsoft.com/office/drawing/2014/main" id="{EC47E30F-D7D5-1BD9-F16E-2A7502FA9664}"/>
              </a:ext>
            </a:extLst>
          </p:cNvPr>
          <p:cNvGrpSpPr/>
          <p:nvPr userDrawn="1"/>
        </p:nvGrpSpPr>
        <p:grpSpPr>
          <a:xfrm>
            <a:off x="11728422" y="0"/>
            <a:ext cx="158778" cy="6858000"/>
            <a:chOff x="0" y="-47625"/>
            <a:chExt cx="72806" cy="2756958"/>
          </a:xfrm>
        </p:grpSpPr>
        <p:sp>
          <p:nvSpPr>
            <p:cNvPr id="3" name="Google Shape;264;p1">
              <a:extLst>
                <a:ext uri="{FF2B5EF4-FFF2-40B4-BE49-F238E27FC236}">
                  <a16:creationId xmlns:a16="http://schemas.microsoft.com/office/drawing/2014/main" id="{B43EB2FE-7C5F-8699-D388-22767DE1BC2B}"/>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4" name="Google Shape;265;p1">
              <a:extLst>
                <a:ext uri="{FF2B5EF4-FFF2-40B4-BE49-F238E27FC236}">
                  <a16:creationId xmlns:a16="http://schemas.microsoft.com/office/drawing/2014/main" id="{5BD66547-9D0D-B207-5E69-0F234D866695}"/>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5" name="Google Shape;268;p1">
            <a:extLst>
              <a:ext uri="{FF2B5EF4-FFF2-40B4-BE49-F238E27FC236}">
                <a16:creationId xmlns:a16="http://schemas.microsoft.com/office/drawing/2014/main" id="{96674CB2-0838-BF0F-6E2F-941D21C78ED8}"/>
              </a:ext>
            </a:extLst>
          </p:cNvPr>
          <p:cNvSpPr/>
          <p:nvPr userDrawn="1"/>
        </p:nvSpPr>
        <p:spPr>
          <a:xfrm>
            <a:off x="631247" y="225438"/>
            <a:ext cx="1577797" cy="536562"/>
          </a:xfrm>
          <a:custGeom>
            <a:avLst/>
            <a:gdLst/>
            <a:ahLst/>
            <a:cxnLst/>
            <a:rect l="l" t="t" r="r" b="b"/>
            <a:pathLst>
              <a:path w="2072975" h="704957" extrusionOk="0">
                <a:moveTo>
                  <a:pt x="0" y="0"/>
                </a:moveTo>
                <a:lnTo>
                  <a:pt x="2072975" y="0"/>
                </a:lnTo>
                <a:lnTo>
                  <a:pt x="2072975" y="704957"/>
                </a:lnTo>
                <a:lnTo>
                  <a:pt x="0" y="704957"/>
                </a:lnTo>
                <a:lnTo>
                  <a:pt x="0" y="0"/>
                </a:lnTo>
                <a:close/>
              </a:path>
            </a:pathLst>
          </a:custGeom>
          <a:blipFill rotWithShape="1">
            <a:blip r:embed="rId1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 name="Google Shape;269;p1">
            <a:extLst>
              <a:ext uri="{FF2B5EF4-FFF2-40B4-BE49-F238E27FC236}">
                <a16:creationId xmlns:a16="http://schemas.microsoft.com/office/drawing/2014/main" id="{66468336-8D21-1754-AE57-02BA49ED9542}"/>
              </a:ext>
            </a:extLst>
          </p:cNvPr>
          <p:cNvSpPr txBox="1"/>
          <p:nvPr userDrawn="1"/>
        </p:nvSpPr>
        <p:spPr>
          <a:xfrm>
            <a:off x="609476" y="6356352"/>
            <a:ext cx="3860800" cy="323165"/>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1500" b="1" i="1" dirty="0">
                <a:solidFill>
                  <a:srgbClr val="901042"/>
                </a:solidFill>
                <a:latin typeface="Poppins"/>
                <a:ea typeface="Poppins"/>
                <a:cs typeface="Poppins"/>
                <a:sym typeface="Poppins"/>
              </a:rPr>
              <a:t>Innovating Sustainable Solutions</a:t>
            </a:r>
            <a:endParaRPr sz="1500" b="1" i="1" dirty="0">
              <a:solidFill>
                <a:srgbClr val="901042"/>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ctr" rtl="0" eaLnBrk="0" fontAlgn="base" hangingPunct="0">
        <a:spcBef>
          <a:spcPct val="0"/>
        </a:spcBef>
        <a:spcAft>
          <a:spcPct val="0"/>
        </a:spcAft>
        <a:defRPr sz="36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2pPr>
      <a:lvl3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3pPr>
      <a:lvl4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4pPr>
      <a:lvl5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5pPr>
      <a:lvl6pPr marL="457200" algn="ctr" rtl="0" fontAlgn="base">
        <a:spcBef>
          <a:spcPct val="0"/>
        </a:spcBef>
        <a:spcAft>
          <a:spcPct val="0"/>
        </a:spcAft>
        <a:defRPr sz="3600">
          <a:solidFill>
            <a:schemeClr val="tx1"/>
          </a:solidFill>
          <a:latin typeface="Calibri" pitchFamily="34" charset="0"/>
        </a:defRPr>
      </a:lvl6pPr>
      <a:lvl7pPr marL="914400" algn="ctr" rtl="0" fontAlgn="base">
        <a:spcBef>
          <a:spcPct val="0"/>
        </a:spcBef>
        <a:spcAft>
          <a:spcPct val="0"/>
        </a:spcAft>
        <a:defRPr sz="3600">
          <a:solidFill>
            <a:schemeClr val="tx1"/>
          </a:solidFill>
          <a:latin typeface="Calibri" pitchFamily="34" charset="0"/>
        </a:defRPr>
      </a:lvl7pPr>
      <a:lvl8pPr marL="1371600" algn="ctr" rtl="0" fontAlgn="base">
        <a:spcBef>
          <a:spcPct val="0"/>
        </a:spcBef>
        <a:spcAft>
          <a:spcPct val="0"/>
        </a:spcAft>
        <a:defRPr sz="3600">
          <a:solidFill>
            <a:schemeClr val="tx1"/>
          </a:solidFill>
          <a:latin typeface="Calibri" pitchFamily="34" charset="0"/>
        </a:defRPr>
      </a:lvl8pPr>
      <a:lvl9pPr marL="1828800" algn="ctr" rtl="0" fontAlgn="base">
        <a:spcBef>
          <a:spcPct val="0"/>
        </a:spcBef>
        <a:spcAft>
          <a:spcPct val="0"/>
        </a:spcAft>
        <a:defRPr sz="36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10.emf"/><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e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9.emf"/><Relationship Id="rId4" Type="http://schemas.openxmlformats.org/officeDocument/2006/relationships/image" Target="../media/image6.emf"/><Relationship Id="rId9" Type="http://schemas.openxmlformats.org/officeDocument/2006/relationships/oleObject" Target="../embeddings/oleObject4.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oleObject" Target="../embeddings/oleObject8.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emf"/><Relationship Id="rId5" Type="http://schemas.openxmlformats.org/officeDocument/2006/relationships/oleObject" Target="../embeddings/oleObject10.bin"/><Relationship Id="rId4" Type="http://schemas.openxmlformats.org/officeDocument/2006/relationships/image" Target="../media/image14.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2.emf"/><Relationship Id="rId4" Type="http://schemas.openxmlformats.org/officeDocument/2006/relationships/oleObject" Target="../embeddings/oleObject13.bin"/></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4.emf"/><Relationship Id="rId5" Type="http://schemas.openxmlformats.org/officeDocument/2006/relationships/oleObject" Target="../embeddings/oleObject14.bin"/><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49.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oleObject" Target="../embeddings/oleObject16.bin"/><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34.emf"/><Relationship Id="rId5" Type="http://schemas.openxmlformats.org/officeDocument/2006/relationships/oleObject" Target="../embeddings/oleObject18.bin"/><Relationship Id="rId4" Type="http://schemas.openxmlformats.org/officeDocument/2006/relationships/image" Target="../media/image33.emf"/></Relationships>
</file>

<file path=ppt/slides/_rels/slide56.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36.emf"/></Relationships>
</file>

<file path=ppt/slides/_rels/slide5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emf"/></Relationships>
</file>

<file path=ppt/slides/_rels/slide6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44.emf"/><Relationship Id="rId5" Type="http://schemas.openxmlformats.org/officeDocument/2006/relationships/oleObject" Target="../embeddings/oleObject22.bin"/><Relationship Id="rId4" Type="http://schemas.openxmlformats.org/officeDocument/2006/relationships/image" Target="../media/image43.emf"/></Relationships>
</file>

<file path=ppt/slides/_rels/slide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6.emf"/><Relationship Id="rId4" Type="http://schemas.openxmlformats.org/officeDocument/2006/relationships/oleObject" Target="../embeddings/oleObject23.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2E2D6-497E-8C52-5028-48C65D6836D4}"/>
            </a:ext>
          </a:extLst>
        </p:cNvPr>
        <p:cNvGrpSpPr/>
        <p:nvPr/>
      </p:nvGrpSpPr>
      <p:grpSpPr>
        <a:xfrm>
          <a:off x="0" y="0"/>
          <a:ext cx="0" cy="0"/>
          <a:chOff x="0" y="0"/>
          <a:chExt cx="0" cy="0"/>
        </a:xfrm>
      </p:grpSpPr>
      <p:sp>
        <p:nvSpPr>
          <p:cNvPr id="3074" name="Slide Number Placeholder 6">
            <a:extLst>
              <a:ext uri="{FF2B5EF4-FFF2-40B4-BE49-F238E27FC236}">
                <a16:creationId xmlns:a16="http://schemas.microsoft.com/office/drawing/2014/main" id="{A3BF57A6-6A28-2252-5149-E9596FEB015D}"/>
              </a:ext>
            </a:extLst>
          </p:cNvPr>
          <p:cNvSpPr>
            <a:spLocks noGrp="1"/>
          </p:cNvSpPr>
          <p:nvPr>
            <p:ph type="sldNum" sz="quarter" idx="12"/>
          </p:nvPr>
        </p:nvSpPr>
        <p:spPr>
          <a:xfrm>
            <a:off x="8737600" y="6356351"/>
            <a:ext cx="2844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Calibri" charset="0"/>
                <a:ea typeface="ＭＳ Ｐゴシック" charset="-128"/>
                <a:cs typeface="+mn-cs"/>
              </a:defRPr>
            </a:lvl1pPr>
            <a:lvl2pPr marL="457200" algn="l" rtl="0" fontAlgn="base">
              <a:spcBef>
                <a:spcPct val="0"/>
              </a:spcBef>
              <a:spcAft>
                <a:spcPct val="0"/>
              </a:spcAft>
              <a:defRPr kern="1200">
                <a:solidFill>
                  <a:schemeClr val="tx1"/>
                </a:solidFill>
                <a:latin typeface="Calibri" charset="0"/>
                <a:ea typeface="ＭＳ Ｐゴシック" charset="-128"/>
                <a:cs typeface="+mn-cs"/>
              </a:defRPr>
            </a:lvl2pPr>
            <a:lvl3pPr marL="914400" algn="l" rtl="0" fontAlgn="base">
              <a:spcBef>
                <a:spcPct val="0"/>
              </a:spcBef>
              <a:spcAft>
                <a:spcPct val="0"/>
              </a:spcAft>
              <a:defRPr kern="1200">
                <a:solidFill>
                  <a:schemeClr val="tx1"/>
                </a:solidFill>
                <a:latin typeface="Calibri" charset="0"/>
                <a:ea typeface="ＭＳ Ｐゴシック" charset="-128"/>
                <a:cs typeface="+mn-cs"/>
              </a:defRPr>
            </a:lvl3pPr>
            <a:lvl4pPr marL="1371600" algn="l" rtl="0" fontAlgn="base">
              <a:spcBef>
                <a:spcPct val="0"/>
              </a:spcBef>
              <a:spcAft>
                <a:spcPct val="0"/>
              </a:spcAft>
              <a:defRPr kern="1200">
                <a:solidFill>
                  <a:schemeClr val="tx1"/>
                </a:solidFill>
                <a:latin typeface="Calibri" charset="0"/>
                <a:ea typeface="ＭＳ Ｐゴシック" charset="-128"/>
                <a:cs typeface="+mn-cs"/>
              </a:defRPr>
            </a:lvl4pPr>
            <a:lvl5pPr marL="1828800" algn="l" rtl="0" fontAlgn="base">
              <a:spcBef>
                <a:spcPct val="0"/>
              </a:spcBef>
              <a:spcAft>
                <a:spcPct val="0"/>
              </a:spcAft>
              <a:defRPr kern="1200">
                <a:solidFill>
                  <a:schemeClr val="tx1"/>
                </a:solidFill>
                <a:latin typeface="Calibri" charset="0"/>
                <a:ea typeface="ＭＳ Ｐゴシック" charset="-128"/>
                <a:cs typeface="+mn-cs"/>
              </a:defRPr>
            </a:lvl5pPr>
            <a:lvl6pPr marL="2286000" algn="l" defTabSz="914400" rtl="0" eaLnBrk="1" latinLnBrk="0" hangingPunct="1">
              <a:defRPr kern="1200">
                <a:solidFill>
                  <a:schemeClr val="tx1"/>
                </a:solidFill>
                <a:latin typeface="Calibri" charset="0"/>
                <a:ea typeface="ＭＳ Ｐゴシック" charset="-128"/>
                <a:cs typeface="+mn-cs"/>
              </a:defRPr>
            </a:lvl6pPr>
            <a:lvl7pPr marL="2743200" algn="l" defTabSz="914400" rtl="0" eaLnBrk="1" latinLnBrk="0" hangingPunct="1">
              <a:defRPr kern="1200">
                <a:solidFill>
                  <a:schemeClr val="tx1"/>
                </a:solidFill>
                <a:latin typeface="Calibri" charset="0"/>
                <a:ea typeface="ＭＳ Ｐゴシック" charset="-128"/>
                <a:cs typeface="+mn-cs"/>
              </a:defRPr>
            </a:lvl7pPr>
            <a:lvl8pPr marL="3200400" algn="l" defTabSz="914400" rtl="0" eaLnBrk="1" latinLnBrk="0" hangingPunct="1">
              <a:defRPr kern="1200">
                <a:solidFill>
                  <a:schemeClr val="tx1"/>
                </a:solidFill>
                <a:latin typeface="Calibri" charset="0"/>
                <a:ea typeface="ＭＳ Ｐゴシック" charset="-128"/>
                <a:cs typeface="+mn-cs"/>
              </a:defRPr>
            </a:lvl8pPr>
            <a:lvl9pPr marL="3657600" algn="l" defTabSz="914400" rtl="0" eaLnBrk="1" latinLnBrk="0" hangingPunct="1">
              <a:defRPr kern="1200">
                <a:solidFill>
                  <a:schemeClr val="tx1"/>
                </a:solidFill>
                <a:latin typeface="Calibri" charset="0"/>
                <a:ea typeface="ＭＳ Ｐゴシック" charset="-128"/>
                <a:cs typeface="+mn-cs"/>
              </a:defRPr>
            </a:lvl9pPr>
          </a:lstStyle>
          <a:p>
            <a:fld id="{E84E0A14-FAA9-F840-8F6E-CF85F7234053}" type="slidenum">
              <a:rPr lang="en-US" altLang="x-none" smtClean="0"/>
              <a:pPr/>
              <a:t>1</a:t>
            </a:fld>
            <a:endParaRPr lang="en-US" altLang="en-US" sz="1000">
              <a:solidFill>
                <a:schemeClr val="bg1"/>
              </a:solidFill>
            </a:endParaRPr>
          </a:p>
        </p:txBody>
      </p:sp>
      <p:sp>
        <p:nvSpPr>
          <p:cNvPr id="261" name="Google Shape;261;p1"/>
          <p:cNvSpPr/>
          <p:nvPr/>
        </p:nvSpPr>
        <p:spPr>
          <a:xfrm>
            <a:off x="0" y="0"/>
            <a:ext cx="12192000" cy="6858000"/>
          </a:xfrm>
          <a:custGeom>
            <a:avLst/>
            <a:gdLst/>
            <a:ahLst/>
            <a:cxnLst/>
            <a:rect l="l" t="t" r="r" b="b"/>
            <a:pathLst>
              <a:path w="1610062" h="1086267" extrusionOk="0">
                <a:moveTo>
                  <a:pt x="10933" y="0"/>
                </a:moveTo>
                <a:lnTo>
                  <a:pt x="1599129" y="0"/>
                </a:lnTo>
                <a:cubicBezTo>
                  <a:pt x="1602029" y="0"/>
                  <a:pt x="1604810" y="1152"/>
                  <a:pt x="1606860" y="3202"/>
                </a:cubicBezTo>
                <a:cubicBezTo>
                  <a:pt x="1608910" y="5253"/>
                  <a:pt x="1610062" y="8033"/>
                  <a:pt x="1610062" y="10933"/>
                </a:cubicBezTo>
                <a:lnTo>
                  <a:pt x="1610062" y="1075334"/>
                </a:lnTo>
                <a:cubicBezTo>
                  <a:pt x="1610062" y="1078234"/>
                  <a:pt x="1608910" y="1081014"/>
                  <a:pt x="1606860" y="1083065"/>
                </a:cubicBezTo>
                <a:cubicBezTo>
                  <a:pt x="1604810" y="1085115"/>
                  <a:pt x="1602029" y="1086267"/>
                  <a:pt x="1599129" y="1086267"/>
                </a:cubicBezTo>
                <a:lnTo>
                  <a:pt x="10933" y="1086267"/>
                </a:lnTo>
                <a:cubicBezTo>
                  <a:pt x="8033" y="1086267"/>
                  <a:pt x="5253" y="1085115"/>
                  <a:pt x="3202" y="1083065"/>
                </a:cubicBezTo>
                <a:cubicBezTo>
                  <a:pt x="1152" y="1081014"/>
                  <a:pt x="0" y="1078234"/>
                  <a:pt x="0" y="1075334"/>
                </a:cubicBezTo>
                <a:lnTo>
                  <a:pt x="0" y="10933"/>
                </a:lnTo>
                <a:cubicBezTo>
                  <a:pt x="0" y="8033"/>
                  <a:pt x="1152" y="5253"/>
                  <a:pt x="3202" y="3202"/>
                </a:cubicBezTo>
                <a:cubicBezTo>
                  <a:pt x="5253" y="1152"/>
                  <a:pt x="8033" y="0"/>
                  <a:pt x="10933" y="0"/>
                </a:cubicBezTo>
                <a:close/>
              </a:path>
            </a:pathLst>
          </a:custGeom>
          <a:blipFill rotWithShape="1">
            <a:blip r:embed="rId3">
              <a:alphaModFix amt="40000"/>
            </a:blip>
            <a:stretch>
              <a:fillRect l="-9963" t="2" r="-9976" b="-529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5" name="Google Shape;263;p1">
            <a:extLst>
              <a:ext uri="{FF2B5EF4-FFF2-40B4-BE49-F238E27FC236}">
                <a16:creationId xmlns:a16="http://schemas.microsoft.com/office/drawing/2014/main" id="{45B9D261-8C85-6567-87E8-5927E10358C8}"/>
              </a:ext>
            </a:extLst>
          </p:cNvPr>
          <p:cNvGrpSpPr/>
          <p:nvPr/>
        </p:nvGrpSpPr>
        <p:grpSpPr>
          <a:xfrm>
            <a:off x="11707824" y="0"/>
            <a:ext cx="179377" cy="6858000"/>
            <a:chOff x="0" y="-47625"/>
            <a:chExt cx="72806" cy="2756958"/>
          </a:xfrm>
        </p:grpSpPr>
        <p:sp>
          <p:nvSpPr>
            <p:cNvPr id="6" name="Google Shape;264;p1">
              <a:extLst>
                <a:ext uri="{FF2B5EF4-FFF2-40B4-BE49-F238E27FC236}">
                  <a16:creationId xmlns:a16="http://schemas.microsoft.com/office/drawing/2014/main" id="{BAD8433F-375E-AA5E-E320-00DF16B2A62D}"/>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7" name="Google Shape;265;p1">
              <a:extLst>
                <a:ext uri="{FF2B5EF4-FFF2-40B4-BE49-F238E27FC236}">
                  <a16:creationId xmlns:a16="http://schemas.microsoft.com/office/drawing/2014/main" id="{ACFF2846-256C-FA30-15EF-1B964D89676B}"/>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9" name="Google Shape;269;p1">
            <a:extLst>
              <a:ext uri="{FF2B5EF4-FFF2-40B4-BE49-F238E27FC236}">
                <a16:creationId xmlns:a16="http://schemas.microsoft.com/office/drawing/2014/main" id="{1E991F7A-1ACA-9F76-B49B-E7164ED46FE2}"/>
              </a:ext>
            </a:extLst>
          </p:cNvPr>
          <p:cNvSpPr txBox="1"/>
          <p:nvPr/>
        </p:nvSpPr>
        <p:spPr>
          <a:xfrm>
            <a:off x="609600" y="6356351"/>
            <a:ext cx="3671100" cy="231000"/>
          </a:xfrm>
          <a:prstGeom prst="rect">
            <a:avLst/>
          </a:prstGeom>
          <a:noFill/>
          <a:ln>
            <a:noFill/>
          </a:ln>
        </p:spPr>
        <p:txBody>
          <a:bodyPr spcFirstLastPara="1" wrap="square" lIns="0" tIns="0" rIns="0" bIns="0" anchor="t" anchorCtr="0">
            <a:spAutoFit/>
          </a:bodyPr>
          <a:lstStyle/>
          <a:p>
            <a:pPr marL="0" marR="0" lvl="0" indent="0" algn="l" rtl="0">
              <a:lnSpc>
                <a:spcPct val="140028"/>
              </a:lnSpc>
              <a:spcBef>
                <a:spcPts val="0"/>
              </a:spcBef>
              <a:spcAft>
                <a:spcPts val="0"/>
              </a:spcAft>
              <a:buNone/>
            </a:pPr>
            <a:r>
              <a:rPr lang="en-US" sz="1500" b="1" i="1" dirty="0">
                <a:solidFill>
                  <a:srgbClr val="901042"/>
                </a:solidFill>
                <a:latin typeface="Poppins"/>
                <a:ea typeface="Poppins"/>
                <a:cs typeface="Poppins"/>
                <a:sym typeface="Poppins"/>
              </a:rPr>
              <a:t>Innovating Sustainable Solutions</a:t>
            </a:r>
            <a:endParaRPr sz="1500" b="1" i="1" dirty="0">
              <a:solidFill>
                <a:srgbClr val="901042"/>
              </a:solidFill>
            </a:endParaRPr>
          </a:p>
        </p:txBody>
      </p:sp>
      <p:sp>
        <p:nvSpPr>
          <p:cNvPr id="11" name="Title 14">
            <a:extLst>
              <a:ext uri="{FF2B5EF4-FFF2-40B4-BE49-F238E27FC236}">
                <a16:creationId xmlns:a16="http://schemas.microsoft.com/office/drawing/2014/main" id="{702330C8-FBC4-5CA4-11AC-348E6125577C}"/>
              </a:ext>
            </a:extLst>
          </p:cNvPr>
          <p:cNvSpPr txBox="1">
            <a:spLocks/>
          </p:cNvSpPr>
          <p:nvPr/>
        </p:nvSpPr>
        <p:spPr bwMode="auto">
          <a:xfrm>
            <a:off x="1" y="1524000"/>
            <a:ext cx="12192000" cy="171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defRPr/>
            </a:pPr>
            <a:r>
              <a:rPr lang="en-US" altLang="en-US" sz="6600" b="1" cap="all" dirty="0">
                <a:ln w="9000" cmpd="sng">
                  <a:solidFill>
                    <a:schemeClr val="accent4">
                      <a:shade val="50000"/>
                      <a:satMod val="120000"/>
                    </a:schemeClr>
                  </a:solidFill>
                  <a:prstDash val="solid"/>
                </a:ln>
                <a:latin typeface="+mj-lt"/>
                <a:ea typeface="ＭＳ Ｐゴシック" charset="0"/>
              </a:rPr>
              <a:t>SCST1223</a:t>
            </a:r>
          </a:p>
          <a:p>
            <a:pPr algn="ctr">
              <a:defRPr/>
            </a:pPr>
            <a:r>
              <a:rPr lang="en-US" altLang="en-US" sz="4000" b="1" cap="all" dirty="0">
                <a:ln w="9000" cmpd="sng">
                  <a:solidFill>
                    <a:schemeClr val="accent4">
                      <a:shade val="50000"/>
                      <a:satMod val="120000"/>
                    </a:schemeClr>
                  </a:solidFill>
                  <a:prstDash val="solid"/>
                </a:ln>
                <a:latin typeface="+mj-lt"/>
                <a:ea typeface="ＭＳ Ｐゴシック" charset="0"/>
              </a:rPr>
              <a:t>Probability &amp; statistical data analysis</a:t>
            </a:r>
          </a:p>
        </p:txBody>
      </p:sp>
      <p:sp>
        <p:nvSpPr>
          <p:cNvPr id="12" name="Content Placeholder 16">
            <a:extLst>
              <a:ext uri="{FF2B5EF4-FFF2-40B4-BE49-F238E27FC236}">
                <a16:creationId xmlns:a16="http://schemas.microsoft.com/office/drawing/2014/main" id="{6200B972-A955-CB75-F22C-D76C7101A561}"/>
              </a:ext>
            </a:extLst>
          </p:cNvPr>
          <p:cNvSpPr txBox="1">
            <a:spLocks/>
          </p:cNvSpPr>
          <p:nvPr/>
        </p:nvSpPr>
        <p:spPr bwMode="auto">
          <a:xfrm>
            <a:off x="2208213" y="3236168"/>
            <a:ext cx="7777162" cy="245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128"/>
              </a:defRPr>
            </a:lvl1pPr>
            <a:lvl2pPr marL="742950" indent="-285750" eaLnBrk="0" hangingPunct="0">
              <a:defRPr sz="2400">
                <a:solidFill>
                  <a:schemeClr val="tx1"/>
                </a:solidFill>
                <a:latin typeface="Calibri" charset="0"/>
                <a:ea typeface="ＭＳ Ｐゴシック" charset="-128"/>
              </a:defRPr>
            </a:lvl2pPr>
            <a:lvl3pPr marL="1143000" indent="-228600" eaLnBrk="0" hangingPunct="0">
              <a:defRPr sz="2400">
                <a:solidFill>
                  <a:schemeClr val="tx1"/>
                </a:solidFill>
                <a:latin typeface="Calibri" charset="0"/>
                <a:ea typeface="ＭＳ Ｐゴシック" charset="-128"/>
              </a:defRPr>
            </a:lvl3pPr>
            <a:lvl4pPr marL="1600200" indent="-228600" eaLnBrk="0" hangingPunct="0">
              <a:defRPr sz="2400">
                <a:solidFill>
                  <a:schemeClr val="tx1"/>
                </a:solidFill>
                <a:latin typeface="Calibri" charset="0"/>
                <a:ea typeface="ＭＳ Ｐゴシック" charset="-128"/>
              </a:defRPr>
            </a:lvl4pPr>
            <a:lvl5pPr marL="2057400" indent="-228600" eaLnBrk="0" hangingPunct="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ctr" eaLnBrk="1" hangingPunct="1">
              <a:buFont typeface="Arial" charset="0"/>
              <a:buNone/>
            </a:pPr>
            <a:r>
              <a:rPr lang="en-US" altLang="x-none" sz="4800" b="1" dirty="0">
                <a:latin typeface="+mj-lt"/>
              </a:rPr>
              <a:t>CHAPTER 5</a:t>
            </a:r>
          </a:p>
          <a:p>
            <a:pPr algn="ctr" eaLnBrk="1" hangingPunct="1">
              <a:buFont typeface="Arial" charset="0"/>
              <a:buNone/>
            </a:pPr>
            <a:r>
              <a:rPr lang="en-US" altLang="x-none" sz="4800" b="1" dirty="0">
                <a:latin typeface="+mj-lt"/>
              </a:rPr>
              <a:t>Part 2</a:t>
            </a:r>
          </a:p>
          <a:p>
            <a:pPr algn="ctr" eaLnBrk="1" hangingPunct="1">
              <a:buFont typeface="Arial" charset="0"/>
              <a:buNone/>
            </a:pPr>
            <a:r>
              <a:rPr lang="en-US" sz="5400" dirty="0">
                <a:latin typeface="Britannic Bold" charset="0"/>
                <a:cs typeface="Arial" charset="0"/>
              </a:rPr>
              <a:t>HYPOTHESIS TESTING</a:t>
            </a:r>
          </a:p>
          <a:p>
            <a:pPr algn="ctr" eaLnBrk="1" hangingPunct="1">
              <a:buFont typeface="Arial" charset="0"/>
              <a:buNone/>
            </a:pPr>
            <a:r>
              <a:rPr lang="en-US" sz="5400" dirty="0">
                <a:latin typeface="Britannic Bold" charset="0"/>
                <a:cs typeface="Arial" charset="0"/>
              </a:rPr>
              <a:t>(One Samples Test)</a:t>
            </a:r>
          </a:p>
        </p:txBody>
      </p:sp>
      <p:grpSp>
        <p:nvGrpSpPr>
          <p:cNvPr id="13" name="Google Shape;263;p1">
            <a:extLst>
              <a:ext uri="{FF2B5EF4-FFF2-40B4-BE49-F238E27FC236}">
                <a16:creationId xmlns:a16="http://schemas.microsoft.com/office/drawing/2014/main" id="{D772AF11-1559-96E1-7205-5B2275C19447}"/>
              </a:ext>
            </a:extLst>
          </p:cNvPr>
          <p:cNvGrpSpPr/>
          <p:nvPr/>
        </p:nvGrpSpPr>
        <p:grpSpPr>
          <a:xfrm>
            <a:off x="11728422" y="0"/>
            <a:ext cx="158778" cy="6858000"/>
            <a:chOff x="0" y="-47625"/>
            <a:chExt cx="72806" cy="2756958"/>
          </a:xfrm>
        </p:grpSpPr>
        <p:sp>
          <p:nvSpPr>
            <p:cNvPr id="14" name="Google Shape;264;p1">
              <a:extLst>
                <a:ext uri="{FF2B5EF4-FFF2-40B4-BE49-F238E27FC236}">
                  <a16:creationId xmlns:a16="http://schemas.microsoft.com/office/drawing/2014/main" id="{51C7C212-47D8-D864-A522-5676BFABE75F}"/>
                </a:ext>
              </a:extLst>
            </p:cNvPr>
            <p:cNvSpPr/>
            <p:nvPr/>
          </p:nvSpPr>
          <p:spPr>
            <a:xfrm>
              <a:off x="0" y="0"/>
              <a:ext cx="72806" cy="2709333"/>
            </a:xfrm>
            <a:custGeom>
              <a:avLst/>
              <a:gdLst/>
              <a:ahLst/>
              <a:cxnLst/>
              <a:rect l="l" t="t" r="r" b="b"/>
              <a:pathLst>
                <a:path w="72806" h="2709333" extrusionOk="0">
                  <a:moveTo>
                    <a:pt x="0" y="0"/>
                  </a:moveTo>
                  <a:lnTo>
                    <a:pt x="72806" y="0"/>
                  </a:lnTo>
                  <a:lnTo>
                    <a:pt x="72806" y="2709333"/>
                  </a:lnTo>
                  <a:lnTo>
                    <a:pt x="0" y="2709333"/>
                  </a:lnTo>
                  <a:close/>
                </a:path>
              </a:pathLst>
            </a:custGeom>
            <a:solidFill>
              <a:srgbClr val="901042"/>
            </a:solidFill>
            <a:ln>
              <a:noFill/>
            </a:ln>
          </p:spPr>
          <p:txBody>
            <a:bodyPr spcFirstLastPara="1" wrap="square" lIns="177700" tIns="88825" rIns="177700" bIns="88825" anchor="t" anchorCtr="0">
              <a:noAutofit/>
            </a:bodyPr>
            <a:lstStyle/>
            <a:p>
              <a:pPr marL="0" marR="0" lvl="0" indent="0" algn="l" rtl="0">
                <a:spcBef>
                  <a:spcPts val="0"/>
                </a:spcBef>
                <a:spcAft>
                  <a:spcPts val="0"/>
                </a:spcAft>
                <a:buNone/>
              </a:pPr>
              <a:endParaRPr sz="3499">
                <a:solidFill>
                  <a:schemeClr val="dk1"/>
                </a:solidFill>
                <a:latin typeface="Calibri"/>
                <a:ea typeface="Calibri"/>
                <a:cs typeface="Calibri"/>
                <a:sym typeface="Calibri"/>
              </a:endParaRPr>
            </a:p>
          </p:txBody>
        </p:sp>
        <p:sp>
          <p:nvSpPr>
            <p:cNvPr id="15" name="Google Shape;265;p1">
              <a:extLst>
                <a:ext uri="{FF2B5EF4-FFF2-40B4-BE49-F238E27FC236}">
                  <a16:creationId xmlns:a16="http://schemas.microsoft.com/office/drawing/2014/main" id="{28B0BB84-93C8-2499-A2C1-5BCC5F03730D}"/>
                </a:ext>
              </a:extLst>
            </p:cNvPr>
            <p:cNvSpPr txBox="1"/>
            <p:nvPr/>
          </p:nvSpPr>
          <p:spPr>
            <a:xfrm>
              <a:off x="0" y="-47625"/>
              <a:ext cx="72806" cy="2756958"/>
            </a:xfrm>
            <a:prstGeom prst="rect">
              <a:avLst/>
            </a:prstGeom>
            <a:noFill/>
            <a:ln>
              <a:noFill/>
            </a:ln>
          </p:spPr>
          <p:txBody>
            <a:bodyPr spcFirstLastPara="1" wrap="square" lIns="98725" tIns="98725" rIns="98725" bIns="98725" anchor="ctr" anchorCtr="0">
              <a:noAutofit/>
            </a:bodyPr>
            <a:lstStyle/>
            <a:p>
              <a:pPr marL="0" marR="0" lvl="0" indent="0" algn="ctr" rtl="0">
                <a:lnSpc>
                  <a:spcPct val="203722"/>
                </a:lnSpc>
                <a:spcBef>
                  <a:spcPts val="0"/>
                </a:spcBef>
                <a:spcAft>
                  <a:spcPts val="0"/>
                </a:spcAft>
                <a:buNone/>
              </a:pPr>
              <a:endParaRPr sz="3499">
                <a:solidFill>
                  <a:schemeClr val="dk1"/>
                </a:solidFill>
                <a:latin typeface="Calibri"/>
                <a:ea typeface="Calibri"/>
                <a:cs typeface="Calibri"/>
                <a:sym typeface="Calibri"/>
              </a:endParaRPr>
            </a:p>
          </p:txBody>
        </p:sp>
      </p:grpSp>
      <p:sp>
        <p:nvSpPr>
          <p:cNvPr id="16" name="Google Shape;268;p1">
            <a:extLst>
              <a:ext uri="{FF2B5EF4-FFF2-40B4-BE49-F238E27FC236}">
                <a16:creationId xmlns:a16="http://schemas.microsoft.com/office/drawing/2014/main" id="{E6309E2C-2C31-D3D9-CE01-A1B61E88A57A}"/>
              </a:ext>
            </a:extLst>
          </p:cNvPr>
          <p:cNvSpPr/>
          <p:nvPr/>
        </p:nvSpPr>
        <p:spPr>
          <a:xfrm>
            <a:off x="631247" y="225438"/>
            <a:ext cx="1577797" cy="536562"/>
          </a:xfrm>
          <a:custGeom>
            <a:avLst/>
            <a:gdLst/>
            <a:ahLst/>
            <a:cxnLst/>
            <a:rect l="l" t="t" r="r" b="b"/>
            <a:pathLst>
              <a:path w="2072975" h="704957" extrusionOk="0">
                <a:moveTo>
                  <a:pt x="0" y="0"/>
                </a:moveTo>
                <a:lnTo>
                  <a:pt x="2072975" y="0"/>
                </a:lnTo>
                <a:lnTo>
                  <a:pt x="2072975" y="704957"/>
                </a:lnTo>
                <a:lnTo>
                  <a:pt x="0" y="704957"/>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112454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a:xfrm>
            <a:off x="3648076" y="274638"/>
            <a:ext cx="6562725" cy="850900"/>
          </a:xfrm>
        </p:spPr>
        <p:txBody>
          <a:bodyPr/>
          <a:lstStyle/>
          <a:p>
            <a:r>
              <a:rPr lang="en-US" sz="4400" b="1" dirty="0">
                <a:latin typeface="Calibri" charset="0"/>
              </a:rPr>
              <a:t>Introduction</a:t>
            </a:r>
          </a:p>
        </p:txBody>
      </p:sp>
      <p:sp>
        <p:nvSpPr>
          <p:cNvPr id="3" name="Content Placeholder 2"/>
          <p:cNvSpPr>
            <a:spLocks noGrp="1"/>
          </p:cNvSpPr>
          <p:nvPr>
            <p:ph idx="1"/>
          </p:nvPr>
        </p:nvSpPr>
        <p:spPr>
          <a:xfrm>
            <a:off x="1919288" y="1600201"/>
            <a:ext cx="8291512" cy="4525963"/>
          </a:xfrm>
        </p:spPr>
        <p:txBody>
          <a:bodyPr/>
          <a:lstStyle/>
          <a:p>
            <a:pPr algn="just">
              <a:defRPr/>
            </a:pPr>
            <a:r>
              <a:rPr lang="en-US" sz="2800" dirty="0"/>
              <a:t>In statistics, a </a:t>
            </a:r>
            <a:r>
              <a:rPr lang="en-US" sz="2800" dirty="0">
                <a:solidFill>
                  <a:srgbClr val="FF0000"/>
                </a:solidFill>
              </a:rPr>
              <a:t>hypothesis</a:t>
            </a:r>
            <a:r>
              <a:rPr lang="en-US" sz="2800" dirty="0"/>
              <a:t> is a claim or statement about a property of a population.</a:t>
            </a:r>
          </a:p>
          <a:p>
            <a:pPr marL="0" indent="0" algn="just">
              <a:buNone/>
              <a:defRPr/>
            </a:pPr>
            <a:endParaRPr lang="en-US" sz="2800" dirty="0"/>
          </a:p>
          <a:p>
            <a:pPr algn="just">
              <a:defRPr/>
            </a:pPr>
            <a:r>
              <a:rPr lang="en-US" sz="2800" dirty="0"/>
              <a:t>A </a:t>
            </a:r>
            <a:r>
              <a:rPr lang="en-US" sz="2800" dirty="0">
                <a:solidFill>
                  <a:srgbClr val="FF0000"/>
                </a:solidFill>
              </a:rPr>
              <a:t>hypothesis test </a:t>
            </a:r>
            <a:r>
              <a:rPr lang="en-US" sz="2800" dirty="0"/>
              <a:t>(or </a:t>
            </a:r>
            <a:r>
              <a:rPr lang="en-US" sz="2800" dirty="0">
                <a:solidFill>
                  <a:srgbClr val="FF0000"/>
                </a:solidFill>
              </a:rPr>
              <a:t>test of significance</a:t>
            </a:r>
            <a:r>
              <a:rPr lang="en-US" sz="2800" dirty="0"/>
              <a:t>) is a standard procedure for testing a claim about a property of a population.</a:t>
            </a:r>
          </a:p>
          <a:p>
            <a:pPr algn="just">
              <a:defRPr/>
            </a:pPr>
            <a:endParaRPr lang="en-MY" sz="2800" dirty="0"/>
          </a:p>
        </p:txBody>
      </p:sp>
      <p:sp>
        <p:nvSpPr>
          <p:cNvPr id="15363" name="Slide Number Placeholder 4"/>
          <p:cNvSpPr>
            <a:spLocks noGrp="1"/>
          </p:cNvSpPr>
          <p:nvPr>
            <p:ph type="sldNum" sz="quarter" idx="10"/>
          </p:nvPr>
        </p:nvSpPr>
        <p:spPr bwMode="auto">
          <a:xfrm>
            <a:off x="9417050" y="6553200"/>
            <a:ext cx="1143000" cy="304800"/>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5D46F601-2FF2-C94E-8FB1-C6CF6ED0FD32}" type="slidenum">
              <a:rPr lang="en-US" sz="1200">
                <a:solidFill>
                  <a:srgbClr val="898989"/>
                </a:solidFill>
                <a:cs typeface="Arial" charset="0"/>
              </a:rPr>
              <a:pPr eaLnBrk="1" hangingPunct="1"/>
              <a:t>2</a:t>
            </a:fld>
            <a:endParaRPr lang="en-US" sz="1200">
              <a:solidFill>
                <a:srgbClr val="898989"/>
              </a:solidFill>
              <a:cs typeface="Arial"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Content Placeholder 2"/>
          <p:cNvSpPr>
            <a:spLocks noGrp="1"/>
          </p:cNvSpPr>
          <p:nvPr>
            <p:ph idx="1"/>
          </p:nvPr>
        </p:nvSpPr>
        <p:spPr>
          <a:xfrm>
            <a:off x="1703388" y="1600201"/>
            <a:ext cx="8507412" cy="4525963"/>
          </a:xfrm>
        </p:spPr>
        <p:txBody>
          <a:bodyPr/>
          <a:lstStyle/>
          <a:p>
            <a:pPr algn="just"/>
            <a:r>
              <a:rPr lang="en-AU" sz="2800" dirty="0">
                <a:latin typeface="Calibri" charset="0"/>
              </a:rPr>
              <a:t>To conduct a Hypothesis Testing, we must establish the following :</a:t>
            </a:r>
          </a:p>
          <a:p>
            <a:pPr marL="971550" lvl="1" indent="-514350" algn="just">
              <a:buFont typeface="+mj-lt"/>
              <a:buAutoNum type="arabicParenR"/>
            </a:pPr>
            <a:r>
              <a:rPr lang="en-AU" sz="2400" dirty="0">
                <a:solidFill>
                  <a:srgbClr val="0000FF"/>
                </a:solidFill>
                <a:latin typeface="Calibri" charset="0"/>
              </a:rPr>
              <a:t>Hypothesis statement</a:t>
            </a:r>
          </a:p>
          <a:p>
            <a:pPr marL="971550" lvl="1" indent="-514350" algn="just">
              <a:buFont typeface="+mj-lt"/>
              <a:buAutoNum type="arabicParenR"/>
            </a:pPr>
            <a:r>
              <a:rPr lang="en-AU" sz="2400" dirty="0">
                <a:solidFill>
                  <a:srgbClr val="0000FF"/>
                </a:solidFill>
                <a:latin typeface="Calibri" charset="0"/>
              </a:rPr>
              <a:t>Test Statistic</a:t>
            </a:r>
          </a:p>
          <a:p>
            <a:pPr marL="971550" lvl="1" indent="-514350" algn="just">
              <a:buFont typeface="+mj-lt"/>
              <a:buAutoNum type="arabicParenR"/>
            </a:pPr>
            <a:r>
              <a:rPr lang="en-AU" sz="2400" dirty="0">
                <a:solidFill>
                  <a:srgbClr val="0000FF"/>
                </a:solidFill>
                <a:latin typeface="Calibri" charset="0"/>
              </a:rPr>
              <a:t>Significance Level @ Level of confidence</a:t>
            </a:r>
          </a:p>
          <a:p>
            <a:pPr marL="971550" lvl="1" indent="-514350" algn="just">
              <a:buFont typeface="+mj-lt"/>
              <a:buAutoNum type="arabicParenR"/>
            </a:pPr>
            <a:r>
              <a:rPr lang="en-AU" sz="2400" dirty="0">
                <a:solidFill>
                  <a:srgbClr val="0000FF"/>
                </a:solidFill>
                <a:latin typeface="Calibri" charset="0"/>
              </a:rPr>
              <a:t>Conclusion/Decision rule</a:t>
            </a:r>
          </a:p>
        </p:txBody>
      </p:sp>
      <p:sp>
        <p:nvSpPr>
          <p:cNvPr id="16386" name="Slide Number Placeholder 4"/>
          <p:cNvSpPr>
            <a:spLocks noGrp="1"/>
          </p:cNvSpPr>
          <p:nvPr>
            <p:ph type="sldNum" sz="quarter" idx="10"/>
          </p:nvPr>
        </p:nvSpPr>
        <p:spPr bwMode="auto">
          <a:xfrm>
            <a:off x="9490075" y="6553200"/>
            <a:ext cx="1143000" cy="304800"/>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70D7C74-FA03-E244-B19C-80867E351940}" type="slidenum">
              <a:rPr lang="en-US" sz="1200">
                <a:solidFill>
                  <a:srgbClr val="898989"/>
                </a:solidFill>
                <a:cs typeface="Arial" charset="0"/>
              </a:rPr>
              <a:pPr eaLnBrk="1" hangingPunct="1"/>
              <a:t>3</a:t>
            </a:fld>
            <a:endParaRPr lang="en-US" sz="1200">
              <a:solidFill>
                <a:srgbClr val="898989"/>
              </a:solidFill>
              <a:cs typeface="Arial" charset="0"/>
            </a:endParaRPr>
          </a:p>
        </p:txBody>
      </p:sp>
      <p:sp>
        <p:nvSpPr>
          <p:cNvPr id="4" name="Title 1"/>
          <p:cNvSpPr>
            <a:spLocks noGrp="1"/>
          </p:cNvSpPr>
          <p:nvPr>
            <p:ph type="title"/>
          </p:nvPr>
        </p:nvSpPr>
        <p:spPr>
          <a:xfrm>
            <a:off x="3648076" y="274638"/>
            <a:ext cx="6562725" cy="850900"/>
          </a:xfrm>
        </p:spPr>
        <p:txBody>
          <a:bodyPr/>
          <a:lstStyle/>
          <a:p>
            <a:r>
              <a:rPr lang="en-US" sz="4400" b="1" dirty="0">
                <a:latin typeface="Calibri" charset="0"/>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E87F92-C91C-A546-B9B1-9BF2E935354B}"/>
              </a:ext>
            </a:extLst>
          </p:cNvPr>
          <p:cNvSpPr>
            <a:spLocks noGrp="1"/>
          </p:cNvSpPr>
          <p:nvPr>
            <p:ph type="sldNum" sz="quarter" idx="10"/>
          </p:nvPr>
        </p:nvSpPr>
        <p:spPr/>
        <p:txBody>
          <a:bodyPr/>
          <a:lstStyle/>
          <a:p>
            <a:pPr>
              <a:defRPr/>
            </a:pPr>
            <a:fld id="{5DB23DFC-92DE-CC46-BB0A-37186FCE0B10}" type="slidenum">
              <a:rPr lang="en-US" smtClean="0"/>
              <a:pPr>
                <a:defRPr/>
              </a:pPr>
              <a:t>4</a:t>
            </a:fld>
            <a:endParaRPr lang="en-US"/>
          </a:p>
        </p:txBody>
      </p:sp>
      <p:sp>
        <p:nvSpPr>
          <p:cNvPr id="5" name="Rectangle 4">
            <a:extLst>
              <a:ext uri="{FF2B5EF4-FFF2-40B4-BE49-F238E27FC236}">
                <a16:creationId xmlns:a16="http://schemas.microsoft.com/office/drawing/2014/main" id="{1A18613E-3F57-1F4C-861C-2E37197E5AB1}"/>
              </a:ext>
            </a:extLst>
          </p:cNvPr>
          <p:cNvSpPr/>
          <p:nvPr/>
        </p:nvSpPr>
        <p:spPr>
          <a:xfrm>
            <a:off x="1676400" y="1505397"/>
            <a:ext cx="8686800" cy="3847207"/>
          </a:xfrm>
          <a:prstGeom prst="rect">
            <a:avLst/>
          </a:prstGeom>
        </p:spPr>
        <p:txBody>
          <a:bodyPr wrap="square">
            <a:spAutoFit/>
          </a:bodyPr>
          <a:lstStyle/>
          <a:p>
            <a:pPr lvl="1" algn="ctr"/>
            <a:r>
              <a:rPr lang="en-AU" sz="4000" dirty="0">
                <a:solidFill>
                  <a:srgbClr val="0000FF"/>
                </a:solidFill>
              </a:rPr>
              <a:t>STEP 1:</a:t>
            </a:r>
          </a:p>
          <a:p>
            <a:pPr lvl="1" algn="ctr"/>
            <a:r>
              <a:rPr lang="en-AU" sz="4000" dirty="0">
                <a:solidFill>
                  <a:srgbClr val="0000FF"/>
                </a:solidFill>
              </a:rPr>
              <a:t>Hypothesis statement</a:t>
            </a:r>
          </a:p>
          <a:p>
            <a:pPr lvl="1" algn="ctr"/>
            <a:endParaRPr lang="en-AU" sz="4000" dirty="0">
              <a:solidFill>
                <a:srgbClr val="0000FF"/>
              </a:solidFill>
            </a:endParaRPr>
          </a:p>
          <a:p>
            <a:pPr lvl="1" algn="ctr"/>
            <a:r>
              <a:rPr lang="en-AU" sz="2800" dirty="0">
                <a:solidFill>
                  <a:schemeClr val="bg1">
                    <a:lumMod val="65000"/>
                  </a:schemeClr>
                </a:solidFill>
              </a:rPr>
              <a:t>STEP 2: Test Statistic</a:t>
            </a:r>
          </a:p>
          <a:p>
            <a:pPr lvl="1" algn="ctr"/>
            <a:r>
              <a:rPr lang="en-AU" sz="2800" dirty="0">
                <a:solidFill>
                  <a:schemeClr val="bg1">
                    <a:lumMod val="65000"/>
                  </a:schemeClr>
                </a:solidFill>
              </a:rPr>
              <a:t>STEP 3: Significance Level @ Level of confidence</a:t>
            </a:r>
          </a:p>
          <a:p>
            <a:pPr lvl="1" algn="ctr"/>
            <a:r>
              <a:rPr lang="en-AU" sz="2800" dirty="0">
                <a:solidFill>
                  <a:schemeClr val="bg1">
                    <a:lumMod val="65000"/>
                  </a:schemeClr>
                </a:solidFill>
              </a:rPr>
              <a:t>STEP 4: Conclusion/Decision rule</a:t>
            </a:r>
          </a:p>
          <a:p>
            <a:pPr lvl="1" algn="ctr"/>
            <a:endParaRPr lang="en-AU" sz="4000" dirty="0">
              <a:solidFill>
                <a:srgbClr val="0000FF"/>
              </a:solidFill>
            </a:endParaRPr>
          </a:p>
        </p:txBody>
      </p:sp>
    </p:spTree>
    <p:extLst>
      <p:ext uri="{BB962C8B-B14F-4D97-AF65-F5344CB8AC3E}">
        <p14:creationId xmlns:p14="http://schemas.microsoft.com/office/powerpoint/2010/main" val="2227913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3648076" y="274638"/>
            <a:ext cx="6911975" cy="850900"/>
          </a:xfrm>
        </p:spPr>
        <p:txBody>
          <a:bodyPr/>
          <a:lstStyle/>
          <a:p>
            <a:r>
              <a:rPr lang="en-US" sz="4400" b="1" dirty="0">
                <a:latin typeface="Calibri" charset="0"/>
              </a:rPr>
              <a:t>Examples - Hypotheses that can be tested</a:t>
            </a:r>
          </a:p>
        </p:txBody>
      </p:sp>
      <p:sp>
        <p:nvSpPr>
          <p:cNvPr id="3" name="Content Placeholder 2"/>
          <p:cNvSpPr>
            <a:spLocks noGrp="1"/>
          </p:cNvSpPr>
          <p:nvPr>
            <p:ph idx="1"/>
          </p:nvPr>
        </p:nvSpPr>
        <p:spPr>
          <a:xfrm>
            <a:off x="1774826" y="1600201"/>
            <a:ext cx="8435975" cy="4525963"/>
          </a:xfrm>
        </p:spPr>
        <p:txBody>
          <a:bodyPr/>
          <a:lstStyle/>
          <a:p>
            <a:pPr marL="347663" indent="-347663" algn="just">
              <a:lnSpc>
                <a:spcPct val="90000"/>
              </a:lnSpc>
              <a:buClr>
                <a:srgbClr val="008000"/>
              </a:buClr>
              <a:buSzPct val="125000"/>
              <a:defRPr/>
            </a:pPr>
            <a:r>
              <a:rPr lang="en-US" altLang="en-US" sz="2800" b="1" dirty="0">
                <a:ea typeface="ヒラギノ角ゴ ProN W3" pitchFamily="112" charset="-128"/>
              </a:rPr>
              <a:t>G</a:t>
            </a:r>
            <a:r>
              <a:rPr lang="en-US" sz="2800" b="1" dirty="0"/>
              <a:t>enetics:  </a:t>
            </a:r>
            <a:r>
              <a:rPr lang="en-US" sz="2800" dirty="0"/>
              <a:t>The Genetics &amp; IVF Institute claims that its XSORT method allows couples to increase the probability of having a baby girl.</a:t>
            </a:r>
          </a:p>
          <a:p>
            <a:pPr marL="347663" indent="-347663" algn="just">
              <a:lnSpc>
                <a:spcPct val="90000"/>
              </a:lnSpc>
              <a:buClr>
                <a:srgbClr val="008000"/>
              </a:buClr>
              <a:buSzPct val="125000"/>
              <a:buNone/>
              <a:defRPr/>
            </a:pPr>
            <a:endParaRPr lang="en-US" sz="2800" dirty="0"/>
          </a:p>
          <a:p>
            <a:pPr marL="347663" indent="-347663" algn="just">
              <a:lnSpc>
                <a:spcPct val="90000"/>
              </a:lnSpc>
              <a:buClr>
                <a:srgbClr val="008000"/>
              </a:buClr>
              <a:buSzPct val="125000"/>
              <a:defRPr/>
            </a:pPr>
            <a:r>
              <a:rPr lang="en-US" altLang="en-US" sz="2800" b="1" dirty="0">
                <a:ea typeface="ヒラギノ角ゴ ProN W3" pitchFamily="112" charset="-128"/>
              </a:rPr>
              <a:t>B</a:t>
            </a:r>
            <a:r>
              <a:rPr lang="en-US" sz="2800" b="1" dirty="0"/>
              <a:t>usiness:</a:t>
            </a:r>
            <a:r>
              <a:rPr lang="en-US" sz="2800" dirty="0"/>
              <a:t>  A newspaper headline makes the claim that most workers get their jobs through networking.</a:t>
            </a:r>
          </a:p>
          <a:p>
            <a:pPr marL="347663" indent="-347663" algn="just">
              <a:lnSpc>
                <a:spcPct val="90000"/>
              </a:lnSpc>
              <a:buClr>
                <a:srgbClr val="008000"/>
              </a:buClr>
              <a:buSzPct val="125000"/>
              <a:buNone/>
              <a:defRPr/>
            </a:pPr>
            <a:endParaRPr lang="en-US" altLang="en-US" sz="2800" dirty="0">
              <a:ea typeface="ヒラギノ角ゴ ProN W3" pitchFamily="112" charset="-128"/>
            </a:endParaRPr>
          </a:p>
          <a:p>
            <a:pPr marL="347663" indent="-347663" algn="just">
              <a:lnSpc>
                <a:spcPct val="90000"/>
              </a:lnSpc>
              <a:buClr>
                <a:srgbClr val="008000"/>
              </a:buClr>
              <a:buSzPct val="125000"/>
              <a:defRPr/>
            </a:pPr>
            <a:r>
              <a:rPr lang="en-US" altLang="en-US" sz="2800" b="1" dirty="0">
                <a:ea typeface="ヒラギノ角ゴ ProN W3" pitchFamily="112" charset="-128"/>
              </a:rPr>
              <a:t>M</a:t>
            </a:r>
            <a:r>
              <a:rPr lang="en-US" sz="2800" b="1" dirty="0"/>
              <a:t>edicine: </a:t>
            </a:r>
            <a:r>
              <a:rPr lang="en-US" sz="2800" dirty="0"/>
              <a:t>Medical researchers claim that when people with colds are treated with Echinacea, the treatment has no effect.</a:t>
            </a:r>
          </a:p>
          <a:p>
            <a:pPr algn="just">
              <a:defRPr/>
            </a:pPr>
            <a:endParaRPr lang="en-MY" sz="2800" dirty="0"/>
          </a:p>
        </p:txBody>
      </p:sp>
      <p:sp>
        <p:nvSpPr>
          <p:cNvPr id="17411"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F5F6F83D-A582-7245-A19F-3907991D3776}" type="slidenum">
              <a:rPr lang="en-US" sz="1200">
                <a:solidFill>
                  <a:srgbClr val="898989"/>
                </a:solidFill>
                <a:cs typeface="Arial" charset="0"/>
              </a:rPr>
              <a:pPr eaLnBrk="1" hangingPunct="1"/>
              <a:t>5</a:t>
            </a:fld>
            <a:endParaRPr lang="en-US" sz="1200">
              <a:solidFill>
                <a:srgbClr val="898989"/>
              </a:solidFill>
              <a:cs typeface="Arial"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4826" y="1600201"/>
            <a:ext cx="8435975" cy="4525963"/>
          </a:xfrm>
        </p:spPr>
        <p:txBody>
          <a:bodyPr/>
          <a:lstStyle/>
          <a:p>
            <a:pPr marL="347663" indent="-347663" algn="just">
              <a:lnSpc>
                <a:spcPct val="90000"/>
              </a:lnSpc>
              <a:buClr>
                <a:srgbClr val="008000"/>
              </a:buClr>
              <a:buSzPct val="125000"/>
              <a:defRPr/>
            </a:pPr>
            <a:r>
              <a:rPr lang="en-US" sz="2800" b="1" dirty="0"/>
              <a:t>Aircraft Safety: </a:t>
            </a:r>
            <a:r>
              <a:rPr lang="en-US" sz="2800" dirty="0"/>
              <a:t>The Federal Aviation Administration claims that the mean weight of an airline passenger (including carry-on baggage) is greater than 185 lb, which it was 20 years ago.</a:t>
            </a:r>
          </a:p>
          <a:p>
            <a:pPr marL="347663" indent="-347663" algn="just">
              <a:lnSpc>
                <a:spcPct val="90000"/>
              </a:lnSpc>
              <a:buClr>
                <a:srgbClr val="008000"/>
              </a:buClr>
              <a:buSzPct val="125000"/>
              <a:buNone/>
              <a:defRPr/>
            </a:pPr>
            <a:endParaRPr lang="en-US" sz="2800" dirty="0"/>
          </a:p>
          <a:p>
            <a:pPr marL="347663" indent="-347663" algn="just">
              <a:lnSpc>
                <a:spcPct val="90000"/>
              </a:lnSpc>
              <a:buClr>
                <a:srgbClr val="008000"/>
              </a:buClr>
              <a:buSzPct val="125000"/>
              <a:defRPr/>
            </a:pPr>
            <a:r>
              <a:rPr lang="en-US" sz="2800" b="1" dirty="0"/>
              <a:t>Quality Control: </a:t>
            </a:r>
            <a:r>
              <a:rPr lang="en-US" sz="2800" dirty="0"/>
              <a:t>When new equipment is used to manufacture aircraft altimeters, the new altimeters are better because the variation in the errors is reduced so that the readings are more consistent. (In many industries, the quality of goods and services can often be improved by reducing variation.)</a:t>
            </a:r>
          </a:p>
          <a:p>
            <a:pPr algn="just">
              <a:defRPr/>
            </a:pPr>
            <a:endParaRPr lang="en-MY" sz="2800" dirty="0"/>
          </a:p>
        </p:txBody>
      </p:sp>
      <p:sp>
        <p:nvSpPr>
          <p:cNvPr id="18434"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DC8AFDFE-B415-4048-8E73-44D5862EC34C}" type="slidenum">
              <a:rPr lang="en-US" sz="1200">
                <a:solidFill>
                  <a:srgbClr val="898989"/>
                </a:solidFill>
                <a:cs typeface="Arial" charset="0"/>
              </a:rPr>
              <a:pPr eaLnBrk="1" hangingPunct="1"/>
              <a:t>6</a:t>
            </a:fld>
            <a:endParaRPr lang="en-US" sz="1200">
              <a:solidFill>
                <a:srgbClr val="898989"/>
              </a:solidFill>
              <a:cs typeface="Arial" charset="0"/>
            </a:endParaRPr>
          </a:p>
        </p:txBody>
      </p:sp>
      <p:sp>
        <p:nvSpPr>
          <p:cNvPr id="4" name="Title 1"/>
          <p:cNvSpPr>
            <a:spLocks noGrp="1"/>
          </p:cNvSpPr>
          <p:nvPr>
            <p:ph type="title"/>
          </p:nvPr>
        </p:nvSpPr>
        <p:spPr>
          <a:xfrm>
            <a:off x="3648076" y="274638"/>
            <a:ext cx="6911975" cy="850900"/>
          </a:xfrm>
        </p:spPr>
        <p:txBody>
          <a:bodyPr/>
          <a:lstStyle/>
          <a:p>
            <a:r>
              <a:rPr lang="en-US" sz="4400" b="1" dirty="0">
                <a:latin typeface="Calibri" charset="0"/>
              </a:rPr>
              <a:t>Examples - Hypotheses that can be tested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3276601" y="260649"/>
            <a:ext cx="7139880" cy="922461"/>
          </a:xfrm>
        </p:spPr>
        <p:txBody>
          <a:bodyPr/>
          <a:lstStyle/>
          <a:p>
            <a:r>
              <a:rPr lang="en-US" b="1" dirty="0">
                <a:solidFill>
                  <a:srgbClr val="0000FF"/>
                </a:solidFill>
                <a:latin typeface="Calibri" charset="0"/>
              </a:rPr>
              <a:t>1: Components of a Formal Hypothesis Test</a:t>
            </a:r>
          </a:p>
        </p:txBody>
      </p:sp>
      <p:sp>
        <p:nvSpPr>
          <p:cNvPr id="19458" name="Content Placeholder 2"/>
          <p:cNvSpPr>
            <a:spLocks noGrp="1"/>
          </p:cNvSpPr>
          <p:nvPr>
            <p:ph idx="1"/>
          </p:nvPr>
        </p:nvSpPr>
        <p:spPr>
          <a:xfrm>
            <a:off x="1847850" y="2205039"/>
            <a:ext cx="8362950" cy="3921125"/>
          </a:xfrm>
        </p:spPr>
        <p:txBody>
          <a:bodyPr/>
          <a:lstStyle/>
          <a:p>
            <a:r>
              <a:rPr lang="en-US" dirty="0">
                <a:solidFill>
                  <a:srgbClr val="FF0000"/>
                </a:solidFill>
                <a:latin typeface="Calibri" charset="0"/>
              </a:rPr>
              <a:t>Null Hypothesis</a:t>
            </a:r>
            <a:r>
              <a:rPr lang="en-US" b="1" dirty="0">
                <a:latin typeface="Calibri" charset="0"/>
              </a:rPr>
              <a:t>: </a:t>
            </a:r>
            <a:r>
              <a:rPr lang="en-US" b="1" i="1" dirty="0">
                <a:latin typeface="Calibri" charset="0"/>
              </a:rPr>
              <a:t>H</a:t>
            </a:r>
            <a:r>
              <a:rPr lang="en-US" b="1" baseline="-25000" dirty="0">
                <a:latin typeface="Calibri" charset="0"/>
              </a:rPr>
              <a:t>0</a:t>
            </a:r>
          </a:p>
          <a:p>
            <a:r>
              <a:rPr lang="en-US" dirty="0">
                <a:solidFill>
                  <a:srgbClr val="FF0000"/>
                </a:solidFill>
                <a:latin typeface="Calibri" charset="0"/>
              </a:rPr>
              <a:t>Alternative Hypothesis</a:t>
            </a:r>
            <a:r>
              <a:rPr lang="en-US" b="1" dirty="0">
                <a:latin typeface="Calibri" charset="0"/>
              </a:rPr>
              <a:t>: </a:t>
            </a:r>
            <a:r>
              <a:rPr lang="en-US" b="1" i="1" dirty="0">
                <a:latin typeface="Calibri" charset="0"/>
              </a:rPr>
              <a:t>H</a:t>
            </a:r>
            <a:r>
              <a:rPr lang="en-US" b="1" baseline="-25000" dirty="0">
                <a:latin typeface="Calibri" charset="0"/>
              </a:rPr>
              <a:t>1</a:t>
            </a:r>
          </a:p>
          <a:p>
            <a:endParaRPr lang="en-US" b="1" baseline="-25000" dirty="0">
              <a:latin typeface="Calibri" charset="0"/>
            </a:endParaRPr>
          </a:p>
          <a:p>
            <a:endParaRPr lang="en-US" b="1" baseline="-25000" dirty="0">
              <a:latin typeface="Calibri" charset="0"/>
            </a:endParaRPr>
          </a:p>
          <a:p>
            <a:endParaRPr lang="en-US" b="1" baseline="-25000" dirty="0">
              <a:latin typeface="Calibri" charset="0"/>
            </a:endParaRPr>
          </a:p>
          <a:p>
            <a:endParaRPr lang="en-US" b="1" baseline="-25000" dirty="0">
              <a:latin typeface="Calibri" charset="0"/>
            </a:endParaRPr>
          </a:p>
          <a:p>
            <a:pPr marL="0" indent="0">
              <a:buNone/>
            </a:pPr>
            <a:endParaRPr lang="en-US" b="1" dirty="0">
              <a:latin typeface="Calibri" charset="0"/>
            </a:endParaRPr>
          </a:p>
        </p:txBody>
      </p:sp>
      <p:sp>
        <p:nvSpPr>
          <p:cNvPr id="19459"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B0E0D630-D636-3F40-A7A0-70507C24B685}" type="slidenum">
              <a:rPr lang="en-US" sz="1200">
                <a:solidFill>
                  <a:srgbClr val="898989"/>
                </a:solidFill>
                <a:cs typeface="Arial" charset="0"/>
              </a:rPr>
              <a:pPr eaLnBrk="1" hangingPunct="1"/>
              <a:t>7</a:t>
            </a:fld>
            <a:endParaRPr lang="en-US" sz="1200">
              <a:solidFill>
                <a:srgbClr val="898989"/>
              </a:solidFill>
              <a:cs typeface="Arial"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3648076" y="274638"/>
            <a:ext cx="6562725" cy="850900"/>
          </a:xfrm>
        </p:spPr>
        <p:txBody>
          <a:bodyPr/>
          <a:lstStyle/>
          <a:p>
            <a:r>
              <a:rPr lang="en-US" sz="4400" b="1" dirty="0">
                <a:latin typeface="Calibri" charset="0"/>
              </a:rPr>
              <a:t>Null Hypothesis: </a:t>
            </a:r>
            <a:r>
              <a:rPr lang="en-US" sz="4400" b="1" i="1" dirty="0">
                <a:latin typeface="Calibri" charset="0"/>
              </a:rPr>
              <a:t>H</a:t>
            </a:r>
            <a:r>
              <a:rPr lang="en-US" sz="4400" b="1" baseline="-25000" dirty="0">
                <a:latin typeface="Calibri" charset="0"/>
              </a:rPr>
              <a:t>0</a:t>
            </a:r>
            <a:endParaRPr lang="en-US" sz="4400" b="1" dirty="0">
              <a:latin typeface="Calibri" charset="0"/>
            </a:endParaRPr>
          </a:p>
        </p:txBody>
      </p:sp>
      <p:sp>
        <p:nvSpPr>
          <p:cNvPr id="3" name="Content Placeholder 2"/>
          <p:cNvSpPr>
            <a:spLocks noGrp="1"/>
          </p:cNvSpPr>
          <p:nvPr>
            <p:ph idx="1"/>
          </p:nvPr>
        </p:nvSpPr>
        <p:spPr>
          <a:xfrm>
            <a:off x="1774826" y="1600201"/>
            <a:ext cx="8435975" cy="4525963"/>
          </a:xfrm>
        </p:spPr>
        <p:txBody>
          <a:bodyPr/>
          <a:lstStyle/>
          <a:p>
            <a:pPr algn="just">
              <a:defRPr/>
            </a:pPr>
            <a:r>
              <a:rPr lang="en-US" sz="2800" dirty="0"/>
              <a:t>The </a:t>
            </a:r>
            <a:r>
              <a:rPr lang="en-US" sz="2800" dirty="0">
                <a:solidFill>
                  <a:srgbClr val="FF0000"/>
                </a:solidFill>
              </a:rPr>
              <a:t>null hypothesis </a:t>
            </a:r>
            <a:r>
              <a:rPr lang="en-US" sz="2800" dirty="0"/>
              <a:t>(denoted by </a:t>
            </a:r>
            <a:r>
              <a:rPr lang="en-US" sz="2800" i="1" dirty="0"/>
              <a:t>H</a:t>
            </a:r>
            <a:r>
              <a:rPr lang="en-US" sz="2800" baseline="-25000" dirty="0"/>
              <a:t>0</a:t>
            </a:r>
            <a:r>
              <a:rPr lang="en-US" sz="2800" dirty="0"/>
              <a:t>) is a statement that the value of a population parameter (such as proportion, mean, or standard deviation) is </a:t>
            </a:r>
            <a:r>
              <a:rPr lang="en-US" sz="2800" dirty="0">
                <a:solidFill>
                  <a:srgbClr val="FF0000"/>
                </a:solidFill>
              </a:rPr>
              <a:t>equal to </a:t>
            </a:r>
            <a:r>
              <a:rPr lang="en-US" sz="2800" dirty="0"/>
              <a:t>some claimed value.</a:t>
            </a:r>
          </a:p>
          <a:p>
            <a:pPr marL="0" indent="0" algn="just">
              <a:buNone/>
              <a:defRPr/>
            </a:pPr>
            <a:endParaRPr lang="en-US" sz="2800" dirty="0"/>
          </a:p>
          <a:p>
            <a:pPr algn="just">
              <a:defRPr/>
            </a:pPr>
            <a:r>
              <a:rPr lang="en-US" sz="2800" dirty="0"/>
              <a:t>We test the null hypothesis directly either reject </a:t>
            </a:r>
            <a:r>
              <a:rPr lang="en-US" sz="2800" i="1" dirty="0"/>
              <a:t>H</a:t>
            </a:r>
            <a:r>
              <a:rPr lang="en-US" sz="2800" baseline="-25000" dirty="0"/>
              <a:t>0</a:t>
            </a:r>
            <a:r>
              <a:rPr lang="en-US" sz="2800" dirty="0"/>
              <a:t> or fail to reject </a:t>
            </a:r>
            <a:r>
              <a:rPr lang="en-US" sz="2800" i="1" dirty="0"/>
              <a:t>H</a:t>
            </a:r>
            <a:r>
              <a:rPr lang="en-US" sz="2800" baseline="-25000" dirty="0"/>
              <a:t>0</a:t>
            </a:r>
            <a:r>
              <a:rPr lang="en-US" sz="2800" dirty="0"/>
              <a:t>.</a:t>
            </a:r>
          </a:p>
          <a:p>
            <a:pPr marL="0" indent="0" algn="just">
              <a:buNone/>
              <a:defRPr/>
            </a:pPr>
            <a:endParaRPr lang="en-US" sz="2800" dirty="0"/>
          </a:p>
          <a:p>
            <a:pPr algn="just">
              <a:defRPr/>
            </a:pPr>
            <a:r>
              <a:rPr lang="en-US" sz="2800" dirty="0">
                <a:sym typeface="Symbol" pitchFamily="18" charset="2"/>
              </a:rPr>
              <a:t>The symbolic form of the null hypothesis is: </a:t>
            </a:r>
            <a:r>
              <a:rPr lang="en-US" sz="2800" dirty="0">
                <a:solidFill>
                  <a:srgbClr val="FF0000"/>
                </a:solidFill>
                <a:sym typeface="Symbol" pitchFamily="18" charset="2"/>
              </a:rPr>
              <a:t>=</a:t>
            </a:r>
            <a:endParaRPr lang="en-US" sz="2800" dirty="0">
              <a:solidFill>
                <a:srgbClr val="FF0000"/>
              </a:solidFill>
            </a:endParaRPr>
          </a:p>
          <a:p>
            <a:pPr marL="0" indent="0" algn="just">
              <a:buNone/>
              <a:defRPr/>
            </a:pPr>
            <a:endParaRPr lang="en-US" sz="2800" dirty="0"/>
          </a:p>
          <a:p>
            <a:pPr algn="just">
              <a:defRPr/>
            </a:pPr>
            <a:endParaRPr lang="en-MY" sz="2800" dirty="0"/>
          </a:p>
        </p:txBody>
      </p:sp>
      <p:sp>
        <p:nvSpPr>
          <p:cNvPr id="20483"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039CFC25-ACB3-E14A-8108-20AAECA1C0DF}" type="slidenum">
              <a:rPr lang="en-US" sz="1200">
                <a:solidFill>
                  <a:srgbClr val="898989"/>
                </a:solidFill>
                <a:cs typeface="Arial" charset="0"/>
              </a:rPr>
              <a:pPr eaLnBrk="1" hangingPunct="1"/>
              <a:t>8</a:t>
            </a:fld>
            <a:endParaRPr lang="en-US" sz="1200">
              <a:solidFill>
                <a:srgbClr val="898989"/>
              </a:solidFill>
              <a:cs typeface="Arial"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3648076" y="274638"/>
            <a:ext cx="6562725" cy="850900"/>
          </a:xfrm>
        </p:spPr>
        <p:txBody>
          <a:bodyPr/>
          <a:lstStyle/>
          <a:p>
            <a:r>
              <a:rPr lang="en-US" sz="4400" b="1" dirty="0">
                <a:latin typeface="Calibri" charset="0"/>
              </a:rPr>
              <a:t>Alternative Hypothesis: </a:t>
            </a:r>
            <a:r>
              <a:rPr lang="en-US" sz="4400" b="1" i="1" dirty="0">
                <a:latin typeface="Calibri" charset="0"/>
              </a:rPr>
              <a:t>H</a:t>
            </a:r>
            <a:r>
              <a:rPr lang="en-US" sz="4400" b="1" baseline="-25000" dirty="0">
                <a:latin typeface="Calibri" charset="0"/>
              </a:rPr>
              <a:t>1</a:t>
            </a:r>
            <a:endParaRPr lang="en-US" sz="4400" b="1" dirty="0">
              <a:latin typeface="Calibri" charset="0"/>
            </a:endParaRPr>
          </a:p>
        </p:txBody>
      </p:sp>
      <p:sp>
        <p:nvSpPr>
          <p:cNvPr id="3" name="Content Placeholder 2"/>
          <p:cNvSpPr>
            <a:spLocks noGrp="1"/>
          </p:cNvSpPr>
          <p:nvPr>
            <p:ph idx="1"/>
          </p:nvPr>
        </p:nvSpPr>
        <p:spPr>
          <a:xfrm>
            <a:off x="1774826" y="1600201"/>
            <a:ext cx="8435975" cy="4525963"/>
          </a:xfrm>
        </p:spPr>
        <p:txBody>
          <a:bodyPr/>
          <a:lstStyle/>
          <a:p>
            <a:pPr algn="just">
              <a:defRPr/>
            </a:pPr>
            <a:r>
              <a:rPr lang="en-US" sz="2800" dirty="0"/>
              <a:t>The </a:t>
            </a:r>
            <a:r>
              <a:rPr lang="en-US" sz="2800" dirty="0">
                <a:solidFill>
                  <a:srgbClr val="FF0000"/>
                </a:solidFill>
              </a:rPr>
              <a:t>alternative hypothesis </a:t>
            </a:r>
            <a:r>
              <a:rPr lang="en-US" sz="2800" dirty="0"/>
              <a:t>(denoted by </a:t>
            </a:r>
            <a:r>
              <a:rPr lang="en-US" sz="2800" i="1" dirty="0"/>
              <a:t>H</a:t>
            </a:r>
            <a:r>
              <a:rPr lang="en-US" sz="2800" baseline="-25000" dirty="0"/>
              <a:t>1</a:t>
            </a:r>
            <a:r>
              <a:rPr lang="en-US" sz="2800" dirty="0"/>
              <a:t> or </a:t>
            </a:r>
            <a:r>
              <a:rPr lang="en-US" sz="2800" i="1" dirty="0"/>
              <a:t>H</a:t>
            </a:r>
            <a:r>
              <a:rPr lang="en-US" sz="2800" baseline="-25000" dirty="0"/>
              <a:t>a </a:t>
            </a:r>
            <a:r>
              <a:rPr lang="en-US" sz="2800" dirty="0"/>
              <a:t>or </a:t>
            </a:r>
            <a:r>
              <a:rPr lang="en-US" sz="2800" i="1" dirty="0"/>
              <a:t>H</a:t>
            </a:r>
            <a:r>
              <a:rPr lang="en-US" sz="2800" baseline="-25000" dirty="0"/>
              <a:t>A</a:t>
            </a:r>
            <a:r>
              <a:rPr lang="en-US" sz="2800" dirty="0"/>
              <a:t>) is the statement that the parameter has a value that somehow differs from the null hypothesis.</a:t>
            </a:r>
          </a:p>
          <a:p>
            <a:pPr marL="0" indent="0" algn="just">
              <a:buNone/>
              <a:defRPr/>
            </a:pPr>
            <a:endParaRPr lang="en-US" sz="2800" dirty="0"/>
          </a:p>
          <a:p>
            <a:pPr algn="just">
              <a:defRPr/>
            </a:pPr>
            <a:r>
              <a:rPr lang="en-US" sz="2800" dirty="0">
                <a:sym typeface="Symbol" pitchFamily="18" charset="2"/>
              </a:rPr>
              <a:t>The symbolic form of the alternative hypothesis must use one of these symbols: </a:t>
            </a:r>
            <a:r>
              <a:rPr lang="en-US" sz="2800" dirty="0">
                <a:solidFill>
                  <a:srgbClr val="FF0000"/>
                </a:solidFill>
                <a:sym typeface="Symbol" pitchFamily="18" charset="2"/>
              </a:rPr>
              <a:t></a:t>
            </a:r>
            <a:r>
              <a:rPr lang="en-US" sz="2800" dirty="0">
                <a:solidFill>
                  <a:srgbClr val="FF0000"/>
                </a:solidFill>
              </a:rPr>
              <a:t>, &lt;, &gt;.</a:t>
            </a:r>
          </a:p>
          <a:p>
            <a:pPr algn="just">
              <a:defRPr/>
            </a:pPr>
            <a:endParaRPr lang="en-MY" sz="2800" dirty="0"/>
          </a:p>
          <a:p>
            <a:pPr algn="just">
              <a:buFont typeface="Arial" charset="0"/>
              <a:buNone/>
              <a:defRPr/>
            </a:pPr>
            <a:endParaRPr lang="en-MY" sz="2800" dirty="0"/>
          </a:p>
        </p:txBody>
      </p:sp>
      <p:sp>
        <p:nvSpPr>
          <p:cNvPr id="21507"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F9DABA03-FA59-0B45-BC02-E6606901F7D4}" type="slidenum">
              <a:rPr lang="en-US" sz="1200">
                <a:solidFill>
                  <a:srgbClr val="898989"/>
                </a:solidFill>
                <a:cs typeface="Arial" charset="0"/>
              </a:rPr>
              <a:pPr eaLnBrk="1" hangingPunct="1"/>
              <a:t>9</a:t>
            </a:fld>
            <a:endParaRPr lang="en-US" sz="1200">
              <a:solidFill>
                <a:srgbClr val="898989"/>
              </a:solidFill>
              <a:cs typeface="Arial"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p:cNvSpPr>
            <a:spLocks noGrp="1"/>
          </p:cNvSpPr>
          <p:nvPr>
            <p:ph type="title"/>
          </p:nvPr>
        </p:nvSpPr>
        <p:spPr>
          <a:xfrm>
            <a:off x="3503613" y="260350"/>
            <a:ext cx="6985000" cy="685800"/>
          </a:xfrm>
        </p:spPr>
        <p:txBody>
          <a:bodyPr/>
          <a:lstStyle/>
          <a:p>
            <a:r>
              <a:rPr lang="en-US" b="1" dirty="0">
                <a:solidFill>
                  <a:srgbClr val="0000FF"/>
                </a:solidFill>
                <a:latin typeface="Calibri" charset="0"/>
              </a:rPr>
              <a:t>Types of Hypothesis Test: </a:t>
            </a:r>
            <a:br>
              <a:rPr lang="en-US" b="1" dirty="0">
                <a:solidFill>
                  <a:srgbClr val="0000FF"/>
                </a:solidFill>
                <a:latin typeface="Calibri" charset="0"/>
              </a:rPr>
            </a:br>
            <a:r>
              <a:rPr lang="en-US" b="1" dirty="0">
                <a:solidFill>
                  <a:srgbClr val="0000FF"/>
                </a:solidFill>
                <a:latin typeface="Calibri" charset="0"/>
              </a:rPr>
              <a:t>Two-tailed, Left-tailed, Right-tailed</a:t>
            </a:r>
          </a:p>
        </p:txBody>
      </p:sp>
      <p:sp>
        <p:nvSpPr>
          <p:cNvPr id="3" name="Content Placeholder 2"/>
          <p:cNvSpPr>
            <a:spLocks noGrp="1"/>
          </p:cNvSpPr>
          <p:nvPr>
            <p:ph idx="1"/>
          </p:nvPr>
        </p:nvSpPr>
        <p:spPr>
          <a:xfrm>
            <a:off x="1919288" y="1600201"/>
            <a:ext cx="8291512" cy="4525963"/>
          </a:xfrm>
        </p:spPr>
        <p:txBody>
          <a:bodyPr/>
          <a:lstStyle/>
          <a:p>
            <a:pPr algn="just">
              <a:buSzPct val="100000"/>
              <a:defRPr/>
            </a:pPr>
            <a:r>
              <a:rPr lang="en-US" sz="2800" dirty="0"/>
              <a:t>Determinations of </a:t>
            </a:r>
            <a:r>
              <a:rPr lang="en-US" sz="2800" i="1" dirty="0">
                <a:solidFill>
                  <a:srgbClr val="FF0000"/>
                </a:solidFill>
              </a:rPr>
              <a:t>P</a:t>
            </a:r>
            <a:r>
              <a:rPr lang="en-US" sz="2800" dirty="0">
                <a:solidFill>
                  <a:srgbClr val="FF0000"/>
                </a:solidFill>
              </a:rPr>
              <a:t>-values</a:t>
            </a:r>
            <a:r>
              <a:rPr lang="en-US" sz="2800" dirty="0"/>
              <a:t> and </a:t>
            </a:r>
            <a:r>
              <a:rPr lang="en-US" sz="2800" dirty="0">
                <a:solidFill>
                  <a:srgbClr val="FF0000"/>
                </a:solidFill>
              </a:rPr>
              <a:t>critical values </a:t>
            </a:r>
            <a:r>
              <a:rPr lang="en-US" sz="2800" dirty="0"/>
              <a:t>are affected by whether a critical region is in two tails, the left tail, or the right tail. It therefore becomes important to correctly characterize a hypothesis test as two-tailed, left-tailed, or right-tailed. </a:t>
            </a:r>
          </a:p>
          <a:p>
            <a:pPr marL="0" indent="0" algn="just">
              <a:buSzPct val="100000"/>
              <a:buNone/>
              <a:defRPr/>
            </a:pPr>
            <a:endParaRPr lang="en-US" sz="2800" dirty="0"/>
          </a:p>
          <a:p>
            <a:pPr algn="just">
              <a:buSzPct val="100000"/>
              <a:defRPr/>
            </a:pPr>
            <a:r>
              <a:rPr lang="en-US" sz="2800" dirty="0"/>
              <a:t>The </a:t>
            </a:r>
            <a:r>
              <a:rPr lang="en-US" sz="2800" dirty="0">
                <a:solidFill>
                  <a:srgbClr val="FF0000"/>
                </a:solidFill>
              </a:rPr>
              <a:t>tails</a:t>
            </a:r>
            <a:r>
              <a:rPr lang="en-US" sz="2800" dirty="0"/>
              <a:t> in a distribution are the extreme regions bounded by critical values.</a:t>
            </a:r>
          </a:p>
          <a:p>
            <a:pPr algn="just">
              <a:buSzPct val="100000"/>
              <a:defRPr/>
            </a:pPr>
            <a:endParaRPr lang="en-US" sz="2800" dirty="0"/>
          </a:p>
        </p:txBody>
      </p:sp>
      <p:sp>
        <p:nvSpPr>
          <p:cNvPr id="49155"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9077D4E5-466E-CB41-9A85-DCDE9AEF9FE5}" type="slidenum">
              <a:rPr lang="en-US" sz="1200">
                <a:solidFill>
                  <a:srgbClr val="898989"/>
                </a:solidFill>
                <a:cs typeface="Arial" charset="0"/>
              </a:rPr>
              <a:pPr eaLnBrk="1" hangingPunct="1"/>
              <a:t>10</a:t>
            </a:fld>
            <a:endParaRPr lang="en-US" sz="1200">
              <a:solidFill>
                <a:srgbClr val="898989"/>
              </a:solidFill>
              <a:cs typeface="Arial" charset="0"/>
            </a:endParaRPr>
          </a:p>
        </p:txBody>
      </p:sp>
    </p:spTree>
    <p:extLst>
      <p:ext uri="{BB962C8B-B14F-4D97-AF65-F5344CB8AC3E}">
        <p14:creationId xmlns:p14="http://schemas.microsoft.com/office/powerpoint/2010/main" val="4235807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a:xfrm>
            <a:off x="3648076" y="115889"/>
            <a:ext cx="6562725" cy="706437"/>
          </a:xfrm>
        </p:spPr>
        <p:txBody>
          <a:bodyPr/>
          <a:lstStyle/>
          <a:p>
            <a:r>
              <a:rPr lang="en-US" sz="4400" b="1" dirty="0">
                <a:solidFill>
                  <a:srgbClr val="0000FF"/>
                </a:solidFill>
                <a:latin typeface="Calibri" charset="0"/>
              </a:rPr>
              <a:t>Two-tailed Test</a:t>
            </a:r>
          </a:p>
        </p:txBody>
      </p:sp>
      <p:sp>
        <p:nvSpPr>
          <p:cNvPr id="20" name="Rectangle 3"/>
          <p:cNvSpPr txBox="1">
            <a:spLocks noChangeArrowheads="1"/>
          </p:cNvSpPr>
          <p:nvPr/>
        </p:nvSpPr>
        <p:spPr bwMode="auto">
          <a:xfrm>
            <a:off x="4151313" y="1125539"/>
            <a:ext cx="1873250" cy="143192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488" tIns="44450" rIns="90488" bIns="44450"/>
          <a:lstStyle/>
          <a:p>
            <a:pPr marL="342900" indent="-342900" eaLnBrk="0" hangingPunct="0">
              <a:lnSpc>
                <a:spcPct val="95000"/>
              </a:lnSpc>
              <a:spcBef>
                <a:spcPct val="10000"/>
              </a:spcBef>
              <a:spcAft>
                <a:spcPct val="10000"/>
              </a:spcAft>
              <a:defRPr/>
            </a:pPr>
            <a:r>
              <a:rPr lang="en-US" sz="3600" b="1" i="1" kern="0" dirty="0">
                <a:solidFill>
                  <a:schemeClr val="tx1"/>
                </a:solidFill>
                <a:latin typeface="Arial" pitchFamily="34" charset="0"/>
              </a:rPr>
              <a:t>H</a:t>
            </a:r>
            <a:r>
              <a:rPr lang="en-US" sz="3600" b="1" kern="0" baseline="-25000" dirty="0">
                <a:solidFill>
                  <a:schemeClr val="tx1"/>
                </a:solidFill>
                <a:latin typeface="Arial" pitchFamily="34" charset="0"/>
              </a:rPr>
              <a:t>0</a:t>
            </a:r>
            <a:r>
              <a:rPr lang="en-US" sz="3600" b="1" kern="0" dirty="0">
                <a:solidFill>
                  <a:schemeClr val="tx1"/>
                </a:solidFill>
                <a:latin typeface="Arial" pitchFamily="34" charset="0"/>
              </a:rPr>
              <a:t>:  = </a:t>
            </a:r>
          </a:p>
          <a:p>
            <a:pPr marL="342900" indent="-342900" eaLnBrk="0" hangingPunct="0">
              <a:lnSpc>
                <a:spcPct val="95000"/>
              </a:lnSpc>
              <a:spcBef>
                <a:spcPct val="10000"/>
              </a:spcBef>
              <a:spcAft>
                <a:spcPct val="10000"/>
              </a:spcAft>
              <a:defRPr/>
            </a:pPr>
            <a:r>
              <a:rPr lang="en-US" sz="3600" b="1" i="1" kern="0" dirty="0">
                <a:solidFill>
                  <a:schemeClr val="tx1"/>
                </a:solidFill>
                <a:latin typeface="Arial" pitchFamily="34" charset="0"/>
              </a:rPr>
              <a:t>H</a:t>
            </a:r>
            <a:r>
              <a:rPr lang="en-US" sz="3600" b="1" kern="0" baseline="-25000" dirty="0">
                <a:solidFill>
                  <a:schemeClr val="tx1"/>
                </a:solidFill>
                <a:latin typeface="Arial" pitchFamily="34" charset="0"/>
              </a:rPr>
              <a:t>1</a:t>
            </a:r>
            <a:r>
              <a:rPr lang="en-US" sz="3600" b="1" kern="0" dirty="0">
                <a:solidFill>
                  <a:schemeClr val="tx1"/>
                </a:solidFill>
                <a:latin typeface="Arial" pitchFamily="34" charset="0"/>
              </a:rPr>
              <a:t>:  </a:t>
            </a:r>
            <a:r>
              <a:rPr lang="en-US" sz="4400" b="1" kern="0" dirty="0">
                <a:solidFill>
                  <a:schemeClr val="tx1"/>
                </a:solidFill>
                <a:latin typeface="Arial" pitchFamily="34" charset="0"/>
                <a:sym typeface="Symbol" pitchFamily="18" charset="2"/>
              </a:rPr>
              <a:t></a:t>
            </a:r>
            <a:r>
              <a:rPr lang="en-US" sz="3600" b="1" kern="0" dirty="0">
                <a:solidFill>
                  <a:schemeClr val="tx1"/>
                </a:solidFill>
                <a:latin typeface="Arial" pitchFamily="34" charset="0"/>
              </a:rPr>
              <a:t> </a:t>
            </a:r>
          </a:p>
        </p:txBody>
      </p:sp>
      <p:sp>
        <p:nvSpPr>
          <p:cNvPr id="21" name="Rectangle 30"/>
          <p:cNvSpPr>
            <a:spLocks noChangeArrowheads="1"/>
          </p:cNvSpPr>
          <p:nvPr/>
        </p:nvSpPr>
        <p:spPr bwMode="auto">
          <a:xfrm>
            <a:off x="6600826" y="1292225"/>
            <a:ext cx="3762375" cy="1086964"/>
          </a:xfrm>
          <a:prstGeom prst="rect">
            <a:avLst/>
          </a:prstGeom>
          <a:noFill/>
          <a:ln w="38100" cmpd="dbl">
            <a:solidFill>
              <a:schemeClr val="tx1"/>
            </a:solidFill>
            <a:prstDash val="sysDash"/>
            <a:miter lim="800000"/>
            <a:headEnd/>
            <a:tailEnd/>
          </a:ln>
          <a:extLst>
            <a:ext uri="{909E8E84-426E-40dd-AFC4-6F175D3DCCD1}">
              <a14:hiddenFill xmlns="" xmlns:a14="http://schemas.microsoft.com/office/drawing/2010/main">
                <a:solidFill>
                  <a:srgbClr val="FFFFFF"/>
                </a:solidFill>
              </a14:hiddenFill>
            </a:ext>
          </a:extLst>
        </p:spPr>
        <p:txBody>
          <a:bodyPr lIns="90488" tIns="44450" rIns="90488" bIns="44450">
            <a:spAutoFit/>
          </a:bodyPr>
          <a:lstStyle/>
          <a:p>
            <a:pPr algn="ctr">
              <a:lnSpc>
                <a:spcPct val="90000"/>
              </a:lnSpc>
            </a:pPr>
            <a:r>
              <a:rPr lang="en-US" sz="3200" i="1" dirty="0">
                <a:latin typeface="Symbol" charset="0"/>
              </a:rPr>
              <a:t></a:t>
            </a:r>
            <a:r>
              <a:rPr lang="en-US" sz="2000" dirty="0"/>
              <a:t> is divided equally between </a:t>
            </a:r>
          </a:p>
          <a:p>
            <a:pPr algn="ctr">
              <a:lnSpc>
                <a:spcPct val="90000"/>
              </a:lnSpc>
            </a:pPr>
            <a:r>
              <a:rPr lang="en-US" sz="2000" dirty="0"/>
              <a:t>the two tails of the critical </a:t>
            </a:r>
          </a:p>
          <a:p>
            <a:pPr algn="ctr">
              <a:lnSpc>
                <a:spcPct val="90000"/>
              </a:lnSpc>
            </a:pPr>
            <a:r>
              <a:rPr lang="en-US" sz="2000" dirty="0"/>
              <a:t>region</a:t>
            </a:r>
          </a:p>
        </p:txBody>
      </p:sp>
      <p:grpSp>
        <p:nvGrpSpPr>
          <p:cNvPr id="22" name="Group 51"/>
          <p:cNvGrpSpPr>
            <a:grpSpLocks/>
          </p:cNvGrpSpPr>
          <p:nvPr/>
        </p:nvGrpSpPr>
        <p:grpSpPr bwMode="auto">
          <a:xfrm>
            <a:off x="2579689" y="2460625"/>
            <a:ext cx="5159375" cy="954088"/>
            <a:chOff x="231" y="1440"/>
            <a:chExt cx="3250" cy="601"/>
          </a:xfrm>
        </p:grpSpPr>
        <p:sp>
          <p:nvSpPr>
            <p:cNvPr id="50190" name="Rectangle 4"/>
            <p:cNvSpPr>
              <a:spLocks noChangeArrowheads="1"/>
            </p:cNvSpPr>
            <p:nvPr/>
          </p:nvSpPr>
          <p:spPr bwMode="auto">
            <a:xfrm>
              <a:off x="386" y="1736"/>
              <a:ext cx="3049" cy="3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pPr>
                <a:lnSpc>
                  <a:spcPct val="90000"/>
                </a:lnSpc>
              </a:pPr>
              <a:r>
                <a:rPr lang="en-US" sz="2800"/>
                <a:t>Means less than or greater than</a:t>
              </a:r>
            </a:p>
          </p:txBody>
        </p:sp>
        <p:sp>
          <p:nvSpPr>
            <p:cNvPr id="50191" name="Freeform 5"/>
            <p:cNvSpPr>
              <a:spLocks/>
            </p:cNvSpPr>
            <p:nvPr/>
          </p:nvSpPr>
          <p:spPr bwMode="auto">
            <a:xfrm>
              <a:off x="231" y="1669"/>
              <a:ext cx="3250" cy="186"/>
            </a:xfrm>
            <a:custGeom>
              <a:avLst/>
              <a:gdLst>
                <a:gd name="T0" fmla="*/ 0 w 3250"/>
                <a:gd name="T1" fmla="*/ 185 h 186"/>
                <a:gd name="T2" fmla="*/ 0 w 3250"/>
                <a:gd name="T3" fmla="*/ 0 h 186"/>
                <a:gd name="T4" fmla="*/ 3249 w 3250"/>
                <a:gd name="T5" fmla="*/ 0 h 186"/>
                <a:gd name="T6" fmla="*/ 3249 w 3250"/>
                <a:gd name="T7" fmla="*/ 158 h 186"/>
                <a:gd name="T8" fmla="*/ 0 60000 65536"/>
                <a:gd name="T9" fmla="*/ 0 60000 65536"/>
                <a:gd name="T10" fmla="*/ 0 60000 65536"/>
                <a:gd name="T11" fmla="*/ 0 60000 65536"/>
                <a:gd name="T12" fmla="*/ 0 w 3250"/>
                <a:gd name="T13" fmla="*/ 0 h 186"/>
                <a:gd name="T14" fmla="*/ 3250 w 3250"/>
                <a:gd name="T15" fmla="*/ 186 h 186"/>
              </a:gdLst>
              <a:ahLst/>
              <a:cxnLst>
                <a:cxn ang="T8">
                  <a:pos x="T0" y="T1"/>
                </a:cxn>
                <a:cxn ang="T9">
                  <a:pos x="T2" y="T3"/>
                </a:cxn>
                <a:cxn ang="T10">
                  <a:pos x="T4" y="T5"/>
                </a:cxn>
                <a:cxn ang="T11">
                  <a:pos x="T6" y="T7"/>
                </a:cxn>
              </a:cxnLst>
              <a:rect l="T12" t="T13" r="T14" b="T15"/>
              <a:pathLst>
                <a:path w="3250" h="186">
                  <a:moveTo>
                    <a:pt x="0" y="185"/>
                  </a:moveTo>
                  <a:lnTo>
                    <a:pt x="0" y="0"/>
                  </a:lnTo>
                  <a:lnTo>
                    <a:pt x="3249" y="0"/>
                  </a:lnTo>
                  <a:lnTo>
                    <a:pt x="3249" y="158"/>
                  </a:lnTo>
                </a:path>
              </a:pathLst>
            </a:custGeom>
            <a:noFill/>
            <a:ln w="50800" cap="rnd">
              <a:solidFill>
                <a:schemeClr val="hlink"/>
              </a:solidFill>
              <a:round/>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50192" name="Line 31"/>
            <p:cNvSpPr>
              <a:spLocks noChangeShapeType="1"/>
            </p:cNvSpPr>
            <p:nvPr/>
          </p:nvSpPr>
          <p:spPr bwMode="auto">
            <a:xfrm flipV="1">
              <a:off x="1872" y="1440"/>
              <a:ext cx="0" cy="240"/>
            </a:xfrm>
            <a:prstGeom prst="line">
              <a:avLst/>
            </a:prstGeom>
            <a:noFill/>
            <a:ln w="50800">
              <a:solidFill>
                <a:schemeClr val="hlink"/>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grpSp>
      <p:grpSp>
        <p:nvGrpSpPr>
          <p:cNvPr id="26" name="Group 50"/>
          <p:cNvGrpSpPr>
            <a:grpSpLocks/>
          </p:cNvGrpSpPr>
          <p:nvPr/>
        </p:nvGrpSpPr>
        <p:grpSpPr bwMode="auto">
          <a:xfrm>
            <a:off x="3886200" y="3581400"/>
            <a:ext cx="5657850" cy="2832100"/>
            <a:chOff x="1024" y="1954"/>
            <a:chExt cx="3564" cy="1870"/>
          </a:xfrm>
        </p:grpSpPr>
        <p:pic>
          <p:nvPicPr>
            <p:cNvPr id="50183" name="Picture 47" descr="7_05_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24" y="1954"/>
              <a:ext cx="3564" cy="18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50184" name="Group 48"/>
            <p:cNvGrpSpPr>
              <a:grpSpLocks/>
            </p:cNvGrpSpPr>
            <p:nvPr/>
          </p:nvGrpSpPr>
          <p:grpSpPr bwMode="auto">
            <a:xfrm>
              <a:off x="1152" y="3504"/>
              <a:ext cx="673" cy="120"/>
              <a:chOff x="1152" y="3504"/>
              <a:chExt cx="673" cy="120"/>
            </a:xfrm>
          </p:grpSpPr>
          <p:sp>
            <p:nvSpPr>
              <p:cNvPr id="50188" name="Line 32"/>
              <p:cNvSpPr>
                <a:spLocks noChangeShapeType="1"/>
              </p:cNvSpPr>
              <p:nvPr/>
            </p:nvSpPr>
            <p:spPr bwMode="auto">
              <a:xfrm flipH="1">
                <a:off x="1152" y="3600"/>
                <a:ext cx="672" cy="0"/>
              </a:xfrm>
              <a:prstGeom prst="line">
                <a:avLst/>
              </a:prstGeom>
              <a:noFill/>
              <a:ln w="57150">
                <a:solidFill>
                  <a:schemeClr val="hlink"/>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50189" name="Freeform 33"/>
              <p:cNvSpPr>
                <a:spLocks/>
              </p:cNvSpPr>
              <p:nvPr/>
            </p:nvSpPr>
            <p:spPr bwMode="auto">
              <a:xfrm>
                <a:off x="1824" y="3504"/>
                <a:ext cx="1" cy="120"/>
              </a:xfrm>
              <a:custGeom>
                <a:avLst/>
                <a:gdLst>
                  <a:gd name="T0" fmla="*/ 0 w 1"/>
                  <a:gd name="T1" fmla="*/ 0 h 120"/>
                  <a:gd name="T2" fmla="*/ 0 w 1"/>
                  <a:gd name="T3" fmla="*/ 120 h 120"/>
                  <a:gd name="T4" fmla="*/ 0 60000 65536"/>
                  <a:gd name="T5" fmla="*/ 0 60000 65536"/>
                  <a:gd name="T6" fmla="*/ 0 w 1"/>
                  <a:gd name="T7" fmla="*/ 0 h 120"/>
                  <a:gd name="T8" fmla="*/ 1 w 1"/>
                  <a:gd name="T9" fmla="*/ 120 h 120"/>
                </a:gdLst>
                <a:ahLst/>
                <a:cxnLst>
                  <a:cxn ang="T4">
                    <a:pos x="T0" y="T1"/>
                  </a:cxn>
                  <a:cxn ang="T5">
                    <a:pos x="T2" y="T3"/>
                  </a:cxn>
                </a:cxnLst>
                <a:rect l="T6" t="T7" r="T8" b="T9"/>
                <a:pathLst>
                  <a:path w="1" h="120">
                    <a:moveTo>
                      <a:pt x="0" y="0"/>
                    </a:moveTo>
                    <a:lnTo>
                      <a:pt x="0" y="120"/>
                    </a:lnTo>
                  </a:path>
                </a:pathLst>
              </a:custGeom>
              <a:noFill/>
              <a:ln w="57150">
                <a:solidFill>
                  <a:schemeClr val="hlink"/>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grpSp>
        <p:grpSp>
          <p:nvGrpSpPr>
            <p:cNvPr id="50185" name="Group 49"/>
            <p:cNvGrpSpPr>
              <a:grpSpLocks/>
            </p:cNvGrpSpPr>
            <p:nvPr/>
          </p:nvGrpSpPr>
          <p:grpSpPr bwMode="auto">
            <a:xfrm>
              <a:off x="3787" y="3509"/>
              <a:ext cx="677" cy="115"/>
              <a:chOff x="3787" y="3509"/>
              <a:chExt cx="677" cy="115"/>
            </a:xfrm>
          </p:grpSpPr>
          <p:sp>
            <p:nvSpPr>
              <p:cNvPr id="50186" name="Line 37"/>
              <p:cNvSpPr>
                <a:spLocks noChangeShapeType="1"/>
              </p:cNvSpPr>
              <p:nvPr/>
            </p:nvSpPr>
            <p:spPr bwMode="auto">
              <a:xfrm>
                <a:off x="3792" y="3600"/>
                <a:ext cx="672" cy="0"/>
              </a:xfrm>
              <a:prstGeom prst="line">
                <a:avLst/>
              </a:prstGeom>
              <a:noFill/>
              <a:ln w="57150">
                <a:solidFill>
                  <a:schemeClr val="hlink"/>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50187" name="Freeform 39"/>
              <p:cNvSpPr>
                <a:spLocks/>
              </p:cNvSpPr>
              <p:nvPr/>
            </p:nvSpPr>
            <p:spPr bwMode="auto">
              <a:xfrm>
                <a:off x="3787" y="3509"/>
                <a:ext cx="1" cy="115"/>
              </a:xfrm>
              <a:custGeom>
                <a:avLst/>
                <a:gdLst>
                  <a:gd name="T0" fmla="*/ 0 w 1"/>
                  <a:gd name="T1" fmla="*/ 0 h 115"/>
                  <a:gd name="T2" fmla="*/ 0 w 1"/>
                  <a:gd name="T3" fmla="*/ 115 h 115"/>
                  <a:gd name="T4" fmla="*/ 0 60000 65536"/>
                  <a:gd name="T5" fmla="*/ 0 60000 65536"/>
                  <a:gd name="T6" fmla="*/ 0 w 1"/>
                  <a:gd name="T7" fmla="*/ 0 h 115"/>
                  <a:gd name="T8" fmla="*/ 1 w 1"/>
                  <a:gd name="T9" fmla="*/ 115 h 115"/>
                </a:gdLst>
                <a:ahLst/>
                <a:cxnLst>
                  <a:cxn ang="T4">
                    <a:pos x="T0" y="T1"/>
                  </a:cxn>
                  <a:cxn ang="T5">
                    <a:pos x="T2" y="T3"/>
                  </a:cxn>
                </a:cxnLst>
                <a:rect l="T6" t="T7" r="T8" b="T9"/>
                <a:pathLst>
                  <a:path w="1" h="115">
                    <a:moveTo>
                      <a:pt x="0" y="0"/>
                    </a:moveTo>
                    <a:lnTo>
                      <a:pt x="0" y="115"/>
                    </a:lnTo>
                  </a:path>
                </a:pathLst>
              </a:custGeom>
              <a:noFill/>
              <a:ln w="57150">
                <a:solidFill>
                  <a:schemeClr val="hlink"/>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grpSp>
      </p:grpSp>
      <p:sp>
        <p:nvSpPr>
          <p:cNvPr id="50182"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5D5DF191-8310-994E-B91A-518190765D0E}" type="slidenum">
              <a:rPr lang="en-US" sz="1200">
                <a:solidFill>
                  <a:srgbClr val="898989"/>
                </a:solidFill>
                <a:cs typeface="Arial" charset="0"/>
              </a:rPr>
              <a:pPr eaLnBrk="1" hangingPunct="1"/>
              <a:t>11</a:t>
            </a:fld>
            <a:endParaRPr lang="en-US" sz="1200">
              <a:solidFill>
                <a:srgbClr val="898989"/>
              </a:solidFill>
              <a:cs typeface="Arial" charset="0"/>
            </a:endParaRPr>
          </a:p>
        </p:txBody>
      </p:sp>
    </p:spTree>
    <p:extLst>
      <p:ext uri="{BB962C8B-B14F-4D97-AF65-F5344CB8AC3E}">
        <p14:creationId xmlns:p14="http://schemas.microsoft.com/office/powerpoint/2010/main" val="12248595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0-#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0-#ppt_w/2"/>
                                          </p:val>
                                        </p:tav>
                                        <p:tav tm="100000">
                                          <p:val>
                                            <p:strVal val="#ppt_x"/>
                                          </p:val>
                                        </p:tav>
                                      </p:tavLst>
                                    </p:anim>
                                    <p:anim calcmode="lin" valueType="num">
                                      <p:cBhvr additive="base">
                                        <p:cTn id="14"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additive="base">
                                        <p:cTn id="19" dur="500" fill="hold"/>
                                        <p:tgtEl>
                                          <p:spTgt spid="26"/>
                                        </p:tgtEl>
                                        <p:attrNameLst>
                                          <p:attrName>ppt_x</p:attrName>
                                        </p:attrNameLst>
                                      </p:cBhvr>
                                      <p:tavLst>
                                        <p:tav tm="0">
                                          <p:val>
                                            <p:strVal val="0-#ppt_w/2"/>
                                          </p:val>
                                        </p:tav>
                                        <p:tav tm="100000">
                                          <p:val>
                                            <p:strVal val="#ppt_x"/>
                                          </p:val>
                                        </p:tav>
                                      </p:tavLst>
                                    </p:anim>
                                    <p:anim calcmode="lin" valueType="num">
                                      <p:cBhvr additive="base">
                                        <p:cTn id="20"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p:cNvSpPr>
            <a:spLocks noGrp="1"/>
          </p:cNvSpPr>
          <p:nvPr>
            <p:ph type="title"/>
          </p:nvPr>
        </p:nvSpPr>
        <p:spPr>
          <a:xfrm>
            <a:off x="3648076" y="274639"/>
            <a:ext cx="6562725" cy="777875"/>
          </a:xfrm>
        </p:spPr>
        <p:txBody>
          <a:bodyPr/>
          <a:lstStyle/>
          <a:p>
            <a:r>
              <a:rPr lang="en-US" sz="4400" b="1" dirty="0">
                <a:solidFill>
                  <a:srgbClr val="0000FF"/>
                </a:solidFill>
                <a:latin typeface="Calibri" charset="0"/>
              </a:rPr>
              <a:t>Left-tailed Test</a:t>
            </a:r>
          </a:p>
        </p:txBody>
      </p:sp>
      <p:sp>
        <p:nvSpPr>
          <p:cNvPr id="6" name="Rectangle 3"/>
          <p:cNvSpPr txBox="1">
            <a:spLocks noChangeArrowheads="1"/>
          </p:cNvSpPr>
          <p:nvPr/>
        </p:nvSpPr>
        <p:spPr bwMode="auto">
          <a:xfrm>
            <a:off x="4727576" y="1268414"/>
            <a:ext cx="2022475" cy="158432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488" tIns="44450" rIns="90488" bIns="44450"/>
          <a:lstStyle/>
          <a:p>
            <a:pPr marL="342900" indent="-342900" eaLnBrk="0" hangingPunct="0">
              <a:lnSpc>
                <a:spcPct val="95000"/>
              </a:lnSpc>
              <a:spcBef>
                <a:spcPct val="30000"/>
              </a:spcBef>
              <a:spcAft>
                <a:spcPct val="30000"/>
              </a:spcAft>
              <a:defRPr/>
            </a:pPr>
            <a:r>
              <a:rPr lang="en-US" sz="3600" b="1" i="1" kern="0" dirty="0">
                <a:solidFill>
                  <a:schemeClr val="tx1"/>
                </a:solidFill>
                <a:latin typeface="Arial" pitchFamily="34" charset="0"/>
              </a:rPr>
              <a:t>H</a:t>
            </a:r>
            <a:r>
              <a:rPr lang="en-US" sz="3600" b="1" kern="0" baseline="-25000" dirty="0">
                <a:solidFill>
                  <a:schemeClr val="tx1"/>
                </a:solidFill>
                <a:latin typeface="Arial" pitchFamily="34" charset="0"/>
              </a:rPr>
              <a:t>0</a:t>
            </a:r>
            <a:r>
              <a:rPr lang="en-US" sz="3600" b="1" kern="0" dirty="0">
                <a:solidFill>
                  <a:schemeClr val="tx1"/>
                </a:solidFill>
                <a:latin typeface="Arial" pitchFamily="34" charset="0"/>
              </a:rPr>
              <a:t>: </a:t>
            </a:r>
            <a:r>
              <a:rPr lang="en-US" sz="3600" b="1" kern="0" dirty="0">
                <a:solidFill>
                  <a:schemeClr val="tx1"/>
                </a:solidFill>
                <a:latin typeface="Arial" pitchFamily="34" charset="0"/>
                <a:sym typeface="Symbol" pitchFamily="18" charset="2"/>
              </a:rPr>
              <a:t>=</a:t>
            </a:r>
            <a:r>
              <a:rPr lang="en-US" sz="3600" b="1" kern="0" dirty="0">
                <a:solidFill>
                  <a:schemeClr val="tx1"/>
                </a:solidFill>
                <a:latin typeface="Arial" pitchFamily="34" charset="0"/>
              </a:rPr>
              <a:t> </a:t>
            </a:r>
          </a:p>
          <a:p>
            <a:pPr marL="342900" indent="-342900" eaLnBrk="0" hangingPunct="0">
              <a:lnSpc>
                <a:spcPct val="95000"/>
              </a:lnSpc>
              <a:spcBef>
                <a:spcPct val="30000"/>
              </a:spcBef>
              <a:spcAft>
                <a:spcPct val="30000"/>
              </a:spcAft>
              <a:defRPr/>
            </a:pPr>
            <a:r>
              <a:rPr lang="en-US" sz="3600" b="1" i="1" kern="0" dirty="0">
                <a:solidFill>
                  <a:schemeClr val="tx1"/>
                </a:solidFill>
                <a:latin typeface="Arial" pitchFamily="34" charset="0"/>
              </a:rPr>
              <a:t>H</a:t>
            </a:r>
            <a:r>
              <a:rPr lang="en-US" sz="3600" b="1" kern="0" baseline="-25000" dirty="0">
                <a:solidFill>
                  <a:schemeClr val="tx1"/>
                </a:solidFill>
                <a:latin typeface="Arial" pitchFamily="34" charset="0"/>
              </a:rPr>
              <a:t>1</a:t>
            </a:r>
            <a:r>
              <a:rPr lang="en-US" sz="3600" b="1" kern="0" dirty="0">
                <a:solidFill>
                  <a:schemeClr val="tx1"/>
                </a:solidFill>
                <a:latin typeface="Arial" pitchFamily="34" charset="0"/>
              </a:rPr>
              <a:t>: &lt; </a:t>
            </a:r>
          </a:p>
        </p:txBody>
      </p:sp>
      <p:grpSp>
        <p:nvGrpSpPr>
          <p:cNvPr id="7" name="Group 32"/>
          <p:cNvGrpSpPr>
            <a:grpSpLocks/>
          </p:cNvGrpSpPr>
          <p:nvPr/>
        </p:nvGrpSpPr>
        <p:grpSpPr bwMode="auto">
          <a:xfrm>
            <a:off x="3263901" y="3762376"/>
            <a:ext cx="5662613" cy="2714625"/>
            <a:chOff x="1744" y="2199"/>
            <a:chExt cx="3567" cy="1902"/>
          </a:xfrm>
        </p:grpSpPr>
        <p:pic>
          <p:nvPicPr>
            <p:cNvPr id="51212" name="Picture 30" descr="7_05_3"/>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856" y="2199"/>
              <a:ext cx="3455" cy="19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51213" name="Group 31"/>
            <p:cNvGrpSpPr>
              <a:grpSpLocks/>
            </p:cNvGrpSpPr>
            <p:nvPr/>
          </p:nvGrpSpPr>
          <p:grpSpPr bwMode="auto">
            <a:xfrm>
              <a:off x="1744" y="3744"/>
              <a:ext cx="932" cy="110"/>
              <a:chOff x="1872" y="3744"/>
              <a:chExt cx="932" cy="110"/>
            </a:xfrm>
          </p:grpSpPr>
          <p:sp>
            <p:nvSpPr>
              <p:cNvPr id="51214" name="Freeform 11"/>
              <p:cNvSpPr>
                <a:spLocks noChangeArrowheads="1"/>
              </p:cNvSpPr>
              <p:nvPr/>
            </p:nvSpPr>
            <p:spPr bwMode="auto">
              <a:xfrm>
                <a:off x="2803" y="3744"/>
                <a:ext cx="1" cy="110"/>
              </a:xfrm>
              <a:custGeom>
                <a:avLst/>
                <a:gdLst>
                  <a:gd name="T0" fmla="*/ 1 w 1"/>
                  <a:gd name="T1" fmla="*/ 0 h 110"/>
                  <a:gd name="T2" fmla="*/ 0 w 1"/>
                  <a:gd name="T3" fmla="*/ 110 h 110"/>
                  <a:gd name="T4" fmla="*/ 0 60000 65536"/>
                  <a:gd name="T5" fmla="*/ 0 60000 65536"/>
                  <a:gd name="T6" fmla="*/ 0 w 1"/>
                  <a:gd name="T7" fmla="*/ 0 h 110"/>
                  <a:gd name="T8" fmla="*/ 1 w 1"/>
                  <a:gd name="T9" fmla="*/ 110 h 110"/>
                </a:gdLst>
                <a:ahLst/>
                <a:cxnLst>
                  <a:cxn ang="T4">
                    <a:pos x="T0" y="T1"/>
                  </a:cxn>
                  <a:cxn ang="T5">
                    <a:pos x="T2" y="T3"/>
                  </a:cxn>
                </a:cxnLst>
                <a:rect l="T6" t="T7" r="T8" b="T9"/>
                <a:pathLst>
                  <a:path w="1" h="110">
                    <a:moveTo>
                      <a:pt x="1" y="0"/>
                    </a:moveTo>
                    <a:lnTo>
                      <a:pt x="0" y="110"/>
                    </a:lnTo>
                  </a:path>
                </a:pathLst>
              </a:custGeom>
              <a:noFill/>
              <a:ln w="50800">
                <a:solidFill>
                  <a:schemeClr val="hlink"/>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51215" name="Line 12"/>
              <p:cNvSpPr>
                <a:spLocks noChangeShapeType="1"/>
              </p:cNvSpPr>
              <p:nvPr/>
            </p:nvSpPr>
            <p:spPr bwMode="auto">
              <a:xfrm>
                <a:off x="1872" y="3840"/>
                <a:ext cx="916" cy="0"/>
              </a:xfrm>
              <a:prstGeom prst="line">
                <a:avLst/>
              </a:prstGeom>
              <a:noFill/>
              <a:ln w="50800">
                <a:solidFill>
                  <a:schemeClr val="hlink"/>
                </a:solidFill>
                <a:round/>
                <a:headEnd type="triangle" w="med" len="med"/>
                <a:tailEnd/>
              </a:ln>
              <a:extLst>
                <a:ext uri="{909E8E84-426E-40dd-AFC4-6F175D3DCCD1}">
                  <a14:hiddenFill xmlns="" xmlns:a14="http://schemas.microsoft.com/office/drawing/2010/main">
                    <a:noFill/>
                  </a14:hiddenFill>
                </a:ext>
              </a:extLst>
            </p:spPr>
            <p:txBody>
              <a:bodyPr wrap="none" anchor="ctr"/>
              <a:lstStyle/>
              <a:p>
                <a:endParaRPr lang="en-US"/>
              </a:p>
            </p:txBody>
          </p:sp>
        </p:grpSp>
      </p:grpSp>
      <p:grpSp>
        <p:nvGrpSpPr>
          <p:cNvPr id="2" name="Group 1"/>
          <p:cNvGrpSpPr>
            <a:grpSpLocks/>
          </p:cNvGrpSpPr>
          <p:nvPr/>
        </p:nvGrpSpPr>
        <p:grpSpPr bwMode="auto">
          <a:xfrm>
            <a:off x="2247901" y="1844676"/>
            <a:ext cx="8169275" cy="1725613"/>
            <a:chOff x="723900" y="1844675"/>
            <a:chExt cx="8169275" cy="1725613"/>
          </a:xfrm>
        </p:grpSpPr>
        <p:grpSp>
          <p:nvGrpSpPr>
            <p:cNvPr id="51206" name="Group 34"/>
            <p:cNvGrpSpPr>
              <a:grpSpLocks/>
            </p:cNvGrpSpPr>
            <p:nvPr/>
          </p:nvGrpSpPr>
          <p:grpSpPr bwMode="auto">
            <a:xfrm>
              <a:off x="723900" y="2786063"/>
              <a:ext cx="3557588" cy="784225"/>
              <a:chOff x="112" y="1728"/>
              <a:chExt cx="2241" cy="494"/>
            </a:xfrm>
          </p:grpSpPr>
          <p:sp>
            <p:nvSpPr>
              <p:cNvPr id="51208" name="Rectangle 21"/>
              <p:cNvSpPr>
                <a:spLocks noChangeArrowheads="1"/>
              </p:cNvSpPr>
              <p:nvPr/>
            </p:nvSpPr>
            <p:spPr bwMode="auto">
              <a:xfrm>
                <a:off x="112" y="1921"/>
                <a:ext cx="1081" cy="3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pPr>
                  <a:lnSpc>
                    <a:spcPct val="90000"/>
                  </a:lnSpc>
                </a:pPr>
                <a:r>
                  <a:rPr lang="en-US" sz="2800">
                    <a:solidFill>
                      <a:srgbClr val="FF0000"/>
                    </a:solidFill>
                  </a:rPr>
                  <a:t>Points Left</a:t>
                </a:r>
              </a:p>
            </p:txBody>
          </p:sp>
          <p:grpSp>
            <p:nvGrpSpPr>
              <p:cNvPr id="51209" name="Group 33"/>
              <p:cNvGrpSpPr>
                <a:grpSpLocks/>
              </p:cNvGrpSpPr>
              <p:nvPr/>
            </p:nvGrpSpPr>
            <p:grpSpPr bwMode="auto">
              <a:xfrm>
                <a:off x="1550" y="1728"/>
                <a:ext cx="803" cy="405"/>
                <a:chOff x="1550" y="1728"/>
                <a:chExt cx="803" cy="405"/>
              </a:xfrm>
            </p:grpSpPr>
            <p:sp>
              <p:nvSpPr>
                <p:cNvPr id="51210" name="Line 22"/>
                <p:cNvSpPr>
                  <a:spLocks noChangeShapeType="1"/>
                </p:cNvSpPr>
                <p:nvPr/>
              </p:nvSpPr>
              <p:spPr bwMode="auto">
                <a:xfrm flipH="1">
                  <a:off x="1550" y="2111"/>
                  <a:ext cx="800" cy="0"/>
                </a:xfrm>
                <a:prstGeom prst="line">
                  <a:avLst/>
                </a:prstGeom>
                <a:noFill/>
                <a:ln w="76200">
                  <a:solidFill>
                    <a:schemeClr val="hlink"/>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51211" name="Line 23"/>
                <p:cNvSpPr>
                  <a:spLocks noChangeShapeType="1"/>
                </p:cNvSpPr>
                <p:nvPr/>
              </p:nvSpPr>
              <p:spPr bwMode="auto">
                <a:xfrm flipV="1">
                  <a:off x="2352" y="1728"/>
                  <a:ext cx="1" cy="405"/>
                </a:xfrm>
                <a:prstGeom prst="line">
                  <a:avLst/>
                </a:prstGeom>
                <a:noFill/>
                <a:ln w="76200">
                  <a:solidFill>
                    <a:schemeClr val="hlink"/>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sp>
          <p:nvSpPr>
            <p:cNvPr id="51207" name="Rectangle 35"/>
            <p:cNvSpPr>
              <a:spLocks noChangeArrowheads="1"/>
            </p:cNvSpPr>
            <p:nvPr/>
          </p:nvSpPr>
          <p:spPr bwMode="auto">
            <a:xfrm>
              <a:off x="5724525" y="1844675"/>
              <a:ext cx="3168650" cy="541338"/>
            </a:xfrm>
            <a:prstGeom prst="rect">
              <a:avLst/>
            </a:prstGeom>
            <a:noFill/>
            <a:ln w="12700">
              <a:solidFill>
                <a:schemeClr val="tx1"/>
              </a:solidFill>
              <a:prstDash val="sysDash"/>
              <a:miter lim="800000"/>
              <a:headEnd/>
              <a:tailEnd/>
            </a:ln>
            <a:extLst>
              <a:ext uri="{909E8E84-426E-40dd-AFC4-6F175D3DCCD1}">
                <a14:hiddenFill xmlns="" xmlns:a14="http://schemas.microsoft.com/office/drawing/2010/main">
                  <a:solidFill>
                    <a:srgbClr val="FFFFFF"/>
                  </a:solidFill>
                </a14:hiddenFill>
              </a:ext>
            </a:extLst>
          </p:spPr>
          <p:txBody>
            <a:bodyPr lIns="90488" tIns="44450" rIns="90488" bIns="44450">
              <a:spAutoFit/>
            </a:bodyPr>
            <a:lstStyle/>
            <a:p>
              <a:pPr algn="ctr">
                <a:lnSpc>
                  <a:spcPct val="90000"/>
                </a:lnSpc>
              </a:pPr>
              <a:r>
                <a:rPr lang="en-US" sz="3200" i="1" dirty="0">
                  <a:latin typeface="Symbol" charset="0"/>
                </a:rPr>
                <a:t></a:t>
              </a:r>
              <a:r>
                <a:rPr lang="en-US" sz="3200" dirty="0"/>
                <a:t> the left tail</a:t>
              </a:r>
            </a:p>
          </p:txBody>
        </p:sp>
      </p:grpSp>
      <p:sp>
        <p:nvSpPr>
          <p:cNvPr id="51205"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BC788C77-22DF-CA49-B9C0-7DDEAB713E26}" type="slidenum">
              <a:rPr lang="en-US" sz="1200">
                <a:solidFill>
                  <a:srgbClr val="898989"/>
                </a:solidFill>
                <a:cs typeface="Arial" charset="0"/>
              </a:rPr>
              <a:pPr eaLnBrk="1" hangingPunct="1"/>
              <a:t>12</a:t>
            </a:fld>
            <a:endParaRPr lang="en-US" sz="1200">
              <a:solidFill>
                <a:srgbClr val="898989"/>
              </a:solidFill>
              <a:cs typeface="Arial" charset="0"/>
            </a:endParaRPr>
          </a:p>
        </p:txBody>
      </p:sp>
    </p:spTree>
    <p:extLst>
      <p:ext uri="{BB962C8B-B14F-4D97-AF65-F5344CB8AC3E}">
        <p14:creationId xmlns:p14="http://schemas.microsoft.com/office/powerpoint/2010/main" val="10153265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p:tgtEl>
                                          <p:spTgt spid="7"/>
                                        </p:tgtEl>
                                        <p:attrNameLst>
                                          <p:attrName>ppt_y</p:attrName>
                                        </p:attrNameLst>
                                      </p:cBhvr>
                                      <p:tavLst>
                                        <p:tav tm="0">
                                          <p:val>
                                            <p:strVal val="#ppt_y+#ppt_h*1.125000"/>
                                          </p:val>
                                        </p:tav>
                                        <p:tav tm="100000">
                                          <p:val>
                                            <p:strVal val="#ppt_y"/>
                                          </p:val>
                                        </p:tav>
                                      </p:tavLst>
                                    </p:anim>
                                    <p:animEffect transition="in" filter="wipe(up)">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a:xfrm>
            <a:off x="3792539" y="115889"/>
            <a:ext cx="6562725" cy="865187"/>
          </a:xfrm>
        </p:spPr>
        <p:txBody>
          <a:bodyPr/>
          <a:lstStyle/>
          <a:p>
            <a:r>
              <a:rPr lang="en-US" sz="4400" b="1" dirty="0">
                <a:solidFill>
                  <a:srgbClr val="0000FF"/>
                </a:solidFill>
                <a:latin typeface="Calibri" charset="0"/>
              </a:rPr>
              <a:t>Right-tailed Test</a:t>
            </a:r>
          </a:p>
        </p:txBody>
      </p:sp>
      <p:sp>
        <p:nvSpPr>
          <p:cNvPr id="6" name="Rectangle 3"/>
          <p:cNvSpPr txBox="1">
            <a:spLocks noChangeArrowheads="1"/>
          </p:cNvSpPr>
          <p:nvPr/>
        </p:nvSpPr>
        <p:spPr bwMode="auto">
          <a:xfrm>
            <a:off x="4624388" y="1196976"/>
            <a:ext cx="1903412" cy="158432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488" tIns="44450" rIns="90488" bIns="44450"/>
          <a:lstStyle/>
          <a:p>
            <a:pPr marL="342900" indent="-342900" eaLnBrk="0" hangingPunct="0">
              <a:lnSpc>
                <a:spcPct val="95000"/>
              </a:lnSpc>
              <a:spcBef>
                <a:spcPct val="30000"/>
              </a:spcBef>
              <a:spcAft>
                <a:spcPct val="30000"/>
              </a:spcAft>
              <a:defRPr/>
            </a:pPr>
            <a:r>
              <a:rPr lang="en-US" sz="3600" b="1" i="1" kern="0" dirty="0">
                <a:solidFill>
                  <a:schemeClr val="tx1"/>
                </a:solidFill>
                <a:latin typeface="Arial" pitchFamily="34" charset="0"/>
              </a:rPr>
              <a:t>H</a:t>
            </a:r>
            <a:r>
              <a:rPr lang="en-US" sz="3600" b="1" kern="0" baseline="-25000" dirty="0">
                <a:solidFill>
                  <a:schemeClr val="tx1"/>
                </a:solidFill>
                <a:latin typeface="Arial" pitchFamily="34" charset="0"/>
              </a:rPr>
              <a:t>0</a:t>
            </a:r>
            <a:r>
              <a:rPr lang="en-US" sz="3600" b="1" kern="0" dirty="0">
                <a:solidFill>
                  <a:schemeClr val="tx1"/>
                </a:solidFill>
                <a:latin typeface="Arial" pitchFamily="34" charset="0"/>
              </a:rPr>
              <a:t>:  </a:t>
            </a:r>
            <a:r>
              <a:rPr lang="en-US" sz="3600" b="1" kern="0" dirty="0">
                <a:solidFill>
                  <a:schemeClr val="tx1"/>
                </a:solidFill>
                <a:latin typeface="Arial" pitchFamily="34" charset="0"/>
                <a:sym typeface="Symbol" pitchFamily="18" charset="2"/>
              </a:rPr>
              <a:t>=</a:t>
            </a:r>
            <a:r>
              <a:rPr lang="en-US" sz="3600" b="1" kern="0" dirty="0">
                <a:solidFill>
                  <a:schemeClr val="tx1"/>
                </a:solidFill>
                <a:latin typeface="Arial" pitchFamily="34" charset="0"/>
              </a:rPr>
              <a:t> </a:t>
            </a:r>
          </a:p>
          <a:p>
            <a:pPr marL="342900" indent="-342900" eaLnBrk="0" hangingPunct="0">
              <a:lnSpc>
                <a:spcPct val="95000"/>
              </a:lnSpc>
              <a:spcBef>
                <a:spcPct val="30000"/>
              </a:spcBef>
              <a:spcAft>
                <a:spcPct val="30000"/>
              </a:spcAft>
              <a:defRPr/>
            </a:pPr>
            <a:r>
              <a:rPr lang="en-US" sz="3600" b="1" i="1" kern="0" dirty="0">
                <a:solidFill>
                  <a:schemeClr val="tx1"/>
                </a:solidFill>
                <a:latin typeface="Arial" pitchFamily="34" charset="0"/>
              </a:rPr>
              <a:t>H</a:t>
            </a:r>
            <a:r>
              <a:rPr lang="en-US" sz="3600" b="1" kern="0" baseline="-25000" dirty="0">
                <a:solidFill>
                  <a:schemeClr val="tx1"/>
                </a:solidFill>
                <a:latin typeface="Arial" pitchFamily="34" charset="0"/>
              </a:rPr>
              <a:t>1</a:t>
            </a:r>
            <a:r>
              <a:rPr lang="en-US" sz="3600" b="1" kern="0" dirty="0">
                <a:solidFill>
                  <a:schemeClr val="tx1"/>
                </a:solidFill>
                <a:latin typeface="Arial" pitchFamily="34" charset="0"/>
              </a:rPr>
              <a:t>:  &gt; </a:t>
            </a:r>
          </a:p>
        </p:txBody>
      </p:sp>
      <p:grpSp>
        <p:nvGrpSpPr>
          <p:cNvPr id="12" name="Group 35"/>
          <p:cNvGrpSpPr>
            <a:grpSpLocks/>
          </p:cNvGrpSpPr>
          <p:nvPr/>
        </p:nvGrpSpPr>
        <p:grpSpPr bwMode="auto">
          <a:xfrm>
            <a:off x="3251201" y="3446464"/>
            <a:ext cx="5688013" cy="3030537"/>
            <a:chOff x="1088" y="2143"/>
            <a:chExt cx="3583" cy="1957"/>
          </a:xfrm>
        </p:grpSpPr>
        <p:pic>
          <p:nvPicPr>
            <p:cNvPr id="52236" name="Picture 30" descr="7_05_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88" y="2143"/>
              <a:ext cx="3583" cy="195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52237" name="Group 34"/>
            <p:cNvGrpSpPr>
              <a:grpSpLocks/>
            </p:cNvGrpSpPr>
            <p:nvPr/>
          </p:nvGrpSpPr>
          <p:grpSpPr bwMode="auto">
            <a:xfrm>
              <a:off x="3867" y="3734"/>
              <a:ext cx="709" cy="135"/>
              <a:chOff x="3739" y="3734"/>
              <a:chExt cx="709" cy="135"/>
            </a:xfrm>
          </p:grpSpPr>
          <p:sp>
            <p:nvSpPr>
              <p:cNvPr id="52238" name="Line 12"/>
              <p:cNvSpPr>
                <a:spLocks noChangeShapeType="1"/>
              </p:cNvSpPr>
              <p:nvPr/>
            </p:nvSpPr>
            <p:spPr bwMode="auto">
              <a:xfrm flipH="1">
                <a:off x="3744" y="3856"/>
                <a:ext cx="704" cy="0"/>
              </a:xfrm>
              <a:prstGeom prst="line">
                <a:avLst/>
              </a:prstGeom>
              <a:noFill/>
              <a:ln w="50800">
                <a:solidFill>
                  <a:schemeClr val="hlink"/>
                </a:solidFill>
                <a:round/>
                <a:headEnd type="triangle" w="med" len="me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2239" name="Freeform 23"/>
              <p:cNvSpPr>
                <a:spLocks/>
              </p:cNvSpPr>
              <p:nvPr/>
            </p:nvSpPr>
            <p:spPr bwMode="auto">
              <a:xfrm>
                <a:off x="3739" y="3734"/>
                <a:ext cx="1" cy="135"/>
              </a:xfrm>
              <a:custGeom>
                <a:avLst/>
                <a:gdLst>
                  <a:gd name="T0" fmla="*/ 0 w 1"/>
                  <a:gd name="T1" fmla="*/ 0 h 135"/>
                  <a:gd name="T2" fmla="*/ 0 w 1"/>
                  <a:gd name="T3" fmla="*/ 135 h 135"/>
                  <a:gd name="T4" fmla="*/ 0 60000 65536"/>
                  <a:gd name="T5" fmla="*/ 0 60000 65536"/>
                  <a:gd name="T6" fmla="*/ 0 w 1"/>
                  <a:gd name="T7" fmla="*/ 0 h 135"/>
                  <a:gd name="T8" fmla="*/ 1 w 1"/>
                  <a:gd name="T9" fmla="*/ 135 h 135"/>
                </a:gdLst>
                <a:ahLst/>
                <a:cxnLst>
                  <a:cxn ang="T4">
                    <a:pos x="T0" y="T1"/>
                  </a:cxn>
                  <a:cxn ang="T5">
                    <a:pos x="T2" y="T3"/>
                  </a:cxn>
                </a:cxnLst>
                <a:rect l="T6" t="T7" r="T8" b="T9"/>
                <a:pathLst>
                  <a:path w="1" h="135">
                    <a:moveTo>
                      <a:pt x="0" y="0"/>
                    </a:moveTo>
                    <a:lnTo>
                      <a:pt x="0" y="135"/>
                    </a:lnTo>
                  </a:path>
                </a:pathLst>
              </a:custGeom>
              <a:noFill/>
              <a:ln w="57150">
                <a:solidFill>
                  <a:schemeClr val="hlink"/>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grpSp>
      </p:grpSp>
      <p:grpSp>
        <p:nvGrpSpPr>
          <p:cNvPr id="2" name="Group 1"/>
          <p:cNvGrpSpPr>
            <a:grpSpLocks/>
          </p:cNvGrpSpPr>
          <p:nvPr/>
        </p:nvGrpSpPr>
        <p:grpSpPr bwMode="auto">
          <a:xfrm>
            <a:off x="5591175" y="1844675"/>
            <a:ext cx="4826000" cy="1477960"/>
            <a:chOff x="4067175" y="1844675"/>
            <a:chExt cx="4826000" cy="1477960"/>
          </a:xfrm>
        </p:grpSpPr>
        <p:grpSp>
          <p:nvGrpSpPr>
            <p:cNvPr id="52230" name="Group 37"/>
            <p:cNvGrpSpPr>
              <a:grpSpLocks/>
            </p:cNvGrpSpPr>
            <p:nvPr/>
          </p:nvGrpSpPr>
          <p:grpSpPr bwMode="auto">
            <a:xfrm>
              <a:off x="4067175" y="2779711"/>
              <a:ext cx="3251200" cy="542924"/>
              <a:chOff x="2554" y="1685"/>
              <a:chExt cx="2048" cy="342"/>
            </a:xfrm>
          </p:grpSpPr>
          <p:sp>
            <p:nvSpPr>
              <p:cNvPr id="52232" name="Rectangle 20"/>
              <p:cNvSpPr>
                <a:spLocks noChangeArrowheads="1"/>
              </p:cNvSpPr>
              <p:nvPr/>
            </p:nvSpPr>
            <p:spPr bwMode="auto">
              <a:xfrm>
                <a:off x="3397" y="1726"/>
                <a:ext cx="1205" cy="3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90488" tIns="44450" rIns="90488" bIns="44450">
                <a:spAutoFit/>
              </a:bodyPr>
              <a:lstStyle/>
              <a:p>
                <a:pPr>
                  <a:lnSpc>
                    <a:spcPct val="90000"/>
                  </a:lnSpc>
                </a:pPr>
                <a:r>
                  <a:rPr lang="en-US" sz="2800">
                    <a:solidFill>
                      <a:schemeClr val="hlink"/>
                    </a:solidFill>
                  </a:rPr>
                  <a:t>Points Right</a:t>
                </a:r>
              </a:p>
            </p:txBody>
          </p:sp>
          <p:grpSp>
            <p:nvGrpSpPr>
              <p:cNvPr id="52233" name="Group 36"/>
              <p:cNvGrpSpPr>
                <a:grpSpLocks/>
              </p:cNvGrpSpPr>
              <p:nvPr/>
            </p:nvGrpSpPr>
            <p:grpSpPr bwMode="auto">
              <a:xfrm>
                <a:off x="2554" y="1685"/>
                <a:ext cx="751" cy="238"/>
                <a:chOff x="2554" y="1685"/>
                <a:chExt cx="751" cy="238"/>
              </a:xfrm>
            </p:grpSpPr>
            <p:sp>
              <p:nvSpPr>
                <p:cNvPr id="52234" name="Line 21"/>
                <p:cNvSpPr>
                  <a:spLocks noChangeShapeType="1"/>
                </p:cNvSpPr>
                <p:nvPr/>
              </p:nvSpPr>
              <p:spPr bwMode="auto">
                <a:xfrm flipH="1">
                  <a:off x="2554" y="1922"/>
                  <a:ext cx="751" cy="1"/>
                </a:xfrm>
                <a:prstGeom prst="line">
                  <a:avLst/>
                </a:prstGeom>
                <a:noFill/>
                <a:ln w="76200">
                  <a:solidFill>
                    <a:schemeClr val="hlink"/>
                  </a:solidFill>
                  <a:round/>
                  <a:headEnd type="triangle" w="med" len="med"/>
                  <a:tailEnd/>
                </a:ln>
                <a:extLst>
                  <a:ext uri="{909E8E84-426E-40dd-AFC4-6F175D3DCCD1}">
                    <a14:hiddenFill xmlns="" xmlns:a14="http://schemas.microsoft.com/office/drawing/2010/main">
                      <a:noFill/>
                    </a14:hiddenFill>
                  </a:ext>
                </a:extLst>
              </p:spPr>
              <p:txBody>
                <a:bodyPr wrap="none" anchor="ctr"/>
                <a:lstStyle/>
                <a:p>
                  <a:endParaRPr lang="en-US"/>
                </a:p>
              </p:txBody>
            </p:sp>
            <p:sp>
              <p:nvSpPr>
                <p:cNvPr id="52235" name="Line 22"/>
                <p:cNvSpPr>
                  <a:spLocks noChangeShapeType="1"/>
                </p:cNvSpPr>
                <p:nvPr/>
              </p:nvSpPr>
              <p:spPr bwMode="auto">
                <a:xfrm flipH="1" flipV="1">
                  <a:off x="2554" y="1685"/>
                  <a:ext cx="14" cy="224"/>
                </a:xfrm>
                <a:prstGeom prst="line">
                  <a:avLst/>
                </a:prstGeom>
                <a:noFill/>
                <a:ln w="76200">
                  <a:solidFill>
                    <a:schemeClr val="hlink"/>
                  </a:solidFill>
                  <a:round/>
                  <a:headEnd/>
                  <a:tailEnd/>
                </a:ln>
                <a:extLst>
                  <a:ext uri="{909E8E84-426E-40dd-AFC4-6F175D3DCCD1}">
                    <a14:hiddenFill xmlns="" xmlns:a14="http://schemas.microsoft.com/office/drawing/2010/main">
                      <a:noFill/>
                    </a14:hiddenFill>
                  </a:ext>
                </a:extLst>
              </p:spPr>
              <p:txBody>
                <a:bodyPr wrap="none" anchor="ctr"/>
                <a:lstStyle/>
                <a:p>
                  <a:endParaRPr lang="en-US"/>
                </a:p>
              </p:txBody>
            </p:sp>
          </p:grpSp>
        </p:grpSp>
        <p:sp>
          <p:nvSpPr>
            <p:cNvPr id="52231" name="Rectangle 35"/>
            <p:cNvSpPr>
              <a:spLocks noChangeArrowheads="1"/>
            </p:cNvSpPr>
            <p:nvPr/>
          </p:nvSpPr>
          <p:spPr bwMode="auto">
            <a:xfrm>
              <a:off x="5724525" y="1844675"/>
              <a:ext cx="3168650" cy="541338"/>
            </a:xfrm>
            <a:prstGeom prst="rect">
              <a:avLst/>
            </a:prstGeom>
            <a:noFill/>
            <a:ln w="12700">
              <a:solidFill>
                <a:schemeClr val="tx1"/>
              </a:solidFill>
              <a:prstDash val="sysDash"/>
              <a:miter lim="800000"/>
              <a:headEnd/>
              <a:tailEnd/>
            </a:ln>
            <a:extLst>
              <a:ext uri="{909E8E84-426E-40dd-AFC4-6F175D3DCCD1}">
                <a14:hiddenFill xmlns="" xmlns:a14="http://schemas.microsoft.com/office/drawing/2010/main">
                  <a:solidFill>
                    <a:srgbClr val="FFFFFF"/>
                  </a:solidFill>
                </a14:hiddenFill>
              </a:ext>
            </a:extLst>
          </p:spPr>
          <p:txBody>
            <a:bodyPr lIns="90488" tIns="44450" rIns="90488" bIns="44450">
              <a:spAutoFit/>
            </a:bodyPr>
            <a:lstStyle/>
            <a:p>
              <a:pPr algn="ctr">
                <a:lnSpc>
                  <a:spcPct val="90000"/>
                </a:lnSpc>
              </a:pPr>
              <a:r>
                <a:rPr lang="en-US" sz="3200" i="1">
                  <a:latin typeface="Symbol" charset="0"/>
                </a:rPr>
                <a:t></a:t>
              </a:r>
              <a:r>
                <a:rPr lang="en-US" sz="3200"/>
                <a:t> the right tail</a:t>
              </a:r>
            </a:p>
          </p:txBody>
        </p:sp>
      </p:grpSp>
      <p:sp>
        <p:nvSpPr>
          <p:cNvPr id="52229"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C2E5D1F5-F02C-6243-9445-BBB97C2987DF}" type="slidenum">
              <a:rPr lang="en-US" sz="1200">
                <a:solidFill>
                  <a:srgbClr val="898989"/>
                </a:solidFill>
                <a:cs typeface="Arial" charset="0"/>
              </a:rPr>
              <a:pPr eaLnBrk="1" hangingPunct="1"/>
              <a:t>13</a:t>
            </a:fld>
            <a:endParaRPr lang="en-US" sz="1200">
              <a:solidFill>
                <a:srgbClr val="898989"/>
              </a:solidFill>
              <a:cs typeface="Arial" charset="0"/>
            </a:endParaRPr>
          </a:p>
        </p:txBody>
      </p:sp>
    </p:spTree>
    <p:extLst>
      <p:ext uri="{BB962C8B-B14F-4D97-AF65-F5344CB8AC3E}">
        <p14:creationId xmlns:p14="http://schemas.microsoft.com/office/powerpoint/2010/main" val="39027182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p:tgtEl>
                                          <p:spTgt spid="12"/>
                                        </p:tgtEl>
                                        <p:attrNameLst>
                                          <p:attrName>ppt_y</p:attrName>
                                        </p:attrNameLst>
                                      </p:cBhvr>
                                      <p:tavLst>
                                        <p:tav tm="0">
                                          <p:val>
                                            <p:strVal val="#ppt_y+#ppt_h*1.125000"/>
                                          </p:val>
                                        </p:tav>
                                        <p:tav tm="100000">
                                          <p:val>
                                            <p:strVal val="#ppt_y"/>
                                          </p:val>
                                        </p:tav>
                                      </p:tavLst>
                                    </p:anim>
                                    <p:animEffect transition="in" filter="wipe(up)">
                                      <p:cBhvr>
                                        <p:cTn id="1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a:xfrm>
            <a:off x="3648076" y="274638"/>
            <a:ext cx="6562725" cy="850900"/>
          </a:xfrm>
        </p:spPr>
        <p:txBody>
          <a:bodyPr/>
          <a:lstStyle/>
          <a:p>
            <a:r>
              <a:rPr lang="en-AU" sz="4400" b="1" dirty="0">
                <a:latin typeface="Calibri" charset="0"/>
              </a:rPr>
              <a:t>Example #1 - Stating Hypothesis </a:t>
            </a:r>
            <a:endParaRPr lang="en-US" sz="4400" b="1" dirty="0">
              <a:latin typeface="Calibri" charset="0"/>
            </a:endParaRPr>
          </a:p>
        </p:txBody>
      </p:sp>
      <p:sp>
        <p:nvSpPr>
          <p:cNvPr id="23554" name="Content Placeholder 2"/>
          <p:cNvSpPr>
            <a:spLocks noGrp="1"/>
          </p:cNvSpPr>
          <p:nvPr>
            <p:ph idx="1"/>
          </p:nvPr>
        </p:nvSpPr>
        <p:spPr>
          <a:xfrm>
            <a:off x="1774826" y="1423988"/>
            <a:ext cx="8435975" cy="4525962"/>
          </a:xfrm>
        </p:spPr>
        <p:txBody>
          <a:bodyPr/>
          <a:lstStyle/>
          <a:p>
            <a:pPr marL="0" indent="0" algn="just">
              <a:buNone/>
            </a:pPr>
            <a:r>
              <a:rPr lang="en-AU" sz="2800" dirty="0">
                <a:latin typeface="Calibri" charset="0"/>
              </a:rPr>
              <a:t>Sharing </a:t>
            </a:r>
            <a:r>
              <a:rPr lang="en-US" sz="2800" dirty="0">
                <a:latin typeface="Calibri" charset="0"/>
              </a:rPr>
              <a:t>prescription drugs with others can be dangerous. A survey of a representative sample of 592 U.S. teens age 12 to 17 reported that 118 of those surveyed admitted to having shared a prescription drug with a friend. Is this sufficient evidence that </a:t>
            </a:r>
            <a:r>
              <a:rPr lang="en-US" sz="2800" b="1" dirty="0">
                <a:latin typeface="Calibri" charset="0"/>
              </a:rPr>
              <a:t>more than 10% </a:t>
            </a:r>
            <a:r>
              <a:rPr lang="en-US" sz="2800" dirty="0">
                <a:latin typeface="Calibri" charset="0"/>
              </a:rPr>
              <a:t>of teens have shared prescription medication with friends? </a:t>
            </a:r>
          </a:p>
          <a:p>
            <a:pPr algn="just"/>
            <a:r>
              <a:rPr lang="en-US" sz="2800" dirty="0">
                <a:latin typeface="Calibri" charset="0"/>
              </a:rPr>
              <a:t>State the component of a hypotheses test:</a:t>
            </a:r>
          </a:p>
          <a:p>
            <a:pPr marL="0" indent="0" algn="just">
              <a:buNone/>
            </a:pPr>
            <a:endParaRPr lang="en-AU" sz="2800" dirty="0">
              <a:latin typeface="Calibri" charset="0"/>
            </a:endParaRPr>
          </a:p>
        </p:txBody>
      </p:sp>
      <p:sp>
        <p:nvSpPr>
          <p:cNvPr id="6" name="Text Box 5"/>
          <p:cNvSpPr txBox="1">
            <a:spLocks noChangeArrowheads="1"/>
          </p:cNvSpPr>
          <p:nvPr/>
        </p:nvSpPr>
        <p:spPr bwMode="auto">
          <a:xfrm>
            <a:off x="3648075" y="4797152"/>
            <a:ext cx="2743200" cy="11699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spcBef>
                <a:spcPct val="50000"/>
              </a:spcBef>
            </a:pPr>
            <a:r>
              <a:rPr lang="en-US" sz="2800" dirty="0">
                <a:solidFill>
                  <a:srgbClr val="0000FF"/>
                </a:solidFill>
              </a:rPr>
              <a:t>H</a:t>
            </a:r>
            <a:r>
              <a:rPr lang="en-US" sz="2800" baseline="-25000" dirty="0">
                <a:solidFill>
                  <a:srgbClr val="0000FF"/>
                </a:solidFill>
              </a:rPr>
              <a:t>0</a:t>
            </a:r>
            <a:r>
              <a:rPr lang="en-US" sz="2800" dirty="0">
                <a:solidFill>
                  <a:srgbClr val="0000FF"/>
                </a:solidFill>
              </a:rPr>
              <a:t>: </a:t>
            </a:r>
            <a:r>
              <a:rPr lang="en-US" sz="2800" i="1" dirty="0">
                <a:solidFill>
                  <a:srgbClr val="0000FF"/>
                </a:solidFill>
              </a:rPr>
              <a:t>p</a:t>
            </a:r>
            <a:r>
              <a:rPr lang="en-US" sz="2800" dirty="0">
                <a:solidFill>
                  <a:srgbClr val="0000FF"/>
                </a:solidFill>
              </a:rPr>
              <a:t> = 0.1</a:t>
            </a:r>
          </a:p>
          <a:p>
            <a:pPr eaLnBrk="1" hangingPunct="1">
              <a:spcBef>
                <a:spcPct val="50000"/>
              </a:spcBef>
            </a:pPr>
            <a:r>
              <a:rPr lang="en-US" sz="2800" dirty="0">
                <a:solidFill>
                  <a:srgbClr val="0000FF"/>
                </a:solidFill>
              </a:rPr>
              <a:t>H</a:t>
            </a:r>
            <a:r>
              <a:rPr lang="en-US" sz="2800" baseline="-25000" dirty="0">
                <a:solidFill>
                  <a:srgbClr val="0000FF"/>
                </a:solidFill>
              </a:rPr>
              <a:t>1</a:t>
            </a:r>
            <a:r>
              <a:rPr lang="en-US" sz="2800" dirty="0">
                <a:solidFill>
                  <a:srgbClr val="0000FF"/>
                </a:solidFill>
              </a:rPr>
              <a:t>: </a:t>
            </a:r>
            <a:r>
              <a:rPr lang="en-US" sz="2800" i="1" dirty="0">
                <a:solidFill>
                  <a:srgbClr val="0000FF"/>
                </a:solidFill>
              </a:rPr>
              <a:t>p</a:t>
            </a:r>
            <a:r>
              <a:rPr lang="en-US" sz="2800" dirty="0">
                <a:solidFill>
                  <a:srgbClr val="0000FF"/>
                </a:solidFill>
              </a:rPr>
              <a:t> &gt; 0.1</a:t>
            </a:r>
          </a:p>
        </p:txBody>
      </p:sp>
      <p:sp>
        <p:nvSpPr>
          <p:cNvPr id="23556"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AA1FD67D-19A5-074C-8900-781BDFD04554}" type="slidenum">
              <a:rPr lang="en-US" sz="1200">
                <a:solidFill>
                  <a:srgbClr val="898989"/>
                </a:solidFill>
                <a:cs typeface="Arial" charset="0"/>
              </a:rPr>
              <a:pPr eaLnBrk="1" hangingPunct="1"/>
              <a:t>14</a:t>
            </a:fld>
            <a:endParaRPr lang="en-US" sz="1200">
              <a:solidFill>
                <a:srgbClr val="898989"/>
              </a:solidFill>
              <a:cs typeface="Arial" charset="0"/>
            </a:endParaRPr>
          </a:p>
        </p:txBody>
      </p:sp>
      <p:sp>
        <p:nvSpPr>
          <p:cNvPr id="2" name="Rectangle 1">
            <a:extLst>
              <a:ext uri="{FF2B5EF4-FFF2-40B4-BE49-F238E27FC236}">
                <a16:creationId xmlns:a16="http://schemas.microsoft.com/office/drawing/2014/main" id="{B5727340-7AD5-7349-9344-A4A191032F41}"/>
              </a:ext>
            </a:extLst>
          </p:cNvPr>
          <p:cNvSpPr/>
          <p:nvPr/>
        </p:nvSpPr>
        <p:spPr>
          <a:xfrm>
            <a:off x="3429000" y="4797152"/>
            <a:ext cx="2514600" cy="15274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a:xfrm>
            <a:off x="3648076" y="274639"/>
            <a:ext cx="6562725" cy="777875"/>
          </a:xfrm>
        </p:spPr>
        <p:txBody>
          <a:bodyPr/>
          <a:lstStyle/>
          <a:p>
            <a:r>
              <a:rPr lang="en-AU" sz="4400" b="1" dirty="0">
                <a:latin typeface="Calibri" charset="0"/>
              </a:rPr>
              <a:t>Example #2 - Stating Hypothesis</a:t>
            </a:r>
            <a:endParaRPr lang="en-US" sz="4400" b="1" dirty="0">
              <a:latin typeface="Calibri" charset="0"/>
            </a:endParaRPr>
          </a:p>
        </p:txBody>
      </p:sp>
      <p:sp>
        <p:nvSpPr>
          <p:cNvPr id="25602" name="Content Placeholder 2"/>
          <p:cNvSpPr>
            <a:spLocks noGrp="1"/>
          </p:cNvSpPr>
          <p:nvPr>
            <p:ph idx="1"/>
          </p:nvPr>
        </p:nvSpPr>
        <p:spPr>
          <a:xfrm>
            <a:off x="1703389" y="1340769"/>
            <a:ext cx="8713787" cy="4525963"/>
          </a:xfrm>
        </p:spPr>
        <p:txBody>
          <a:bodyPr/>
          <a:lstStyle/>
          <a:p>
            <a:pPr marL="0" indent="0" algn="just">
              <a:buNone/>
            </a:pPr>
            <a:r>
              <a:rPr lang="en-US" sz="2800" dirty="0">
                <a:latin typeface="Calibri" charset="0"/>
              </a:rPr>
              <a:t>Compact florescent (</a:t>
            </a:r>
            <a:r>
              <a:rPr lang="en-US" sz="2800" dirty="0" err="1">
                <a:latin typeface="Calibri" charset="0"/>
              </a:rPr>
              <a:t>cfl</a:t>
            </a:r>
            <a:r>
              <a:rPr lang="en-US" sz="2800" dirty="0">
                <a:latin typeface="Calibri" charset="0"/>
              </a:rPr>
              <a:t>) light bulbs are much more energy efficient than regular incandescent light bulbs.  Eco bulb brand 60-watt </a:t>
            </a:r>
            <a:r>
              <a:rPr lang="en-US" sz="2800" dirty="0" err="1">
                <a:latin typeface="Calibri" charset="0"/>
              </a:rPr>
              <a:t>cfl</a:t>
            </a:r>
            <a:r>
              <a:rPr lang="en-US" sz="2800" dirty="0">
                <a:latin typeface="Calibri" charset="0"/>
              </a:rPr>
              <a:t> light bulbs state on the package “Average life 8000 hours”.  People who purchase this brand would be unhappy if the bulbs lasted less </a:t>
            </a:r>
            <a:r>
              <a:rPr lang="en-US" sz="2800" b="1" dirty="0">
                <a:solidFill>
                  <a:srgbClr val="FF0000"/>
                </a:solidFill>
                <a:latin typeface="Calibri" charset="0"/>
              </a:rPr>
              <a:t>than 8000 hours</a:t>
            </a:r>
            <a:r>
              <a:rPr lang="en-US" sz="2800" dirty="0">
                <a:latin typeface="Calibri" charset="0"/>
              </a:rPr>
              <a:t>.  A sample of these bulbs will be selected and tested.</a:t>
            </a:r>
          </a:p>
          <a:p>
            <a:pPr algn="just"/>
            <a:r>
              <a:rPr lang="en-US" sz="2800" dirty="0">
                <a:latin typeface="Calibri" charset="0"/>
              </a:rPr>
              <a:t>State the component of a hypotheses test</a:t>
            </a:r>
            <a:r>
              <a:rPr lang="en-US" sz="2800" dirty="0">
                <a:solidFill>
                  <a:srgbClr val="00CC00"/>
                </a:solidFill>
                <a:latin typeface="Calibri" charset="0"/>
              </a:rPr>
              <a:t>:</a:t>
            </a:r>
          </a:p>
          <a:p>
            <a:pPr marL="0" indent="0" algn="just">
              <a:buNone/>
            </a:pPr>
            <a:endParaRPr lang="en-US" sz="2800" dirty="0">
              <a:latin typeface="Calibri" charset="0"/>
            </a:endParaRPr>
          </a:p>
        </p:txBody>
      </p:sp>
      <p:sp>
        <p:nvSpPr>
          <p:cNvPr id="6" name="Text Box 5"/>
          <p:cNvSpPr txBox="1">
            <a:spLocks noChangeArrowheads="1"/>
          </p:cNvSpPr>
          <p:nvPr/>
        </p:nvSpPr>
        <p:spPr bwMode="auto">
          <a:xfrm>
            <a:off x="2208213" y="4648201"/>
            <a:ext cx="3352800" cy="116955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en-US" sz="2800" dirty="0">
                <a:solidFill>
                  <a:srgbClr val="0000FF"/>
                </a:solidFill>
                <a:latin typeface="+mn-lt"/>
              </a:rPr>
              <a:t>H</a:t>
            </a:r>
            <a:r>
              <a:rPr lang="en-US" altLang="en-US" sz="2800" baseline="-25000" dirty="0">
                <a:solidFill>
                  <a:srgbClr val="0000FF"/>
                </a:solidFill>
                <a:latin typeface="+mn-lt"/>
              </a:rPr>
              <a:t>0</a:t>
            </a:r>
            <a:r>
              <a:rPr lang="en-US" altLang="en-US" sz="2800" dirty="0">
                <a:solidFill>
                  <a:srgbClr val="0000FF"/>
                </a:solidFill>
                <a:latin typeface="+mn-lt"/>
              </a:rPr>
              <a:t>: </a:t>
            </a:r>
            <a:r>
              <a:rPr lang="en-US" altLang="en-US" sz="2800" i="1" dirty="0">
                <a:solidFill>
                  <a:srgbClr val="0000FF"/>
                </a:solidFill>
                <a:latin typeface="+mn-lt"/>
              </a:rPr>
              <a:t>m</a:t>
            </a:r>
            <a:r>
              <a:rPr lang="en-US" altLang="en-US" sz="2800" dirty="0">
                <a:solidFill>
                  <a:srgbClr val="0000FF"/>
                </a:solidFill>
                <a:latin typeface="+mn-lt"/>
              </a:rPr>
              <a:t> = 8000</a:t>
            </a:r>
          </a:p>
          <a:p>
            <a:pPr>
              <a:spcBef>
                <a:spcPct val="50000"/>
              </a:spcBef>
              <a:defRPr/>
            </a:pPr>
            <a:r>
              <a:rPr lang="en-US" altLang="en-US" sz="2800" dirty="0">
                <a:solidFill>
                  <a:srgbClr val="0000FF"/>
                </a:solidFill>
                <a:latin typeface="+mn-lt"/>
              </a:rPr>
              <a:t>H</a:t>
            </a:r>
            <a:r>
              <a:rPr lang="en-US" altLang="en-US" sz="2800" baseline="-25000" dirty="0">
                <a:solidFill>
                  <a:srgbClr val="0000FF"/>
                </a:solidFill>
                <a:latin typeface="+mn-lt"/>
              </a:rPr>
              <a:t>1</a:t>
            </a:r>
            <a:r>
              <a:rPr lang="en-US" altLang="en-US" sz="2800" dirty="0">
                <a:solidFill>
                  <a:srgbClr val="0000FF"/>
                </a:solidFill>
                <a:latin typeface="+mn-lt"/>
              </a:rPr>
              <a:t>: </a:t>
            </a:r>
            <a:r>
              <a:rPr lang="en-US" altLang="en-US" sz="2800" i="1" dirty="0">
                <a:solidFill>
                  <a:srgbClr val="0000FF"/>
                </a:solidFill>
                <a:latin typeface="+mn-lt"/>
              </a:rPr>
              <a:t>m</a:t>
            </a:r>
            <a:r>
              <a:rPr lang="en-US" altLang="en-US" sz="2800" dirty="0">
                <a:solidFill>
                  <a:srgbClr val="0000FF"/>
                </a:solidFill>
                <a:latin typeface="+mn-lt"/>
              </a:rPr>
              <a:t> &lt; 8000</a:t>
            </a:r>
          </a:p>
        </p:txBody>
      </p:sp>
      <p:sp>
        <p:nvSpPr>
          <p:cNvPr id="7" name="Text Box 4"/>
          <p:cNvSpPr txBox="1">
            <a:spLocks noChangeArrowheads="1"/>
          </p:cNvSpPr>
          <p:nvPr/>
        </p:nvSpPr>
        <p:spPr bwMode="auto">
          <a:xfrm>
            <a:off x="4495801" y="4699338"/>
            <a:ext cx="5546725" cy="10156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defRPr/>
            </a:pPr>
            <a:r>
              <a:rPr lang="en-US" altLang="en-US" sz="2400" dirty="0">
                <a:solidFill>
                  <a:schemeClr val="accent4">
                    <a:lumMod val="75000"/>
                  </a:schemeClr>
                </a:solidFill>
                <a:latin typeface="+mn-lt"/>
              </a:rPr>
              <a:t>The true mean (</a:t>
            </a:r>
            <a:r>
              <a:rPr lang="en-US" altLang="en-US" sz="2400" i="1" dirty="0">
                <a:solidFill>
                  <a:schemeClr val="accent4">
                    <a:lumMod val="75000"/>
                  </a:schemeClr>
                </a:solidFill>
                <a:latin typeface="+mn-lt"/>
              </a:rPr>
              <a:t>m</a:t>
            </a:r>
            <a:r>
              <a:rPr lang="en-US" altLang="en-US" sz="2400" dirty="0">
                <a:solidFill>
                  <a:schemeClr val="accent4">
                    <a:lumMod val="75000"/>
                  </a:schemeClr>
                </a:solidFill>
                <a:latin typeface="+mn-lt"/>
              </a:rPr>
              <a:t>) life of the </a:t>
            </a:r>
            <a:r>
              <a:rPr lang="en-US" altLang="en-US" sz="2400" dirty="0" err="1">
                <a:solidFill>
                  <a:schemeClr val="accent4">
                    <a:lumMod val="75000"/>
                  </a:schemeClr>
                </a:solidFill>
                <a:latin typeface="+mn-lt"/>
              </a:rPr>
              <a:t>cfl</a:t>
            </a:r>
            <a:r>
              <a:rPr lang="en-US" altLang="en-US" sz="2400" dirty="0">
                <a:solidFill>
                  <a:schemeClr val="accent4">
                    <a:lumMod val="75000"/>
                  </a:schemeClr>
                </a:solidFill>
                <a:latin typeface="+mn-lt"/>
              </a:rPr>
              <a:t> light bulbs</a:t>
            </a:r>
          </a:p>
          <a:p>
            <a:pPr>
              <a:spcBef>
                <a:spcPct val="50000"/>
              </a:spcBef>
              <a:defRPr/>
            </a:pPr>
            <a:r>
              <a:rPr lang="en-US" altLang="en-US" sz="2400" dirty="0">
                <a:solidFill>
                  <a:schemeClr val="accent4">
                    <a:lumMod val="75000"/>
                  </a:schemeClr>
                </a:solidFill>
                <a:latin typeface="+mn-lt"/>
              </a:rPr>
              <a:t>One sided alternative.</a:t>
            </a:r>
          </a:p>
        </p:txBody>
      </p:sp>
      <p:sp>
        <p:nvSpPr>
          <p:cNvPr id="25605"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7C9F8EB2-BC77-F343-B64B-460FF96BC58A}" type="slidenum">
              <a:rPr lang="en-US" sz="1200">
                <a:solidFill>
                  <a:srgbClr val="898989"/>
                </a:solidFill>
                <a:cs typeface="Arial" charset="0"/>
              </a:rPr>
              <a:pPr eaLnBrk="1" hangingPunct="1"/>
              <a:t>15</a:t>
            </a:fld>
            <a:endParaRPr lang="en-US" sz="1200">
              <a:solidFill>
                <a:srgbClr val="898989"/>
              </a:solidFill>
              <a:cs typeface="Arial" charset="0"/>
            </a:endParaRPr>
          </a:p>
        </p:txBody>
      </p:sp>
      <p:sp>
        <p:nvSpPr>
          <p:cNvPr id="8" name="Rectangle 7">
            <a:extLst>
              <a:ext uri="{FF2B5EF4-FFF2-40B4-BE49-F238E27FC236}">
                <a16:creationId xmlns:a16="http://schemas.microsoft.com/office/drawing/2014/main" id="{044AF717-B1E8-0E4A-8296-85946B8B21C7}"/>
              </a:ext>
            </a:extLst>
          </p:cNvPr>
          <p:cNvSpPr/>
          <p:nvPr/>
        </p:nvSpPr>
        <p:spPr>
          <a:xfrm>
            <a:off x="1986334" y="4699337"/>
            <a:ext cx="8056191" cy="15274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a:xfrm>
            <a:off x="3648076" y="274639"/>
            <a:ext cx="6562725" cy="777875"/>
          </a:xfrm>
        </p:spPr>
        <p:txBody>
          <a:bodyPr/>
          <a:lstStyle/>
          <a:p>
            <a:r>
              <a:rPr lang="en-AU" sz="4400" b="1" dirty="0">
                <a:latin typeface="Calibri" charset="0"/>
              </a:rPr>
              <a:t>Example #3 - Stating Hypothesis </a:t>
            </a:r>
            <a:endParaRPr lang="en-US" sz="4400" b="1" dirty="0">
              <a:latin typeface="Calibri" charset="0"/>
            </a:endParaRPr>
          </a:p>
        </p:txBody>
      </p:sp>
      <p:sp>
        <p:nvSpPr>
          <p:cNvPr id="26626" name="Content Placeholder 2"/>
          <p:cNvSpPr>
            <a:spLocks noGrp="1"/>
          </p:cNvSpPr>
          <p:nvPr>
            <p:ph idx="1"/>
          </p:nvPr>
        </p:nvSpPr>
        <p:spPr>
          <a:xfrm>
            <a:off x="1774825" y="1341438"/>
            <a:ext cx="8588375" cy="4525962"/>
          </a:xfrm>
        </p:spPr>
        <p:txBody>
          <a:bodyPr/>
          <a:lstStyle/>
          <a:p>
            <a:pPr marL="0" indent="0" algn="just">
              <a:buNone/>
            </a:pPr>
            <a:r>
              <a:rPr lang="en-US" sz="2700" dirty="0">
                <a:latin typeface="Calibri" charset="0"/>
              </a:rPr>
              <a:t>Because in variation of the manufacturing process, tennis balls produced by a particular machine do not have the same diameters.  Suppose the machine was initially calibrated to achieve the specification of </a:t>
            </a:r>
            <a:r>
              <a:rPr lang="en-US" sz="2700" i="1" dirty="0">
                <a:latin typeface="Calibri" charset="0"/>
              </a:rPr>
              <a:t>m</a:t>
            </a:r>
            <a:r>
              <a:rPr lang="en-US" sz="2700" dirty="0">
                <a:latin typeface="Calibri" charset="0"/>
              </a:rPr>
              <a:t> = 3 inches.  However, the manager is now concerned that the diameters no longer conform to this specification.  If the </a:t>
            </a:r>
            <a:r>
              <a:rPr lang="en-US" sz="2700" b="1" dirty="0">
                <a:solidFill>
                  <a:srgbClr val="FF0000"/>
                </a:solidFill>
                <a:latin typeface="Calibri" charset="0"/>
              </a:rPr>
              <a:t>mean diameter is not 3 </a:t>
            </a:r>
            <a:r>
              <a:rPr lang="en-US" sz="2700" dirty="0">
                <a:latin typeface="Calibri" charset="0"/>
              </a:rPr>
              <a:t>inches, production will have to be halted.</a:t>
            </a:r>
          </a:p>
          <a:p>
            <a:pPr algn="just"/>
            <a:r>
              <a:rPr lang="en-US" sz="2700" dirty="0">
                <a:latin typeface="Calibri" charset="0"/>
              </a:rPr>
              <a:t>State the hypotheses: </a:t>
            </a:r>
          </a:p>
          <a:p>
            <a:pPr algn="just"/>
            <a:endParaRPr lang="en-US" sz="2700" dirty="0">
              <a:latin typeface="Comic Sans MS" charset="0"/>
            </a:endParaRPr>
          </a:p>
        </p:txBody>
      </p:sp>
      <p:sp>
        <p:nvSpPr>
          <p:cNvPr id="6" name="Text Box 6"/>
          <p:cNvSpPr txBox="1">
            <a:spLocks noChangeArrowheads="1"/>
          </p:cNvSpPr>
          <p:nvPr/>
        </p:nvSpPr>
        <p:spPr bwMode="auto">
          <a:xfrm>
            <a:off x="2590800" y="5257801"/>
            <a:ext cx="2279650" cy="11699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en-US" sz="2800" dirty="0">
                <a:solidFill>
                  <a:srgbClr val="0000FF"/>
                </a:solidFill>
                <a:latin typeface="+mn-lt"/>
              </a:rPr>
              <a:t>H</a:t>
            </a:r>
            <a:r>
              <a:rPr lang="en-US" altLang="en-US" sz="2800" baseline="-25000" dirty="0">
                <a:solidFill>
                  <a:srgbClr val="0000FF"/>
                </a:solidFill>
                <a:latin typeface="+mn-lt"/>
              </a:rPr>
              <a:t>0</a:t>
            </a:r>
            <a:r>
              <a:rPr lang="en-US" altLang="en-US" sz="2800" dirty="0">
                <a:solidFill>
                  <a:srgbClr val="0000FF"/>
                </a:solidFill>
                <a:latin typeface="+mn-lt"/>
              </a:rPr>
              <a:t>: </a:t>
            </a:r>
            <a:r>
              <a:rPr lang="en-US" altLang="en-US" sz="2800" i="1" dirty="0">
                <a:solidFill>
                  <a:srgbClr val="0000FF"/>
                </a:solidFill>
                <a:latin typeface="+mn-lt"/>
              </a:rPr>
              <a:t>m</a:t>
            </a:r>
            <a:r>
              <a:rPr lang="en-US" altLang="en-US" sz="2800" dirty="0">
                <a:solidFill>
                  <a:srgbClr val="0000FF"/>
                </a:solidFill>
                <a:latin typeface="+mn-lt"/>
              </a:rPr>
              <a:t> = 3</a:t>
            </a:r>
          </a:p>
          <a:p>
            <a:pPr>
              <a:spcBef>
                <a:spcPct val="50000"/>
              </a:spcBef>
              <a:defRPr/>
            </a:pPr>
            <a:r>
              <a:rPr lang="en-US" altLang="en-US" sz="2800" dirty="0">
                <a:solidFill>
                  <a:srgbClr val="0000FF"/>
                </a:solidFill>
                <a:latin typeface="+mn-lt"/>
              </a:rPr>
              <a:t>H</a:t>
            </a:r>
            <a:r>
              <a:rPr lang="en-US" altLang="en-US" sz="2800" baseline="-25000" dirty="0">
                <a:solidFill>
                  <a:srgbClr val="0000FF"/>
                </a:solidFill>
                <a:latin typeface="+mn-lt"/>
              </a:rPr>
              <a:t>1</a:t>
            </a:r>
            <a:r>
              <a:rPr lang="en-US" altLang="en-US" sz="2800" dirty="0">
                <a:solidFill>
                  <a:srgbClr val="0000FF"/>
                </a:solidFill>
                <a:latin typeface="+mn-lt"/>
              </a:rPr>
              <a:t>: </a:t>
            </a:r>
            <a:r>
              <a:rPr lang="en-US" altLang="en-US" sz="2800" i="1" dirty="0">
                <a:solidFill>
                  <a:srgbClr val="0000FF"/>
                </a:solidFill>
                <a:latin typeface="+mn-lt"/>
              </a:rPr>
              <a:t>m</a:t>
            </a:r>
            <a:r>
              <a:rPr lang="en-US" altLang="en-US" sz="2800" dirty="0">
                <a:solidFill>
                  <a:srgbClr val="0000FF"/>
                </a:solidFill>
                <a:latin typeface="+mn-lt"/>
              </a:rPr>
              <a:t> ≠ 3</a:t>
            </a:r>
          </a:p>
        </p:txBody>
      </p:sp>
      <p:sp>
        <p:nvSpPr>
          <p:cNvPr id="7" name="TextBox 6"/>
          <p:cNvSpPr txBox="1"/>
          <p:nvPr/>
        </p:nvSpPr>
        <p:spPr>
          <a:xfrm>
            <a:off x="4583113" y="5938839"/>
            <a:ext cx="2855846" cy="461665"/>
          </a:xfrm>
          <a:prstGeom prst="rect">
            <a:avLst/>
          </a:prstGeom>
          <a:noFill/>
        </p:spPr>
        <p:txBody>
          <a:bodyPr wrap="none">
            <a:spAutoFit/>
          </a:bodyPr>
          <a:lstStyle/>
          <a:p>
            <a:pPr>
              <a:defRPr/>
            </a:pPr>
            <a:r>
              <a:rPr lang="en-AU" sz="2400" dirty="0">
                <a:solidFill>
                  <a:schemeClr val="accent2"/>
                </a:solidFill>
                <a:latin typeface="+mn-lt"/>
              </a:rPr>
              <a:t>Two sided alternative</a:t>
            </a:r>
          </a:p>
        </p:txBody>
      </p:sp>
      <p:sp>
        <p:nvSpPr>
          <p:cNvPr id="26629"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143493EC-F82E-724D-A90A-9B6677AF4CDA}" type="slidenum">
              <a:rPr lang="en-US" sz="1200">
                <a:solidFill>
                  <a:srgbClr val="898989"/>
                </a:solidFill>
                <a:cs typeface="Arial" charset="0"/>
              </a:rPr>
              <a:pPr eaLnBrk="1" hangingPunct="1"/>
              <a:t>16</a:t>
            </a:fld>
            <a:endParaRPr lang="en-US" sz="1200">
              <a:solidFill>
                <a:srgbClr val="898989"/>
              </a:solidFill>
              <a:cs typeface="Arial" charset="0"/>
            </a:endParaRPr>
          </a:p>
        </p:txBody>
      </p:sp>
      <p:sp>
        <p:nvSpPr>
          <p:cNvPr id="8" name="Rectangle 7">
            <a:extLst>
              <a:ext uri="{FF2B5EF4-FFF2-40B4-BE49-F238E27FC236}">
                <a16:creationId xmlns:a16="http://schemas.microsoft.com/office/drawing/2014/main" id="{D66B0F05-D8F2-5046-8AB7-C4ABA7A136A3}"/>
              </a:ext>
            </a:extLst>
          </p:cNvPr>
          <p:cNvSpPr/>
          <p:nvPr/>
        </p:nvSpPr>
        <p:spPr>
          <a:xfrm>
            <a:off x="2473324" y="4965427"/>
            <a:ext cx="5222876" cy="15274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p:cNvSpPr>
            <a:spLocks noGrp="1"/>
          </p:cNvSpPr>
          <p:nvPr>
            <p:ph idx="1"/>
          </p:nvPr>
        </p:nvSpPr>
        <p:spPr>
          <a:xfrm>
            <a:off x="1631950" y="1268413"/>
            <a:ext cx="8578850" cy="4929187"/>
          </a:xfrm>
        </p:spPr>
        <p:txBody>
          <a:bodyPr/>
          <a:lstStyle/>
          <a:p>
            <a:pPr algn="just"/>
            <a:r>
              <a:rPr lang="en-US" sz="2800" dirty="0">
                <a:latin typeface="Calibri" charset="0"/>
              </a:rPr>
              <a:t>For each pair of hypotheses, indicate which are not legitimate and explain why?</a:t>
            </a:r>
          </a:p>
          <a:p>
            <a:pPr algn="just"/>
            <a:endParaRPr lang="en-US" sz="2800" dirty="0">
              <a:latin typeface="Calibri" charset="0"/>
            </a:endParaRPr>
          </a:p>
          <a:p>
            <a:pPr algn="just"/>
            <a:endParaRPr lang="en-AU" sz="2800" dirty="0">
              <a:latin typeface="Calibri" charset="0"/>
            </a:endParaRPr>
          </a:p>
          <a:p>
            <a:pPr algn="just"/>
            <a:endParaRPr lang="en-US" sz="2800" dirty="0">
              <a:latin typeface="Calibri" charset="0"/>
            </a:endParaRPr>
          </a:p>
        </p:txBody>
      </p:sp>
      <p:graphicFrame>
        <p:nvGraphicFramePr>
          <p:cNvPr id="27651" name="Object 2"/>
          <p:cNvGraphicFramePr>
            <a:graphicFrameLocks noChangeAspect="1"/>
          </p:cNvGraphicFramePr>
          <p:nvPr/>
        </p:nvGraphicFramePr>
        <p:xfrm>
          <a:off x="2679700" y="2794000"/>
          <a:ext cx="4914900" cy="520700"/>
        </p:xfrm>
        <a:graphic>
          <a:graphicData uri="http://schemas.openxmlformats.org/presentationml/2006/ole">
            <mc:AlternateContent xmlns:mc="http://schemas.openxmlformats.org/markup-compatibility/2006">
              <mc:Choice xmlns:v="urn:schemas-microsoft-com:vml" Requires="v">
                <p:oleObj name="Equation" r:id="rId3" imgW="1587240" imgH="228600" progId="Equation.3">
                  <p:embed/>
                </p:oleObj>
              </mc:Choice>
              <mc:Fallback>
                <p:oleObj name="Equation" r:id="rId3" imgW="1587240" imgH="228600" progId="Equation.3">
                  <p:embed/>
                  <p:pic>
                    <p:nvPicPr>
                      <p:cNvPr id="0" name="Picture 4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9700" y="2794000"/>
                        <a:ext cx="49149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2" name="Object 3"/>
          <p:cNvGraphicFramePr>
            <a:graphicFrameLocks noChangeAspect="1"/>
          </p:cNvGraphicFramePr>
          <p:nvPr/>
        </p:nvGraphicFramePr>
        <p:xfrm>
          <a:off x="2628900" y="3492500"/>
          <a:ext cx="4457700" cy="482600"/>
        </p:xfrm>
        <a:graphic>
          <a:graphicData uri="http://schemas.openxmlformats.org/presentationml/2006/ole">
            <mc:AlternateContent xmlns:mc="http://schemas.openxmlformats.org/markup-compatibility/2006">
              <mc:Choice xmlns:v="urn:schemas-microsoft-com:vml" Requires="v">
                <p:oleObj name="Equation" r:id="rId5" imgW="1511300" imgH="228600" progId="Equation.3">
                  <p:embed/>
                </p:oleObj>
              </mc:Choice>
              <mc:Fallback>
                <p:oleObj name="Equation" r:id="rId5" imgW="1511300" imgH="228600" progId="Equation.3">
                  <p:embed/>
                  <p:pic>
                    <p:nvPicPr>
                      <p:cNvPr id="0" name="Picture 4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8900" y="3492500"/>
                        <a:ext cx="44577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3" name="Object 4"/>
          <p:cNvGraphicFramePr>
            <a:graphicFrameLocks noChangeAspect="1"/>
          </p:cNvGraphicFramePr>
          <p:nvPr/>
        </p:nvGraphicFramePr>
        <p:xfrm>
          <a:off x="2628900" y="4191000"/>
          <a:ext cx="4914900" cy="520700"/>
        </p:xfrm>
        <a:graphic>
          <a:graphicData uri="http://schemas.openxmlformats.org/presentationml/2006/ole">
            <mc:AlternateContent xmlns:mc="http://schemas.openxmlformats.org/markup-compatibility/2006">
              <mc:Choice xmlns:v="urn:schemas-microsoft-com:vml" Requires="v">
                <p:oleObj name="Equation" r:id="rId7" imgW="1511300" imgH="228600" progId="Equation.3">
                  <p:embed/>
                </p:oleObj>
              </mc:Choice>
              <mc:Fallback>
                <p:oleObj name="Equation" r:id="rId7" imgW="1511300" imgH="228600" progId="Equation.3">
                  <p:embed/>
                  <p:pic>
                    <p:nvPicPr>
                      <p:cNvPr id="0" name="Picture 4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8900" y="4191000"/>
                        <a:ext cx="4914900"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4" name="Object 5"/>
          <p:cNvGraphicFramePr>
            <a:graphicFrameLocks noChangeAspect="1"/>
          </p:cNvGraphicFramePr>
          <p:nvPr/>
        </p:nvGraphicFramePr>
        <p:xfrm>
          <a:off x="2640014" y="4989514"/>
          <a:ext cx="4751387" cy="484775"/>
        </p:xfrm>
        <a:graphic>
          <a:graphicData uri="http://schemas.openxmlformats.org/presentationml/2006/ole">
            <mc:AlternateContent xmlns:mc="http://schemas.openxmlformats.org/markup-compatibility/2006">
              <mc:Choice xmlns:v="urn:schemas-microsoft-com:vml" Requires="v">
                <p:oleObj name="Equation" r:id="rId9" imgW="1654560" imgH="200880" progId="Equation.3">
                  <p:embed/>
                </p:oleObj>
              </mc:Choice>
              <mc:Fallback>
                <p:oleObj name="Equation" r:id="rId9" imgW="1654560" imgH="200880" progId="Equation.3">
                  <p:embed/>
                  <p:pic>
                    <p:nvPicPr>
                      <p:cNvPr id="0" name="Picture 43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40014" y="4989514"/>
                        <a:ext cx="4751387" cy="484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5" name="Object 6"/>
          <p:cNvGraphicFramePr>
            <a:graphicFrameLocks noChangeAspect="1"/>
          </p:cNvGraphicFramePr>
          <p:nvPr/>
        </p:nvGraphicFramePr>
        <p:xfrm>
          <a:off x="2641600" y="5638800"/>
          <a:ext cx="4978400" cy="558800"/>
        </p:xfrm>
        <a:graphic>
          <a:graphicData uri="http://schemas.openxmlformats.org/presentationml/2006/ole">
            <mc:AlternateContent xmlns:mc="http://schemas.openxmlformats.org/markup-compatibility/2006">
              <mc:Choice xmlns:v="urn:schemas-microsoft-com:vml" Requires="v">
                <p:oleObj name="Equation" r:id="rId11" imgW="1524000" imgH="228600" progId="Equation.3">
                  <p:embed/>
                </p:oleObj>
              </mc:Choice>
              <mc:Fallback>
                <p:oleObj name="Equation" r:id="rId11" imgW="1524000" imgH="228600" progId="Equation.3">
                  <p:embed/>
                  <p:pic>
                    <p:nvPicPr>
                      <p:cNvPr id="0" name="Picture 4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41600" y="5638800"/>
                        <a:ext cx="4978400" cy="55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61"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BDC4B083-1032-1D49-A8FA-490BBA35B36B}" type="slidenum">
              <a:rPr lang="en-US" sz="1200">
                <a:solidFill>
                  <a:srgbClr val="898989"/>
                </a:solidFill>
                <a:cs typeface="Arial" charset="0"/>
              </a:rPr>
              <a:pPr eaLnBrk="1" hangingPunct="1"/>
              <a:t>17</a:t>
            </a:fld>
            <a:endParaRPr lang="en-US" sz="1200">
              <a:solidFill>
                <a:srgbClr val="898989"/>
              </a:solidFill>
              <a:cs typeface="Arial" charset="0"/>
            </a:endParaRPr>
          </a:p>
        </p:txBody>
      </p:sp>
      <p:sp>
        <p:nvSpPr>
          <p:cNvPr id="12" name="Title 1">
            <a:extLst>
              <a:ext uri="{FF2B5EF4-FFF2-40B4-BE49-F238E27FC236}">
                <a16:creationId xmlns:a16="http://schemas.microsoft.com/office/drawing/2014/main" id="{C1D2515A-0058-E44C-B0FE-24EE63E28599}"/>
              </a:ext>
            </a:extLst>
          </p:cNvPr>
          <p:cNvSpPr txBox="1">
            <a:spLocks/>
          </p:cNvSpPr>
          <p:nvPr/>
        </p:nvSpPr>
        <p:spPr bwMode="auto">
          <a:xfrm>
            <a:off x="3648076" y="274639"/>
            <a:ext cx="6715125" cy="777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2pPr>
            <a:lvl3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3pPr>
            <a:lvl4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4pPr>
            <a:lvl5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5pPr>
            <a:lvl6pPr marL="457200" algn="ctr" rtl="0" fontAlgn="base">
              <a:spcBef>
                <a:spcPct val="0"/>
              </a:spcBef>
              <a:spcAft>
                <a:spcPct val="0"/>
              </a:spcAft>
              <a:defRPr sz="3600">
                <a:solidFill>
                  <a:schemeClr val="tx1"/>
                </a:solidFill>
                <a:latin typeface="Calibri" pitchFamily="34" charset="0"/>
              </a:defRPr>
            </a:lvl6pPr>
            <a:lvl7pPr marL="914400" algn="ctr" rtl="0" fontAlgn="base">
              <a:spcBef>
                <a:spcPct val="0"/>
              </a:spcBef>
              <a:spcAft>
                <a:spcPct val="0"/>
              </a:spcAft>
              <a:defRPr sz="3600">
                <a:solidFill>
                  <a:schemeClr val="tx1"/>
                </a:solidFill>
                <a:latin typeface="Calibri" pitchFamily="34" charset="0"/>
              </a:defRPr>
            </a:lvl7pPr>
            <a:lvl8pPr marL="1371600" algn="ctr" rtl="0" fontAlgn="base">
              <a:spcBef>
                <a:spcPct val="0"/>
              </a:spcBef>
              <a:spcAft>
                <a:spcPct val="0"/>
              </a:spcAft>
              <a:defRPr sz="3600">
                <a:solidFill>
                  <a:schemeClr val="tx1"/>
                </a:solidFill>
                <a:latin typeface="Calibri" pitchFamily="34" charset="0"/>
              </a:defRPr>
            </a:lvl8pPr>
            <a:lvl9pPr marL="1828800" algn="ctr" rtl="0" fontAlgn="base">
              <a:spcBef>
                <a:spcPct val="0"/>
              </a:spcBef>
              <a:spcAft>
                <a:spcPct val="0"/>
              </a:spcAft>
              <a:defRPr sz="3600">
                <a:solidFill>
                  <a:schemeClr val="tx1"/>
                </a:solidFill>
                <a:latin typeface="Calibri" pitchFamily="34" charset="0"/>
              </a:defRPr>
            </a:lvl9pPr>
          </a:lstStyle>
          <a:p>
            <a:r>
              <a:rPr lang="en-US" sz="4000" b="1" dirty="0">
                <a:solidFill>
                  <a:srgbClr val="0000FF"/>
                </a:solidFill>
                <a:latin typeface="Calibri" charset="0"/>
              </a:rPr>
              <a:t>Exercise #1</a:t>
            </a:r>
            <a:endParaRPr lang="en-US" sz="4000" b="1" baseline="-25000" dirty="0">
              <a:latin typeface="Calibri"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a:xfrm>
            <a:off x="3648076" y="274639"/>
            <a:ext cx="6715125" cy="777875"/>
          </a:xfrm>
        </p:spPr>
        <p:txBody>
          <a:bodyPr/>
          <a:lstStyle/>
          <a:p>
            <a:r>
              <a:rPr lang="en-US" sz="4000" b="1" dirty="0">
                <a:solidFill>
                  <a:srgbClr val="0000FF"/>
                </a:solidFill>
                <a:latin typeface="Calibri" charset="0"/>
              </a:rPr>
              <a:t>Exercise #2:  </a:t>
            </a:r>
            <a:r>
              <a:rPr lang="en-US" sz="4000" b="1" dirty="0">
                <a:latin typeface="Calibri" charset="0"/>
              </a:rPr>
              <a:t>Identify H</a:t>
            </a:r>
            <a:r>
              <a:rPr lang="en-US" sz="4000" b="1" baseline="-25000" dirty="0">
                <a:latin typeface="Calibri" charset="0"/>
              </a:rPr>
              <a:t>0</a:t>
            </a:r>
            <a:r>
              <a:rPr lang="en-US" sz="4000" b="1" dirty="0">
                <a:latin typeface="Calibri" charset="0"/>
              </a:rPr>
              <a:t> and H</a:t>
            </a:r>
            <a:r>
              <a:rPr lang="en-US" sz="4000" b="1" baseline="-25000" dirty="0">
                <a:latin typeface="Calibri" charset="0"/>
              </a:rPr>
              <a:t>1</a:t>
            </a:r>
          </a:p>
        </p:txBody>
      </p:sp>
      <p:sp>
        <p:nvSpPr>
          <p:cNvPr id="29698" name="Content Placeholder 2"/>
          <p:cNvSpPr>
            <a:spLocks noGrp="1"/>
          </p:cNvSpPr>
          <p:nvPr>
            <p:ph idx="1"/>
          </p:nvPr>
        </p:nvSpPr>
        <p:spPr>
          <a:xfrm>
            <a:off x="1774825" y="1341438"/>
            <a:ext cx="8569647" cy="5105400"/>
          </a:xfrm>
        </p:spPr>
        <p:txBody>
          <a:bodyPr/>
          <a:lstStyle/>
          <a:p>
            <a:pPr marL="514350" indent="-514350" algn="just">
              <a:buFont typeface="+mj-lt"/>
              <a:buAutoNum type="arabicPeriod"/>
            </a:pPr>
            <a:r>
              <a:rPr lang="en-US" sz="2800" dirty="0">
                <a:cs typeface="Times New Roman"/>
              </a:rPr>
              <a:t>The mean annual income of employees who took a statistics course is greater than $60,000.</a:t>
            </a:r>
          </a:p>
          <a:p>
            <a:pPr marL="514350" indent="-514350" algn="just">
              <a:buFont typeface="+mj-lt"/>
              <a:buAutoNum type="arabicPeriod"/>
            </a:pPr>
            <a:endParaRPr lang="en-US" sz="2800" dirty="0">
              <a:cs typeface="Times New Roman"/>
            </a:endParaRPr>
          </a:p>
          <a:p>
            <a:pPr marL="514350" indent="-514350" algn="just">
              <a:buFont typeface="+mj-lt"/>
              <a:buAutoNum type="arabicPeriod"/>
            </a:pPr>
            <a:r>
              <a:rPr lang="en-US" sz="2800" dirty="0">
                <a:cs typeface="Times New Roman"/>
              </a:rPr>
              <a:t>The proportion of people aged 18 to 25 who currently use illicit drugs is equal to 0.20 (or 20%). </a:t>
            </a:r>
          </a:p>
          <a:p>
            <a:pPr marL="514350" indent="-514350" algn="just">
              <a:buFont typeface="+mj-lt"/>
              <a:buAutoNum type="arabicPeriod"/>
            </a:pPr>
            <a:endParaRPr lang="en-US" sz="2800" dirty="0">
              <a:cs typeface="Times New Roman"/>
            </a:endParaRPr>
          </a:p>
          <a:p>
            <a:pPr marL="514350" indent="-514350" algn="just">
              <a:buFont typeface="+mj-lt"/>
              <a:buAutoNum type="arabicPeriod"/>
            </a:pPr>
            <a:r>
              <a:rPr lang="en-US" sz="2800" dirty="0">
                <a:cs typeface="Times New Roman"/>
              </a:rPr>
              <a:t>The standard deviation of duration times (in seconds) of the Old Faithful geyser is less than 40 sec. </a:t>
            </a:r>
          </a:p>
          <a:p>
            <a:pPr marL="0" indent="0" algn="just">
              <a:buNone/>
            </a:pPr>
            <a:endParaRPr lang="en-US" sz="2800" dirty="0">
              <a:cs typeface="Times New Roman"/>
            </a:endParaRPr>
          </a:p>
          <a:p>
            <a:pPr marL="0" indent="0" algn="just">
              <a:buNone/>
            </a:pPr>
            <a:endParaRPr lang="en-US" sz="2800" dirty="0">
              <a:cs typeface="Times New Roman"/>
            </a:endParaRPr>
          </a:p>
        </p:txBody>
      </p:sp>
      <p:sp>
        <p:nvSpPr>
          <p:cNvPr id="29699"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3D52B5A-11F5-1D45-9CB8-043DE9622814}" type="slidenum">
              <a:rPr lang="en-US" sz="1200">
                <a:solidFill>
                  <a:srgbClr val="898989"/>
                </a:solidFill>
                <a:cs typeface="Arial" charset="0"/>
              </a:rPr>
              <a:pPr eaLnBrk="1" hangingPunct="1"/>
              <a:t>18</a:t>
            </a:fld>
            <a:endParaRPr lang="en-US" sz="1200">
              <a:solidFill>
                <a:srgbClr val="898989"/>
              </a:solidFill>
              <a:cs typeface="Arial"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E87F92-C91C-A546-B9B1-9BF2E935354B}"/>
              </a:ext>
            </a:extLst>
          </p:cNvPr>
          <p:cNvSpPr>
            <a:spLocks noGrp="1"/>
          </p:cNvSpPr>
          <p:nvPr>
            <p:ph type="sldNum" sz="quarter" idx="10"/>
          </p:nvPr>
        </p:nvSpPr>
        <p:spPr/>
        <p:txBody>
          <a:bodyPr/>
          <a:lstStyle/>
          <a:p>
            <a:pPr>
              <a:defRPr/>
            </a:pPr>
            <a:fld id="{5DB23DFC-92DE-CC46-BB0A-37186FCE0B10}" type="slidenum">
              <a:rPr lang="en-US" smtClean="0"/>
              <a:pPr>
                <a:defRPr/>
              </a:pPr>
              <a:t>19</a:t>
            </a:fld>
            <a:endParaRPr lang="en-US"/>
          </a:p>
        </p:txBody>
      </p:sp>
      <p:sp>
        <p:nvSpPr>
          <p:cNvPr id="2" name="Rectangle 1">
            <a:extLst>
              <a:ext uri="{FF2B5EF4-FFF2-40B4-BE49-F238E27FC236}">
                <a16:creationId xmlns:a16="http://schemas.microsoft.com/office/drawing/2014/main" id="{1E6FE210-53CE-D348-B5B9-426D567FA942}"/>
              </a:ext>
            </a:extLst>
          </p:cNvPr>
          <p:cNvSpPr/>
          <p:nvPr/>
        </p:nvSpPr>
        <p:spPr>
          <a:xfrm>
            <a:off x="2133600" y="1447801"/>
            <a:ext cx="8153400" cy="3477875"/>
          </a:xfrm>
          <a:prstGeom prst="rect">
            <a:avLst/>
          </a:prstGeom>
        </p:spPr>
        <p:txBody>
          <a:bodyPr wrap="square">
            <a:spAutoFit/>
          </a:bodyPr>
          <a:lstStyle/>
          <a:p>
            <a:pPr lvl="1" algn="ctr"/>
            <a:r>
              <a:rPr lang="en-AU" sz="2800" strike="sngStrike" dirty="0">
                <a:solidFill>
                  <a:schemeClr val="bg1">
                    <a:lumMod val="65000"/>
                  </a:schemeClr>
                </a:solidFill>
              </a:rPr>
              <a:t>STEP 1: Hypothesis statement</a:t>
            </a:r>
          </a:p>
          <a:p>
            <a:pPr lvl="1" algn="ctr"/>
            <a:endParaRPr lang="en-AU" sz="4000" dirty="0">
              <a:solidFill>
                <a:srgbClr val="0000FF"/>
              </a:solidFill>
            </a:endParaRPr>
          </a:p>
          <a:p>
            <a:pPr lvl="1" algn="ctr"/>
            <a:r>
              <a:rPr lang="en-AU" sz="4000" dirty="0">
                <a:solidFill>
                  <a:srgbClr val="C00000"/>
                </a:solidFill>
              </a:rPr>
              <a:t>STEP 2: Test Statistic</a:t>
            </a:r>
          </a:p>
          <a:p>
            <a:pPr lvl="1" algn="ctr"/>
            <a:endParaRPr lang="en-AU" sz="2800" dirty="0">
              <a:solidFill>
                <a:schemeClr val="bg1">
                  <a:lumMod val="65000"/>
                </a:schemeClr>
              </a:solidFill>
            </a:endParaRPr>
          </a:p>
          <a:p>
            <a:pPr lvl="1" algn="ctr"/>
            <a:endParaRPr lang="en-AU" sz="2800" dirty="0">
              <a:solidFill>
                <a:schemeClr val="bg1">
                  <a:lumMod val="65000"/>
                </a:schemeClr>
              </a:solidFill>
            </a:endParaRPr>
          </a:p>
          <a:p>
            <a:pPr lvl="1" algn="ctr"/>
            <a:r>
              <a:rPr lang="en-AU" sz="2800" dirty="0">
                <a:solidFill>
                  <a:schemeClr val="bg1">
                    <a:lumMod val="65000"/>
                  </a:schemeClr>
                </a:solidFill>
              </a:rPr>
              <a:t>STEP 3: Significance Level @ Level of confidence</a:t>
            </a:r>
          </a:p>
          <a:p>
            <a:pPr lvl="1" algn="ctr"/>
            <a:r>
              <a:rPr lang="en-AU" sz="2800" dirty="0">
                <a:solidFill>
                  <a:schemeClr val="bg1">
                    <a:lumMod val="65000"/>
                  </a:schemeClr>
                </a:solidFill>
              </a:rPr>
              <a:t>STEP 4: Conclusion/Decision rule</a:t>
            </a:r>
          </a:p>
        </p:txBody>
      </p:sp>
    </p:spTree>
    <p:extLst>
      <p:ext uri="{BB962C8B-B14F-4D97-AF65-F5344CB8AC3E}">
        <p14:creationId xmlns:p14="http://schemas.microsoft.com/office/powerpoint/2010/main" val="2458678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5520" y="1556794"/>
            <a:ext cx="8496944" cy="1512167"/>
          </a:xfrm>
        </p:spPr>
        <p:txBody>
          <a:bodyPr/>
          <a:lstStyle/>
          <a:p>
            <a:pPr algn="just"/>
            <a:r>
              <a:rPr lang="en-US" sz="2800" dirty="0"/>
              <a:t>A </a:t>
            </a:r>
            <a:r>
              <a:rPr lang="en-US" sz="2800" dirty="0">
                <a:solidFill>
                  <a:srgbClr val="FF0000"/>
                </a:solidFill>
              </a:rPr>
              <a:t>test statistic </a:t>
            </a:r>
            <a:r>
              <a:rPr lang="en-US" sz="2800" dirty="0"/>
              <a:t>is computed using sample data and is the value used to reach a conclusion to reject or fail to reject </a:t>
            </a:r>
            <a:r>
              <a:rPr lang="en-US" sz="2800" i="1" dirty="0"/>
              <a:t>H</a:t>
            </a:r>
            <a:r>
              <a:rPr lang="en-US" sz="2800" baseline="-25000" dirty="0"/>
              <a:t>0</a:t>
            </a:r>
            <a:r>
              <a:rPr lang="en-US" sz="2800" dirty="0"/>
              <a:t>.</a:t>
            </a:r>
          </a:p>
          <a:p>
            <a:pPr algn="just"/>
            <a:r>
              <a:rPr lang="en-US" sz="2800" dirty="0"/>
              <a:t>There are term/formula to calculate test statistic:</a:t>
            </a:r>
          </a:p>
          <a:p>
            <a:pPr marL="0" indent="0" algn="just">
              <a:buNone/>
            </a:pPr>
            <a:endParaRPr lang="en-US" sz="2800" dirty="0"/>
          </a:p>
        </p:txBody>
      </p:sp>
      <p:sp>
        <p:nvSpPr>
          <p:cNvPr id="4" name="Slide Number Placeholder 3"/>
          <p:cNvSpPr>
            <a:spLocks noGrp="1"/>
          </p:cNvSpPr>
          <p:nvPr>
            <p:ph type="sldNum" sz="quarter" idx="10"/>
          </p:nvPr>
        </p:nvSpPr>
        <p:spPr/>
        <p:txBody>
          <a:bodyPr/>
          <a:lstStyle/>
          <a:p>
            <a:pPr>
              <a:defRPr/>
            </a:pPr>
            <a:fld id="{5DB23DFC-92DE-CC46-BB0A-37186FCE0B10}" type="slidenum">
              <a:rPr lang="en-US" smtClean="0"/>
              <a:pPr>
                <a:defRPr/>
              </a:pPr>
              <a:t>20</a:t>
            </a:fld>
            <a:endParaRPr lang="en-US"/>
          </a:p>
        </p:txBody>
      </p:sp>
      <p:sp>
        <p:nvSpPr>
          <p:cNvPr id="5" name="Title 1"/>
          <p:cNvSpPr txBox="1">
            <a:spLocks/>
          </p:cNvSpPr>
          <p:nvPr/>
        </p:nvSpPr>
        <p:spPr bwMode="auto">
          <a:xfrm>
            <a:off x="3359697" y="188640"/>
            <a:ext cx="7056783" cy="85010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2pPr>
            <a:lvl3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3pPr>
            <a:lvl4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4pPr>
            <a:lvl5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5pPr>
            <a:lvl6pPr marL="457200" algn="ctr" rtl="0" fontAlgn="base">
              <a:spcBef>
                <a:spcPct val="0"/>
              </a:spcBef>
              <a:spcAft>
                <a:spcPct val="0"/>
              </a:spcAft>
              <a:defRPr sz="3600">
                <a:solidFill>
                  <a:schemeClr val="tx1"/>
                </a:solidFill>
                <a:latin typeface="Calibri" pitchFamily="34" charset="0"/>
              </a:defRPr>
            </a:lvl6pPr>
            <a:lvl7pPr marL="914400" algn="ctr" rtl="0" fontAlgn="base">
              <a:spcBef>
                <a:spcPct val="0"/>
              </a:spcBef>
              <a:spcAft>
                <a:spcPct val="0"/>
              </a:spcAft>
              <a:defRPr sz="3600">
                <a:solidFill>
                  <a:schemeClr val="tx1"/>
                </a:solidFill>
                <a:latin typeface="Calibri" pitchFamily="34" charset="0"/>
              </a:defRPr>
            </a:lvl7pPr>
            <a:lvl8pPr marL="1371600" algn="ctr" rtl="0" fontAlgn="base">
              <a:spcBef>
                <a:spcPct val="0"/>
              </a:spcBef>
              <a:spcAft>
                <a:spcPct val="0"/>
              </a:spcAft>
              <a:defRPr sz="3600">
                <a:solidFill>
                  <a:schemeClr val="tx1"/>
                </a:solidFill>
                <a:latin typeface="Calibri" pitchFamily="34" charset="0"/>
              </a:defRPr>
            </a:lvl8pPr>
            <a:lvl9pPr marL="1828800" algn="ctr" rtl="0" fontAlgn="base">
              <a:spcBef>
                <a:spcPct val="0"/>
              </a:spcBef>
              <a:spcAft>
                <a:spcPct val="0"/>
              </a:spcAft>
              <a:defRPr sz="3600">
                <a:solidFill>
                  <a:schemeClr val="tx1"/>
                </a:solidFill>
                <a:latin typeface="Calibri" pitchFamily="34" charset="0"/>
              </a:defRPr>
            </a:lvl9pPr>
          </a:lstStyle>
          <a:p>
            <a:r>
              <a:rPr lang="en-US" sz="4000" b="1" dirty="0">
                <a:solidFill>
                  <a:srgbClr val="0000FF"/>
                </a:solidFill>
                <a:latin typeface="Calibri" charset="0"/>
              </a:rPr>
              <a:t>2) Test of Statistical </a:t>
            </a:r>
            <a:r>
              <a:rPr lang="en-US" b="1" dirty="0">
                <a:solidFill>
                  <a:srgbClr val="0000FF"/>
                </a:solidFill>
                <a:latin typeface="Calibri" charset="0"/>
              </a:rPr>
              <a:t>Hypothesis</a:t>
            </a:r>
            <a:r>
              <a:rPr lang="en-US" sz="4000" b="1" dirty="0">
                <a:solidFill>
                  <a:srgbClr val="0000FF"/>
                </a:solidFill>
                <a:latin typeface="Calibri" charset="0"/>
              </a:rPr>
              <a:t> </a:t>
            </a:r>
          </a:p>
        </p:txBody>
      </p:sp>
      <p:grpSp>
        <p:nvGrpSpPr>
          <p:cNvPr id="6" name="Group 3"/>
          <p:cNvGrpSpPr>
            <a:grpSpLocks/>
          </p:cNvGrpSpPr>
          <p:nvPr/>
        </p:nvGrpSpPr>
        <p:grpSpPr bwMode="auto">
          <a:xfrm>
            <a:off x="2351584" y="3947328"/>
            <a:ext cx="5976664" cy="1569905"/>
            <a:chOff x="114945" y="1268760"/>
            <a:chExt cx="5976745" cy="1569905"/>
          </a:xfrm>
        </p:grpSpPr>
        <p:sp>
          <p:nvSpPr>
            <p:cNvPr id="7" name="Text Box 92"/>
            <p:cNvSpPr txBox="1">
              <a:spLocks noChangeArrowheads="1"/>
            </p:cNvSpPr>
            <p:nvPr/>
          </p:nvSpPr>
          <p:spPr bwMode="auto">
            <a:xfrm>
              <a:off x="114945" y="1526015"/>
              <a:ext cx="4367659"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nchor="ct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2800" b="1" dirty="0"/>
                <a:t>Test statistic for proportion:</a:t>
              </a:r>
              <a:endParaRPr lang="en-US" sz="2800" b="1" dirty="0">
                <a:latin typeface="Times New Roman" charset="0"/>
              </a:endParaRPr>
            </a:p>
          </p:txBody>
        </p:sp>
        <p:graphicFrame>
          <p:nvGraphicFramePr>
            <p:cNvPr id="8" name="Object 112"/>
            <p:cNvGraphicFramePr>
              <a:graphicFrameLocks noChangeAspect="1"/>
            </p:cNvGraphicFramePr>
            <p:nvPr>
              <p:extLst>
                <p:ext uri="{D42A27DB-BD31-4B8C-83A1-F6EECF244321}">
                  <p14:modId xmlns:p14="http://schemas.microsoft.com/office/powerpoint/2010/main" val="2430323276"/>
                </p:ext>
              </p:extLst>
            </p:nvPr>
          </p:nvGraphicFramePr>
          <p:xfrm>
            <a:off x="4579502" y="1268760"/>
            <a:ext cx="1512188" cy="1569905"/>
          </p:xfrm>
          <a:graphic>
            <a:graphicData uri="http://schemas.openxmlformats.org/presentationml/2006/ole">
              <mc:AlternateContent xmlns:mc="http://schemas.openxmlformats.org/markup-compatibility/2006">
                <mc:Choice xmlns:v="urn:schemas-microsoft-com:vml" Requires="v">
                  <p:oleObj name="Equation" r:id="rId2" imgW="1654560" imgH="1718640" progId="Equation.3">
                    <p:embed/>
                  </p:oleObj>
                </mc:Choice>
                <mc:Fallback>
                  <p:oleObj name="Equation" r:id="rId2" imgW="1654560" imgH="1718640" progId="Equation.3">
                    <p:embed/>
                    <p:pic>
                      <p:nvPicPr>
                        <p:cNvPr id="0" name="Picture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9502" y="1268760"/>
                          <a:ext cx="1512188" cy="15699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210823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747" name="Group 6"/>
          <p:cNvGrpSpPr>
            <a:grpSpLocks/>
          </p:cNvGrpSpPr>
          <p:nvPr/>
        </p:nvGrpSpPr>
        <p:grpSpPr bwMode="auto">
          <a:xfrm>
            <a:off x="1973496" y="4869161"/>
            <a:ext cx="7578889" cy="1512168"/>
            <a:chOff x="359202" y="4617093"/>
            <a:chExt cx="8823977" cy="1764302"/>
          </a:xfrm>
        </p:grpSpPr>
        <p:sp>
          <p:nvSpPr>
            <p:cNvPr id="31752" name="Text Box 98"/>
            <p:cNvSpPr txBox="1">
              <a:spLocks noChangeArrowheads="1"/>
            </p:cNvSpPr>
            <p:nvPr/>
          </p:nvSpPr>
          <p:spPr bwMode="auto">
            <a:xfrm>
              <a:off x="359202" y="4617093"/>
              <a:ext cx="8823977" cy="6104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square" anchor="ct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2800" b="1" dirty="0"/>
                <a:t>Test statistic for population standard deviation:</a:t>
              </a:r>
              <a:endParaRPr lang="en-US" sz="2800" b="1" dirty="0">
                <a:latin typeface="Times New Roman" charset="0"/>
              </a:endParaRPr>
            </a:p>
          </p:txBody>
        </p:sp>
        <p:graphicFrame>
          <p:nvGraphicFramePr>
            <p:cNvPr id="31753" name="Object 115"/>
            <p:cNvGraphicFramePr>
              <a:graphicFrameLocks noChangeAspect="1"/>
            </p:cNvGraphicFramePr>
            <p:nvPr>
              <p:extLst>
                <p:ext uri="{D42A27DB-BD31-4B8C-83A1-F6EECF244321}">
                  <p14:modId xmlns:p14="http://schemas.microsoft.com/office/powerpoint/2010/main" val="654925975"/>
                </p:ext>
              </p:extLst>
            </p:nvPr>
          </p:nvGraphicFramePr>
          <p:xfrm>
            <a:off x="593287" y="5420704"/>
            <a:ext cx="2083556" cy="960691"/>
          </p:xfrm>
          <a:graphic>
            <a:graphicData uri="http://schemas.openxmlformats.org/presentationml/2006/ole">
              <mc:AlternateContent xmlns:mc="http://schemas.openxmlformats.org/markup-compatibility/2006">
                <mc:Choice xmlns:v="urn:schemas-microsoft-com:vml" Requires="v">
                  <p:oleObj name="Equation" r:id="rId2" imgW="2641600" imgH="1117600" progId="">
                    <p:embed/>
                  </p:oleObj>
                </mc:Choice>
                <mc:Fallback>
                  <p:oleObj name="Equation" r:id="rId2" imgW="2641600" imgH="1117600" progId="">
                    <p:embed/>
                    <p:pic>
                      <p:nvPicPr>
                        <p:cNvPr id="0" name="Picture 2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287" y="5420704"/>
                          <a:ext cx="2083556" cy="9606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1749"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B0D8981-7F30-544A-A55D-17213163CA5B}" type="slidenum">
              <a:rPr lang="en-US" sz="1200">
                <a:solidFill>
                  <a:srgbClr val="898989"/>
                </a:solidFill>
                <a:cs typeface="Arial" charset="0"/>
              </a:rPr>
              <a:pPr eaLnBrk="1" hangingPunct="1"/>
              <a:t>21</a:t>
            </a:fld>
            <a:endParaRPr lang="en-US" sz="1200">
              <a:solidFill>
                <a:srgbClr val="898989"/>
              </a:solidFill>
              <a:cs typeface="Arial" charset="0"/>
            </a:endParaRPr>
          </a:p>
        </p:txBody>
      </p:sp>
      <p:sp>
        <p:nvSpPr>
          <p:cNvPr id="19" name="Text Box 113"/>
          <p:cNvSpPr txBox="1">
            <a:spLocks noChangeArrowheads="1"/>
          </p:cNvSpPr>
          <p:nvPr/>
        </p:nvSpPr>
        <p:spPr bwMode="auto">
          <a:xfrm>
            <a:off x="1775520" y="1196752"/>
            <a:ext cx="7128792"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square" anchor="ct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2800" b="1" dirty="0"/>
              <a:t>Test statistic for population mean:</a:t>
            </a:r>
            <a:endParaRPr lang="en-US" sz="2800" b="1" dirty="0">
              <a:latin typeface="Times New Roman" charset="0"/>
            </a:endParaRPr>
          </a:p>
        </p:txBody>
      </p:sp>
      <p:grpSp>
        <p:nvGrpSpPr>
          <p:cNvPr id="20" name="Group 19"/>
          <p:cNvGrpSpPr/>
          <p:nvPr/>
        </p:nvGrpSpPr>
        <p:grpSpPr>
          <a:xfrm>
            <a:off x="2141538" y="1772818"/>
            <a:ext cx="5682654" cy="2594395"/>
            <a:chOff x="3455603" y="2374592"/>
            <a:chExt cx="5981719" cy="2779705"/>
          </a:xfrm>
        </p:grpSpPr>
        <p:graphicFrame>
          <p:nvGraphicFramePr>
            <p:cNvPr id="21" name="Object 114"/>
            <p:cNvGraphicFramePr>
              <a:graphicFrameLocks noChangeAspect="1"/>
            </p:cNvGraphicFramePr>
            <p:nvPr>
              <p:extLst>
                <p:ext uri="{D42A27DB-BD31-4B8C-83A1-F6EECF244321}">
                  <p14:modId xmlns:p14="http://schemas.microsoft.com/office/powerpoint/2010/main" val="4195505939"/>
                </p:ext>
              </p:extLst>
            </p:nvPr>
          </p:nvGraphicFramePr>
          <p:xfrm>
            <a:off x="3455603" y="3841210"/>
            <a:ext cx="5217007" cy="1313087"/>
          </p:xfrm>
          <a:graphic>
            <a:graphicData uri="http://schemas.openxmlformats.org/presentationml/2006/ole">
              <mc:AlternateContent xmlns:mc="http://schemas.openxmlformats.org/markup-compatibility/2006">
                <mc:Choice xmlns:v="urn:schemas-microsoft-com:vml" Requires="v">
                  <p:oleObj name="Equation" r:id="rId4" imgW="5211360" imgH="1444320" progId="Equation.3">
                    <p:embed/>
                  </p:oleObj>
                </mc:Choice>
                <mc:Fallback>
                  <p:oleObj name="Equation" r:id="rId4" imgW="5211360" imgH="1444320" progId="Equation.3">
                    <p:embed/>
                    <p:pic>
                      <p:nvPicPr>
                        <p:cNvPr id="0" name="Picture 2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55603" y="3841210"/>
                          <a:ext cx="5217007" cy="1313087"/>
                        </a:xfrm>
                        <a:prstGeom prst="rect">
                          <a:avLst/>
                        </a:prstGeom>
                        <a:noFill/>
                        <a:ln>
                          <a:noFill/>
                        </a:ln>
                        <a:effectLst/>
                        <a:extLst>
                          <a:ext uri="{909E8E84-426E-40DD-AFC4-6F175D3DCCD1}">
                            <a14:hiddenFill xmlns:a14="http://schemas.microsoft.com/office/drawing/2010/main">
                              <a:solidFill>
                                <a:srgbClr val="C1CE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 name="TextBox 21"/>
            <p:cNvSpPr txBox="1"/>
            <p:nvPr/>
          </p:nvSpPr>
          <p:spPr>
            <a:xfrm>
              <a:off x="6860203" y="2387656"/>
              <a:ext cx="2577119" cy="75844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000" b="1" dirty="0"/>
                <a:t>variance unknown and n ≤ 30</a:t>
              </a:r>
            </a:p>
          </p:txBody>
        </p:sp>
        <p:sp>
          <p:nvSpPr>
            <p:cNvPr id="23" name="TextBox 22"/>
            <p:cNvSpPr txBox="1"/>
            <p:nvPr/>
          </p:nvSpPr>
          <p:spPr>
            <a:xfrm>
              <a:off x="3525108" y="2374592"/>
              <a:ext cx="2041658" cy="75844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000" b="1" i="1" dirty="0"/>
                <a:t> </a:t>
              </a:r>
              <a:r>
                <a:rPr lang="en-US" sz="2000" b="1" dirty="0"/>
                <a:t>variance known or n &gt; 30</a:t>
              </a:r>
            </a:p>
          </p:txBody>
        </p:sp>
        <p:sp>
          <p:nvSpPr>
            <p:cNvPr id="24" name="Down Arrow 23"/>
            <p:cNvSpPr/>
            <p:nvPr/>
          </p:nvSpPr>
          <p:spPr>
            <a:xfrm>
              <a:off x="4304862" y="3192394"/>
              <a:ext cx="484632" cy="4166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Down Arrow 24"/>
            <p:cNvSpPr/>
            <p:nvPr/>
          </p:nvSpPr>
          <p:spPr>
            <a:xfrm>
              <a:off x="7849825" y="3223255"/>
              <a:ext cx="484632" cy="4629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a:xfrm>
            <a:off x="3648076" y="274638"/>
            <a:ext cx="6562725" cy="850900"/>
          </a:xfrm>
        </p:spPr>
        <p:txBody>
          <a:bodyPr/>
          <a:lstStyle/>
          <a:p>
            <a:r>
              <a:rPr lang="en-US" sz="4400" b="1" dirty="0">
                <a:latin typeface="Calibri" charset="0"/>
              </a:rPr>
              <a:t>Example</a:t>
            </a:r>
          </a:p>
        </p:txBody>
      </p:sp>
      <p:sp>
        <p:nvSpPr>
          <p:cNvPr id="32770" name="Content Placeholder 2"/>
          <p:cNvSpPr>
            <a:spLocks noGrp="1"/>
          </p:cNvSpPr>
          <p:nvPr>
            <p:ph idx="1"/>
          </p:nvPr>
        </p:nvSpPr>
        <p:spPr>
          <a:xfrm>
            <a:off x="1774826" y="1600201"/>
            <a:ext cx="8435975" cy="4525963"/>
          </a:xfrm>
        </p:spPr>
        <p:txBody>
          <a:bodyPr/>
          <a:lstStyle/>
          <a:p>
            <a:pPr marL="0" indent="0" algn="just">
              <a:lnSpc>
                <a:spcPct val="130000"/>
              </a:lnSpc>
              <a:buNone/>
            </a:pPr>
            <a:r>
              <a:rPr lang="en-US" sz="2800" dirty="0">
                <a:latin typeface="Calibri" charset="0"/>
              </a:rPr>
              <a:t>Let</a:t>
            </a:r>
            <a:r>
              <a:rPr lang="en-US" sz="2800" dirty="0">
                <a:latin typeface="Calibri" charset="0"/>
                <a:ea typeface="ヒラギノ角ゴ ProN W3" charset="0"/>
                <a:cs typeface="ヒラギノ角ゴ ProN W3" charset="0"/>
              </a:rPr>
              <a:t>’s</a:t>
            </a:r>
            <a:r>
              <a:rPr lang="en-US" sz="2800" dirty="0">
                <a:latin typeface="Calibri" charset="0"/>
              </a:rPr>
              <a:t> again consider the claim that the XSORT method of gender selection increases the likelihood of having a baby girl. Preliminary results from a test of the XSORT method of gender selection involved 14 couples who gave birth to 13 girls and 1 boy. The null and alternative hypotheses are </a:t>
            </a:r>
            <a:r>
              <a:rPr lang="en-US" sz="2800" i="1" dirty="0">
                <a:latin typeface="Calibri" charset="0"/>
              </a:rPr>
              <a:t>H</a:t>
            </a:r>
            <a:r>
              <a:rPr lang="en-US" sz="2800" baseline="-25000" dirty="0">
                <a:latin typeface="Calibri" charset="0"/>
              </a:rPr>
              <a:t>0</a:t>
            </a:r>
            <a:r>
              <a:rPr lang="en-US" sz="2800" dirty="0">
                <a:latin typeface="Calibri" charset="0"/>
              </a:rPr>
              <a:t>: </a:t>
            </a:r>
            <a:r>
              <a:rPr lang="en-US" sz="2800" i="1" dirty="0">
                <a:latin typeface="Calibri" charset="0"/>
              </a:rPr>
              <a:t>p</a:t>
            </a:r>
            <a:r>
              <a:rPr lang="en-US" sz="2800" dirty="0">
                <a:latin typeface="Calibri" charset="0"/>
              </a:rPr>
              <a:t> = 0.5 and </a:t>
            </a:r>
            <a:r>
              <a:rPr lang="en-US" sz="2800" i="1" dirty="0">
                <a:latin typeface="Calibri" charset="0"/>
              </a:rPr>
              <a:t>H</a:t>
            </a:r>
            <a:r>
              <a:rPr lang="en-US" sz="2800" baseline="-25000" dirty="0">
                <a:latin typeface="Calibri" charset="0"/>
              </a:rPr>
              <a:t>1</a:t>
            </a:r>
            <a:r>
              <a:rPr lang="en-US" sz="2800" dirty="0">
                <a:latin typeface="Calibri" charset="0"/>
              </a:rPr>
              <a:t>: </a:t>
            </a:r>
            <a:r>
              <a:rPr lang="en-US" sz="2800" i="1" dirty="0">
                <a:latin typeface="Calibri" charset="0"/>
              </a:rPr>
              <a:t>p</a:t>
            </a:r>
            <a:r>
              <a:rPr lang="en-US" sz="2800" dirty="0">
                <a:latin typeface="Calibri" charset="0"/>
              </a:rPr>
              <a:t> &gt; 0.5. </a:t>
            </a:r>
            <a:r>
              <a:rPr lang="en-US" sz="2800" dirty="0">
                <a:solidFill>
                  <a:srgbClr val="0000FF"/>
                </a:solidFill>
                <a:latin typeface="Calibri" charset="0"/>
              </a:rPr>
              <a:t>Calculate the value of the test statistic.</a:t>
            </a:r>
          </a:p>
        </p:txBody>
      </p:sp>
      <p:sp>
        <p:nvSpPr>
          <p:cNvPr id="32771"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4E60C624-A5F3-1D45-A33A-0634C01F95A4}" type="slidenum">
              <a:rPr lang="en-US" sz="1200">
                <a:solidFill>
                  <a:srgbClr val="898989"/>
                </a:solidFill>
                <a:cs typeface="Arial" charset="0"/>
              </a:rPr>
              <a:pPr eaLnBrk="1" hangingPunct="1"/>
              <a:t>22</a:t>
            </a:fld>
            <a:endParaRPr lang="en-US" sz="1200">
              <a:solidFill>
                <a:srgbClr val="898989"/>
              </a:solidFill>
              <a:cs typeface="Arial"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a:xfrm>
            <a:off x="3648076" y="274638"/>
            <a:ext cx="6562725" cy="850900"/>
          </a:xfrm>
        </p:spPr>
        <p:txBody>
          <a:bodyPr/>
          <a:lstStyle/>
          <a:p>
            <a:r>
              <a:rPr lang="en-US" sz="4400" b="1" dirty="0">
                <a:latin typeface="Calibri" charset="0"/>
              </a:rPr>
              <a:t>Example - Solution</a:t>
            </a:r>
          </a:p>
        </p:txBody>
      </p:sp>
      <p:sp>
        <p:nvSpPr>
          <p:cNvPr id="33794" name="Content Placeholder 2"/>
          <p:cNvSpPr>
            <a:spLocks noGrp="1"/>
          </p:cNvSpPr>
          <p:nvPr>
            <p:ph idx="1"/>
          </p:nvPr>
        </p:nvSpPr>
        <p:spPr>
          <a:xfrm>
            <a:off x="1703389" y="1341438"/>
            <a:ext cx="8435975" cy="4525962"/>
          </a:xfrm>
        </p:spPr>
        <p:txBody>
          <a:bodyPr/>
          <a:lstStyle/>
          <a:p>
            <a:r>
              <a:rPr lang="en-US" dirty="0">
                <a:latin typeface="Calibri" charset="0"/>
              </a:rPr>
              <a:t>Given:</a:t>
            </a:r>
            <a:r>
              <a:rPr lang="en-US" i="1" dirty="0">
                <a:latin typeface="Calibri" charset="0"/>
              </a:rPr>
              <a:t> H</a:t>
            </a:r>
            <a:r>
              <a:rPr lang="en-US" baseline="-25000" dirty="0">
                <a:latin typeface="Calibri" charset="0"/>
              </a:rPr>
              <a:t>0</a:t>
            </a:r>
            <a:r>
              <a:rPr lang="en-US" dirty="0">
                <a:latin typeface="Calibri" charset="0"/>
              </a:rPr>
              <a:t>: </a:t>
            </a:r>
            <a:r>
              <a:rPr lang="en-US" i="1" dirty="0">
                <a:latin typeface="Calibri" charset="0"/>
              </a:rPr>
              <a:t>p</a:t>
            </a:r>
            <a:r>
              <a:rPr lang="en-US" dirty="0">
                <a:latin typeface="Calibri" charset="0"/>
              </a:rPr>
              <a:t> = 0.5    and </a:t>
            </a:r>
            <a:r>
              <a:rPr lang="en-US" i="1" dirty="0">
                <a:latin typeface="Calibri" charset="0"/>
              </a:rPr>
              <a:t> H</a:t>
            </a:r>
            <a:r>
              <a:rPr lang="en-US" baseline="-25000" dirty="0">
                <a:latin typeface="Calibri" charset="0"/>
              </a:rPr>
              <a:t>1</a:t>
            </a:r>
            <a:r>
              <a:rPr lang="en-US" dirty="0">
                <a:latin typeface="Calibri" charset="0"/>
              </a:rPr>
              <a:t>: </a:t>
            </a:r>
            <a:r>
              <a:rPr lang="en-US" i="1" dirty="0">
                <a:latin typeface="Calibri" charset="0"/>
              </a:rPr>
              <a:t>p</a:t>
            </a:r>
            <a:r>
              <a:rPr lang="en-US" dirty="0">
                <a:latin typeface="Calibri" charset="0"/>
              </a:rPr>
              <a:t> &gt; 0.5</a:t>
            </a:r>
          </a:p>
          <a:p>
            <a:r>
              <a:rPr lang="en-US" dirty="0">
                <a:latin typeface="Calibri" charset="0"/>
              </a:rPr>
              <a:t>The sample proportion of 13 girls in 14 births results in</a:t>
            </a:r>
          </a:p>
          <a:p>
            <a:endParaRPr lang="en-US" dirty="0">
              <a:latin typeface="Calibri" charset="0"/>
            </a:endParaRPr>
          </a:p>
          <a:p>
            <a:r>
              <a:rPr lang="en-US" dirty="0">
                <a:latin typeface="Calibri" charset="0"/>
              </a:rPr>
              <a:t> Using </a:t>
            </a:r>
            <a:r>
              <a:rPr lang="en-US" i="1" dirty="0">
                <a:latin typeface="Calibri" charset="0"/>
              </a:rPr>
              <a:t>p</a:t>
            </a:r>
            <a:r>
              <a:rPr lang="en-US" dirty="0">
                <a:latin typeface="Calibri" charset="0"/>
              </a:rPr>
              <a:t> = 0.5,                     and </a:t>
            </a:r>
            <a:r>
              <a:rPr lang="en-US" i="1" dirty="0">
                <a:latin typeface="Calibri" charset="0"/>
              </a:rPr>
              <a:t>n</a:t>
            </a:r>
            <a:r>
              <a:rPr lang="en-US" dirty="0">
                <a:latin typeface="Calibri" charset="0"/>
              </a:rPr>
              <a:t> = 14, we find the value of the test statistic as follows:</a:t>
            </a:r>
          </a:p>
          <a:p>
            <a:endParaRPr lang="en-US" dirty="0">
              <a:latin typeface="Helvetica" charset="0"/>
            </a:endParaRPr>
          </a:p>
        </p:txBody>
      </p:sp>
      <p:graphicFrame>
        <p:nvGraphicFramePr>
          <p:cNvPr id="33795" name="Object 13"/>
          <p:cNvGraphicFramePr>
            <a:graphicFrameLocks noChangeAspect="1"/>
          </p:cNvGraphicFramePr>
          <p:nvPr/>
        </p:nvGraphicFramePr>
        <p:xfrm>
          <a:off x="3863975" y="2565400"/>
          <a:ext cx="2370138" cy="381000"/>
        </p:xfrm>
        <a:graphic>
          <a:graphicData uri="http://schemas.openxmlformats.org/presentationml/2006/ole">
            <mc:AlternateContent xmlns:mc="http://schemas.openxmlformats.org/markup-compatibility/2006">
              <mc:Choice xmlns:v="urn:schemas-microsoft-com:vml" Requires="v">
                <p:oleObj name="Equation" r:id="rId3" imgW="2834280" imgH="447840" progId="Equation.3">
                  <p:embed/>
                </p:oleObj>
              </mc:Choice>
              <mc:Fallback>
                <p:oleObj name="Equation" r:id="rId3" imgW="2834280" imgH="447840" progId="Equation.3">
                  <p:embed/>
                  <p:pic>
                    <p:nvPicPr>
                      <p:cNvPr id="0" name="Picture 2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3975" y="2565400"/>
                        <a:ext cx="2370138" cy="381000"/>
                      </a:xfrm>
                      <a:prstGeom prst="rect">
                        <a:avLst/>
                      </a:prstGeom>
                      <a:noFill/>
                      <a:ln>
                        <a:noFill/>
                      </a:ln>
                      <a:effectLst/>
                      <a:extLst>
                        <a:ext uri="{909E8E84-426E-40DD-AFC4-6F175D3DCCD1}">
                          <a14:hiddenFill xmlns:a14="http://schemas.microsoft.com/office/drawing/2010/main">
                            <a:solidFill>
                              <a:srgbClr val="C1CE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796" name="Object 14"/>
          <p:cNvGraphicFramePr>
            <a:graphicFrameLocks noChangeAspect="1"/>
          </p:cNvGraphicFramePr>
          <p:nvPr/>
        </p:nvGraphicFramePr>
        <p:xfrm>
          <a:off x="4656139" y="3716338"/>
          <a:ext cx="1489075" cy="417512"/>
        </p:xfrm>
        <a:graphic>
          <a:graphicData uri="http://schemas.openxmlformats.org/presentationml/2006/ole">
            <mc:AlternateContent xmlns:mc="http://schemas.openxmlformats.org/markup-compatibility/2006">
              <mc:Choice xmlns:v="urn:schemas-microsoft-com:vml" Requires="v">
                <p:oleObj name="Equation" r:id="rId5" imgW="1572480" imgH="429480" progId="Equation.3">
                  <p:embed/>
                </p:oleObj>
              </mc:Choice>
              <mc:Fallback>
                <p:oleObj name="Equation" r:id="rId5" imgW="1572480" imgH="429480" progId="Equation.3">
                  <p:embed/>
                  <p:pic>
                    <p:nvPicPr>
                      <p:cNvPr id="0" name="Picture 26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6139" y="3716338"/>
                        <a:ext cx="1489075" cy="417512"/>
                      </a:xfrm>
                      <a:prstGeom prst="rect">
                        <a:avLst/>
                      </a:prstGeom>
                      <a:noFill/>
                      <a:ln>
                        <a:noFill/>
                      </a:ln>
                      <a:effectLst/>
                      <a:extLst>
                        <a:ext uri="{909E8E84-426E-40DD-AFC4-6F175D3DCCD1}">
                          <a14:hiddenFill xmlns:a14="http://schemas.microsoft.com/office/drawing/2010/main">
                            <a:solidFill>
                              <a:srgbClr val="C1CE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797" name="Object 12"/>
          <p:cNvGraphicFramePr>
            <a:graphicFrameLocks noChangeAspect="1"/>
          </p:cNvGraphicFramePr>
          <p:nvPr/>
        </p:nvGraphicFramePr>
        <p:xfrm>
          <a:off x="2855913" y="4830763"/>
          <a:ext cx="4611687" cy="1477962"/>
        </p:xfrm>
        <a:graphic>
          <a:graphicData uri="http://schemas.openxmlformats.org/presentationml/2006/ole">
            <mc:AlternateContent xmlns:mc="http://schemas.openxmlformats.org/markup-compatibility/2006">
              <mc:Choice xmlns:v="urn:schemas-microsoft-com:vml" Requires="v">
                <p:oleObj name="Equation" r:id="rId7" imgW="5577120" imgH="1801080" progId="Equation.3">
                  <p:embed/>
                </p:oleObj>
              </mc:Choice>
              <mc:Fallback>
                <p:oleObj name="Equation" r:id="rId7" imgW="5577120" imgH="1801080" progId="Equation.3">
                  <p:embed/>
                  <p:pic>
                    <p:nvPicPr>
                      <p:cNvPr id="0" name="Picture 26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55913" y="4830763"/>
                        <a:ext cx="4611687" cy="1477962"/>
                      </a:xfrm>
                      <a:prstGeom prst="rect">
                        <a:avLst/>
                      </a:prstGeom>
                      <a:noFill/>
                      <a:ln>
                        <a:noFill/>
                      </a:ln>
                      <a:effectLst/>
                      <a:extLst>
                        <a:ext uri="{909E8E84-426E-40DD-AFC4-6F175D3DCCD1}">
                          <a14:hiddenFill xmlns:a14="http://schemas.microsoft.com/office/drawing/2010/main">
                            <a:solidFill>
                              <a:srgbClr val="C1CE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8"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3AA7E8C9-82E9-1F4D-BE92-67C55DEB6C7B}" type="slidenum">
              <a:rPr lang="en-US" sz="1200">
                <a:solidFill>
                  <a:srgbClr val="898989"/>
                </a:solidFill>
                <a:cs typeface="Arial" charset="0"/>
              </a:rPr>
              <a:pPr eaLnBrk="1" hangingPunct="1"/>
              <a:t>23</a:t>
            </a:fld>
            <a:endParaRPr lang="en-US" sz="1200">
              <a:solidFill>
                <a:srgbClr val="898989"/>
              </a:solidFill>
              <a:cs typeface="Arial"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E87F92-C91C-A546-B9B1-9BF2E935354B}"/>
              </a:ext>
            </a:extLst>
          </p:cNvPr>
          <p:cNvSpPr>
            <a:spLocks noGrp="1"/>
          </p:cNvSpPr>
          <p:nvPr>
            <p:ph type="sldNum" sz="quarter" idx="10"/>
          </p:nvPr>
        </p:nvSpPr>
        <p:spPr/>
        <p:txBody>
          <a:bodyPr/>
          <a:lstStyle/>
          <a:p>
            <a:pPr>
              <a:defRPr/>
            </a:pPr>
            <a:fld id="{5DB23DFC-92DE-CC46-BB0A-37186FCE0B10}" type="slidenum">
              <a:rPr lang="en-US" smtClean="0"/>
              <a:pPr>
                <a:defRPr/>
              </a:pPr>
              <a:t>24</a:t>
            </a:fld>
            <a:endParaRPr lang="en-US"/>
          </a:p>
        </p:txBody>
      </p:sp>
      <p:sp>
        <p:nvSpPr>
          <p:cNvPr id="2" name="Rectangle 1">
            <a:extLst>
              <a:ext uri="{FF2B5EF4-FFF2-40B4-BE49-F238E27FC236}">
                <a16:creationId xmlns:a16="http://schemas.microsoft.com/office/drawing/2014/main" id="{1E6FE210-53CE-D348-B5B9-426D567FA942}"/>
              </a:ext>
            </a:extLst>
          </p:cNvPr>
          <p:cNvSpPr/>
          <p:nvPr/>
        </p:nvSpPr>
        <p:spPr>
          <a:xfrm>
            <a:off x="2133600" y="1447801"/>
            <a:ext cx="8153400" cy="3662541"/>
          </a:xfrm>
          <a:prstGeom prst="rect">
            <a:avLst/>
          </a:prstGeom>
        </p:spPr>
        <p:txBody>
          <a:bodyPr wrap="square">
            <a:spAutoFit/>
          </a:bodyPr>
          <a:lstStyle/>
          <a:p>
            <a:pPr lvl="1" algn="ctr"/>
            <a:r>
              <a:rPr lang="en-AU" sz="2800" strike="sngStrike" dirty="0">
                <a:solidFill>
                  <a:schemeClr val="bg1">
                    <a:lumMod val="65000"/>
                  </a:schemeClr>
                </a:solidFill>
              </a:rPr>
              <a:t>STEP 1: Hypothesis statement</a:t>
            </a:r>
          </a:p>
          <a:p>
            <a:pPr lvl="1" algn="ctr"/>
            <a:r>
              <a:rPr lang="en-AU" sz="2800" strike="sngStrike" dirty="0">
                <a:solidFill>
                  <a:schemeClr val="bg1">
                    <a:lumMod val="65000"/>
                  </a:schemeClr>
                </a:solidFill>
              </a:rPr>
              <a:t>STEP 2: Test Statistic</a:t>
            </a:r>
          </a:p>
          <a:p>
            <a:pPr lvl="1" algn="ctr"/>
            <a:endParaRPr lang="en-AU" sz="2800" dirty="0">
              <a:solidFill>
                <a:schemeClr val="bg1">
                  <a:lumMod val="65000"/>
                </a:schemeClr>
              </a:solidFill>
            </a:endParaRPr>
          </a:p>
          <a:p>
            <a:pPr lvl="1" algn="ctr"/>
            <a:r>
              <a:rPr lang="en-AU" sz="4000" dirty="0">
                <a:solidFill>
                  <a:srgbClr val="C00000"/>
                </a:solidFill>
              </a:rPr>
              <a:t>STEP 3: Significance Level @ Level of confidence</a:t>
            </a:r>
          </a:p>
          <a:p>
            <a:pPr lvl="1" algn="ctr"/>
            <a:endParaRPr lang="en-AU" sz="4000" dirty="0">
              <a:solidFill>
                <a:srgbClr val="C00000"/>
              </a:solidFill>
            </a:endParaRPr>
          </a:p>
          <a:p>
            <a:pPr lvl="1" algn="ctr"/>
            <a:r>
              <a:rPr lang="en-AU" sz="2800" dirty="0">
                <a:solidFill>
                  <a:schemeClr val="bg1">
                    <a:lumMod val="65000"/>
                  </a:schemeClr>
                </a:solidFill>
              </a:rPr>
              <a:t>STEP 4: Conclusion/Decision rule</a:t>
            </a:r>
          </a:p>
        </p:txBody>
      </p:sp>
    </p:spTree>
    <p:extLst>
      <p:ext uri="{BB962C8B-B14F-4D97-AF65-F5344CB8AC3E}">
        <p14:creationId xmlns:p14="http://schemas.microsoft.com/office/powerpoint/2010/main" val="185775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a:xfrm>
            <a:off x="3648076" y="274639"/>
            <a:ext cx="6562725" cy="777875"/>
          </a:xfrm>
        </p:spPr>
        <p:txBody>
          <a:bodyPr/>
          <a:lstStyle/>
          <a:p>
            <a:r>
              <a:rPr lang="en-US" sz="4400" b="1" dirty="0">
                <a:solidFill>
                  <a:srgbClr val="0000FF"/>
                </a:solidFill>
                <a:latin typeface="Calibri" charset="0"/>
              </a:rPr>
              <a:t>3) Significance Level</a:t>
            </a:r>
          </a:p>
        </p:txBody>
      </p:sp>
      <p:sp>
        <p:nvSpPr>
          <p:cNvPr id="3" name="Content Placeholder 2"/>
          <p:cNvSpPr>
            <a:spLocks noGrp="1"/>
          </p:cNvSpPr>
          <p:nvPr>
            <p:ph idx="1"/>
          </p:nvPr>
        </p:nvSpPr>
        <p:spPr>
          <a:xfrm>
            <a:off x="1847850" y="1600201"/>
            <a:ext cx="8362950" cy="4525963"/>
          </a:xfrm>
        </p:spPr>
        <p:txBody>
          <a:bodyPr/>
          <a:lstStyle/>
          <a:p>
            <a:pPr algn="just">
              <a:defRPr/>
            </a:pPr>
            <a:r>
              <a:rPr lang="en-US" dirty="0"/>
              <a:t>The </a:t>
            </a:r>
            <a:r>
              <a:rPr lang="en-US" dirty="0">
                <a:solidFill>
                  <a:srgbClr val="FF0000"/>
                </a:solidFill>
              </a:rPr>
              <a:t>significance level </a:t>
            </a:r>
            <a:r>
              <a:rPr lang="en-US" dirty="0"/>
              <a:t>(denoted by</a:t>
            </a:r>
            <a:r>
              <a:rPr lang="en-US" dirty="0">
                <a:latin typeface="Times New Roman" pitchFamily="18" charset="0"/>
              </a:rPr>
              <a:t> </a:t>
            </a:r>
            <a:r>
              <a:rPr lang="en-US" i="1" dirty="0">
                <a:latin typeface="Times New Roman" pitchFamily="18" charset="0"/>
                <a:sym typeface="Symbol" pitchFamily="18" charset="2"/>
              </a:rPr>
              <a:t></a:t>
            </a:r>
            <a:r>
              <a:rPr lang="en-US" dirty="0">
                <a:latin typeface="Times New Roman" pitchFamily="18" charset="0"/>
                <a:sym typeface="Symbol" pitchFamily="18" charset="2"/>
              </a:rPr>
              <a:t>) </a:t>
            </a:r>
            <a:r>
              <a:rPr lang="en-US" dirty="0">
                <a:sym typeface="Symbol" pitchFamily="18" charset="2"/>
              </a:rPr>
              <a:t>is the probability that the test statistic will fall in the critical region when the null hypothesis</a:t>
            </a:r>
            <a:r>
              <a:rPr lang="en-US" dirty="0">
                <a:latin typeface="Times New Roman" pitchFamily="18" charset="0"/>
                <a:sym typeface="Symbol" pitchFamily="18" charset="2"/>
              </a:rPr>
              <a:t> </a:t>
            </a:r>
            <a:r>
              <a:rPr lang="en-US" dirty="0">
                <a:sym typeface="Symbol" pitchFamily="18" charset="2"/>
              </a:rPr>
              <a:t>is actually true.</a:t>
            </a:r>
          </a:p>
          <a:p>
            <a:pPr marL="0" indent="0" algn="just">
              <a:buNone/>
              <a:defRPr/>
            </a:pPr>
            <a:endParaRPr lang="en-US" dirty="0">
              <a:sym typeface="Symbol" pitchFamily="18" charset="2"/>
            </a:endParaRPr>
          </a:p>
          <a:p>
            <a:pPr algn="just">
              <a:defRPr/>
            </a:pPr>
            <a:r>
              <a:rPr lang="en-US" dirty="0">
                <a:sym typeface="Symbol" pitchFamily="18" charset="2"/>
              </a:rPr>
              <a:t>Common</a:t>
            </a:r>
            <a:r>
              <a:rPr lang="en-US" dirty="0">
                <a:latin typeface="Times New Roman" pitchFamily="18" charset="0"/>
                <a:sym typeface="Symbol" pitchFamily="18" charset="2"/>
              </a:rPr>
              <a:t> </a:t>
            </a:r>
            <a:r>
              <a:rPr lang="en-US" dirty="0">
                <a:sym typeface="Symbol" pitchFamily="18" charset="2"/>
              </a:rPr>
              <a:t>choices for</a:t>
            </a:r>
            <a:r>
              <a:rPr lang="en-US" dirty="0">
                <a:latin typeface="Times New Roman" pitchFamily="18" charset="0"/>
                <a:sym typeface="Symbol" pitchFamily="18" charset="2"/>
              </a:rPr>
              <a:t> </a:t>
            </a:r>
            <a:r>
              <a:rPr lang="en-US" i="1" dirty="0">
                <a:latin typeface="Times New Roman" pitchFamily="18" charset="0"/>
                <a:sym typeface="Symbol" pitchFamily="18" charset="2"/>
              </a:rPr>
              <a:t></a:t>
            </a:r>
            <a:r>
              <a:rPr lang="en-US" dirty="0">
                <a:latin typeface="Times New Roman" pitchFamily="18" charset="0"/>
                <a:sym typeface="Symbol" pitchFamily="18" charset="2"/>
              </a:rPr>
              <a:t> </a:t>
            </a:r>
            <a:r>
              <a:rPr lang="en-US" dirty="0">
                <a:sym typeface="Symbol" pitchFamily="18" charset="2"/>
              </a:rPr>
              <a:t>are 0.05, 0.01, and 0.10.</a:t>
            </a:r>
            <a:endParaRPr lang="en-MY" dirty="0"/>
          </a:p>
        </p:txBody>
      </p:sp>
      <p:sp>
        <p:nvSpPr>
          <p:cNvPr id="36867"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FF978731-C370-A546-9595-854661125E6E}" type="slidenum">
              <a:rPr lang="en-US" sz="1200">
                <a:solidFill>
                  <a:srgbClr val="898989"/>
                </a:solidFill>
                <a:cs typeface="Arial" charset="0"/>
              </a:rPr>
              <a:pPr eaLnBrk="1" hangingPunct="1"/>
              <a:t>25</a:t>
            </a:fld>
            <a:endParaRPr lang="en-US" sz="1200">
              <a:solidFill>
                <a:srgbClr val="898989"/>
              </a:solidFill>
              <a:cs typeface="Arial" charset="0"/>
            </a:endParaRPr>
          </a:p>
        </p:txBody>
      </p:sp>
    </p:spTree>
    <p:extLst>
      <p:ext uri="{BB962C8B-B14F-4D97-AF65-F5344CB8AC3E}">
        <p14:creationId xmlns:p14="http://schemas.microsoft.com/office/powerpoint/2010/main" val="26999010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E87F92-C91C-A546-B9B1-9BF2E935354B}"/>
              </a:ext>
            </a:extLst>
          </p:cNvPr>
          <p:cNvSpPr>
            <a:spLocks noGrp="1"/>
          </p:cNvSpPr>
          <p:nvPr>
            <p:ph type="sldNum" sz="quarter" idx="10"/>
          </p:nvPr>
        </p:nvSpPr>
        <p:spPr/>
        <p:txBody>
          <a:bodyPr/>
          <a:lstStyle/>
          <a:p>
            <a:pPr>
              <a:defRPr/>
            </a:pPr>
            <a:fld id="{5DB23DFC-92DE-CC46-BB0A-37186FCE0B10}" type="slidenum">
              <a:rPr lang="en-US" smtClean="0"/>
              <a:pPr>
                <a:defRPr/>
              </a:pPr>
              <a:t>26</a:t>
            </a:fld>
            <a:endParaRPr lang="en-US"/>
          </a:p>
        </p:txBody>
      </p:sp>
      <p:sp>
        <p:nvSpPr>
          <p:cNvPr id="2" name="Rectangle 1">
            <a:extLst>
              <a:ext uri="{FF2B5EF4-FFF2-40B4-BE49-F238E27FC236}">
                <a16:creationId xmlns:a16="http://schemas.microsoft.com/office/drawing/2014/main" id="{1E6FE210-53CE-D348-B5B9-426D567FA942}"/>
              </a:ext>
            </a:extLst>
          </p:cNvPr>
          <p:cNvSpPr/>
          <p:nvPr/>
        </p:nvSpPr>
        <p:spPr>
          <a:xfrm>
            <a:off x="2133600" y="1447801"/>
            <a:ext cx="8153400" cy="2616101"/>
          </a:xfrm>
          <a:prstGeom prst="rect">
            <a:avLst/>
          </a:prstGeom>
        </p:spPr>
        <p:txBody>
          <a:bodyPr wrap="square">
            <a:spAutoFit/>
          </a:bodyPr>
          <a:lstStyle/>
          <a:p>
            <a:pPr lvl="1" algn="ctr"/>
            <a:r>
              <a:rPr lang="en-AU" sz="2800" strike="sngStrike" dirty="0">
                <a:solidFill>
                  <a:schemeClr val="bg1">
                    <a:lumMod val="65000"/>
                  </a:schemeClr>
                </a:solidFill>
              </a:rPr>
              <a:t>STEP 1: Hypothesis statement</a:t>
            </a:r>
          </a:p>
          <a:p>
            <a:pPr lvl="1" algn="ctr"/>
            <a:r>
              <a:rPr lang="en-AU" sz="2800" strike="sngStrike" dirty="0">
                <a:solidFill>
                  <a:schemeClr val="bg1">
                    <a:lumMod val="65000"/>
                  </a:schemeClr>
                </a:solidFill>
              </a:rPr>
              <a:t>STEP 2: Test Statistic</a:t>
            </a:r>
          </a:p>
          <a:p>
            <a:pPr lvl="1" algn="ctr"/>
            <a:r>
              <a:rPr lang="en-AU" sz="2800" strike="sngStrike" dirty="0">
                <a:solidFill>
                  <a:schemeClr val="bg1">
                    <a:lumMod val="65000"/>
                  </a:schemeClr>
                </a:solidFill>
              </a:rPr>
              <a:t>STEP 3: Significance Level @ Level of confidence</a:t>
            </a:r>
          </a:p>
          <a:p>
            <a:pPr lvl="1" algn="ctr"/>
            <a:endParaRPr lang="en-AU" sz="4000" dirty="0">
              <a:solidFill>
                <a:srgbClr val="C00000"/>
              </a:solidFill>
            </a:endParaRPr>
          </a:p>
          <a:p>
            <a:pPr lvl="1" algn="ctr"/>
            <a:r>
              <a:rPr lang="en-AU" sz="4000" dirty="0">
                <a:solidFill>
                  <a:srgbClr val="C00000"/>
                </a:solidFill>
              </a:rPr>
              <a:t>STEP 4: Conclusion/Decision rule</a:t>
            </a:r>
          </a:p>
        </p:txBody>
      </p:sp>
    </p:spTree>
    <p:extLst>
      <p:ext uri="{BB962C8B-B14F-4D97-AF65-F5344CB8AC3E}">
        <p14:creationId xmlns:p14="http://schemas.microsoft.com/office/powerpoint/2010/main" val="15852983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a:xfrm>
            <a:off x="3648076" y="274639"/>
            <a:ext cx="6562725" cy="777875"/>
          </a:xfrm>
        </p:spPr>
        <p:txBody>
          <a:bodyPr/>
          <a:lstStyle/>
          <a:p>
            <a:r>
              <a:rPr lang="en-US" sz="4400" b="1" dirty="0">
                <a:solidFill>
                  <a:srgbClr val="0000FF"/>
                </a:solidFill>
                <a:latin typeface="Calibri" charset="0"/>
              </a:rPr>
              <a:t>Decision Criterion</a:t>
            </a:r>
          </a:p>
        </p:txBody>
      </p:sp>
      <p:sp>
        <p:nvSpPr>
          <p:cNvPr id="3" name="Content Placeholder 2"/>
          <p:cNvSpPr>
            <a:spLocks noGrp="1"/>
          </p:cNvSpPr>
          <p:nvPr>
            <p:ph idx="1"/>
          </p:nvPr>
        </p:nvSpPr>
        <p:spPr>
          <a:xfrm>
            <a:off x="1919288" y="1600201"/>
            <a:ext cx="8291512" cy="1143000"/>
          </a:xfrm>
        </p:spPr>
        <p:txBody>
          <a:bodyPr/>
          <a:lstStyle/>
          <a:p>
            <a:pPr marL="0" indent="0">
              <a:buNone/>
              <a:defRPr/>
            </a:pPr>
            <a:r>
              <a:rPr lang="en-US" sz="2800" dirty="0"/>
              <a:t>There are two types of decision criteria that can be used: </a:t>
            </a:r>
          </a:p>
          <a:p>
            <a:pPr marL="0" indent="0">
              <a:buNone/>
              <a:defRPr/>
            </a:pPr>
            <a:r>
              <a:rPr lang="en-US" sz="2800" dirty="0"/>
              <a:t> </a:t>
            </a:r>
          </a:p>
        </p:txBody>
      </p:sp>
      <p:sp>
        <p:nvSpPr>
          <p:cNvPr id="54275"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CEF47CE2-72F5-864A-A46E-944DA4524845}" type="slidenum">
              <a:rPr lang="en-US" sz="1200">
                <a:solidFill>
                  <a:srgbClr val="898989"/>
                </a:solidFill>
                <a:cs typeface="Arial" charset="0"/>
              </a:rPr>
              <a:pPr eaLnBrk="1" hangingPunct="1"/>
              <a:t>27</a:t>
            </a:fld>
            <a:endParaRPr lang="en-US" sz="1200">
              <a:solidFill>
                <a:srgbClr val="898989"/>
              </a:solidFill>
              <a:cs typeface="Arial" charset="0"/>
            </a:endParaRPr>
          </a:p>
        </p:txBody>
      </p:sp>
      <p:graphicFrame>
        <p:nvGraphicFramePr>
          <p:cNvPr id="4" name="Diagram 3">
            <a:extLst>
              <a:ext uri="{FF2B5EF4-FFF2-40B4-BE49-F238E27FC236}">
                <a16:creationId xmlns:a16="http://schemas.microsoft.com/office/drawing/2014/main" id="{5CE04759-FA9B-1B40-9988-B8E5A3159D42}"/>
              </a:ext>
            </a:extLst>
          </p:cNvPr>
          <p:cNvGraphicFramePr/>
          <p:nvPr>
            <p:extLst>
              <p:ext uri="{D42A27DB-BD31-4B8C-83A1-F6EECF244321}">
                <p14:modId xmlns:p14="http://schemas.microsoft.com/office/powerpoint/2010/main" val="1247861470"/>
              </p:ext>
            </p:extLst>
          </p:nvPr>
        </p:nvGraphicFramePr>
        <p:xfrm>
          <a:off x="2438400" y="2743202"/>
          <a:ext cx="7315200" cy="2666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72572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a:xfrm>
            <a:off x="3648076" y="274639"/>
            <a:ext cx="6562725" cy="706437"/>
          </a:xfrm>
        </p:spPr>
        <p:txBody>
          <a:bodyPr/>
          <a:lstStyle/>
          <a:p>
            <a:r>
              <a:rPr lang="en-US" sz="4400" b="1" dirty="0">
                <a:solidFill>
                  <a:srgbClr val="0000FF"/>
                </a:solidFill>
                <a:latin typeface="Calibri" charset="0"/>
              </a:rPr>
              <a:t>1. P-Value</a:t>
            </a:r>
          </a:p>
        </p:txBody>
      </p:sp>
      <p:sp>
        <p:nvSpPr>
          <p:cNvPr id="38914" name="Content Placeholder 2"/>
          <p:cNvSpPr>
            <a:spLocks noGrp="1"/>
          </p:cNvSpPr>
          <p:nvPr>
            <p:ph idx="1"/>
          </p:nvPr>
        </p:nvSpPr>
        <p:spPr>
          <a:xfrm>
            <a:off x="1631950" y="1341438"/>
            <a:ext cx="8578850" cy="2879650"/>
          </a:xfrm>
        </p:spPr>
        <p:txBody>
          <a:bodyPr/>
          <a:lstStyle/>
          <a:p>
            <a:pPr algn="just"/>
            <a:r>
              <a:rPr lang="en-US" sz="2800" dirty="0">
                <a:latin typeface="Calibri" charset="0"/>
              </a:rPr>
              <a:t>The </a:t>
            </a:r>
            <a:r>
              <a:rPr lang="en-US" sz="2800" i="1" dirty="0">
                <a:solidFill>
                  <a:srgbClr val="FF0000"/>
                </a:solidFill>
                <a:latin typeface="Calibri" charset="0"/>
              </a:rPr>
              <a:t>P</a:t>
            </a:r>
            <a:r>
              <a:rPr lang="en-US" sz="2800" dirty="0">
                <a:solidFill>
                  <a:srgbClr val="FF0000"/>
                </a:solidFill>
                <a:latin typeface="Calibri" charset="0"/>
              </a:rPr>
              <a:t>-value</a:t>
            </a:r>
            <a:r>
              <a:rPr lang="en-US" sz="2800" dirty="0">
                <a:latin typeface="Calibri" charset="0"/>
                <a:sym typeface="Symbol" charset="0"/>
              </a:rPr>
              <a:t> (or </a:t>
            </a:r>
            <a:r>
              <a:rPr lang="en-US" sz="2800" i="1" dirty="0">
                <a:solidFill>
                  <a:srgbClr val="FF0000"/>
                </a:solidFill>
                <a:latin typeface="Calibri" charset="0"/>
                <a:sym typeface="Symbol" charset="0"/>
              </a:rPr>
              <a:t>p</a:t>
            </a:r>
            <a:r>
              <a:rPr lang="en-US" sz="2800" dirty="0">
                <a:solidFill>
                  <a:srgbClr val="FF0000"/>
                </a:solidFill>
                <a:latin typeface="Calibri" charset="0"/>
                <a:sym typeface="Symbol" charset="0"/>
              </a:rPr>
              <a:t>-value</a:t>
            </a:r>
            <a:r>
              <a:rPr lang="en-US" sz="2800" dirty="0">
                <a:latin typeface="Calibri" charset="0"/>
                <a:sym typeface="Symbol" charset="0"/>
              </a:rPr>
              <a:t> or </a:t>
            </a:r>
            <a:r>
              <a:rPr lang="en-US" sz="2800" dirty="0">
                <a:solidFill>
                  <a:srgbClr val="FF0000"/>
                </a:solidFill>
                <a:latin typeface="Calibri" charset="0"/>
                <a:sym typeface="Symbol" charset="0"/>
              </a:rPr>
              <a:t>probability value</a:t>
            </a:r>
            <a:r>
              <a:rPr lang="en-US" sz="2800" dirty="0">
                <a:latin typeface="Calibri" charset="0"/>
                <a:sym typeface="Symbol" charset="0"/>
              </a:rPr>
              <a:t>) is the probability of getting a value of the test statistic that is </a:t>
            </a:r>
            <a:r>
              <a:rPr lang="en-US" sz="2800" dirty="0">
                <a:solidFill>
                  <a:srgbClr val="FF0000"/>
                </a:solidFill>
                <a:latin typeface="Calibri" charset="0"/>
                <a:sym typeface="Symbol" charset="0"/>
              </a:rPr>
              <a:t>at least as extreme as</a:t>
            </a:r>
            <a:r>
              <a:rPr lang="en-US" sz="2800" dirty="0">
                <a:latin typeface="Calibri" charset="0"/>
                <a:sym typeface="Symbol" charset="0"/>
              </a:rPr>
              <a:t> the one representing the sample data, assuming that the null hypothesis is true.</a:t>
            </a:r>
          </a:p>
          <a:p>
            <a:pPr marL="0" indent="0" algn="just">
              <a:buNone/>
            </a:pPr>
            <a:endParaRPr lang="en-US" sz="2800" dirty="0">
              <a:latin typeface="Calibri" charset="0"/>
              <a:sym typeface="Symbol" charset="0"/>
            </a:endParaRPr>
          </a:p>
          <a:p>
            <a:pPr algn="just"/>
            <a:r>
              <a:rPr lang="en-US" sz="2800" dirty="0">
                <a:latin typeface="Calibri" charset="0"/>
                <a:sym typeface="Symbol" charset="0"/>
              </a:rPr>
              <a:t>A decision about whether to reject or fail to reject </a:t>
            </a:r>
            <a:r>
              <a:rPr lang="en-US" sz="2800" i="1" dirty="0">
                <a:latin typeface="Calibri" charset="0"/>
                <a:sym typeface="Symbol" charset="0"/>
              </a:rPr>
              <a:t>H</a:t>
            </a:r>
            <a:r>
              <a:rPr lang="en-US" sz="2800" baseline="-25000" dirty="0">
                <a:latin typeface="Calibri" charset="0"/>
                <a:sym typeface="Symbol" charset="0"/>
              </a:rPr>
              <a:t>0 </a:t>
            </a:r>
            <a:r>
              <a:rPr lang="en-US" sz="2800" dirty="0">
                <a:latin typeface="Calibri" charset="0"/>
                <a:sym typeface="Symbol" charset="0"/>
              </a:rPr>
              <a:t>results from comparing the </a:t>
            </a:r>
            <a:r>
              <a:rPr lang="en-US" sz="2800" i="1" dirty="0">
                <a:latin typeface="Calibri" charset="0"/>
                <a:sym typeface="Symbol" charset="0"/>
              </a:rPr>
              <a:t>P</a:t>
            </a:r>
            <a:r>
              <a:rPr lang="en-US" sz="2800" dirty="0">
                <a:latin typeface="Calibri" charset="0"/>
                <a:sym typeface="Symbol" charset="0"/>
              </a:rPr>
              <a:t>-value to the chosen </a:t>
            </a:r>
            <a:r>
              <a:rPr lang="en-US" sz="2800" i="1" dirty="0">
                <a:latin typeface="Times New Roman" charset="0"/>
                <a:sym typeface="Symbol" charset="0"/>
              </a:rPr>
              <a:t>:</a:t>
            </a:r>
            <a:endParaRPr lang="en-US" sz="2800" dirty="0">
              <a:latin typeface="Calibri" charset="0"/>
              <a:sym typeface="Symbol" charset="0"/>
            </a:endParaRPr>
          </a:p>
          <a:p>
            <a:pPr algn="just"/>
            <a:endParaRPr lang="en-US" sz="2800" dirty="0">
              <a:latin typeface="Calibri" charset="0"/>
              <a:sym typeface="Symbol" charset="0"/>
            </a:endParaRPr>
          </a:p>
        </p:txBody>
      </p:sp>
      <p:sp>
        <p:nvSpPr>
          <p:cNvPr id="38916"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6388B392-F277-7D49-8302-F7973B83794E}" type="slidenum">
              <a:rPr lang="en-US" sz="1200">
                <a:solidFill>
                  <a:srgbClr val="898989"/>
                </a:solidFill>
                <a:cs typeface="Arial" charset="0"/>
              </a:rPr>
              <a:pPr eaLnBrk="1" hangingPunct="1"/>
              <a:t>28</a:t>
            </a:fld>
            <a:endParaRPr lang="en-US" sz="1200">
              <a:solidFill>
                <a:srgbClr val="898989"/>
              </a:solidFill>
              <a:cs typeface="Arial" charset="0"/>
            </a:endParaRPr>
          </a:p>
        </p:txBody>
      </p:sp>
      <p:sp>
        <p:nvSpPr>
          <p:cNvPr id="2" name="Rectangle 1"/>
          <p:cNvSpPr/>
          <p:nvPr/>
        </p:nvSpPr>
        <p:spPr>
          <a:xfrm>
            <a:off x="2351584" y="5067182"/>
            <a:ext cx="6696744" cy="954107"/>
          </a:xfrm>
          <a:prstGeom prst="rect">
            <a:avLst/>
          </a:prstGeom>
        </p:spPr>
        <p:txBody>
          <a:bodyPr wrap="square">
            <a:spAutoFit/>
          </a:bodyPr>
          <a:lstStyle/>
          <a:p>
            <a:r>
              <a:rPr lang="en-US" sz="2800" i="1" dirty="0">
                <a:sym typeface="Symbol" charset="0"/>
              </a:rPr>
              <a:t>H</a:t>
            </a:r>
            <a:r>
              <a:rPr lang="en-US" sz="2800" baseline="-25000" dirty="0">
                <a:sym typeface="Symbol" charset="0"/>
              </a:rPr>
              <a:t>0  </a:t>
            </a:r>
            <a:r>
              <a:rPr lang="en-US" sz="2800" dirty="0">
                <a:sym typeface="Symbol" charset="0"/>
              </a:rPr>
              <a:t>should be rejected if </a:t>
            </a:r>
            <a:r>
              <a:rPr lang="en-US" sz="2800" i="1" dirty="0">
                <a:sym typeface="Symbol" charset="0"/>
              </a:rPr>
              <a:t>P</a:t>
            </a:r>
            <a:r>
              <a:rPr lang="en-US" sz="2800" dirty="0">
                <a:sym typeface="Symbol" charset="0"/>
              </a:rPr>
              <a:t>-value  </a:t>
            </a:r>
            <a:r>
              <a:rPr lang="en-US" sz="2800" dirty="0">
                <a:solidFill>
                  <a:srgbClr val="0000FF"/>
                </a:solidFill>
                <a:sym typeface="Symbol" charset="0"/>
              </a:rPr>
              <a:t>≤</a:t>
            </a:r>
            <a:r>
              <a:rPr lang="en-US" sz="2800" dirty="0">
                <a:sym typeface="Symbol" charset="0"/>
              </a:rPr>
              <a:t> </a:t>
            </a:r>
            <a:r>
              <a:rPr lang="en-US" sz="2800" i="1" dirty="0">
                <a:latin typeface="Times New Roman" charset="0"/>
                <a:sym typeface="Symbol" charset="0"/>
              </a:rPr>
              <a:t> ,</a:t>
            </a:r>
          </a:p>
          <a:p>
            <a:r>
              <a:rPr lang="en-US" sz="2800" i="1" dirty="0">
                <a:sym typeface="Symbol" charset="0"/>
              </a:rPr>
              <a:t>H</a:t>
            </a:r>
            <a:r>
              <a:rPr lang="en-US" sz="2800" baseline="-25000" dirty="0">
                <a:sym typeface="Symbol" charset="0"/>
              </a:rPr>
              <a:t>0  </a:t>
            </a:r>
            <a:r>
              <a:rPr lang="en-US" sz="2800" dirty="0">
                <a:sym typeface="Symbol" charset="0"/>
              </a:rPr>
              <a:t>should not be rejected if </a:t>
            </a:r>
            <a:r>
              <a:rPr lang="en-US" sz="2800" i="1" dirty="0">
                <a:sym typeface="Symbol" charset="0"/>
              </a:rPr>
              <a:t>P</a:t>
            </a:r>
            <a:r>
              <a:rPr lang="en-US" sz="2800" dirty="0">
                <a:sym typeface="Symbol" charset="0"/>
              </a:rPr>
              <a:t>-value </a:t>
            </a:r>
            <a:r>
              <a:rPr lang="en-US" sz="2800" dirty="0">
                <a:solidFill>
                  <a:srgbClr val="0000FF"/>
                </a:solidFill>
                <a:sym typeface="Symbol" charset="0"/>
              </a:rPr>
              <a:t>&gt;</a:t>
            </a:r>
            <a:r>
              <a:rPr lang="en-US" sz="2800" dirty="0">
                <a:sym typeface="Symbol" charset="0"/>
              </a:rPr>
              <a:t> </a:t>
            </a:r>
            <a:r>
              <a:rPr lang="en-US" sz="2800" i="1" dirty="0">
                <a:latin typeface="Times New Roman" charset="0"/>
                <a:sym typeface="Symbol" charset="0"/>
              </a:rPr>
              <a:t> .</a:t>
            </a:r>
          </a:p>
        </p:txBody>
      </p:sp>
    </p:spTree>
    <p:extLst>
      <p:ext uri="{BB962C8B-B14F-4D97-AF65-F5344CB8AC3E}">
        <p14:creationId xmlns:p14="http://schemas.microsoft.com/office/powerpoint/2010/main" val="34475347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a:xfrm>
            <a:off x="3648076" y="274639"/>
            <a:ext cx="6562725" cy="777875"/>
          </a:xfrm>
        </p:spPr>
        <p:txBody>
          <a:bodyPr/>
          <a:lstStyle/>
          <a:p>
            <a:r>
              <a:rPr lang="en-US" sz="4000" b="1" dirty="0">
                <a:latin typeface="Calibri" charset="0"/>
              </a:rPr>
              <a:t>Procedure for Finding </a:t>
            </a:r>
            <a:r>
              <a:rPr lang="en-US" sz="4000" b="1" i="1" dirty="0">
                <a:latin typeface="Calibri" charset="0"/>
              </a:rPr>
              <a:t>P-</a:t>
            </a:r>
            <a:r>
              <a:rPr lang="en-US" sz="4000" b="1" dirty="0">
                <a:latin typeface="Calibri" charset="0"/>
              </a:rPr>
              <a:t>Value</a:t>
            </a:r>
          </a:p>
        </p:txBody>
      </p:sp>
      <p:pic>
        <p:nvPicPr>
          <p:cNvPr id="41986" name="Picture 14" descr="08_0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828800" y="1190626"/>
            <a:ext cx="8534400" cy="5191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1987"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A5ADC494-C4A1-C542-9D69-CA6AD4226E95}" type="slidenum">
              <a:rPr lang="en-US" sz="1200">
                <a:solidFill>
                  <a:srgbClr val="898989"/>
                </a:solidFill>
                <a:cs typeface="Arial" charset="0"/>
              </a:rPr>
              <a:pPr eaLnBrk="1" hangingPunct="1"/>
              <a:t>29</a:t>
            </a:fld>
            <a:endParaRPr lang="en-US" sz="1200">
              <a:solidFill>
                <a:srgbClr val="898989"/>
              </a:solidFill>
              <a:cs typeface="Arial" charset="0"/>
            </a:endParaRPr>
          </a:p>
        </p:txBody>
      </p:sp>
    </p:spTree>
    <p:extLst>
      <p:ext uri="{BB962C8B-B14F-4D97-AF65-F5344CB8AC3E}">
        <p14:creationId xmlns:p14="http://schemas.microsoft.com/office/powerpoint/2010/main" val="2786316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a:xfrm>
            <a:off x="3648076" y="274638"/>
            <a:ext cx="6562725" cy="850900"/>
          </a:xfrm>
        </p:spPr>
        <p:txBody>
          <a:bodyPr/>
          <a:lstStyle/>
          <a:p>
            <a:r>
              <a:rPr lang="en-US" sz="4400" b="1" dirty="0">
                <a:solidFill>
                  <a:srgbClr val="0000FF"/>
                </a:solidFill>
                <a:latin typeface="Calibri" charset="0"/>
              </a:rPr>
              <a:t>2. Critical Region</a:t>
            </a:r>
          </a:p>
        </p:txBody>
      </p:sp>
      <p:sp>
        <p:nvSpPr>
          <p:cNvPr id="35843"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D30C3D2-EF98-B843-8A23-46B7810754BD}" type="slidenum">
              <a:rPr lang="en-US" sz="1200">
                <a:solidFill>
                  <a:srgbClr val="898989"/>
                </a:solidFill>
                <a:cs typeface="Arial" charset="0"/>
              </a:rPr>
              <a:pPr eaLnBrk="1" hangingPunct="1"/>
              <a:t>30</a:t>
            </a:fld>
            <a:endParaRPr lang="en-US" sz="1200">
              <a:solidFill>
                <a:srgbClr val="898989"/>
              </a:solidFill>
              <a:cs typeface="Arial" charset="0"/>
            </a:endParaRPr>
          </a:p>
        </p:txBody>
      </p:sp>
      <p:sp>
        <p:nvSpPr>
          <p:cNvPr id="5" name="Content Placeholder 2"/>
          <p:cNvSpPr txBox="1">
            <a:spLocks/>
          </p:cNvSpPr>
          <p:nvPr/>
        </p:nvSpPr>
        <p:spPr bwMode="auto">
          <a:xfrm>
            <a:off x="1703512" y="1484784"/>
            <a:ext cx="8640960" cy="48245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800" dirty="0">
                <a:latin typeface="Calibri" charset="0"/>
              </a:rPr>
              <a:t>The </a:t>
            </a:r>
            <a:r>
              <a:rPr lang="en-US" sz="2800" dirty="0">
                <a:solidFill>
                  <a:srgbClr val="FF0000"/>
                </a:solidFill>
                <a:latin typeface="Calibri" charset="0"/>
              </a:rPr>
              <a:t>critical region </a:t>
            </a:r>
            <a:r>
              <a:rPr lang="en-US" sz="2800" dirty="0">
                <a:latin typeface="Calibri" charset="0"/>
              </a:rPr>
              <a:t>(or </a:t>
            </a:r>
            <a:r>
              <a:rPr lang="en-US" sz="2800" dirty="0">
                <a:solidFill>
                  <a:srgbClr val="FF0000"/>
                </a:solidFill>
                <a:latin typeface="Calibri" charset="0"/>
              </a:rPr>
              <a:t>rejection region</a:t>
            </a:r>
            <a:r>
              <a:rPr lang="en-US" sz="2800" dirty="0">
                <a:latin typeface="Calibri" charset="0"/>
              </a:rPr>
              <a:t>) is the set of all values of the test statistic that cause us to reject the null hypothesis</a:t>
            </a:r>
          </a:p>
          <a:p>
            <a:pPr marL="0" indent="0" algn="just">
              <a:buNone/>
            </a:pPr>
            <a:endParaRPr lang="en-US" sz="2800" dirty="0">
              <a:latin typeface="Calibri" charset="0"/>
            </a:endParaRPr>
          </a:p>
          <a:p>
            <a:pPr algn="just"/>
            <a:r>
              <a:rPr lang="en-US" sz="2800" dirty="0">
                <a:latin typeface="Calibri" charset="0"/>
              </a:rPr>
              <a:t>A </a:t>
            </a:r>
            <a:r>
              <a:rPr lang="en-US" sz="2800" dirty="0">
                <a:solidFill>
                  <a:srgbClr val="FF0000"/>
                </a:solidFill>
                <a:latin typeface="Calibri" charset="0"/>
              </a:rPr>
              <a:t>critical value </a:t>
            </a:r>
            <a:r>
              <a:rPr lang="en-US" sz="2800" dirty="0">
                <a:latin typeface="Calibri" charset="0"/>
              </a:rPr>
              <a:t>is any value that separates the critical region (where we reject the null hypothesis) from the values of the test statistic that do not lead to rejection of the null hypothesis.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p:cNvSpPr>
            <a:spLocks noGrp="1"/>
          </p:cNvSpPr>
          <p:nvPr>
            <p:ph idx="1"/>
          </p:nvPr>
        </p:nvSpPr>
        <p:spPr>
          <a:xfrm>
            <a:off x="2639616" y="2676054"/>
            <a:ext cx="7560840" cy="3345235"/>
          </a:xfrm>
        </p:spPr>
        <p:txBody>
          <a:bodyPr/>
          <a:lstStyle/>
          <a:p>
            <a:pPr marL="0" indent="0">
              <a:buNone/>
            </a:pPr>
            <a:endParaRPr lang="en-US" dirty="0">
              <a:solidFill>
                <a:srgbClr val="0000FF"/>
              </a:solidFill>
              <a:latin typeface="Calibri" charset="0"/>
            </a:endParaRPr>
          </a:p>
          <a:p>
            <a:pPr lvl="1">
              <a:buFont typeface="Wingdings" charset="0"/>
              <a:buChar char="§"/>
            </a:pPr>
            <a:r>
              <a:rPr lang="en-US" dirty="0">
                <a:latin typeface="Calibri" charset="0"/>
              </a:rPr>
              <a:t>If the test statistic falls within the critical region,</a:t>
            </a:r>
            <a:r>
              <a:rPr lang="en-US" dirty="0">
                <a:solidFill>
                  <a:srgbClr val="FF0000"/>
                </a:solidFill>
                <a:latin typeface="Calibri" charset="0"/>
              </a:rPr>
              <a:t> reject</a:t>
            </a:r>
            <a:r>
              <a:rPr lang="en-US" i="1" dirty="0">
                <a:solidFill>
                  <a:srgbClr val="FF0000"/>
                </a:solidFill>
                <a:latin typeface="Calibri" charset="0"/>
              </a:rPr>
              <a:t> H</a:t>
            </a:r>
            <a:r>
              <a:rPr lang="en-US" baseline="-25000" dirty="0">
                <a:solidFill>
                  <a:srgbClr val="FF0000"/>
                </a:solidFill>
                <a:latin typeface="Calibri" charset="0"/>
              </a:rPr>
              <a:t>0</a:t>
            </a:r>
            <a:r>
              <a:rPr lang="en-US" dirty="0">
                <a:solidFill>
                  <a:srgbClr val="FF0000"/>
                </a:solidFill>
                <a:latin typeface="Calibri" charset="0"/>
              </a:rPr>
              <a:t>.</a:t>
            </a:r>
          </a:p>
          <a:p>
            <a:pPr>
              <a:buFont typeface="Wingdings" charset="0"/>
              <a:buChar char="§"/>
            </a:pPr>
            <a:endParaRPr lang="en-US" dirty="0">
              <a:latin typeface="Calibri" charset="0"/>
            </a:endParaRPr>
          </a:p>
          <a:p>
            <a:pPr lvl="1">
              <a:buFont typeface="Wingdings" charset="0"/>
              <a:buChar char="§"/>
            </a:pPr>
            <a:r>
              <a:rPr lang="en-US" dirty="0">
                <a:latin typeface="Calibri" charset="0"/>
              </a:rPr>
              <a:t>If the test statistic does not fall within the critical region, </a:t>
            </a:r>
            <a:r>
              <a:rPr lang="en-US" dirty="0">
                <a:solidFill>
                  <a:srgbClr val="FF0000"/>
                </a:solidFill>
                <a:latin typeface="Calibri" charset="0"/>
              </a:rPr>
              <a:t>fail to reject </a:t>
            </a:r>
            <a:r>
              <a:rPr lang="en-US" i="1" dirty="0">
                <a:solidFill>
                  <a:srgbClr val="FF0000"/>
                </a:solidFill>
                <a:latin typeface="Calibri" charset="0"/>
              </a:rPr>
              <a:t>H</a:t>
            </a:r>
            <a:r>
              <a:rPr lang="en-US" baseline="-25000" dirty="0">
                <a:solidFill>
                  <a:srgbClr val="FF0000"/>
                </a:solidFill>
                <a:latin typeface="Calibri" charset="0"/>
              </a:rPr>
              <a:t>0</a:t>
            </a:r>
            <a:r>
              <a:rPr lang="en-US" dirty="0">
                <a:solidFill>
                  <a:srgbClr val="FF0000"/>
                </a:solidFill>
                <a:latin typeface="Calibri" charset="0"/>
              </a:rPr>
              <a:t>.</a:t>
            </a:r>
          </a:p>
        </p:txBody>
      </p:sp>
      <p:sp>
        <p:nvSpPr>
          <p:cNvPr id="55299"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AD7AAFA1-A193-A44A-A221-D353694D7E92}" type="slidenum">
              <a:rPr lang="en-US" sz="1200">
                <a:solidFill>
                  <a:srgbClr val="898989"/>
                </a:solidFill>
                <a:cs typeface="Arial" charset="0"/>
              </a:rPr>
              <a:pPr eaLnBrk="1" hangingPunct="1"/>
              <a:t>31</a:t>
            </a:fld>
            <a:endParaRPr lang="en-US" sz="1200">
              <a:solidFill>
                <a:srgbClr val="898989"/>
              </a:solidFill>
              <a:cs typeface="Arial" charset="0"/>
            </a:endParaRPr>
          </a:p>
        </p:txBody>
      </p:sp>
      <p:sp>
        <p:nvSpPr>
          <p:cNvPr id="3" name="Rectangle 2"/>
          <p:cNvSpPr/>
          <p:nvPr/>
        </p:nvSpPr>
        <p:spPr>
          <a:xfrm>
            <a:off x="1991544" y="1268761"/>
            <a:ext cx="8064896" cy="1384995"/>
          </a:xfrm>
          <a:prstGeom prst="rect">
            <a:avLst/>
          </a:prstGeom>
        </p:spPr>
        <p:txBody>
          <a:bodyPr wrap="square">
            <a:spAutoFit/>
          </a:bodyPr>
          <a:lstStyle/>
          <a:p>
            <a:pPr marL="457200" indent="-457200" algn="just">
              <a:buFont typeface="Arial"/>
              <a:buChar char="•"/>
            </a:pPr>
            <a:r>
              <a:rPr lang="en-US" sz="2800" dirty="0"/>
              <a:t>The critical values depend on the nature of the null hypothesis, the sampling distribution</a:t>
            </a:r>
            <a:r>
              <a:rPr lang="en-US" sz="2800" dirty="0">
                <a:latin typeface="Times New Roman" charset="0"/>
              </a:rPr>
              <a:t> </a:t>
            </a:r>
            <a:r>
              <a:rPr lang="en-US" sz="2800" dirty="0"/>
              <a:t>that applies, and</a:t>
            </a:r>
            <a:r>
              <a:rPr lang="en-US" sz="2800" dirty="0">
                <a:latin typeface="Times New Roman" charset="0"/>
              </a:rPr>
              <a:t> </a:t>
            </a:r>
            <a:r>
              <a:rPr lang="en-US" sz="2800" dirty="0"/>
              <a:t>the significance level</a:t>
            </a:r>
            <a:r>
              <a:rPr lang="en-US" sz="2800" dirty="0">
                <a:latin typeface="Times New Roman" charset="0"/>
              </a:rPr>
              <a:t> </a:t>
            </a:r>
            <a:r>
              <a:rPr lang="en-US" sz="2800" i="1" dirty="0">
                <a:latin typeface="Times New Roman" charset="0"/>
                <a:sym typeface="Symbol" charset="0"/>
              </a:rPr>
              <a:t></a:t>
            </a:r>
            <a:r>
              <a:rPr lang="en-US" sz="2800" dirty="0">
                <a:latin typeface="Times New Roman" charset="0"/>
                <a:sym typeface="Symbol" charset="0"/>
              </a:rPr>
              <a:t>.</a:t>
            </a:r>
            <a:endParaRPr lang="en-US" sz="2800" dirty="0"/>
          </a:p>
        </p:txBody>
      </p:sp>
    </p:spTree>
    <p:extLst>
      <p:ext uri="{BB962C8B-B14F-4D97-AF65-F5344CB8AC3E}">
        <p14:creationId xmlns:p14="http://schemas.microsoft.com/office/powerpoint/2010/main" val="26800821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a:xfrm>
            <a:off x="3648076" y="274639"/>
            <a:ext cx="6562725" cy="777875"/>
          </a:xfrm>
        </p:spPr>
        <p:txBody>
          <a:bodyPr/>
          <a:lstStyle/>
          <a:p>
            <a:r>
              <a:rPr lang="en-US" sz="4400" b="1" dirty="0">
                <a:latin typeface="Calibri" charset="0"/>
              </a:rPr>
              <a:t>Example: Find </a:t>
            </a:r>
            <a:r>
              <a:rPr lang="en-US" sz="4400" b="1" i="1" dirty="0">
                <a:latin typeface="Calibri" charset="0"/>
              </a:rPr>
              <a:t>P</a:t>
            </a:r>
            <a:r>
              <a:rPr lang="en-US" sz="4400" b="1" dirty="0">
                <a:latin typeface="Calibri" charset="0"/>
              </a:rPr>
              <a:t>-value</a:t>
            </a:r>
          </a:p>
        </p:txBody>
      </p:sp>
      <p:sp>
        <p:nvSpPr>
          <p:cNvPr id="44034" name="Content Placeholder 2"/>
          <p:cNvSpPr>
            <a:spLocks noGrp="1"/>
          </p:cNvSpPr>
          <p:nvPr>
            <p:ph idx="1"/>
          </p:nvPr>
        </p:nvSpPr>
        <p:spPr>
          <a:xfrm>
            <a:off x="1703388" y="1600201"/>
            <a:ext cx="8507412" cy="4525963"/>
          </a:xfrm>
        </p:spPr>
        <p:txBody>
          <a:bodyPr/>
          <a:lstStyle/>
          <a:p>
            <a:pPr algn="just"/>
            <a:r>
              <a:rPr lang="en-US" dirty="0">
                <a:latin typeface="Calibri" charset="0"/>
              </a:rPr>
              <a:t>Finding </a:t>
            </a:r>
            <a:r>
              <a:rPr lang="en-US" i="1" dirty="0">
                <a:latin typeface="Calibri" charset="0"/>
              </a:rPr>
              <a:t>P</a:t>
            </a:r>
            <a:r>
              <a:rPr lang="en-US" dirty="0">
                <a:latin typeface="Calibri" charset="0"/>
              </a:rPr>
              <a:t>-value. Use a 0.05 significance level and state the conclusion about the null hypothesis (reject the null hypothesis or fail to reject the null hypothesis). </a:t>
            </a:r>
          </a:p>
          <a:p>
            <a:pPr lvl="1" algn="just">
              <a:buFont typeface="Wingdings" charset="0"/>
              <a:buChar char="§"/>
            </a:pPr>
            <a:r>
              <a:rPr lang="en-US" dirty="0">
                <a:latin typeface="Calibri" charset="0"/>
              </a:rPr>
              <a:t>The test statistic in a left-tailed test is </a:t>
            </a:r>
            <a:r>
              <a:rPr lang="en-US" i="1" dirty="0">
                <a:latin typeface="Calibri" charset="0"/>
              </a:rPr>
              <a:t>z</a:t>
            </a:r>
            <a:r>
              <a:rPr lang="en-US" dirty="0">
                <a:latin typeface="Calibri" charset="0"/>
              </a:rPr>
              <a:t> = - 1.25.</a:t>
            </a:r>
          </a:p>
          <a:p>
            <a:pPr lvl="1" algn="just">
              <a:buFont typeface="Wingdings" charset="0"/>
              <a:buChar char="§"/>
            </a:pPr>
            <a:r>
              <a:rPr lang="en-US" dirty="0">
                <a:latin typeface="Calibri" charset="0"/>
              </a:rPr>
              <a:t>The test statistic in a right-tailed test is </a:t>
            </a:r>
            <a:r>
              <a:rPr lang="en-US" i="1" dirty="0">
                <a:latin typeface="Calibri" charset="0"/>
              </a:rPr>
              <a:t>z</a:t>
            </a:r>
            <a:r>
              <a:rPr lang="en-US" dirty="0">
                <a:latin typeface="Calibri" charset="0"/>
              </a:rPr>
              <a:t> = 2.50.</a:t>
            </a:r>
          </a:p>
          <a:p>
            <a:pPr lvl="1" algn="just">
              <a:buFont typeface="Wingdings" charset="0"/>
              <a:buChar char="§"/>
            </a:pPr>
            <a:r>
              <a:rPr lang="en-US" dirty="0">
                <a:latin typeface="Calibri" charset="0"/>
              </a:rPr>
              <a:t>The test statistic in a two-tailed test is </a:t>
            </a:r>
            <a:r>
              <a:rPr lang="en-US" i="1" dirty="0">
                <a:latin typeface="Calibri" charset="0"/>
              </a:rPr>
              <a:t>z</a:t>
            </a:r>
            <a:r>
              <a:rPr lang="en-US" dirty="0">
                <a:latin typeface="Calibri" charset="0"/>
              </a:rPr>
              <a:t> = 1.75</a:t>
            </a:r>
            <a:endParaRPr lang="en-US" sz="1600" dirty="0">
              <a:latin typeface="Calibri" charset="0"/>
            </a:endParaRPr>
          </a:p>
          <a:p>
            <a:pPr lvl="1" algn="just"/>
            <a:endParaRPr lang="en-US" dirty="0">
              <a:latin typeface="Calibri" charset="0"/>
            </a:endParaRPr>
          </a:p>
          <a:p>
            <a:pPr lvl="1" algn="just"/>
            <a:endParaRPr lang="en-US" dirty="0">
              <a:latin typeface="Calibri" charset="0"/>
            </a:endParaRPr>
          </a:p>
        </p:txBody>
      </p:sp>
      <p:sp>
        <p:nvSpPr>
          <p:cNvPr id="44035"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614FE93A-FB75-D041-B4C1-BFE424CEB876}" type="slidenum">
              <a:rPr lang="en-US" sz="1200">
                <a:solidFill>
                  <a:srgbClr val="898989"/>
                </a:solidFill>
                <a:cs typeface="Arial" charset="0"/>
              </a:rPr>
              <a:pPr eaLnBrk="1" hangingPunct="1"/>
              <a:t>32</a:t>
            </a:fld>
            <a:endParaRPr lang="en-US" sz="1200">
              <a:solidFill>
                <a:srgbClr val="898989"/>
              </a:solidFill>
              <a:cs typeface="Arial"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p:nvPr>
        </p:nvSpPr>
        <p:spPr>
          <a:xfrm>
            <a:off x="3648076" y="274638"/>
            <a:ext cx="6562725" cy="633412"/>
          </a:xfrm>
        </p:spPr>
        <p:txBody>
          <a:bodyPr/>
          <a:lstStyle/>
          <a:p>
            <a:r>
              <a:rPr lang="en-US" sz="4400" b="1" dirty="0">
                <a:latin typeface="Calibri" charset="0"/>
              </a:rPr>
              <a:t>Example: Solution</a:t>
            </a:r>
          </a:p>
        </p:txBody>
      </p:sp>
      <p:sp>
        <p:nvSpPr>
          <p:cNvPr id="45058" name="Content Placeholder 2"/>
          <p:cNvSpPr>
            <a:spLocks noGrp="1"/>
          </p:cNvSpPr>
          <p:nvPr>
            <p:ph idx="1"/>
          </p:nvPr>
        </p:nvSpPr>
        <p:spPr>
          <a:xfrm>
            <a:off x="1847851" y="1268413"/>
            <a:ext cx="8569325" cy="4267200"/>
          </a:xfrm>
        </p:spPr>
        <p:txBody>
          <a:bodyPr/>
          <a:lstStyle/>
          <a:p>
            <a:r>
              <a:rPr lang="en-US" dirty="0">
                <a:latin typeface="Calibri" charset="0"/>
              </a:rPr>
              <a:t>The test statistic in a </a:t>
            </a:r>
            <a:r>
              <a:rPr lang="en-US" dirty="0">
                <a:solidFill>
                  <a:srgbClr val="0000FF"/>
                </a:solidFill>
                <a:latin typeface="Calibri" charset="0"/>
              </a:rPr>
              <a:t>left-tailed </a:t>
            </a:r>
            <a:r>
              <a:rPr lang="en-US" dirty="0">
                <a:latin typeface="Calibri" charset="0"/>
              </a:rPr>
              <a:t>test is </a:t>
            </a:r>
            <a:r>
              <a:rPr lang="en-US" i="1" dirty="0">
                <a:latin typeface="Calibri" charset="0"/>
              </a:rPr>
              <a:t>z</a:t>
            </a:r>
            <a:r>
              <a:rPr lang="en-US" dirty="0">
                <a:latin typeface="Calibri" charset="0"/>
              </a:rPr>
              <a:t> = - 1.25.</a:t>
            </a:r>
          </a:p>
          <a:p>
            <a:pPr>
              <a:buFont typeface="Arial" charset="0"/>
              <a:buNone/>
            </a:pPr>
            <a:r>
              <a:rPr lang="en-US" dirty="0">
                <a:latin typeface="Calibri" charset="0"/>
              </a:rPr>
              <a:t>	</a:t>
            </a:r>
            <a:r>
              <a:rPr lang="en-US" b="1" dirty="0">
                <a:latin typeface="Calibri" charset="0"/>
              </a:rPr>
              <a:t>Answer:</a:t>
            </a:r>
          </a:p>
          <a:p>
            <a:pPr>
              <a:buFont typeface="Arial" charset="0"/>
              <a:buNone/>
            </a:pPr>
            <a:endParaRPr lang="en-US" dirty="0">
              <a:latin typeface="Calibri" charset="0"/>
            </a:endParaRPr>
          </a:p>
          <a:p>
            <a:endParaRPr lang="en-US" dirty="0">
              <a:latin typeface="Calibri" charset="0"/>
            </a:endParaRPr>
          </a:p>
          <a:p>
            <a:endParaRPr lang="en-US" dirty="0">
              <a:latin typeface="Calibri" charset="0"/>
            </a:endParaRPr>
          </a:p>
        </p:txBody>
      </p:sp>
      <p:pic>
        <p:nvPicPr>
          <p:cNvPr id="4505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0064" y="2579712"/>
            <a:ext cx="7772400" cy="3657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5061"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014D3A72-4216-4645-849C-5A6FE5803354}" type="slidenum">
              <a:rPr lang="en-US" sz="1200">
                <a:solidFill>
                  <a:srgbClr val="898989"/>
                </a:solidFill>
                <a:cs typeface="Arial" charset="0"/>
              </a:rPr>
              <a:pPr eaLnBrk="1" hangingPunct="1"/>
              <a:t>33</a:t>
            </a:fld>
            <a:endParaRPr lang="en-US" sz="1200">
              <a:solidFill>
                <a:srgbClr val="898989"/>
              </a:solidFill>
              <a:cs typeface="Arial"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90743532"/>
              </p:ext>
            </p:extLst>
          </p:nvPr>
        </p:nvGraphicFramePr>
        <p:xfrm>
          <a:off x="2135560" y="2636912"/>
          <a:ext cx="4722440" cy="1872208"/>
        </p:xfrm>
        <a:graphic>
          <a:graphicData uri="http://schemas.openxmlformats.org/presentationml/2006/ole">
            <mc:AlternateContent xmlns:mc="http://schemas.openxmlformats.org/markup-compatibility/2006">
              <mc:Choice xmlns:v="urn:schemas-microsoft-com:vml" Requires="v">
                <p:oleObj name="Equation" r:id="rId3" imgW="3007800" imgH="849960" progId="Equation.3">
                  <p:embed/>
                </p:oleObj>
              </mc:Choice>
              <mc:Fallback>
                <p:oleObj name="Equation" r:id="rId3" imgW="3007800" imgH="849960" progId="Equation.3">
                  <p:embed/>
                  <p:pic>
                    <p:nvPicPr>
                      <p:cNvPr id="0" name="Picture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560" y="2636912"/>
                        <a:ext cx="4722440" cy="1872208"/>
                      </a:xfrm>
                      <a:prstGeom prst="rect">
                        <a:avLst/>
                      </a:prstGeom>
                      <a:solidFill>
                        <a:srgbClr val="FFFFFF"/>
                      </a:solidFill>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p:cNvSpPr>
            <a:spLocks noGrp="1"/>
          </p:cNvSpPr>
          <p:nvPr>
            <p:ph idx="1"/>
          </p:nvPr>
        </p:nvSpPr>
        <p:spPr>
          <a:xfrm>
            <a:off x="1919288" y="1341438"/>
            <a:ext cx="8229600" cy="4267200"/>
          </a:xfrm>
        </p:spPr>
        <p:txBody>
          <a:bodyPr/>
          <a:lstStyle/>
          <a:p>
            <a:pPr marL="342900" lvl="1" indent="-342900">
              <a:buBlip>
                <a:blip r:embed="rId2"/>
              </a:buBlip>
            </a:pPr>
            <a:r>
              <a:rPr lang="en-US" dirty="0">
                <a:latin typeface="Calibri" charset="0"/>
              </a:rPr>
              <a:t>The test statistic in a </a:t>
            </a:r>
            <a:r>
              <a:rPr lang="en-US" dirty="0">
                <a:solidFill>
                  <a:srgbClr val="0000FF"/>
                </a:solidFill>
                <a:latin typeface="Calibri" charset="0"/>
              </a:rPr>
              <a:t>right-tailed </a:t>
            </a:r>
            <a:r>
              <a:rPr lang="en-US" dirty="0">
                <a:latin typeface="Calibri" charset="0"/>
              </a:rPr>
              <a:t>test is </a:t>
            </a:r>
            <a:r>
              <a:rPr lang="en-US" i="1" dirty="0">
                <a:latin typeface="Calibri" charset="0"/>
              </a:rPr>
              <a:t>z</a:t>
            </a:r>
            <a:r>
              <a:rPr lang="en-US" dirty="0">
                <a:latin typeface="Calibri" charset="0"/>
              </a:rPr>
              <a:t> = 2.50.</a:t>
            </a:r>
          </a:p>
          <a:p>
            <a:pPr>
              <a:buFont typeface="Arial" charset="0"/>
              <a:buNone/>
            </a:pPr>
            <a:r>
              <a:rPr lang="en-US" sz="2800" dirty="0">
                <a:latin typeface="Calibri" charset="0"/>
              </a:rPr>
              <a:t>	</a:t>
            </a:r>
            <a:r>
              <a:rPr lang="en-US" sz="2800" b="1" dirty="0">
                <a:latin typeface="Calibri" charset="0"/>
              </a:rPr>
              <a:t>Answer:</a:t>
            </a:r>
          </a:p>
          <a:p>
            <a:pPr>
              <a:buFont typeface="Arial" charset="0"/>
              <a:buNone/>
            </a:pPr>
            <a:endParaRPr lang="en-US" sz="2800" dirty="0">
              <a:latin typeface="Calibri" charset="0"/>
            </a:endParaRPr>
          </a:p>
          <a:p>
            <a:endParaRPr lang="en-US" sz="2800" dirty="0">
              <a:latin typeface="Calibri" charset="0"/>
            </a:endParaRPr>
          </a:p>
          <a:p>
            <a:endParaRPr lang="en-US" sz="2800" dirty="0">
              <a:latin typeface="Calibri" charset="0"/>
            </a:endParaRPr>
          </a:p>
        </p:txBody>
      </p:sp>
      <p:pic>
        <p:nvPicPr>
          <p:cNvPr id="4608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767014"/>
            <a:ext cx="7467600" cy="32527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6084"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AF384FFF-C027-2E4F-B258-51670790AAFD}" type="slidenum">
              <a:rPr lang="en-US" sz="1200">
                <a:solidFill>
                  <a:srgbClr val="898989"/>
                </a:solidFill>
                <a:cs typeface="Arial" charset="0"/>
              </a:rPr>
              <a:pPr eaLnBrk="1" hangingPunct="1"/>
              <a:t>34</a:t>
            </a:fld>
            <a:endParaRPr lang="en-US" sz="1200">
              <a:solidFill>
                <a:srgbClr val="898989"/>
              </a:solidFill>
              <a:cs typeface="Arial" charset="0"/>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314496523"/>
              </p:ext>
            </p:extLst>
          </p:nvPr>
        </p:nvGraphicFramePr>
        <p:xfrm>
          <a:off x="2057400" y="2708920"/>
          <a:ext cx="4495800" cy="2195188"/>
        </p:xfrm>
        <a:graphic>
          <a:graphicData uri="http://schemas.openxmlformats.org/presentationml/2006/ole">
            <mc:AlternateContent xmlns:mc="http://schemas.openxmlformats.org/markup-compatibility/2006">
              <mc:Choice xmlns:v="urn:schemas-microsoft-com:vml" Requires="v">
                <p:oleObj name="Equation" r:id="rId4" imgW="2706120" imgH="1152000" progId="Equation.3">
                  <p:embed/>
                </p:oleObj>
              </mc:Choice>
              <mc:Fallback>
                <p:oleObj name="Equation" r:id="rId4" imgW="2706120" imgH="1152000" progId="Equation.3">
                  <p:embed/>
                  <p:pic>
                    <p:nvPicPr>
                      <p:cNvPr id="0" name="Picture 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2708920"/>
                        <a:ext cx="4495800" cy="2195188"/>
                      </a:xfrm>
                      <a:prstGeom prst="rect">
                        <a:avLst/>
                      </a:prstGeom>
                      <a:solidFill>
                        <a:schemeClr val="bg1"/>
                      </a:solidFill>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2"/>
          <p:cNvSpPr>
            <a:spLocks noGrp="1"/>
          </p:cNvSpPr>
          <p:nvPr>
            <p:ph idx="1"/>
          </p:nvPr>
        </p:nvSpPr>
        <p:spPr>
          <a:xfrm>
            <a:off x="1703388" y="1484313"/>
            <a:ext cx="8507412" cy="4525962"/>
          </a:xfrm>
        </p:spPr>
        <p:txBody>
          <a:bodyPr/>
          <a:lstStyle/>
          <a:p>
            <a:pPr marL="342900" lvl="1" indent="-342900">
              <a:buBlip>
                <a:blip r:embed="rId3"/>
              </a:buBlip>
            </a:pPr>
            <a:r>
              <a:rPr lang="en-US" dirty="0">
                <a:latin typeface="Calibri" charset="0"/>
              </a:rPr>
              <a:t>The test statistic in a </a:t>
            </a:r>
            <a:r>
              <a:rPr lang="en-US" dirty="0">
                <a:solidFill>
                  <a:srgbClr val="0000FF"/>
                </a:solidFill>
                <a:latin typeface="Calibri" charset="0"/>
              </a:rPr>
              <a:t>two-tailed </a:t>
            </a:r>
            <a:r>
              <a:rPr lang="en-US" dirty="0">
                <a:latin typeface="Calibri" charset="0"/>
              </a:rPr>
              <a:t>test is </a:t>
            </a:r>
            <a:r>
              <a:rPr lang="en-US" i="1" dirty="0">
                <a:latin typeface="Calibri" charset="0"/>
              </a:rPr>
              <a:t>z</a:t>
            </a:r>
            <a:r>
              <a:rPr lang="en-US" dirty="0">
                <a:latin typeface="Calibri" charset="0"/>
              </a:rPr>
              <a:t> = 1.75.</a:t>
            </a:r>
          </a:p>
          <a:p>
            <a:pPr>
              <a:buFont typeface="Arial" charset="0"/>
              <a:buNone/>
            </a:pPr>
            <a:r>
              <a:rPr lang="en-US" sz="2800" b="1" dirty="0">
                <a:latin typeface="Calibri" charset="0"/>
              </a:rPr>
              <a:t>    Answer:</a:t>
            </a:r>
          </a:p>
          <a:p>
            <a:endParaRPr lang="en-US" sz="2800" dirty="0">
              <a:latin typeface="Calibri" charset="0"/>
            </a:endParaRPr>
          </a:p>
        </p:txBody>
      </p:sp>
      <p:pic>
        <p:nvPicPr>
          <p:cNvPr id="4710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771776"/>
            <a:ext cx="8153400" cy="3248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7108"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5F1A4612-1EAF-7244-9F19-BF14E9D40D62}" type="slidenum">
              <a:rPr lang="en-US" sz="1200">
                <a:solidFill>
                  <a:srgbClr val="898989"/>
                </a:solidFill>
                <a:cs typeface="Arial" charset="0"/>
              </a:rPr>
              <a:pPr eaLnBrk="1" hangingPunct="1"/>
              <a:t>35</a:t>
            </a:fld>
            <a:endParaRPr lang="en-US" sz="1200">
              <a:solidFill>
                <a:srgbClr val="898989"/>
              </a:solidFill>
              <a:cs typeface="Arial"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428652584"/>
              </p:ext>
            </p:extLst>
          </p:nvPr>
        </p:nvGraphicFramePr>
        <p:xfrm>
          <a:off x="2063552" y="2780928"/>
          <a:ext cx="4718249" cy="2299651"/>
        </p:xfrm>
        <a:graphic>
          <a:graphicData uri="http://schemas.openxmlformats.org/presentationml/2006/ole">
            <mc:AlternateContent xmlns:mc="http://schemas.openxmlformats.org/markup-compatibility/2006">
              <mc:Choice xmlns:v="urn:schemas-microsoft-com:vml" Requires="v">
                <p:oleObj name="Equation" r:id="rId5" imgW="3007800" imgH="1462680" progId="Equation.3">
                  <p:embed/>
                </p:oleObj>
              </mc:Choice>
              <mc:Fallback>
                <p:oleObj name="Equation" r:id="rId5" imgW="3007800" imgH="1462680" progId="Equation.3">
                  <p:embed/>
                  <p:pic>
                    <p:nvPicPr>
                      <p:cNvPr id="0" name="Picture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3552" y="2780928"/>
                        <a:ext cx="4718249" cy="2299651"/>
                      </a:xfrm>
                      <a:prstGeom prst="rect">
                        <a:avLst/>
                      </a:prstGeom>
                      <a:solidFill>
                        <a:srgbClr val="FFFFFF"/>
                      </a:solidFill>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a:xfrm>
            <a:off x="3648076" y="188914"/>
            <a:ext cx="6562725" cy="777875"/>
          </a:xfrm>
        </p:spPr>
        <p:txBody>
          <a:bodyPr/>
          <a:lstStyle/>
          <a:p>
            <a:r>
              <a:rPr lang="en-US" sz="4400" b="1" dirty="0">
                <a:latin typeface="Calibri" charset="0"/>
              </a:rPr>
              <a:t>Example</a:t>
            </a:r>
          </a:p>
        </p:txBody>
      </p:sp>
      <p:sp>
        <p:nvSpPr>
          <p:cNvPr id="3" name="Content Placeholder 2"/>
          <p:cNvSpPr>
            <a:spLocks noGrp="1"/>
          </p:cNvSpPr>
          <p:nvPr>
            <p:ph idx="1"/>
          </p:nvPr>
        </p:nvSpPr>
        <p:spPr>
          <a:xfrm>
            <a:off x="1908944" y="1412876"/>
            <a:ext cx="8291513" cy="4525963"/>
          </a:xfrm>
        </p:spPr>
        <p:txBody>
          <a:bodyPr/>
          <a:lstStyle/>
          <a:p>
            <a:pPr marL="0" indent="0" algn="just">
              <a:buNone/>
              <a:defRPr/>
            </a:pPr>
            <a:r>
              <a:rPr lang="en-US" sz="2800" dirty="0"/>
              <a:t>Consider the claim that with the XSORT method of gender selection, the likelihood of having a baby girl is different from  </a:t>
            </a:r>
            <a:r>
              <a:rPr lang="en-US" sz="2800" i="1" dirty="0"/>
              <a:t>p</a:t>
            </a:r>
            <a:r>
              <a:rPr lang="en-US" sz="2800" dirty="0"/>
              <a:t> = 0.5, and use the test statistic </a:t>
            </a:r>
            <a:r>
              <a:rPr lang="en-US" sz="2800" i="1" dirty="0"/>
              <a:t>z</a:t>
            </a:r>
            <a:r>
              <a:rPr lang="en-US" sz="2800" dirty="0"/>
              <a:t> = 3.21 found from 13 girls in 14 births. </a:t>
            </a:r>
          </a:p>
          <a:p>
            <a:pPr marL="0" indent="0" algn="just">
              <a:buNone/>
              <a:defRPr/>
            </a:pPr>
            <a:endParaRPr lang="en-US" sz="2800" dirty="0"/>
          </a:p>
          <a:p>
            <a:pPr marL="0" indent="0" algn="just">
              <a:buNone/>
              <a:defRPr/>
            </a:pPr>
            <a:r>
              <a:rPr lang="en-US" sz="2800" dirty="0"/>
              <a:t>First determine whether the given conditions result in a critical region in the right tail, left tail, or two tails, then find the </a:t>
            </a:r>
            <a:r>
              <a:rPr lang="en-US" sz="2800" i="1" dirty="0"/>
              <a:t>P</a:t>
            </a:r>
            <a:r>
              <a:rPr lang="en-US" sz="2800" dirty="0"/>
              <a:t>-value. </a:t>
            </a:r>
          </a:p>
          <a:p>
            <a:pPr algn="just">
              <a:defRPr/>
            </a:pPr>
            <a:endParaRPr lang="en-MY" sz="2800" dirty="0"/>
          </a:p>
        </p:txBody>
      </p:sp>
      <p:sp>
        <p:nvSpPr>
          <p:cNvPr id="56323"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3AE271FA-7E56-FE46-A4F4-48E968A42122}" type="slidenum">
              <a:rPr lang="en-US" sz="1200">
                <a:solidFill>
                  <a:srgbClr val="898989"/>
                </a:solidFill>
                <a:cs typeface="Arial" charset="0"/>
              </a:rPr>
              <a:pPr eaLnBrk="1" hangingPunct="1"/>
              <a:t>36</a:t>
            </a:fld>
            <a:endParaRPr lang="en-US" sz="1200">
              <a:solidFill>
                <a:srgbClr val="898989"/>
              </a:solidFill>
              <a:cs typeface="Arial"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a:xfrm>
            <a:off x="3648076" y="260350"/>
            <a:ext cx="6562725" cy="635000"/>
          </a:xfrm>
        </p:spPr>
        <p:txBody>
          <a:bodyPr/>
          <a:lstStyle/>
          <a:p>
            <a:r>
              <a:rPr lang="en-US" sz="4400" b="1" dirty="0">
                <a:latin typeface="Calibri" charset="0"/>
              </a:rPr>
              <a:t>Solution</a:t>
            </a:r>
          </a:p>
        </p:txBody>
      </p:sp>
      <p:sp>
        <p:nvSpPr>
          <p:cNvPr id="3" name="Content Placeholder 2"/>
          <p:cNvSpPr>
            <a:spLocks noGrp="1"/>
          </p:cNvSpPr>
          <p:nvPr>
            <p:ph idx="1"/>
          </p:nvPr>
        </p:nvSpPr>
        <p:spPr>
          <a:xfrm>
            <a:off x="1703388" y="1341438"/>
            <a:ext cx="8640762" cy="4525962"/>
          </a:xfrm>
        </p:spPr>
        <p:txBody>
          <a:bodyPr/>
          <a:lstStyle/>
          <a:p>
            <a:pPr algn="just">
              <a:defRPr/>
            </a:pPr>
            <a:r>
              <a:rPr lang="en-US" sz="2800" dirty="0"/>
              <a:t>The claim that the likelihood of having a baby girl is </a:t>
            </a:r>
            <a:r>
              <a:rPr lang="en-US" sz="2800" dirty="0">
                <a:solidFill>
                  <a:srgbClr val="FF0000"/>
                </a:solidFill>
              </a:rPr>
              <a:t>different</a:t>
            </a:r>
            <a:r>
              <a:rPr lang="en-US" sz="2800" dirty="0"/>
              <a:t> from </a:t>
            </a:r>
            <a:r>
              <a:rPr lang="en-US" sz="2800" i="1" dirty="0"/>
              <a:t>p</a:t>
            </a:r>
            <a:r>
              <a:rPr lang="en-US" sz="2800" dirty="0"/>
              <a:t> = 0.5 can be expressed as </a:t>
            </a:r>
            <a:r>
              <a:rPr lang="en-US" sz="2800" i="1" dirty="0"/>
              <a:t>p</a:t>
            </a:r>
            <a:r>
              <a:rPr lang="en-US" sz="2800" dirty="0"/>
              <a:t> ≠ 0.5 so the critical region is in </a:t>
            </a:r>
            <a:r>
              <a:rPr lang="en-US" sz="2800" dirty="0">
                <a:solidFill>
                  <a:srgbClr val="FF0000"/>
                </a:solidFill>
              </a:rPr>
              <a:t>two-tails</a:t>
            </a:r>
            <a:r>
              <a:rPr lang="en-US" sz="2800" dirty="0"/>
              <a:t>. </a:t>
            </a:r>
          </a:p>
          <a:p>
            <a:pPr algn="just">
              <a:defRPr/>
            </a:pPr>
            <a:r>
              <a:rPr lang="en-US" sz="2800" dirty="0"/>
              <a:t>To find the </a:t>
            </a:r>
            <a:r>
              <a:rPr lang="en-US" sz="2800" i="1" dirty="0"/>
              <a:t>P</a:t>
            </a:r>
            <a:r>
              <a:rPr lang="en-US" sz="2800" dirty="0"/>
              <a:t>-value for a two-tails test, we see that the </a:t>
            </a:r>
            <a:r>
              <a:rPr lang="en-US" sz="2800" i="1" dirty="0"/>
              <a:t>P</a:t>
            </a:r>
            <a:r>
              <a:rPr lang="en-US" sz="2800" dirty="0"/>
              <a:t>-value is </a:t>
            </a:r>
            <a:r>
              <a:rPr lang="en-US" sz="2800" i="1" dirty="0"/>
              <a:t>twice</a:t>
            </a:r>
            <a:r>
              <a:rPr lang="en-US" sz="2800" dirty="0"/>
              <a:t> the area to the right of the test statistic </a:t>
            </a:r>
            <a:r>
              <a:rPr lang="en-US" sz="2800" i="1" dirty="0"/>
              <a:t>z</a:t>
            </a:r>
            <a:r>
              <a:rPr lang="en-US" sz="2800" dirty="0"/>
              <a:t> = 3.21. </a:t>
            </a:r>
          </a:p>
          <a:p>
            <a:pPr algn="just">
              <a:defRPr/>
            </a:pPr>
            <a:r>
              <a:rPr lang="en-US" sz="2800" dirty="0"/>
              <a:t>So we have:</a:t>
            </a:r>
          </a:p>
          <a:p>
            <a:pPr marL="0" indent="0" algn="just">
              <a:buNone/>
              <a:defRPr/>
            </a:pPr>
            <a:r>
              <a:rPr lang="en-US" sz="2800" dirty="0"/>
              <a:t>      P(z &gt; 3.21) = 1 – 0.9993 = 0.0007</a:t>
            </a:r>
          </a:p>
          <a:p>
            <a:pPr marL="0" indent="0" algn="just">
              <a:buNone/>
              <a:defRPr/>
            </a:pPr>
            <a:r>
              <a:rPr lang="en-US" sz="2800" dirty="0"/>
              <a:t>       .: </a:t>
            </a:r>
            <a:r>
              <a:rPr lang="en-US" sz="2800" i="1" dirty="0"/>
              <a:t>P</a:t>
            </a:r>
            <a:r>
              <a:rPr lang="en-US" sz="2800" dirty="0"/>
              <a:t>-value = 2 </a:t>
            </a:r>
            <a:r>
              <a:rPr lang="en-US" sz="2800" dirty="0">
                <a:sym typeface="Symbol" pitchFamily="18" charset="2"/>
              </a:rPr>
              <a:t> </a:t>
            </a:r>
            <a:r>
              <a:rPr lang="en-US" sz="2800" dirty="0"/>
              <a:t>0.0007 = 0.0014 </a:t>
            </a:r>
            <a:r>
              <a:rPr lang="en-US" sz="2400" dirty="0"/>
              <a:t>(two -tails) </a:t>
            </a:r>
          </a:p>
          <a:p>
            <a:pPr algn="just">
              <a:defRPr/>
            </a:pPr>
            <a:endParaRPr lang="en-MY" sz="2800" dirty="0"/>
          </a:p>
        </p:txBody>
      </p:sp>
      <p:sp>
        <p:nvSpPr>
          <p:cNvPr id="57347"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7A66A912-1C9B-A943-A814-47E5F63545AD}" type="slidenum">
              <a:rPr lang="en-US" sz="1200">
                <a:solidFill>
                  <a:srgbClr val="898989"/>
                </a:solidFill>
                <a:cs typeface="Arial" charset="0"/>
              </a:rPr>
              <a:pPr eaLnBrk="1" hangingPunct="1"/>
              <a:t>37</a:t>
            </a:fld>
            <a:endParaRPr lang="en-US" sz="1200">
              <a:solidFill>
                <a:srgbClr val="898989"/>
              </a:solidFill>
              <a:cs typeface="Arial"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extBox 3"/>
          <p:cNvSpPr txBox="1">
            <a:spLocks noChangeArrowheads="1"/>
          </p:cNvSpPr>
          <p:nvPr/>
        </p:nvSpPr>
        <p:spPr bwMode="auto">
          <a:xfrm>
            <a:off x="2063750" y="2276475"/>
            <a:ext cx="8382000" cy="707886"/>
          </a:xfrm>
          <a:prstGeom prst="rect">
            <a:avLst/>
          </a:prstGeom>
          <a:solidFill>
            <a:schemeClr val="accent1">
              <a:alpha val="36078"/>
            </a:schemeClr>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US" sz="4000" b="1" dirty="0"/>
              <a:t>Error of Decision</a:t>
            </a:r>
            <a:endParaRPr lang="en-US" sz="4800" dirty="0">
              <a:solidFill>
                <a:schemeClr val="tx2"/>
              </a:solidFill>
              <a:latin typeface="Arial" charset="0"/>
            </a:endParaRPr>
          </a:p>
        </p:txBody>
      </p:sp>
      <p:sp>
        <p:nvSpPr>
          <p:cNvPr id="62466"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D149B06-3E7F-A746-A17A-40170834E2F5}" type="slidenum">
              <a:rPr lang="en-US" sz="1200">
                <a:solidFill>
                  <a:srgbClr val="898989"/>
                </a:solidFill>
                <a:cs typeface="Arial" charset="0"/>
              </a:rPr>
              <a:pPr eaLnBrk="1" hangingPunct="1"/>
              <a:t>38</a:t>
            </a:fld>
            <a:endParaRPr lang="en-US" sz="1200">
              <a:solidFill>
                <a:srgbClr val="898989"/>
              </a:solidFill>
              <a:cs typeface="Arial" charset="0"/>
            </a:endParaRPr>
          </a:p>
        </p:txBody>
      </p:sp>
    </p:spTree>
    <p:extLst>
      <p:ext uri="{BB962C8B-B14F-4D97-AF65-F5344CB8AC3E}">
        <p14:creationId xmlns:p14="http://schemas.microsoft.com/office/powerpoint/2010/main" val="20590985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a:xfrm>
            <a:off x="3648076" y="274638"/>
            <a:ext cx="6562725" cy="850900"/>
          </a:xfrm>
        </p:spPr>
        <p:txBody>
          <a:bodyPr/>
          <a:lstStyle/>
          <a:p>
            <a:r>
              <a:rPr lang="en-US" sz="4400" b="1" dirty="0">
                <a:latin typeface="Calibri" charset="0"/>
              </a:rPr>
              <a:t>Error of Decision</a:t>
            </a:r>
          </a:p>
        </p:txBody>
      </p:sp>
      <p:sp>
        <p:nvSpPr>
          <p:cNvPr id="3" name="Content Placeholder 2"/>
          <p:cNvSpPr>
            <a:spLocks noGrp="1"/>
          </p:cNvSpPr>
          <p:nvPr>
            <p:ph idx="1"/>
          </p:nvPr>
        </p:nvSpPr>
        <p:spPr>
          <a:xfrm>
            <a:off x="1919288" y="1600201"/>
            <a:ext cx="8291512" cy="4525963"/>
          </a:xfrm>
        </p:spPr>
        <p:txBody>
          <a:bodyPr/>
          <a:lstStyle/>
          <a:p>
            <a:pPr algn="just">
              <a:defRPr/>
            </a:pPr>
            <a:r>
              <a:rPr lang="en-US" sz="2800" dirty="0"/>
              <a:t>A </a:t>
            </a:r>
            <a:r>
              <a:rPr lang="en-US" sz="2800" dirty="0">
                <a:solidFill>
                  <a:srgbClr val="FF0000"/>
                </a:solidFill>
              </a:rPr>
              <a:t>Type I error </a:t>
            </a:r>
            <a:r>
              <a:rPr lang="en-US" sz="2800" dirty="0"/>
              <a:t>is the mistake of rejecting the null hypothesis when it is actually true.</a:t>
            </a:r>
          </a:p>
          <a:p>
            <a:pPr lvl="1" algn="just">
              <a:buFont typeface="Wingdings" charset="2"/>
              <a:buChar char="§"/>
              <a:defRPr/>
            </a:pPr>
            <a:r>
              <a:rPr lang="en-US" dirty="0"/>
              <a:t>The symbol </a:t>
            </a:r>
            <a:r>
              <a:rPr lang="el-GR" dirty="0"/>
              <a:t>α</a:t>
            </a:r>
            <a:r>
              <a:rPr lang="en-US" dirty="0"/>
              <a:t> (alpha) is used to represent the probability of a type I error.</a:t>
            </a:r>
          </a:p>
          <a:p>
            <a:pPr marL="457200" lvl="1" indent="0" algn="just">
              <a:buNone/>
              <a:defRPr/>
            </a:pPr>
            <a:endParaRPr lang="en-US" dirty="0"/>
          </a:p>
          <a:p>
            <a:pPr algn="just">
              <a:defRPr/>
            </a:pPr>
            <a:r>
              <a:rPr lang="en-US" sz="2800" dirty="0"/>
              <a:t>A </a:t>
            </a:r>
            <a:r>
              <a:rPr lang="en-US" sz="2800" dirty="0">
                <a:solidFill>
                  <a:srgbClr val="FF0000"/>
                </a:solidFill>
              </a:rPr>
              <a:t>Type II error</a:t>
            </a:r>
            <a:r>
              <a:rPr lang="en-US" sz="2800" dirty="0"/>
              <a:t> is the mistake of failing to reject the null hypothesis when it is actually false.</a:t>
            </a:r>
          </a:p>
          <a:p>
            <a:pPr lvl="1" algn="just">
              <a:buFont typeface="Wingdings" charset="2"/>
              <a:buChar char="§"/>
              <a:defRPr/>
            </a:pPr>
            <a:r>
              <a:rPr lang="en-US" dirty="0"/>
              <a:t>The symbol</a:t>
            </a:r>
            <a:r>
              <a:rPr lang="en-US" i="1" dirty="0"/>
              <a:t> </a:t>
            </a:r>
            <a:r>
              <a:rPr lang="en-US" i="1" dirty="0">
                <a:sym typeface="Symbol" pitchFamily="18" charset="2"/>
              </a:rPr>
              <a:t> </a:t>
            </a:r>
            <a:r>
              <a:rPr lang="en-US" dirty="0"/>
              <a:t>(beta) is used to represent the probability of a type II error.</a:t>
            </a:r>
          </a:p>
          <a:p>
            <a:pPr algn="just">
              <a:buFont typeface="Arial" charset="0"/>
              <a:buNone/>
              <a:defRPr/>
            </a:pPr>
            <a:endParaRPr lang="en-US" sz="2800" b="1" dirty="0"/>
          </a:p>
          <a:p>
            <a:pPr algn="just">
              <a:defRPr/>
            </a:pPr>
            <a:endParaRPr lang="en-MY" sz="2800" dirty="0"/>
          </a:p>
          <a:p>
            <a:pPr algn="just">
              <a:defRPr/>
            </a:pPr>
            <a:endParaRPr lang="en-MY" sz="2800" dirty="0"/>
          </a:p>
        </p:txBody>
      </p:sp>
      <p:sp>
        <p:nvSpPr>
          <p:cNvPr id="58371"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7C0667A0-B49C-9F4A-8286-B37E340FE25C}" type="slidenum">
              <a:rPr lang="en-US" sz="1200">
                <a:solidFill>
                  <a:srgbClr val="898989"/>
                </a:solidFill>
                <a:cs typeface="Arial" charset="0"/>
              </a:rPr>
              <a:pPr eaLnBrk="1" hangingPunct="1"/>
              <a:t>39</a:t>
            </a:fld>
            <a:endParaRPr lang="en-US" sz="1200">
              <a:solidFill>
                <a:srgbClr val="898989"/>
              </a:solidFill>
              <a:cs typeface="Arial"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p:cNvSpPr>
          <p:nvPr>
            <p:ph type="title"/>
          </p:nvPr>
        </p:nvSpPr>
        <p:spPr>
          <a:xfrm>
            <a:off x="3648076" y="274638"/>
            <a:ext cx="6562725" cy="1143000"/>
          </a:xfrm>
        </p:spPr>
        <p:txBody>
          <a:bodyPr/>
          <a:lstStyle/>
          <a:p>
            <a:r>
              <a:rPr lang="en-US" sz="4400" b="1" dirty="0">
                <a:latin typeface="Calibri" charset="0"/>
              </a:rPr>
              <a:t>Type I and Type II Errors</a:t>
            </a:r>
          </a:p>
        </p:txBody>
      </p:sp>
      <p:pic>
        <p:nvPicPr>
          <p:cNvPr id="59394" name="Picture 4" descr="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76401" y="1744664"/>
            <a:ext cx="8816975" cy="3375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9395"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D2D246FB-2AF4-B94E-A6A7-52D5535051B8}" type="slidenum">
              <a:rPr lang="en-US" sz="1200">
                <a:solidFill>
                  <a:srgbClr val="898989"/>
                </a:solidFill>
                <a:cs typeface="Arial" charset="0"/>
              </a:rPr>
              <a:pPr eaLnBrk="1" hangingPunct="1"/>
              <a:t>40</a:t>
            </a:fld>
            <a:endParaRPr lang="en-US" sz="1200">
              <a:solidFill>
                <a:srgbClr val="898989"/>
              </a:solidFill>
              <a:cs typeface="Arial"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a:xfrm>
            <a:off x="3648076" y="274639"/>
            <a:ext cx="6562725" cy="706437"/>
          </a:xfrm>
        </p:spPr>
        <p:txBody>
          <a:bodyPr/>
          <a:lstStyle/>
          <a:p>
            <a:r>
              <a:rPr lang="en-US" sz="4400" b="1" dirty="0">
                <a:latin typeface="Calibri" charset="0"/>
              </a:rPr>
              <a:t>Example</a:t>
            </a:r>
          </a:p>
        </p:txBody>
      </p:sp>
      <p:sp>
        <p:nvSpPr>
          <p:cNvPr id="3" name="Content Placeholder 2"/>
          <p:cNvSpPr>
            <a:spLocks noGrp="1"/>
          </p:cNvSpPr>
          <p:nvPr>
            <p:ph idx="1"/>
          </p:nvPr>
        </p:nvSpPr>
        <p:spPr>
          <a:xfrm>
            <a:off x="1847850" y="1600201"/>
            <a:ext cx="8362950" cy="4525963"/>
          </a:xfrm>
        </p:spPr>
        <p:txBody>
          <a:bodyPr/>
          <a:lstStyle/>
          <a:p>
            <a:pPr marL="0" indent="0" algn="just">
              <a:buNone/>
              <a:defRPr/>
            </a:pPr>
            <a:r>
              <a:rPr lang="en-US" sz="2800" dirty="0"/>
              <a:t>Assume that we are conducting a hypothesis test of the claim that a method of gender selection increases the likelihood of a baby girl, so that the probability of a baby girls is </a:t>
            </a:r>
            <a:r>
              <a:rPr lang="en-US" sz="2800" i="1" dirty="0">
                <a:sym typeface="Symbol" pitchFamily="18" charset="2"/>
              </a:rPr>
              <a:t>p</a:t>
            </a:r>
            <a:r>
              <a:rPr lang="en-US" sz="2800" dirty="0">
                <a:sym typeface="Symbol" pitchFamily="18" charset="2"/>
              </a:rPr>
              <a:t> &gt; 0.5.  Here are the null and alternative hypotheses: </a:t>
            </a:r>
            <a:r>
              <a:rPr lang="en-US" sz="2800" i="1" dirty="0">
                <a:sym typeface="Symbol" pitchFamily="18" charset="2"/>
              </a:rPr>
              <a:t>H</a:t>
            </a:r>
            <a:r>
              <a:rPr lang="en-US" sz="2800" baseline="-25000" dirty="0">
                <a:sym typeface="Symbol" pitchFamily="18" charset="2"/>
              </a:rPr>
              <a:t>0</a:t>
            </a:r>
            <a:r>
              <a:rPr lang="en-US" sz="2800" dirty="0">
                <a:sym typeface="Symbol" pitchFamily="18" charset="2"/>
              </a:rPr>
              <a:t>: </a:t>
            </a:r>
            <a:r>
              <a:rPr lang="en-US" sz="2800" i="1" dirty="0">
                <a:sym typeface="Symbol" pitchFamily="18" charset="2"/>
              </a:rPr>
              <a:t>p</a:t>
            </a:r>
            <a:r>
              <a:rPr lang="en-US" sz="2800" dirty="0">
                <a:sym typeface="Symbol" pitchFamily="18" charset="2"/>
              </a:rPr>
              <a:t> = 0.5, and H</a:t>
            </a:r>
            <a:r>
              <a:rPr lang="en-US" sz="2800" baseline="-25000" dirty="0">
                <a:sym typeface="Symbol" pitchFamily="18" charset="2"/>
              </a:rPr>
              <a:t>1</a:t>
            </a:r>
            <a:r>
              <a:rPr lang="en-US" sz="2800" dirty="0">
                <a:sym typeface="Symbol" pitchFamily="18" charset="2"/>
              </a:rPr>
              <a:t>: </a:t>
            </a:r>
            <a:r>
              <a:rPr lang="en-US" sz="2800" i="1" dirty="0">
                <a:sym typeface="Symbol" pitchFamily="18" charset="2"/>
              </a:rPr>
              <a:t>p</a:t>
            </a:r>
            <a:r>
              <a:rPr lang="en-US" sz="2800" dirty="0">
                <a:sym typeface="Symbol" pitchFamily="18" charset="2"/>
              </a:rPr>
              <a:t> &gt; 0.5.</a:t>
            </a:r>
          </a:p>
          <a:p>
            <a:pPr algn="just">
              <a:buFont typeface="Arial" charset="0"/>
              <a:buNone/>
              <a:defRPr/>
            </a:pPr>
            <a:r>
              <a:rPr lang="en-US" sz="2800" dirty="0"/>
              <a:t>	a)  Identify a type I error.</a:t>
            </a:r>
            <a:endParaRPr lang="en-US" sz="2800" dirty="0">
              <a:latin typeface="Times New Roman" pitchFamily="18" charset="0"/>
              <a:sym typeface="Symbol" pitchFamily="18" charset="2"/>
            </a:endParaRPr>
          </a:p>
          <a:p>
            <a:pPr algn="just">
              <a:buFont typeface="Arial" charset="0"/>
              <a:buNone/>
              <a:defRPr/>
            </a:pPr>
            <a:r>
              <a:rPr lang="en-US" sz="2800" dirty="0">
                <a:sym typeface="Symbol" pitchFamily="18" charset="2"/>
              </a:rPr>
              <a:t>	b)</a:t>
            </a:r>
            <a:r>
              <a:rPr lang="en-US" sz="2800" dirty="0">
                <a:latin typeface="Times New Roman" pitchFamily="18" charset="0"/>
                <a:sym typeface="Symbol" pitchFamily="18" charset="2"/>
              </a:rPr>
              <a:t> </a:t>
            </a:r>
            <a:r>
              <a:rPr lang="en-US" sz="2800" dirty="0"/>
              <a:t> Identify a type II error.</a:t>
            </a:r>
            <a:endParaRPr lang="en-US" sz="2800" dirty="0">
              <a:latin typeface="Times New Roman" pitchFamily="18" charset="0"/>
            </a:endParaRPr>
          </a:p>
          <a:p>
            <a:pPr algn="just">
              <a:defRPr/>
            </a:pPr>
            <a:endParaRPr lang="en-US" sz="2800" dirty="0">
              <a:sym typeface="Symbol" pitchFamily="18" charset="2"/>
            </a:endParaRPr>
          </a:p>
          <a:p>
            <a:pPr algn="just">
              <a:defRPr/>
            </a:pPr>
            <a:endParaRPr lang="en-MY" sz="2800" dirty="0"/>
          </a:p>
        </p:txBody>
      </p:sp>
      <p:sp>
        <p:nvSpPr>
          <p:cNvPr id="60419"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FE47781E-CE4F-D149-8D95-245BAA1C816A}" type="slidenum">
              <a:rPr lang="en-US" sz="1200">
                <a:solidFill>
                  <a:srgbClr val="898989"/>
                </a:solidFill>
                <a:cs typeface="Arial" charset="0"/>
              </a:rPr>
              <a:pPr eaLnBrk="1" hangingPunct="1"/>
              <a:t>41</a:t>
            </a:fld>
            <a:endParaRPr lang="en-US" sz="1200">
              <a:solidFill>
                <a:srgbClr val="898989"/>
              </a:solidFill>
              <a:cs typeface="Arial"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p:cNvSpPr>
            <a:spLocks noGrp="1"/>
          </p:cNvSpPr>
          <p:nvPr>
            <p:ph type="title"/>
          </p:nvPr>
        </p:nvSpPr>
        <p:spPr>
          <a:xfrm>
            <a:off x="3648076" y="274639"/>
            <a:ext cx="6562725" cy="706437"/>
          </a:xfrm>
        </p:spPr>
        <p:txBody>
          <a:bodyPr/>
          <a:lstStyle/>
          <a:p>
            <a:r>
              <a:rPr lang="en-US" sz="4400" b="1" dirty="0">
                <a:latin typeface="Calibri" charset="0"/>
              </a:rPr>
              <a:t>Solution</a:t>
            </a:r>
          </a:p>
        </p:txBody>
      </p:sp>
      <p:sp>
        <p:nvSpPr>
          <p:cNvPr id="61442" name="Content Placeholder 2"/>
          <p:cNvSpPr>
            <a:spLocks noGrp="1"/>
          </p:cNvSpPr>
          <p:nvPr>
            <p:ph idx="1"/>
          </p:nvPr>
        </p:nvSpPr>
        <p:spPr>
          <a:xfrm>
            <a:off x="1774826" y="1600201"/>
            <a:ext cx="8435975" cy="4525963"/>
          </a:xfrm>
        </p:spPr>
        <p:txBody>
          <a:bodyPr/>
          <a:lstStyle/>
          <a:p>
            <a:pPr marL="455613" indent="-455613" algn="just">
              <a:buNone/>
            </a:pPr>
            <a:r>
              <a:rPr lang="en-US" sz="2800" dirty="0">
                <a:latin typeface="Calibri" charset="0"/>
                <a:cs typeface="Calibri" charset="0"/>
              </a:rPr>
              <a:t>a)	A type I error is the mistake of rejecting a true null hypothesis, so this is a type I error: Conclude that there is sufficient evidence to support </a:t>
            </a:r>
            <a:r>
              <a:rPr lang="en-US" sz="2800" i="1" dirty="0">
                <a:latin typeface="Calibri" charset="0"/>
                <a:cs typeface="Calibri" charset="0"/>
                <a:sym typeface="Symbol" charset="0"/>
              </a:rPr>
              <a:t>p</a:t>
            </a:r>
            <a:r>
              <a:rPr lang="en-US" sz="2800" dirty="0">
                <a:latin typeface="Calibri" charset="0"/>
                <a:cs typeface="Calibri" charset="0"/>
                <a:sym typeface="Symbol" charset="0"/>
              </a:rPr>
              <a:t> &gt; 0.5, when in reality </a:t>
            </a:r>
            <a:r>
              <a:rPr lang="en-US" sz="2800" i="1" dirty="0">
                <a:latin typeface="Calibri" charset="0"/>
                <a:cs typeface="Calibri" charset="0"/>
                <a:sym typeface="Symbol" charset="0"/>
              </a:rPr>
              <a:t>p</a:t>
            </a:r>
            <a:r>
              <a:rPr lang="en-US" sz="2800" dirty="0">
                <a:latin typeface="Calibri" charset="0"/>
                <a:cs typeface="Calibri" charset="0"/>
                <a:sym typeface="Symbol" charset="0"/>
              </a:rPr>
              <a:t> = 0.5.</a:t>
            </a:r>
          </a:p>
          <a:p>
            <a:pPr marL="455613" indent="-455613" algn="just">
              <a:buNone/>
            </a:pPr>
            <a:endParaRPr lang="en-US" sz="2800" dirty="0">
              <a:latin typeface="Calibri" charset="0"/>
              <a:cs typeface="Calibri" charset="0"/>
            </a:endParaRPr>
          </a:p>
          <a:p>
            <a:pPr marL="455613" indent="-455613" algn="just">
              <a:buNone/>
            </a:pPr>
            <a:r>
              <a:rPr lang="en-US" sz="2800" dirty="0">
                <a:latin typeface="Calibri" charset="0"/>
                <a:cs typeface="Calibri" charset="0"/>
              </a:rPr>
              <a:t>b)  A type II error is the mistake of failing to reject the null hypothesis when it is false, so this is a type II error: Fail to reject </a:t>
            </a:r>
            <a:r>
              <a:rPr lang="en-US" sz="2800" i="1" dirty="0">
                <a:latin typeface="Calibri" charset="0"/>
                <a:cs typeface="Calibri" charset="0"/>
              </a:rPr>
              <a:t>p</a:t>
            </a:r>
            <a:r>
              <a:rPr lang="en-US" sz="2800" dirty="0">
                <a:latin typeface="Calibri" charset="0"/>
                <a:cs typeface="Calibri" charset="0"/>
              </a:rPr>
              <a:t> = 0.5 (and therefore fail to support </a:t>
            </a:r>
            <a:r>
              <a:rPr lang="en-US" sz="2800" i="1" dirty="0">
                <a:latin typeface="Calibri" charset="0"/>
                <a:cs typeface="Calibri" charset="0"/>
              </a:rPr>
              <a:t>p</a:t>
            </a:r>
            <a:r>
              <a:rPr lang="en-US" sz="2800" dirty="0">
                <a:latin typeface="Calibri" charset="0"/>
                <a:cs typeface="Calibri" charset="0"/>
              </a:rPr>
              <a:t> &gt; 0.5) when in reality </a:t>
            </a:r>
            <a:r>
              <a:rPr lang="en-US" sz="2800" i="1" dirty="0">
                <a:latin typeface="Calibri" charset="0"/>
                <a:cs typeface="Calibri" charset="0"/>
              </a:rPr>
              <a:t>p</a:t>
            </a:r>
            <a:r>
              <a:rPr lang="en-US" sz="2800" dirty="0">
                <a:latin typeface="Calibri" charset="0"/>
                <a:cs typeface="Calibri" charset="0"/>
              </a:rPr>
              <a:t> &gt; 0.5.</a:t>
            </a:r>
          </a:p>
          <a:p>
            <a:pPr marL="455613" indent="-455613" algn="just">
              <a:buNone/>
            </a:pPr>
            <a:endParaRPr lang="en-US" sz="2800" dirty="0">
              <a:latin typeface="Calibri" charset="0"/>
              <a:cs typeface="Calibri" charset="0"/>
              <a:sym typeface="Symbol" charset="0"/>
            </a:endParaRPr>
          </a:p>
        </p:txBody>
      </p:sp>
      <p:sp>
        <p:nvSpPr>
          <p:cNvPr id="61443"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49CA6C1B-85BA-2D47-8B60-D2032E8299AA}" type="slidenum">
              <a:rPr lang="en-US" sz="1200">
                <a:solidFill>
                  <a:srgbClr val="898989"/>
                </a:solidFill>
                <a:cs typeface="Arial" charset="0"/>
              </a:rPr>
              <a:pPr eaLnBrk="1" hangingPunct="1"/>
              <a:t>42</a:t>
            </a:fld>
            <a:endParaRPr lang="en-US" sz="1200">
              <a:solidFill>
                <a:srgbClr val="898989"/>
              </a:solidFill>
              <a:cs typeface="Arial"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extBox 3"/>
          <p:cNvSpPr txBox="1">
            <a:spLocks noChangeArrowheads="1"/>
          </p:cNvSpPr>
          <p:nvPr/>
        </p:nvSpPr>
        <p:spPr bwMode="auto">
          <a:xfrm>
            <a:off x="2063750" y="2276476"/>
            <a:ext cx="8382000" cy="1323975"/>
          </a:xfrm>
          <a:prstGeom prst="rect">
            <a:avLst/>
          </a:prstGeom>
          <a:solidFill>
            <a:schemeClr val="accent1">
              <a:alpha val="36078"/>
            </a:schemeClr>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r>
              <a:rPr lang="en-GB" sz="4000" b="1" dirty="0">
                <a:latin typeface="Arial" charset="0"/>
              </a:rPr>
              <a:t>Hypothesis Testing Using a Single Sample</a:t>
            </a:r>
            <a:endParaRPr lang="en-US" sz="4800" dirty="0">
              <a:solidFill>
                <a:schemeClr val="tx2"/>
              </a:solidFill>
              <a:latin typeface="Arial" charset="0"/>
            </a:endParaRPr>
          </a:p>
        </p:txBody>
      </p:sp>
      <p:sp>
        <p:nvSpPr>
          <p:cNvPr id="62466"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D149B06-3E7F-A746-A17A-40170834E2F5}" type="slidenum">
              <a:rPr lang="en-US" sz="1200">
                <a:solidFill>
                  <a:srgbClr val="898989"/>
                </a:solidFill>
                <a:cs typeface="Arial" charset="0"/>
              </a:rPr>
              <a:pPr eaLnBrk="1" hangingPunct="1"/>
              <a:t>43</a:t>
            </a:fld>
            <a:endParaRPr lang="en-US" sz="1200">
              <a:solidFill>
                <a:srgbClr val="898989"/>
              </a:solidFill>
              <a:cs typeface="Arial"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Content Placeholder 2"/>
          <p:cNvSpPr>
            <a:spLocks noGrp="1"/>
          </p:cNvSpPr>
          <p:nvPr>
            <p:ph idx="1"/>
          </p:nvPr>
        </p:nvSpPr>
        <p:spPr>
          <a:xfrm>
            <a:off x="1703388" y="1600201"/>
            <a:ext cx="8507412" cy="4525963"/>
          </a:xfrm>
        </p:spPr>
        <p:txBody>
          <a:bodyPr/>
          <a:lstStyle/>
          <a:p>
            <a:pPr algn="just"/>
            <a:r>
              <a:rPr lang="en-AU" sz="2800" dirty="0">
                <a:latin typeface="Calibri" charset="0"/>
              </a:rPr>
              <a:t>To conduct a Hypothesis Testing, we must establish the following :</a:t>
            </a:r>
          </a:p>
          <a:p>
            <a:pPr marL="971550" lvl="1" indent="-514350" algn="just">
              <a:buFont typeface="+mj-lt"/>
              <a:buAutoNum type="arabicParenR"/>
            </a:pPr>
            <a:r>
              <a:rPr lang="en-AU" sz="2400" dirty="0">
                <a:solidFill>
                  <a:srgbClr val="0000FF"/>
                </a:solidFill>
                <a:latin typeface="Calibri" charset="0"/>
              </a:rPr>
              <a:t>Hypothesis statement</a:t>
            </a:r>
          </a:p>
          <a:p>
            <a:pPr marL="971550" lvl="1" indent="-514350" algn="just">
              <a:buFont typeface="+mj-lt"/>
              <a:buAutoNum type="arabicParenR"/>
            </a:pPr>
            <a:r>
              <a:rPr lang="en-AU" sz="2400" dirty="0">
                <a:solidFill>
                  <a:srgbClr val="0000FF"/>
                </a:solidFill>
                <a:latin typeface="Calibri" charset="0"/>
              </a:rPr>
              <a:t>Test Statistic</a:t>
            </a:r>
          </a:p>
          <a:p>
            <a:pPr marL="971550" lvl="1" indent="-514350" algn="just">
              <a:buFont typeface="+mj-lt"/>
              <a:buAutoNum type="arabicParenR"/>
            </a:pPr>
            <a:r>
              <a:rPr lang="en-AU" sz="2400" dirty="0">
                <a:solidFill>
                  <a:srgbClr val="0000FF"/>
                </a:solidFill>
                <a:latin typeface="Calibri" charset="0"/>
              </a:rPr>
              <a:t>Significance Level @ Level of confidence</a:t>
            </a:r>
          </a:p>
          <a:p>
            <a:pPr marL="971550" lvl="1" indent="-514350" algn="just">
              <a:buFont typeface="+mj-lt"/>
              <a:buAutoNum type="arabicParenR"/>
            </a:pPr>
            <a:r>
              <a:rPr lang="en-AU" sz="2400" dirty="0">
                <a:solidFill>
                  <a:srgbClr val="0000FF"/>
                </a:solidFill>
                <a:latin typeface="Calibri" charset="0"/>
              </a:rPr>
              <a:t>Conclusion/Decision rule</a:t>
            </a:r>
          </a:p>
        </p:txBody>
      </p:sp>
      <p:sp>
        <p:nvSpPr>
          <p:cNvPr id="16386" name="Slide Number Placeholder 4"/>
          <p:cNvSpPr>
            <a:spLocks noGrp="1"/>
          </p:cNvSpPr>
          <p:nvPr>
            <p:ph type="sldNum" sz="quarter" idx="10"/>
          </p:nvPr>
        </p:nvSpPr>
        <p:spPr bwMode="auto">
          <a:xfrm>
            <a:off x="9490075" y="6553200"/>
            <a:ext cx="1143000" cy="304800"/>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70D7C74-FA03-E244-B19C-80867E351940}" type="slidenum">
              <a:rPr lang="en-US" sz="1200">
                <a:solidFill>
                  <a:srgbClr val="898989"/>
                </a:solidFill>
                <a:cs typeface="Arial" charset="0"/>
              </a:rPr>
              <a:pPr eaLnBrk="1" hangingPunct="1"/>
              <a:t>44</a:t>
            </a:fld>
            <a:endParaRPr lang="en-US" sz="1200">
              <a:solidFill>
                <a:srgbClr val="898989"/>
              </a:solidFill>
              <a:cs typeface="Arial" charset="0"/>
            </a:endParaRPr>
          </a:p>
        </p:txBody>
      </p:sp>
      <p:sp>
        <p:nvSpPr>
          <p:cNvPr id="4" name="Title 1"/>
          <p:cNvSpPr>
            <a:spLocks noGrp="1"/>
          </p:cNvSpPr>
          <p:nvPr>
            <p:ph type="title"/>
          </p:nvPr>
        </p:nvSpPr>
        <p:spPr>
          <a:xfrm>
            <a:off x="3648076" y="274638"/>
            <a:ext cx="6562725" cy="850900"/>
          </a:xfrm>
        </p:spPr>
        <p:txBody>
          <a:bodyPr/>
          <a:lstStyle/>
          <a:p>
            <a:r>
              <a:rPr lang="en-US" sz="4400" b="1" dirty="0">
                <a:latin typeface="Calibri" charset="0"/>
              </a:rPr>
              <a:t>Review previous topic</a:t>
            </a:r>
          </a:p>
        </p:txBody>
      </p:sp>
    </p:spTree>
    <p:extLst>
      <p:ext uri="{BB962C8B-B14F-4D97-AF65-F5344CB8AC3E}">
        <p14:creationId xmlns:p14="http://schemas.microsoft.com/office/powerpoint/2010/main" val="26593416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p:cNvSpPr>
          <p:nvPr>
            <p:ph type="title"/>
          </p:nvPr>
        </p:nvSpPr>
        <p:spPr>
          <a:xfrm>
            <a:off x="3648076" y="274638"/>
            <a:ext cx="6562725" cy="994122"/>
          </a:xfrm>
        </p:spPr>
        <p:txBody>
          <a:bodyPr/>
          <a:lstStyle/>
          <a:p>
            <a:r>
              <a:rPr lang="en-US" sz="4400" b="1" dirty="0"/>
              <a:t>Type of Hypothesis Test </a:t>
            </a:r>
            <a:r>
              <a:rPr lang="mr-IN" sz="4400" b="1" dirty="0"/>
              <a:t>–</a:t>
            </a:r>
            <a:r>
              <a:rPr lang="en-US" sz="4400" b="1" dirty="0"/>
              <a:t> Single Sample</a:t>
            </a:r>
          </a:p>
        </p:txBody>
      </p:sp>
      <p:graphicFrame>
        <p:nvGraphicFramePr>
          <p:cNvPr id="3" name="Content Placeholder 2">
            <a:extLst>
              <a:ext uri="{FF2B5EF4-FFF2-40B4-BE49-F238E27FC236}">
                <a16:creationId xmlns:a16="http://schemas.microsoft.com/office/drawing/2014/main" id="{5EC9F0F5-0155-0740-88D5-E8F010B7CAA0}"/>
              </a:ext>
            </a:extLst>
          </p:cNvPr>
          <p:cNvGraphicFramePr>
            <a:graphicFrameLocks noGrp="1"/>
          </p:cNvGraphicFramePr>
          <p:nvPr>
            <p:ph idx="1"/>
          </p:nvPr>
        </p:nvGraphicFramePr>
        <p:xfrm>
          <a:off x="1676400" y="1600201"/>
          <a:ext cx="89154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3491"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186087D1-4DC7-F04A-BDA0-D5B281E2568D}" type="slidenum">
              <a:rPr lang="en-US" sz="1200">
                <a:solidFill>
                  <a:srgbClr val="898989"/>
                </a:solidFill>
                <a:cs typeface="Arial" charset="0"/>
              </a:rPr>
              <a:pPr eaLnBrk="1" hangingPunct="1"/>
              <a:t>45</a:t>
            </a:fld>
            <a:endParaRPr lang="en-US" sz="1200">
              <a:solidFill>
                <a:srgbClr val="898989"/>
              </a:solidFill>
              <a:cs typeface="Arial" charset="0"/>
            </a:endParaRPr>
          </a:p>
        </p:txBody>
      </p:sp>
      <p:sp>
        <p:nvSpPr>
          <p:cNvPr id="7" name="TextBox 6">
            <a:extLst>
              <a:ext uri="{FF2B5EF4-FFF2-40B4-BE49-F238E27FC236}">
                <a16:creationId xmlns:a16="http://schemas.microsoft.com/office/drawing/2014/main" id="{B17ACE29-86A6-8B4C-9BB5-32053B276AB8}"/>
              </a:ext>
            </a:extLst>
          </p:cNvPr>
          <p:cNvSpPr txBox="1"/>
          <p:nvPr/>
        </p:nvSpPr>
        <p:spPr>
          <a:xfrm>
            <a:off x="3152775" y="3263017"/>
            <a:ext cx="990600" cy="1200329"/>
          </a:xfrm>
          <a:prstGeom prst="rect">
            <a:avLst/>
          </a:prstGeom>
          <a:noFill/>
        </p:spPr>
        <p:txBody>
          <a:bodyPr wrap="square" rtlCol="0">
            <a:spAutoFit/>
          </a:bodyPr>
          <a:lstStyle/>
          <a:p>
            <a:r>
              <a:rPr lang="en-US" sz="7200" dirty="0">
                <a:solidFill>
                  <a:srgbClr val="FF0000"/>
                </a:solidFill>
              </a:rPr>
              <a:t>X</a:t>
            </a:r>
          </a:p>
        </p:txBody>
      </p:sp>
    </p:spTree>
    <p:extLst>
      <p:ext uri="{BB962C8B-B14F-4D97-AF65-F5344CB8AC3E}">
        <p14:creationId xmlns:p14="http://schemas.microsoft.com/office/powerpoint/2010/main" val="19618826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a:xfrm>
            <a:off x="3648076" y="274639"/>
            <a:ext cx="6562725" cy="777875"/>
          </a:xfrm>
        </p:spPr>
        <p:txBody>
          <a:bodyPr/>
          <a:lstStyle/>
          <a:p>
            <a:r>
              <a:rPr lang="en-US" sz="4400" b="1" dirty="0">
                <a:latin typeface="Calibri" charset="0"/>
              </a:rPr>
              <a:t>Steps in Hypothesis Testing</a:t>
            </a:r>
          </a:p>
        </p:txBody>
      </p:sp>
      <p:sp>
        <p:nvSpPr>
          <p:cNvPr id="3" name="Content Placeholder 2"/>
          <p:cNvSpPr>
            <a:spLocks noGrp="1"/>
          </p:cNvSpPr>
          <p:nvPr>
            <p:ph idx="1"/>
          </p:nvPr>
        </p:nvSpPr>
        <p:spPr>
          <a:xfrm>
            <a:off x="1774826" y="1268413"/>
            <a:ext cx="8435975" cy="4343400"/>
          </a:xfrm>
        </p:spPr>
        <p:txBody>
          <a:bodyPr/>
          <a:lstStyle/>
          <a:p>
            <a:pPr marL="739775" indent="-274638" algn="just">
              <a:lnSpc>
                <a:spcPct val="120000"/>
              </a:lnSpc>
              <a:buNone/>
              <a:defRPr/>
            </a:pPr>
            <a:r>
              <a:rPr lang="en-US" sz="2000" dirty="0"/>
              <a:t>1. From the problem context, identify the parameter of interest.</a:t>
            </a:r>
          </a:p>
          <a:p>
            <a:pPr marL="739775" indent="-274638" algn="just">
              <a:lnSpc>
                <a:spcPct val="120000"/>
              </a:lnSpc>
              <a:buNone/>
              <a:defRPr/>
            </a:pPr>
            <a:r>
              <a:rPr lang="en-US" sz="2000" dirty="0"/>
              <a:t>2. State the null hypothesis, </a:t>
            </a:r>
            <a:r>
              <a:rPr lang="en-US" sz="2000" i="1" dirty="0"/>
              <a:t>H</a:t>
            </a:r>
            <a:r>
              <a:rPr lang="en-US" sz="2000" baseline="-25000" dirty="0"/>
              <a:t>0</a:t>
            </a:r>
            <a:r>
              <a:rPr lang="en-US" sz="2000" dirty="0"/>
              <a:t>.</a:t>
            </a:r>
          </a:p>
          <a:p>
            <a:pPr marL="739775" indent="-274638" algn="just">
              <a:lnSpc>
                <a:spcPct val="120000"/>
              </a:lnSpc>
              <a:buNone/>
              <a:defRPr/>
            </a:pPr>
            <a:r>
              <a:rPr lang="en-US" sz="2000" dirty="0"/>
              <a:t>3. Specify an appropriate alternative hypothesis, </a:t>
            </a:r>
            <a:r>
              <a:rPr lang="en-US" sz="2000" i="1" dirty="0"/>
              <a:t>H</a:t>
            </a:r>
            <a:r>
              <a:rPr lang="en-US" sz="2000" baseline="-25000" dirty="0"/>
              <a:t>1</a:t>
            </a:r>
            <a:r>
              <a:rPr lang="en-US" sz="2000" dirty="0"/>
              <a:t> .</a:t>
            </a:r>
          </a:p>
          <a:p>
            <a:pPr marL="739775" indent="-274638" algn="just">
              <a:lnSpc>
                <a:spcPct val="120000"/>
              </a:lnSpc>
              <a:buNone/>
              <a:defRPr/>
            </a:pPr>
            <a:r>
              <a:rPr lang="en-US" sz="2000" dirty="0"/>
              <a:t>4. Choose a significance level α.</a:t>
            </a:r>
          </a:p>
          <a:p>
            <a:pPr marL="739775" indent="-274638" algn="just">
              <a:lnSpc>
                <a:spcPct val="120000"/>
              </a:lnSpc>
              <a:buNone/>
              <a:defRPr/>
            </a:pPr>
            <a:r>
              <a:rPr lang="en-US" sz="2000" dirty="0"/>
              <a:t>5. Determine an appropriate test statistic.</a:t>
            </a:r>
          </a:p>
          <a:p>
            <a:pPr marL="739775" indent="-274638" algn="just">
              <a:lnSpc>
                <a:spcPct val="120000"/>
              </a:lnSpc>
              <a:buNone/>
              <a:defRPr/>
            </a:pPr>
            <a:r>
              <a:rPr lang="en-US" sz="2000" dirty="0"/>
              <a:t>6. State the rejection region for the statistic.</a:t>
            </a:r>
          </a:p>
          <a:p>
            <a:pPr marL="739775" indent="-274638" algn="just">
              <a:lnSpc>
                <a:spcPct val="120000"/>
              </a:lnSpc>
              <a:buNone/>
              <a:defRPr/>
            </a:pPr>
            <a:r>
              <a:rPr lang="en-US" sz="2000" dirty="0"/>
              <a:t>7. Compute any necessary sample quantities, substitute these into the equation for the test statistic, and compute that value.</a:t>
            </a:r>
          </a:p>
          <a:p>
            <a:pPr marL="739775" indent="-274638" algn="just">
              <a:lnSpc>
                <a:spcPct val="120000"/>
              </a:lnSpc>
              <a:buNone/>
              <a:defRPr/>
            </a:pPr>
            <a:r>
              <a:rPr lang="en-US" sz="2000" dirty="0"/>
              <a:t>8. Decide whether or not </a:t>
            </a:r>
            <a:r>
              <a:rPr lang="en-US" sz="2000" i="1" dirty="0"/>
              <a:t>H</a:t>
            </a:r>
            <a:r>
              <a:rPr lang="en-US" sz="2000" baseline="-25000" dirty="0"/>
              <a:t>0</a:t>
            </a:r>
            <a:r>
              <a:rPr lang="en-US" sz="2000" dirty="0"/>
              <a:t> should be rejected and report that in the problem context.</a:t>
            </a:r>
          </a:p>
          <a:p>
            <a:pPr marL="0" indent="0" algn="just">
              <a:lnSpc>
                <a:spcPct val="120000"/>
              </a:lnSpc>
              <a:buNone/>
              <a:defRPr/>
            </a:pPr>
            <a:r>
              <a:rPr lang="en-US" sz="2000" dirty="0">
                <a:solidFill>
                  <a:srgbClr val="0000FF"/>
                </a:solidFill>
              </a:rPr>
              <a:t>Steps 1 – 4 should be completed prior to examination of the sample  data.</a:t>
            </a:r>
            <a:endParaRPr lang="en-MY" sz="2000" dirty="0">
              <a:solidFill>
                <a:srgbClr val="0000FF"/>
              </a:solidFill>
            </a:endParaRPr>
          </a:p>
        </p:txBody>
      </p:sp>
      <p:sp>
        <p:nvSpPr>
          <p:cNvPr id="64515"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5F40610E-FC59-2D4B-9EA8-05B8A07FE965}" type="slidenum">
              <a:rPr lang="en-US" sz="1200">
                <a:solidFill>
                  <a:srgbClr val="898989"/>
                </a:solidFill>
                <a:cs typeface="Arial" charset="0"/>
              </a:rPr>
              <a:pPr eaLnBrk="1" hangingPunct="1"/>
              <a:t>46</a:t>
            </a:fld>
            <a:endParaRPr lang="en-US" sz="1200">
              <a:solidFill>
                <a:srgbClr val="898989"/>
              </a:solidFill>
              <a:cs typeface="Arial"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p:cNvSpPr>
          <p:nvPr>
            <p:ph type="title"/>
          </p:nvPr>
        </p:nvSpPr>
        <p:spPr>
          <a:xfrm>
            <a:off x="3648076" y="274638"/>
            <a:ext cx="6562725" cy="994122"/>
          </a:xfrm>
        </p:spPr>
        <p:txBody>
          <a:bodyPr/>
          <a:lstStyle/>
          <a:p>
            <a:r>
              <a:rPr lang="en-US" sz="4400" b="1" dirty="0"/>
              <a:t>Type of Hypothesis Test </a:t>
            </a:r>
            <a:r>
              <a:rPr lang="mr-IN" sz="4400" b="1" dirty="0"/>
              <a:t>–</a:t>
            </a:r>
            <a:r>
              <a:rPr lang="en-US" sz="4400" b="1" dirty="0"/>
              <a:t> Single Sample</a:t>
            </a:r>
          </a:p>
        </p:txBody>
      </p:sp>
      <p:graphicFrame>
        <p:nvGraphicFramePr>
          <p:cNvPr id="3" name="Content Placeholder 2">
            <a:extLst>
              <a:ext uri="{FF2B5EF4-FFF2-40B4-BE49-F238E27FC236}">
                <a16:creationId xmlns:a16="http://schemas.microsoft.com/office/drawing/2014/main" id="{5EC9F0F5-0155-0740-88D5-E8F010B7CAA0}"/>
              </a:ext>
            </a:extLst>
          </p:cNvPr>
          <p:cNvGraphicFramePr>
            <a:graphicFrameLocks noGrp="1"/>
          </p:cNvGraphicFramePr>
          <p:nvPr>
            <p:ph idx="1"/>
            <p:extLst>
              <p:ext uri="{D42A27DB-BD31-4B8C-83A1-F6EECF244321}">
                <p14:modId xmlns:p14="http://schemas.microsoft.com/office/powerpoint/2010/main" val="3358654838"/>
              </p:ext>
            </p:extLst>
          </p:nvPr>
        </p:nvGraphicFramePr>
        <p:xfrm>
          <a:off x="1676400" y="1600201"/>
          <a:ext cx="89154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3491"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186087D1-4DC7-F04A-BDA0-D5B281E2568D}" type="slidenum">
              <a:rPr lang="en-US" sz="1200">
                <a:solidFill>
                  <a:srgbClr val="898989"/>
                </a:solidFill>
                <a:cs typeface="Arial" charset="0"/>
              </a:rPr>
              <a:pPr eaLnBrk="1" hangingPunct="1"/>
              <a:t>47</a:t>
            </a:fld>
            <a:endParaRPr lang="en-US" sz="1200">
              <a:solidFill>
                <a:srgbClr val="898989"/>
              </a:solidFill>
              <a:cs typeface="Arial" charset="0"/>
            </a:endParaRPr>
          </a:p>
        </p:txBody>
      </p:sp>
      <p:sp>
        <p:nvSpPr>
          <p:cNvPr id="7" name="TextBox 6">
            <a:extLst>
              <a:ext uri="{FF2B5EF4-FFF2-40B4-BE49-F238E27FC236}">
                <a16:creationId xmlns:a16="http://schemas.microsoft.com/office/drawing/2014/main" id="{B17ACE29-86A6-8B4C-9BB5-32053B276AB8}"/>
              </a:ext>
            </a:extLst>
          </p:cNvPr>
          <p:cNvSpPr txBox="1"/>
          <p:nvPr/>
        </p:nvSpPr>
        <p:spPr>
          <a:xfrm>
            <a:off x="3152775" y="3263017"/>
            <a:ext cx="990600" cy="1200329"/>
          </a:xfrm>
          <a:prstGeom prst="rect">
            <a:avLst/>
          </a:prstGeom>
          <a:noFill/>
        </p:spPr>
        <p:txBody>
          <a:bodyPr wrap="square" rtlCol="0">
            <a:spAutoFit/>
          </a:bodyPr>
          <a:lstStyle/>
          <a:p>
            <a:r>
              <a:rPr lang="en-US" sz="7200" dirty="0">
                <a:solidFill>
                  <a:srgbClr val="FF0000"/>
                </a:solidFill>
              </a:rPr>
              <a:t>X</a:t>
            </a:r>
          </a:p>
        </p:txBody>
      </p:sp>
      <p:sp>
        <p:nvSpPr>
          <p:cNvPr id="11" name="Rectangle 10">
            <a:extLst>
              <a:ext uri="{FF2B5EF4-FFF2-40B4-BE49-F238E27FC236}">
                <a16:creationId xmlns:a16="http://schemas.microsoft.com/office/drawing/2014/main" id="{BF85A11E-A1B5-A14A-BAD9-6A412B160225}"/>
              </a:ext>
            </a:extLst>
          </p:cNvPr>
          <p:cNvSpPr/>
          <p:nvPr/>
        </p:nvSpPr>
        <p:spPr>
          <a:xfrm>
            <a:off x="2133601" y="2895600"/>
            <a:ext cx="7927975" cy="33528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55668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p:cNvSpPr>
            <a:spLocks noGrp="1"/>
          </p:cNvSpPr>
          <p:nvPr>
            <p:ph type="title"/>
          </p:nvPr>
        </p:nvSpPr>
        <p:spPr>
          <a:xfrm>
            <a:off x="3575051" y="260351"/>
            <a:ext cx="6564313" cy="777875"/>
          </a:xfrm>
        </p:spPr>
        <p:txBody>
          <a:bodyPr/>
          <a:lstStyle/>
          <a:p>
            <a:r>
              <a:rPr lang="en-US" b="1" dirty="0">
                <a:latin typeface="Calibri" charset="0"/>
              </a:rPr>
              <a:t>Test on Mean, Variance Known</a:t>
            </a:r>
          </a:p>
        </p:txBody>
      </p:sp>
      <p:sp>
        <p:nvSpPr>
          <p:cNvPr id="65539"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F6F20BE-F4D3-8F44-924B-25A6E9F19A86}" type="slidenum">
              <a:rPr lang="en-US" sz="1200">
                <a:solidFill>
                  <a:srgbClr val="898989"/>
                </a:solidFill>
                <a:cs typeface="Arial" charset="0"/>
              </a:rPr>
              <a:pPr eaLnBrk="1" hangingPunct="1"/>
              <a:t>48</a:t>
            </a:fld>
            <a:endParaRPr lang="en-US" sz="1200">
              <a:solidFill>
                <a:srgbClr val="898989"/>
              </a:solidFill>
              <a:cs typeface="Arial"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2460997248"/>
              </p:ext>
            </p:extLst>
          </p:nvPr>
        </p:nvGraphicFramePr>
        <p:xfrm>
          <a:off x="4032251" y="3000798"/>
          <a:ext cx="2392363" cy="2084387"/>
        </p:xfrm>
        <a:graphic>
          <a:graphicData uri="http://schemas.openxmlformats.org/presentationml/2006/ole">
            <mc:AlternateContent xmlns:mc="http://schemas.openxmlformats.org/markup-compatibility/2006">
              <mc:Choice xmlns:v="urn:schemas-microsoft-com:vml" Requires="v">
                <p:oleObj name="Equation" r:id="rId3" imgW="776880" imgH="676440" progId="Equation.3">
                  <p:embed/>
                </p:oleObj>
              </mc:Choice>
              <mc:Fallback>
                <p:oleObj name="Equation" r:id="rId3" imgW="776880" imgH="676440" progId="Equation.3">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2251" y="3000798"/>
                        <a:ext cx="2392363" cy="2084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p:cNvSpPr/>
          <p:nvPr/>
        </p:nvSpPr>
        <p:spPr>
          <a:xfrm>
            <a:off x="1847528" y="1268761"/>
            <a:ext cx="8424936" cy="954107"/>
          </a:xfrm>
          <a:prstGeom prst="rect">
            <a:avLst/>
          </a:prstGeom>
        </p:spPr>
        <p:txBody>
          <a:bodyPr wrap="square">
            <a:spAutoFit/>
          </a:bodyPr>
          <a:lstStyle/>
          <a:p>
            <a:pPr algn="just">
              <a:defRPr/>
            </a:pPr>
            <a:r>
              <a:rPr lang="en-US" sz="2800" dirty="0">
                <a:latin typeface="+mn-lt"/>
                <a:cs typeface="Times New Roman"/>
              </a:rPr>
              <a:t>When either </a:t>
            </a:r>
            <a:r>
              <a:rPr lang="en-US" sz="2800" i="1" dirty="0">
                <a:latin typeface="+mn-lt"/>
                <a:cs typeface="Times New Roman"/>
              </a:rPr>
              <a:t>n</a:t>
            </a:r>
            <a:r>
              <a:rPr lang="en-US" sz="2800" dirty="0">
                <a:latin typeface="+mn-lt"/>
                <a:cs typeface="Times New Roman"/>
              </a:rPr>
              <a:t> is large or the population distribution is approximately normal, then</a:t>
            </a:r>
          </a:p>
        </p:txBody>
      </p:sp>
      <p:sp>
        <p:nvSpPr>
          <p:cNvPr id="5" name="Rectangle 4"/>
          <p:cNvSpPr/>
          <p:nvPr/>
        </p:nvSpPr>
        <p:spPr>
          <a:xfrm>
            <a:off x="1963918" y="5805264"/>
            <a:ext cx="3988066" cy="523220"/>
          </a:xfrm>
          <a:prstGeom prst="rect">
            <a:avLst/>
          </a:prstGeom>
        </p:spPr>
        <p:txBody>
          <a:bodyPr wrap="none">
            <a:spAutoFit/>
          </a:bodyPr>
          <a:lstStyle/>
          <a:p>
            <a:pPr marL="273050" indent="-212725" algn="just">
              <a:defRPr/>
            </a:pPr>
            <a:r>
              <a:rPr lang="en-US" sz="2800" dirty="0">
                <a:latin typeface="+mn-lt"/>
                <a:cs typeface="Times New Roman"/>
              </a:rPr>
              <a:t>with </a:t>
            </a:r>
            <a:r>
              <a:rPr lang="en-US" sz="2800" dirty="0">
                <a:solidFill>
                  <a:srgbClr val="0000FF"/>
                </a:solidFill>
                <a:latin typeface="+mn-lt"/>
                <a:cs typeface="Times New Roman"/>
              </a:rPr>
              <a:t>variance, </a:t>
            </a:r>
            <a:r>
              <a:rPr lang="el-GR" sz="2800" dirty="0">
                <a:solidFill>
                  <a:srgbClr val="0000FF"/>
                </a:solidFill>
                <a:latin typeface="+mn-lt"/>
                <a:cs typeface="Times New Roman"/>
              </a:rPr>
              <a:t>σ</a:t>
            </a:r>
            <a:r>
              <a:rPr lang="en-US" sz="2800" dirty="0">
                <a:solidFill>
                  <a:srgbClr val="0000FF"/>
                </a:solidFill>
                <a:latin typeface="+mn-lt"/>
                <a:cs typeface="Times New Roman"/>
              </a:rPr>
              <a:t> is known.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0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1268412"/>
            <a:ext cx="9144000" cy="2617788"/>
          </a:xfrm>
        </p:spPr>
      </p:pic>
      <p:sp>
        <p:nvSpPr>
          <p:cNvPr id="68610" name="Rectangle 6"/>
          <p:cNvSpPr>
            <a:spLocks noChangeArrowheads="1"/>
          </p:cNvSpPr>
          <p:nvPr/>
        </p:nvSpPr>
        <p:spPr bwMode="auto">
          <a:xfrm>
            <a:off x="1847850" y="4005263"/>
            <a:ext cx="8305800" cy="18158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gn="just"/>
            <a:r>
              <a:rPr lang="en-US" sz="2800" dirty="0"/>
              <a:t>The distribution of Z</a:t>
            </a:r>
            <a:r>
              <a:rPr lang="en-US" sz="2800" baseline="-25000" dirty="0"/>
              <a:t>0</a:t>
            </a:r>
            <a:r>
              <a:rPr lang="en-US" sz="2800" dirty="0"/>
              <a:t> when </a:t>
            </a:r>
            <a:r>
              <a:rPr lang="en-US" sz="2800" i="1" dirty="0"/>
              <a:t>H</a:t>
            </a:r>
            <a:r>
              <a:rPr lang="en-US" sz="2800" baseline="-25000" dirty="0"/>
              <a:t>0</a:t>
            </a:r>
            <a:r>
              <a:rPr lang="en-US" sz="2800" dirty="0"/>
              <a:t>: µ= µ</a:t>
            </a:r>
            <a:r>
              <a:rPr lang="en-US" sz="2800" baseline="-25000" dirty="0"/>
              <a:t>0</a:t>
            </a:r>
            <a:r>
              <a:rPr lang="en-US" sz="2800" dirty="0"/>
              <a:t>  is true, with critical region </a:t>
            </a:r>
            <a:r>
              <a:rPr lang="en-US" sz="2800" dirty="0">
                <a:solidFill>
                  <a:srgbClr val="FF0000"/>
                </a:solidFill>
              </a:rPr>
              <a:t>(a) </a:t>
            </a:r>
            <a:r>
              <a:rPr lang="en-US" sz="2800" dirty="0"/>
              <a:t>the two-sided alternative </a:t>
            </a:r>
            <a:r>
              <a:rPr lang="en-US" sz="2800" i="1" dirty="0"/>
              <a:t>H</a:t>
            </a:r>
            <a:r>
              <a:rPr lang="en-US" sz="2800" baseline="-25000" dirty="0"/>
              <a:t>1</a:t>
            </a:r>
            <a:r>
              <a:rPr lang="en-US" sz="2800" dirty="0"/>
              <a:t>: µ ≠ µ</a:t>
            </a:r>
            <a:r>
              <a:rPr lang="en-US" sz="2800" baseline="-25000" dirty="0"/>
              <a:t>0</a:t>
            </a:r>
            <a:r>
              <a:rPr lang="en-US" sz="2800" dirty="0"/>
              <a:t> </a:t>
            </a:r>
            <a:r>
              <a:rPr lang="en-US" sz="2800" dirty="0">
                <a:solidFill>
                  <a:srgbClr val="FF0000"/>
                </a:solidFill>
              </a:rPr>
              <a:t>(b) </a:t>
            </a:r>
            <a:r>
              <a:rPr lang="en-US" sz="2800" dirty="0"/>
              <a:t>the one-sided alternative </a:t>
            </a:r>
            <a:r>
              <a:rPr lang="en-US" sz="2800" i="1" dirty="0"/>
              <a:t>H</a:t>
            </a:r>
            <a:r>
              <a:rPr lang="en-US" sz="2800" baseline="-25000" dirty="0"/>
              <a:t>1</a:t>
            </a:r>
            <a:r>
              <a:rPr lang="en-US" sz="2800" dirty="0"/>
              <a:t>: µ&gt;µ</a:t>
            </a:r>
            <a:r>
              <a:rPr lang="en-US" sz="2800" baseline="-25000" dirty="0"/>
              <a:t>0</a:t>
            </a:r>
            <a:r>
              <a:rPr lang="en-US" sz="2800" dirty="0"/>
              <a:t> and </a:t>
            </a:r>
            <a:r>
              <a:rPr lang="en-US" sz="2800" dirty="0">
                <a:solidFill>
                  <a:srgbClr val="FF0000"/>
                </a:solidFill>
              </a:rPr>
              <a:t>(c) </a:t>
            </a:r>
            <a:r>
              <a:rPr lang="en-US" sz="2800" dirty="0"/>
              <a:t>the one-sided alternative </a:t>
            </a:r>
            <a:r>
              <a:rPr lang="en-US" sz="2800" i="1" dirty="0"/>
              <a:t>H</a:t>
            </a:r>
            <a:r>
              <a:rPr lang="en-US" sz="2800" baseline="-25000" dirty="0"/>
              <a:t>1</a:t>
            </a:r>
            <a:r>
              <a:rPr lang="en-US" sz="2800" dirty="0"/>
              <a:t>: µ&lt;µ</a:t>
            </a:r>
            <a:r>
              <a:rPr lang="en-US" sz="2800" baseline="-25000" dirty="0"/>
              <a:t>0</a:t>
            </a:r>
            <a:r>
              <a:rPr lang="en-US" sz="2800" dirty="0"/>
              <a:t>.</a:t>
            </a:r>
          </a:p>
        </p:txBody>
      </p:sp>
      <p:sp>
        <p:nvSpPr>
          <p:cNvPr id="68611"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35908E9E-96DA-AF4F-A2FD-D307C297F0C8}" type="slidenum">
              <a:rPr lang="en-US" sz="1200">
                <a:solidFill>
                  <a:srgbClr val="898989"/>
                </a:solidFill>
                <a:cs typeface="Arial" charset="0"/>
              </a:rPr>
              <a:pPr eaLnBrk="1" hangingPunct="1"/>
              <a:t>49</a:t>
            </a:fld>
            <a:endParaRPr lang="en-US" sz="1200">
              <a:solidFill>
                <a:srgbClr val="898989"/>
              </a:solidFill>
              <a:cs typeface="Arial"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Content Placeholder 2"/>
          <p:cNvSpPr>
            <a:spLocks noGrp="1"/>
          </p:cNvSpPr>
          <p:nvPr>
            <p:ph idx="1"/>
          </p:nvPr>
        </p:nvSpPr>
        <p:spPr>
          <a:xfrm>
            <a:off x="2135189" y="1341438"/>
            <a:ext cx="6562725" cy="4525962"/>
          </a:xfrm>
        </p:spPr>
        <p:txBody>
          <a:bodyPr/>
          <a:lstStyle/>
          <a:p>
            <a:r>
              <a:rPr lang="en-US" dirty="0">
                <a:latin typeface="Calibri" charset="0"/>
              </a:rPr>
              <a:t>Null hypothesis : </a:t>
            </a:r>
            <a:r>
              <a:rPr lang="en-US" i="1" dirty="0">
                <a:latin typeface="Calibri" charset="0"/>
              </a:rPr>
              <a:t>H</a:t>
            </a:r>
            <a:r>
              <a:rPr lang="en-US" i="1" baseline="-25000" dirty="0">
                <a:latin typeface="Calibri" charset="0"/>
              </a:rPr>
              <a:t>0</a:t>
            </a:r>
            <a:r>
              <a:rPr lang="en-US" i="1" dirty="0">
                <a:latin typeface="Calibri" charset="0"/>
              </a:rPr>
              <a:t>: </a:t>
            </a:r>
            <a:r>
              <a:rPr lang="en-US" i="1" dirty="0">
                <a:latin typeface="Symbol" charset="0"/>
                <a:cs typeface="Symbol" charset="0"/>
              </a:rPr>
              <a:t>m </a:t>
            </a:r>
            <a:r>
              <a:rPr lang="en-US" i="1" dirty="0">
                <a:latin typeface="Calibri" charset="0"/>
              </a:rPr>
              <a:t>=</a:t>
            </a:r>
            <a:r>
              <a:rPr lang="en-US" i="1" dirty="0" err="1">
                <a:latin typeface="Symbol" charset="0"/>
                <a:cs typeface="Symbol" charset="0"/>
              </a:rPr>
              <a:t>m</a:t>
            </a:r>
            <a:r>
              <a:rPr lang="en-US" i="1" baseline="-25000" dirty="0" err="1">
                <a:latin typeface="Symbol" charset="0"/>
                <a:cs typeface="Symbol" charset="0"/>
              </a:rPr>
              <a:t>o</a:t>
            </a:r>
            <a:endParaRPr lang="en-US" i="1" baseline="-25000" dirty="0">
              <a:latin typeface="Symbol" charset="0"/>
              <a:cs typeface="Symbol" charset="0"/>
            </a:endParaRPr>
          </a:p>
          <a:p>
            <a:r>
              <a:rPr lang="en-US" dirty="0">
                <a:latin typeface="Calibri" charset="0"/>
              </a:rPr>
              <a:t>Test statistic:</a:t>
            </a:r>
          </a:p>
          <a:p>
            <a:pPr>
              <a:buFont typeface="Arial" charset="0"/>
              <a:buNone/>
            </a:pPr>
            <a:endParaRPr lang="en-US" dirty="0">
              <a:latin typeface="Calibri" charset="0"/>
            </a:endParaRPr>
          </a:p>
        </p:txBody>
      </p:sp>
      <p:pic>
        <p:nvPicPr>
          <p:cNvPr id="69634"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4763" y="2971800"/>
            <a:ext cx="7135812" cy="2971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9635"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4CB41E8-29B1-4149-B540-48FE51CAA455}" type="slidenum">
              <a:rPr lang="en-US" sz="1200">
                <a:solidFill>
                  <a:srgbClr val="898989"/>
                </a:solidFill>
                <a:cs typeface="Arial" charset="0"/>
              </a:rPr>
              <a:pPr eaLnBrk="1" hangingPunct="1"/>
              <a:t>50</a:t>
            </a:fld>
            <a:endParaRPr lang="en-US" sz="1200">
              <a:solidFill>
                <a:srgbClr val="898989"/>
              </a:solidFill>
              <a:cs typeface="Arial"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p:cNvSpPr>
            <a:spLocks noGrp="1"/>
          </p:cNvSpPr>
          <p:nvPr>
            <p:ph type="title"/>
          </p:nvPr>
        </p:nvSpPr>
        <p:spPr>
          <a:xfrm>
            <a:off x="3648076" y="274639"/>
            <a:ext cx="6562725" cy="706437"/>
          </a:xfrm>
        </p:spPr>
        <p:txBody>
          <a:bodyPr/>
          <a:lstStyle/>
          <a:p>
            <a:r>
              <a:rPr lang="en-US" sz="4400" b="1" dirty="0">
                <a:latin typeface="Calibri" charset="0"/>
              </a:rPr>
              <a:t>Example</a:t>
            </a:r>
          </a:p>
        </p:txBody>
      </p:sp>
      <p:sp>
        <p:nvSpPr>
          <p:cNvPr id="71682" name="Content Placeholder 2"/>
          <p:cNvSpPr>
            <a:spLocks noGrp="1"/>
          </p:cNvSpPr>
          <p:nvPr>
            <p:ph idx="1"/>
          </p:nvPr>
        </p:nvSpPr>
        <p:spPr>
          <a:xfrm>
            <a:off x="1919289" y="1412875"/>
            <a:ext cx="8497887" cy="4267200"/>
          </a:xfrm>
        </p:spPr>
        <p:txBody>
          <a:bodyPr/>
          <a:lstStyle/>
          <a:p>
            <a:pPr marL="0" indent="0" algn="just">
              <a:lnSpc>
                <a:spcPct val="120000"/>
              </a:lnSpc>
              <a:buNone/>
            </a:pPr>
            <a:r>
              <a:rPr lang="en-US" sz="2800" b="1" dirty="0">
                <a:cs typeface="Arial" charset="0"/>
              </a:rPr>
              <a:t>Writing a Hit Song: </a:t>
            </a:r>
            <a:r>
              <a:rPr lang="en-US" sz="2800" dirty="0">
                <a:cs typeface="Arial" charset="0"/>
              </a:rPr>
              <a:t>In the manual “How to Have a Number One the Easy Way,” by KLF Publications, it is stated that a song “must be no longer than three minutes and thirty seconds” (or 210 seconds). A simple random sample of 40 current hit songs results in a mean length of 252.5 sec. Assume that the standard deviation of song lengths is 54.5 sec. Use a 0.05 significance level to test the claim that the sample is from a population of songs with a mean greater than 210 sec. What do these results suggest about the advice given in the manual?</a:t>
            </a:r>
          </a:p>
        </p:txBody>
      </p:sp>
      <p:sp>
        <p:nvSpPr>
          <p:cNvPr id="71683"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DA0E0D3B-8FCC-244C-B6D9-398B6C4DB21A}" type="slidenum">
              <a:rPr lang="en-US" sz="1200">
                <a:solidFill>
                  <a:srgbClr val="898989"/>
                </a:solidFill>
                <a:cs typeface="Arial" charset="0"/>
              </a:rPr>
              <a:pPr eaLnBrk="1" hangingPunct="1"/>
              <a:t>51</a:t>
            </a:fld>
            <a:endParaRPr lang="en-US" sz="1200">
              <a:solidFill>
                <a:srgbClr val="898989"/>
              </a:solidFill>
              <a:cs typeface="Arial"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p:cNvSpPr>
            <a:spLocks noGrp="1"/>
          </p:cNvSpPr>
          <p:nvPr>
            <p:ph type="title"/>
          </p:nvPr>
        </p:nvSpPr>
        <p:spPr>
          <a:xfrm>
            <a:off x="3648076" y="188914"/>
            <a:ext cx="6562725" cy="706437"/>
          </a:xfrm>
        </p:spPr>
        <p:txBody>
          <a:bodyPr/>
          <a:lstStyle/>
          <a:p>
            <a:r>
              <a:rPr lang="en-US" sz="4400" b="1" dirty="0">
                <a:latin typeface="Calibri" charset="0"/>
              </a:rPr>
              <a:t>Solution</a:t>
            </a:r>
          </a:p>
        </p:txBody>
      </p:sp>
      <p:sp>
        <p:nvSpPr>
          <p:cNvPr id="73731"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213E5B0C-4E00-AB4B-BE77-338403314D25}" type="slidenum">
              <a:rPr lang="en-US" sz="1200">
                <a:solidFill>
                  <a:srgbClr val="898989"/>
                </a:solidFill>
                <a:cs typeface="Arial" charset="0"/>
              </a:rPr>
              <a:pPr eaLnBrk="1" hangingPunct="1"/>
              <a:t>52</a:t>
            </a:fld>
            <a:endParaRPr lang="en-US" sz="1200">
              <a:solidFill>
                <a:srgbClr val="898989"/>
              </a:solidFill>
              <a:cs typeface="Arial"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715468955"/>
              </p:ext>
            </p:extLst>
          </p:nvPr>
        </p:nvGraphicFramePr>
        <p:xfrm>
          <a:off x="1775520" y="1340768"/>
          <a:ext cx="4777680" cy="3600400"/>
        </p:xfrm>
        <a:graphic>
          <a:graphicData uri="http://schemas.openxmlformats.org/presentationml/2006/ole">
            <mc:AlternateContent xmlns:mc="http://schemas.openxmlformats.org/markup-compatibility/2006">
              <mc:Choice xmlns:v="urn:schemas-microsoft-com:vml" Requires="v">
                <p:oleObj name="Equation" r:id="rId2" imgW="2697120" imgH="2184840" progId="Equation.3">
                  <p:embed/>
                </p:oleObj>
              </mc:Choice>
              <mc:Fallback>
                <p:oleObj name="Equation" r:id="rId2" imgW="2697120" imgH="2184840" progId="Equation.3">
                  <p:embed/>
                  <p:pic>
                    <p:nvPicPr>
                      <p:cNvPr id="0"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5520" y="1340768"/>
                        <a:ext cx="4777680" cy="360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extBox 2"/>
          <p:cNvSpPr txBox="1"/>
          <p:nvPr/>
        </p:nvSpPr>
        <p:spPr>
          <a:xfrm>
            <a:off x="1847528" y="5229201"/>
            <a:ext cx="8280920" cy="1384995"/>
          </a:xfrm>
          <a:prstGeom prst="rect">
            <a:avLst/>
          </a:prstGeom>
          <a:noFill/>
        </p:spPr>
        <p:txBody>
          <a:bodyPr wrap="square" rtlCol="0">
            <a:spAutoFit/>
          </a:bodyPr>
          <a:lstStyle/>
          <a:p>
            <a:pPr algn="just"/>
            <a:r>
              <a:rPr lang="en-US" sz="2800" b="1" dirty="0">
                <a:solidFill>
                  <a:srgbClr val="0000FF"/>
                </a:solidFill>
                <a:latin typeface="+mn-lt"/>
                <a:cs typeface="Times New Roman"/>
              </a:rPr>
              <a:t>Conclusion</a:t>
            </a:r>
            <a:r>
              <a:rPr lang="en-US" sz="2800" dirty="0">
                <a:latin typeface="+mn-lt"/>
                <a:cs typeface="Times New Roman"/>
              </a:rPr>
              <a:t>: Reject H</a:t>
            </a:r>
            <a:r>
              <a:rPr lang="en-US" sz="2800" baseline="-25000" dirty="0">
                <a:latin typeface="+mn-lt"/>
                <a:cs typeface="Times New Roman"/>
              </a:rPr>
              <a:t>0</a:t>
            </a:r>
            <a:r>
              <a:rPr lang="en-US" sz="2800" dirty="0">
                <a:latin typeface="+mn-lt"/>
                <a:cs typeface="Times New Roman"/>
              </a:rPr>
              <a:t> ; there is sufficient evidence to conclude that μ &gt; 210 sec. These results suggest that the advice given in the manual is not good advice. </a:t>
            </a:r>
            <a:endParaRPr lang="en-US" sz="2800" baseline="-25000" dirty="0">
              <a:latin typeface="+mn-lt"/>
              <a:cs typeface="Times New Roman"/>
            </a:endParaRPr>
          </a:p>
        </p:txBody>
      </p:sp>
      <p:pic>
        <p:nvPicPr>
          <p:cNvPr id="4" name="Picture 3" descr="Screen Shot 2017-04-11 at 10.58.53 A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9184" y="980728"/>
            <a:ext cx="3602808" cy="3168352"/>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p:cNvSpPr>
            <a:spLocks noGrp="1"/>
          </p:cNvSpPr>
          <p:nvPr>
            <p:ph type="title"/>
          </p:nvPr>
        </p:nvSpPr>
        <p:spPr>
          <a:xfrm>
            <a:off x="3648076" y="274639"/>
            <a:ext cx="6562725" cy="777875"/>
          </a:xfrm>
        </p:spPr>
        <p:txBody>
          <a:bodyPr/>
          <a:lstStyle/>
          <a:p>
            <a:r>
              <a:rPr lang="en-US" sz="4400" b="1" dirty="0">
                <a:solidFill>
                  <a:srgbClr val="0000FF"/>
                </a:solidFill>
                <a:latin typeface="Calibri" charset="0"/>
              </a:rPr>
              <a:t>Exercise #3 </a:t>
            </a:r>
          </a:p>
        </p:txBody>
      </p:sp>
      <p:sp>
        <p:nvSpPr>
          <p:cNvPr id="74754" name="Content Placeholder 2"/>
          <p:cNvSpPr>
            <a:spLocks noGrp="1"/>
          </p:cNvSpPr>
          <p:nvPr>
            <p:ph idx="1"/>
          </p:nvPr>
        </p:nvSpPr>
        <p:spPr>
          <a:xfrm>
            <a:off x="1847850" y="1600201"/>
            <a:ext cx="8362950" cy="4525963"/>
          </a:xfrm>
        </p:spPr>
        <p:txBody>
          <a:bodyPr/>
          <a:lstStyle/>
          <a:p>
            <a:pPr marL="0" indent="0" algn="just">
              <a:buNone/>
            </a:pPr>
            <a:r>
              <a:rPr lang="en-US" sz="2800" b="1" dirty="0">
                <a:latin typeface="Calibri" charset="0"/>
              </a:rPr>
              <a:t>Red Blood Cell Count: </a:t>
            </a:r>
            <a:r>
              <a:rPr lang="en-US" sz="2800" dirty="0">
                <a:latin typeface="Calibri" charset="0"/>
              </a:rPr>
              <a:t>A simple random sample of 50 adults is obtained, and each person’s red blood cell count (in cells per microliter) is measured. The sample mean is 5.23. The population standard deviation for red blood cell counts is 0.54. Use a 0.01 significance level to test the claim that the sample is from a population with a mean less than 5.4, which is a value often used for the upper limit of the range of normal values. What do the results suggest about the sample group?</a:t>
            </a:r>
          </a:p>
        </p:txBody>
      </p:sp>
      <p:sp>
        <p:nvSpPr>
          <p:cNvPr id="74755"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F21AF4AB-D07F-6E41-B175-B3877A36B1C2}" type="slidenum">
              <a:rPr lang="en-US" sz="1200">
                <a:solidFill>
                  <a:srgbClr val="898989"/>
                </a:solidFill>
                <a:cs typeface="Arial" charset="0"/>
              </a:rPr>
              <a:pPr eaLnBrk="1" hangingPunct="1"/>
              <a:t>53</a:t>
            </a:fld>
            <a:endParaRPr lang="en-US" sz="1200">
              <a:solidFill>
                <a:srgbClr val="898989"/>
              </a:solidFill>
              <a:cs typeface="Arial"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p:cNvSpPr>
          <p:nvPr>
            <p:ph type="title"/>
          </p:nvPr>
        </p:nvSpPr>
        <p:spPr>
          <a:xfrm>
            <a:off x="3648076" y="274638"/>
            <a:ext cx="6562725" cy="994122"/>
          </a:xfrm>
        </p:spPr>
        <p:txBody>
          <a:bodyPr/>
          <a:lstStyle/>
          <a:p>
            <a:r>
              <a:rPr lang="en-US" sz="4400" b="1" dirty="0"/>
              <a:t>Type of Hypothesis Test </a:t>
            </a:r>
            <a:r>
              <a:rPr lang="mr-IN" sz="4400" b="1" dirty="0"/>
              <a:t>–</a:t>
            </a:r>
            <a:r>
              <a:rPr lang="en-US" sz="4400" b="1" dirty="0"/>
              <a:t> Single Sample</a:t>
            </a:r>
          </a:p>
        </p:txBody>
      </p:sp>
      <p:graphicFrame>
        <p:nvGraphicFramePr>
          <p:cNvPr id="3" name="Content Placeholder 2">
            <a:extLst>
              <a:ext uri="{FF2B5EF4-FFF2-40B4-BE49-F238E27FC236}">
                <a16:creationId xmlns:a16="http://schemas.microsoft.com/office/drawing/2014/main" id="{5EC9F0F5-0155-0740-88D5-E8F010B7CAA0}"/>
              </a:ext>
            </a:extLst>
          </p:cNvPr>
          <p:cNvGraphicFramePr>
            <a:graphicFrameLocks noGrp="1"/>
          </p:cNvGraphicFramePr>
          <p:nvPr>
            <p:ph idx="1"/>
          </p:nvPr>
        </p:nvGraphicFramePr>
        <p:xfrm>
          <a:off x="1676400" y="1600201"/>
          <a:ext cx="89154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3491"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186087D1-4DC7-F04A-BDA0-D5B281E2568D}" type="slidenum">
              <a:rPr lang="en-US" sz="1200">
                <a:solidFill>
                  <a:srgbClr val="898989"/>
                </a:solidFill>
                <a:cs typeface="Arial" charset="0"/>
              </a:rPr>
              <a:pPr eaLnBrk="1" hangingPunct="1"/>
              <a:t>54</a:t>
            </a:fld>
            <a:endParaRPr lang="en-US" sz="1200">
              <a:solidFill>
                <a:srgbClr val="898989"/>
              </a:solidFill>
              <a:cs typeface="Arial" charset="0"/>
            </a:endParaRPr>
          </a:p>
        </p:txBody>
      </p:sp>
      <p:sp>
        <p:nvSpPr>
          <p:cNvPr id="7" name="TextBox 6">
            <a:extLst>
              <a:ext uri="{FF2B5EF4-FFF2-40B4-BE49-F238E27FC236}">
                <a16:creationId xmlns:a16="http://schemas.microsoft.com/office/drawing/2014/main" id="{B17ACE29-86A6-8B4C-9BB5-32053B276AB8}"/>
              </a:ext>
            </a:extLst>
          </p:cNvPr>
          <p:cNvSpPr txBox="1"/>
          <p:nvPr/>
        </p:nvSpPr>
        <p:spPr>
          <a:xfrm>
            <a:off x="3152775" y="3263017"/>
            <a:ext cx="990600" cy="1200329"/>
          </a:xfrm>
          <a:prstGeom prst="rect">
            <a:avLst/>
          </a:prstGeom>
          <a:noFill/>
        </p:spPr>
        <p:txBody>
          <a:bodyPr wrap="square" rtlCol="0">
            <a:spAutoFit/>
          </a:bodyPr>
          <a:lstStyle/>
          <a:p>
            <a:r>
              <a:rPr lang="en-US" sz="7200" dirty="0">
                <a:solidFill>
                  <a:srgbClr val="FF0000"/>
                </a:solidFill>
              </a:rPr>
              <a:t>X</a:t>
            </a:r>
          </a:p>
        </p:txBody>
      </p:sp>
      <p:sp>
        <p:nvSpPr>
          <p:cNvPr id="11" name="Rectangle 10">
            <a:extLst>
              <a:ext uri="{FF2B5EF4-FFF2-40B4-BE49-F238E27FC236}">
                <a16:creationId xmlns:a16="http://schemas.microsoft.com/office/drawing/2014/main" id="{BF85A11E-A1B5-A14A-BAD9-6A412B160225}"/>
              </a:ext>
            </a:extLst>
          </p:cNvPr>
          <p:cNvSpPr/>
          <p:nvPr/>
        </p:nvSpPr>
        <p:spPr>
          <a:xfrm>
            <a:off x="2133601" y="4648200"/>
            <a:ext cx="7927975" cy="16002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A80E444-40F5-6346-B571-5D21A8BA4DE1}"/>
              </a:ext>
            </a:extLst>
          </p:cNvPr>
          <p:cNvSpPr/>
          <p:nvPr/>
        </p:nvSpPr>
        <p:spPr>
          <a:xfrm>
            <a:off x="2132013" y="1524000"/>
            <a:ext cx="7927975" cy="16002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45939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bwMode="auto">
          <a:xfrm>
            <a:off x="1775520" y="1340768"/>
            <a:ext cx="8640762" cy="4800600"/>
          </a:xfrm>
          <a:prstGeom prst="rect">
            <a:avLst/>
          </a:prstGeom>
          <a:noFill/>
          <a:ln w="9525">
            <a:noFill/>
            <a:miter lim="800000"/>
            <a:headEnd/>
            <a:tailEnd/>
          </a:ln>
          <a:effectLst/>
        </p:spPr>
        <p:txBody>
          <a:bodyPr>
            <a:normAutofit/>
          </a:bodyPr>
          <a:lstStyle/>
          <a:p>
            <a:pPr marL="342900" indent="-342900" algn="just" eaLnBrk="0" hangingPunct="0">
              <a:spcBef>
                <a:spcPct val="20000"/>
              </a:spcBef>
              <a:buBlip>
                <a:blip r:embed="rId2"/>
              </a:buBlip>
              <a:defRPr/>
            </a:pPr>
            <a:r>
              <a:rPr lang="en-US" sz="2400" kern="0" dirty="0">
                <a:latin typeface="+mn-lt"/>
                <a:ea typeface="+mn-ea"/>
                <a:cs typeface="Times New Roman"/>
              </a:rPr>
              <a:t>Test statistic concerning one mean </a:t>
            </a:r>
            <a:r>
              <a:rPr lang="en-AU" sz="2400" kern="0" dirty="0">
                <a:latin typeface="+mn-lt"/>
                <a:ea typeface="+mn-ea"/>
                <a:cs typeface="Times New Roman"/>
              </a:rPr>
              <a:t>for data that can be assumed to follow a normal distribution but </a:t>
            </a:r>
            <a:r>
              <a:rPr lang="en-AU" sz="2400" kern="0" dirty="0">
                <a:solidFill>
                  <a:srgbClr val="0000FF"/>
                </a:solidFill>
                <a:latin typeface="+mn-lt"/>
                <a:ea typeface="+mn-ea"/>
                <a:cs typeface="Times New Roman"/>
              </a:rPr>
              <a:t>variance</a:t>
            </a:r>
            <a:r>
              <a:rPr lang="en-AU" sz="2400" i="1" kern="0" dirty="0">
                <a:solidFill>
                  <a:srgbClr val="0000FF"/>
                </a:solidFill>
                <a:latin typeface="+mn-lt"/>
                <a:ea typeface="+mn-ea"/>
                <a:cs typeface="Times New Roman"/>
              </a:rPr>
              <a:t> </a:t>
            </a:r>
            <a:r>
              <a:rPr lang="en-AU" sz="2400" kern="0" dirty="0">
                <a:solidFill>
                  <a:srgbClr val="0000FF"/>
                </a:solidFill>
                <a:latin typeface="+mn-lt"/>
                <a:ea typeface="+mn-ea"/>
                <a:cs typeface="Times New Roman"/>
              </a:rPr>
              <a:t>is unknown </a:t>
            </a:r>
            <a:r>
              <a:rPr lang="en-AU" sz="2400" kern="0" dirty="0">
                <a:latin typeface="+mn-lt"/>
                <a:ea typeface="+mn-ea"/>
                <a:cs typeface="Times New Roman"/>
              </a:rPr>
              <a:t>and the sample is </a:t>
            </a:r>
            <a:r>
              <a:rPr lang="en-AU" sz="2400" kern="0" dirty="0">
                <a:solidFill>
                  <a:srgbClr val="0000FF"/>
                </a:solidFill>
                <a:latin typeface="+mn-lt"/>
                <a:ea typeface="+mn-ea"/>
                <a:cs typeface="Times New Roman"/>
              </a:rPr>
              <a:t>small (</a:t>
            </a:r>
            <a:r>
              <a:rPr lang="en-AU" sz="2400" i="1" kern="0" dirty="0">
                <a:solidFill>
                  <a:srgbClr val="0000FF"/>
                </a:solidFill>
                <a:latin typeface="+mn-lt"/>
                <a:ea typeface="+mn-ea"/>
                <a:cs typeface="Times New Roman"/>
              </a:rPr>
              <a:t>n</a:t>
            </a:r>
            <a:r>
              <a:rPr lang="en-AU" sz="2400" kern="0" dirty="0">
                <a:solidFill>
                  <a:srgbClr val="0000FF"/>
                </a:solidFill>
                <a:latin typeface="+mn-lt"/>
                <a:ea typeface="+mn-ea"/>
                <a:cs typeface="Times New Roman"/>
              </a:rPr>
              <a:t> ≤ 30), </a:t>
            </a:r>
            <a:r>
              <a:rPr lang="en-AU" sz="2400" kern="0" dirty="0">
                <a:latin typeface="+mn-lt"/>
                <a:ea typeface="+mn-ea"/>
                <a:cs typeface="Times New Roman"/>
              </a:rPr>
              <a:t>the test statistic is:</a:t>
            </a:r>
            <a:endParaRPr lang="en-US" sz="2400" b="1" kern="0" dirty="0">
              <a:latin typeface="+mn-lt"/>
              <a:ea typeface="+mn-ea"/>
              <a:cs typeface="Times New Roman"/>
            </a:endParaRPr>
          </a:p>
          <a:p>
            <a:pPr marL="114300" algn="just" eaLnBrk="0" hangingPunct="0">
              <a:spcBef>
                <a:spcPct val="20000"/>
              </a:spcBef>
              <a:defRPr/>
            </a:pPr>
            <a:endParaRPr lang="en-US" sz="2400" b="1" kern="0" dirty="0">
              <a:latin typeface="+mn-lt"/>
              <a:ea typeface="+mn-ea"/>
              <a:cs typeface="Times New Roman"/>
            </a:endParaRPr>
          </a:p>
          <a:p>
            <a:pPr marL="114300" algn="just" eaLnBrk="0" hangingPunct="0">
              <a:spcBef>
                <a:spcPct val="20000"/>
              </a:spcBef>
              <a:defRPr/>
            </a:pPr>
            <a:endParaRPr lang="en-US" sz="2400" b="1" kern="0" dirty="0">
              <a:latin typeface="+mn-lt"/>
              <a:ea typeface="+mn-ea"/>
              <a:cs typeface="Times New Roman"/>
            </a:endParaRPr>
          </a:p>
          <a:p>
            <a:pPr algn="just" eaLnBrk="0" hangingPunct="0">
              <a:spcBef>
                <a:spcPct val="20000"/>
              </a:spcBef>
              <a:defRPr/>
            </a:pPr>
            <a:endParaRPr lang="en-AU" sz="2400" kern="0" dirty="0">
              <a:latin typeface="+mn-lt"/>
              <a:ea typeface="+mn-ea"/>
              <a:cs typeface="Times New Roman"/>
            </a:endParaRPr>
          </a:p>
          <a:p>
            <a:pPr marL="342900" indent="-342900" algn="just" eaLnBrk="0" hangingPunct="0">
              <a:spcBef>
                <a:spcPct val="20000"/>
              </a:spcBef>
              <a:buBlip>
                <a:blip r:embed="rId2"/>
              </a:buBlip>
              <a:defRPr/>
            </a:pPr>
            <a:r>
              <a:rPr lang="en-AU" sz="2400" kern="0" dirty="0">
                <a:latin typeface="+mn-lt"/>
                <a:ea typeface="+mn-ea"/>
                <a:cs typeface="Times New Roman"/>
              </a:rPr>
              <a:t>When testing hypothesis concerning one mean for data that can be assumed to follow a normal distribution and </a:t>
            </a:r>
            <a:r>
              <a:rPr lang="en-AU" sz="2400" kern="0" dirty="0">
                <a:solidFill>
                  <a:srgbClr val="0000FF"/>
                </a:solidFill>
                <a:latin typeface="+mn-lt"/>
                <a:cs typeface="Times New Roman"/>
              </a:rPr>
              <a:t>variance</a:t>
            </a:r>
            <a:r>
              <a:rPr lang="en-AU" sz="2400" kern="0" dirty="0">
                <a:solidFill>
                  <a:srgbClr val="0000FF"/>
                </a:solidFill>
                <a:latin typeface="+mn-lt"/>
                <a:ea typeface="+mn-ea"/>
                <a:cs typeface="Times New Roman"/>
              </a:rPr>
              <a:t> is unknown</a:t>
            </a:r>
            <a:r>
              <a:rPr lang="en-AU" sz="2400" kern="0" dirty="0">
                <a:latin typeface="+mn-lt"/>
                <a:ea typeface="+mn-ea"/>
                <a:cs typeface="Times New Roman"/>
              </a:rPr>
              <a:t>, but the sample is </a:t>
            </a:r>
            <a:r>
              <a:rPr lang="en-AU" sz="2400" kern="0" dirty="0">
                <a:solidFill>
                  <a:srgbClr val="FF0000"/>
                </a:solidFill>
                <a:latin typeface="+mn-lt"/>
                <a:ea typeface="+mn-ea"/>
                <a:cs typeface="Times New Roman"/>
              </a:rPr>
              <a:t>large (</a:t>
            </a:r>
            <a:r>
              <a:rPr lang="en-AU" sz="2400" i="1" kern="0" dirty="0">
                <a:solidFill>
                  <a:srgbClr val="FF0000"/>
                </a:solidFill>
                <a:latin typeface="+mn-lt"/>
                <a:ea typeface="+mn-ea"/>
                <a:cs typeface="Times New Roman"/>
              </a:rPr>
              <a:t>n</a:t>
            </a:r>
            <a:r>
              <a:rPr lang="en-AU" sz="2400" kern="0" dirty="0">
                <a:solidFill>
                  <a:srgbClr val="FF0000"/>
                </a:solidFill>
                <a:latin typeface="+mn-lt"/>
                <a:ea typeface="+mn-ea"/>
                <a:cs typeface="Times New Roman"/>
              </a:rPr>
              <a:t> &gt; 30), </a:t>
            </a:r>
            <a:r>
              <a:rPr lang="en-AU" sz="2400" kern="0" dirty="0">
                <a:latin typeface="+mn-lt"/>
                <a:ea typeface="+mn-ea"/>
                <a:cs typeface="Times New Roman"/>
              </a:rPr>
              <a:t>the test statistic is:</a:t>
            </a:r>
          </a:p>
          <a:p>
            <a:pPr marL="114300" algn="just" eaLnBrk="0" hangingPunct="0">
              <a:spcBef>
                <a:spcPct val="20000"/>
              </a:spcBef>
              <a:defRPr/>
            </a:pPr>
            <a:r>
              <a:rPr lang="en-US" sz="2400" b="1" kern="0" dirty="0">
                <a:latin typeface="+mn-lt"/>
                <a:ea typeface="+mn-ea"/>
                <a:cs typeface="Times New Roman"/>
              </a:rPr>
              <a:t>		</a:t>
            </a:r>
          </a:p>
          <a:p>
            <a:pPr algn="just" eaLnBrk="0" hangingPunct="0">
              <a:spcBef>
                <a:spcPct val="20000"/>
              </a:spcBef>
              <a:defRPr/>
            </a:pPr>
            <a:endParaRPr lang="en-US" sz="2400" b="1" kern="0" dirty="0">
              <a:latin typeface="+mn-lt"/>
              <a:ea typeface="+mn-ea"/>
              <a:cs typeface="Times New Roman"/>
            </a:endParaRPr>
          </a:p>
        </p:txBody>
      </p:sp>
      <p:graphicFrame>
        <p:nvGraphicFramePr>
          <p:cNvPr id="77827" name="Object 7"/>
          <p:cNvGraphicFramePr>
            <a:graphicFrameLocks noChangeAspect="1"/>
          </p:cNvGraphicFramePr>
          <p:nvPr>
            <p:extLst>
              <p:ext uri="{D42A27DB-BD31-4B8C-83A1-F6EECF244321}">
                <p14:modId xmlns:p14="http://schemas.microsoft.com/office/powerpoint/2010/main" val="1927993767"/>
              </p:ext>
            </p:extLst>
          </p:nvPr>
        </p:nvGraphicFramePr>
        <p:xfrm>
          <a:off x="4827984" y="5156200"/>
          <a:ext cx="1916088" cy="1236186"/>
        </p:xfrm>
        <a:graphic>
          <a:graphicData uri="http://schemas.openxmlformats.org/presentationml/2006/ole">
            <mc:AlternateContent xmlns:mc="http://schemas.openxmlformats.org/markup-compatibility/2006">
              <mc:Choice xmlns:v="urn:schemas-microsoft-com:vml" Requires="v">
                <p:oleObj name="Equation" r:id="rId3" imgW="776880" imgH="658080" progId="Equation.3">
                  <p:embed/>
                </p:oleObj>
              </mc:Choice>
              <mc:Fallback>
                <p:oleObj name="Equation" r:id="rId3" imgW="776880" imgH="658080" progId="Equation.3">
                  <p:embed/>
                  <p:pic>
                    <p:nvPicPr>
                      <p:cNvPr id="0" name="Picture 1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7984" y="5156200"/>
                        <a:ext cx="1916088" cy="12361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7828"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73AE199F-9AE0-2547-98D1-97CEF785EAA5}" type="slidenum">
              <a:rPr lang="en-US" sz="1200">
                <a:solidFill>
                  <a:srgbClr val="898989"/>
                </a:solidFill>
                <a:cs typeface="Arial" charset="0"/>
              </a:rPr>
              <a:pPr eaLnBrk="1" hangingPunct="1"/>
              <a:t>55</a:t>
            </a:fld>
            <a:endParaRPr lang="en-US" sz="1200">
              <a:solidFill>
                <a:srgbClr val="898989"/>
              </a:solidFill>
              <a:cs typeface="Arial"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1477625747"/>
              </p:ext>
            </p:extLst>
          </p:nvPr>
        </p:nvGraphicFramePr>
        <p:xfrm>
          <a:off x="4727848" y="2523138"/>
          <a:ext cx="1702544" cy="1409919"/>
        </p:xfrm>
        <a:graphic>
          <a:graphicData uri="http://schemas.openxmlformats.org/presentationml/2006/ole">
            <mc:AlternateContent xmlns:mc="http://schemas.openxmlformats.org/markup-compatibility/2006">
              <mc:Choice xmlns:v="urn:schemas-microsoft-com:vml" Requires="v">
                <p:oleObj name="Equation" r:id="rId5" imgW="804240" imgH="658080" progId="Equation.3">
                  <p:embed/>
                </p:oleObj>
              </mc:Choice>
              <mc:Fallback>
                <p:oleObj name="Equation" r:id="rId5" imgW="804240" imgH="658080" progId="Equation.3">
                  <p:embed/>
                  <p:pic>
                    <p:nvPicPr>
                      <p:cNvPr id="0" name="Picture 1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7848" y="2523138"/>
                        <a:ext cx="1702544" cy="14099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itle 1"/>
          <p:cNvSpPr>
            <a:spLocks noGrp="1"/>
          </p:cNvSpPr>
          <p:nvPr>
            <p:ph type="title"/>
          </p:nvPr>
        </p:nvSpPr>
        <p:spPr>
          <a:xfrm>
            <a:off x="3431704" y="260351"/>
            <a:ext cx="6985446" cy="777875"/>
          </a:xfrm>
        </p:spPr>
        <p:txBody>
          <a:bodyPr/>
          <a:lstStyle/>
          <a:p>
            <a:r>
              <a:rPr lang="en-US" b="1" dirty="0">
                <a:latin typeface="Calibri" charset="0"/>
              </a:rPr>
              <a:t>Test on Mean, Variance Unknown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bwMode="auto">
          <a:xfrm>
            <a:off x="1981201" y="3810000"/>
            <a:ext cx="8435975" cy="2590800"/>
          </a:xfrm>
          <a:prstGeom prst="rect">
            <a:avLst/>
          </a:prstGeom>
          <a:noFill/>
          <a:ln w="9525">
            <a:noFill/>
            <a:miter lim="800000"/>
            <a:headEnd/>
            <a:tailEnd/>
          </a:ln>
          <a:effectLst/>
        </p:spPr>
        <p:txBody>
          <a:bodyPr>
            <a:noAutofit/>
          </a:bodyPr>
          <a:lstStyle/>
          <a:p>
            <a:pPr marL="342900" indent="-342900" eaLnBrk="0" hangingPunct="0">
              <a:spcBef>
                <a:spcPct val="20000"/>
              </a:spcBef>
              <a:defRPr/>
            </a:pPr>
            <a:r>
              <a:rPr lang="en-US" sz="2400" kern="0" dirty="0">
                <a:latin typeface="+mn-lt"/>
                <a:ea typeface="+mn-ea"/>
                <a:cs typeface="+mn-cs"/>
              </a:rPr>
              <a:t>	</a:t>
            </a:r>
            <a:r>
              <a:rPr lang="en-US" sz="2800" kern="0" dirty="0">
                <a:latin typeface="+mn-lt"/>
                <a:ea typeface="+mn-ea"/>
                <a:cs typeface="+mn-cs"/>
              </a:rPr>
              <a:t>The reference distribution for </a:t>
            </a:r>
            <a:r>
              <a:rPr lang="en-US" sz="2800" i="1" kern="0" dirty="0">
                <a:latin typeface="+mn-lt"/>
                <a:ea typeface="+mn-ea"/>
                <a:cs typeface="+mn-cs"/>
              </a:rPr>
              <a:t>H</a:t>
            </a:r>
            <a:r>
              <a:rPr lang="en-US" sz="2800" kern="0" baseline="-25000" dirty="0">
                <a:latin typeface="+mn-lt"/>
                <a:ea typeface="+mn-ea"/>
                <a:cs typeface="+mn-cs"/>
              </a:rPr>
              <a:t>0</a:t>
            </a:r>
            <a:r>
              <a:rPr lang="en-US" sz="2800" kern="0" dirty="0">
                <a:latin typeface="+mn-lt"/>
                <a:ea typeface="+mn-ea"/>
                <a:cs typeface="+mn-cs"/>
              </a:rPr>
              <a:t>: µ= µ</a:t>
            </a:r>
            <a:r>
              <a:rPr lang="en-US" sz="2800" kern="0" baseline="-25000" dirty="0">
                <a:latin typeface="+mn-lt"/>
                <a:ea typeface="+mn-ea"/>
                <a:cs typeface="+mn-cs"/>
              </a:rPr>
              <a:t>0</a:t>
            </a:r>
            <a:r>
              <a:rPr lang="en-US" sz="2800" kern="0" dirty="0">
                <a:latin typeface="+mn-lt"/>
                <a:ea typeface="+mn-ea"/>
                <a:cs typeface="+mn-cs"/>
              </a:rPr>
              <a:t> with critical region for </a:t>
            </a:r>
            <a:r>
              <a:rPr lang="en-US" sz="2800" kern="0" dirty="0">
                <a:solidFill>
                  <a:srgbClr val="FF0000"/>
                </a:solidFill>
                <a:latin typeface="+mn-lt"/>
                <a:ea typeface="+mn-ea"/>
                <a:cs typeface="+mn-cs"/>
              </a:rPr>
              <a:t>(a)  </a:t>
            </a:r>
            <a:r>
              <a:rPr lang="en-US" sz="2800" kern="0" dirty="0">
                <a:latin typeface="+mn-lt"/>
                <a:ea typeface="+mn-ea"/>
                <a:cs typeface="+mn-cs"/>
              </a:rPr>
              <a:t>the two-sided alternative </a:t>
            </a:r>
            <a:r>
              <a:rPr lang="en-US" sz="2800" i="1" kern="0" dirty="0">
                <a:latin typeface="+mn-lt"/>
                <a:ea typeface="+mn-ea"/>
                <a:cs typeface="+mn-cs"/>
              </a:rPr>
              <a:t>H</a:t>
            </a:r>
            <a:r>
              <a:rPr lang="en-US" sz="2800" kern="0" baseline="-25000" dirty="0">
                <a:latin typeface="+mn-lt"/>
                <a:ea typeface="+mn-ea"/>
                <a:cs typeface="+mn-cs"/>
              </a:rPr>
              <a:t>1</a:t>
            </a:r>
            <a:r>
              <a:rPr lang="en-US" sz="2800" kern="0" dirty="0">
                <a:latin typeface="+mn-lt"/>
                <a:ea typeface="+mn-ea"/>
                <a:cs typeface="+mn-cs"/>
              </a:rPr>
              <a:t>: µ≠ µ</a:t>
            </a:r>
            <a:r>
              <a:rPr lang="en-US" sz="2800" kern="0" baseline="-25000" dirty="0">
                <a:latin typeface="+mn-lt"/>
                <a:ea typeface="+mn-ea"/>
                <a:cs typeface="+mn-cs"/>
              </a:rPr>
              <a:t>0</a:t>
            </a:r>
            <a:r>
              <a:rPr lang="en-US" sz="2800" kern="0" dirty="0">
                <a:latin typeface="+mn-lt"/>
                <a:ea typeface="+mn-ea"/>
                <a:cs typeface="+mn-cs"/>
              </a:rPr>
              <a:t> </a:t>
            </a:r>
            <a:r>
              <a:rPr lang="en-US" sz="2800" kern="0" dirty="0">
                <a:solidFill>
                  <a:srgbClr val="FF0000"/>
                </a:solidFill>
                <a:latin typeface="+mn-lt"/>
                <a:ea typeface="+mn-ea"/>
                <a:cs typeface="+mn-cs"/>
              </a:rPr>
              <a:t>(b) </a:t>
            </a:r>
            <a:r>
              <a:rPr lang="en-US" sz="2800" kern="0" dirty="0">
                <a:latin typeface="+mn-lt"/>
                <a:ea typeface="+mn-ea"/>
                <a:cs typeface="+mn-cs"/>
              </a:rPr>
              <a:t>the one-sided alternative </a:t>
            </a:r>
            <a:r>
              <a:rPr lang="en-US" sz="2800" i="1" kern="0" dirty="0">
                <a:latin typeface="+mn-lt"/>
                <a:ea typeface="+mn-ea"/>
                <a:cs typeface="+mn-cs"/>
              </a:rPr>
              <a:t>H</a:t>
            </a:r>
            <a:r>
              <a:rPr lang="en-US" sz="2800" kern="0" baseline="-25000" dirty="0">
                <a:latin typeface="+mn-lt"/>
                <a:ea typeface="+mn-ea"/>
                <a:cs typeface="+mn-cs"/>
              </a:rPr>
              <a:t>1</a:t>
            </a:r>
            <a:r>
              <a:rPr lang="en-US" sz="2800" kern="0" dirty="0">
                <a:latin typeface="+mn-lt"/>
                <a:ea typeface="+mn-ea"/>
                <a:cs typeface="+mn-cs"/>
              </a:rPr>
              <a:t>: µ&gt;µ</a:t>
            </a:r>
            <a:r>
              <a:rPr lang="en-US" sz="2800" kern="0" baseline="-25000" dirty="0">
                <a:latin typeface="+mn-lt"/>
                <a:ea typeface="+mn-ea"/>
                <a:cs typeface="+mn-cs"/>
              </a:rPr>
              <a:t>0</a:t>
            </a:r>
            <a:r>
              <a:rPr lang="en-US" sz="2800" kern="0" dirty="0">
                <a:latin typeface="+mn-lt"/>
                <a:ea typeface="+mn-ea"/>
                <a:cs typeface="+mn-cs"/>
              </a:rPr>
              <a:t> and</a:t>
            </a:r>
            <a:r>
              <a:rPr lang="en-US" sz="2800" kern="0" dirty="0">
                <a:solidFill>
                  <a:srgbClr val="FF0000"/>
                </a:solidFill>
                <a:latin typeface="+mn-lt"/>
                <a:ea typeface="+mn-ea"/>
                <a:cs typeface="+mn-cs"/>
              </a:rPr>
              <a:t> (c) </a:t>
            </a:r>
            <a:r>
              <a:rPr lang="en-US" sz="2800" kern="0" dirty="0">
                <a:latin typeface="+mn-lt"/>
                <a:ea typeface="+mn-ea"/>
                <a:cs typeface="+mn-cs"/>
              </a:rPr>
              <a:t>the one-sided alternative </a:t>
            </a:r>
            <a:r>
              <a:rPr lang="en-US" sz="2800" i="1" kern="0" dirty="0">
                <a:latin typeface="+mn-lt"/>
                <a:ea typeface="+mn-ea"/>
                <a:cs typeface="+mn-cs"/>
              </a:rPr>
              <a:t>H</a:t>
            </a:r>
            <a:r>
              <a:rPr lang="en-US" sz="2800" kern="0" baseline="-25000" dirty="0">
                <a:latin typeface="+mn-lt"/>
                <a:ea typeface="+mn-ea"/>
                <a:cs typeface="+mn-cs"/>
              </a:rPr>
              <a:t>1</a:t>
            </a:r>
            <a:r>
              <a:rPr lang="en-US" sz="2800" kern="0" dirty="0">
                <a:latin typeface="+mn-lt"/>
                <a:ea typeface="+mn-ea"/>
                <a:cs typeface="+mn-cs"/>
              </a:rPr>
              <a:t>: µ&lt;µ</a:t>
            </a:r>
            <a:r>
              <a:rPr lang="en-US" sz="2800" kern="0" baseline="-25000" dirty="0">
                <a:latin typeface="+mn-lt"/>
                <a:ea typeface="+mn-ea"/>
                <a:cs typeface="+mn-cs"/>
              </a:rPr>
              <a:t>0</a:t>
            </a:r>
            <a:r>
              <a:rPr lang="en-US" sz="2800" kern="0" dirty="0">
                <a:latin typeface="+mn-lt"/>
                <a:ea typeface="+mn-ea"/>
                <a:cs typeface="+mn-cs"/>
              </a:rPr>
              <a:t>.</a:t>
            </a:r>
          </a:p>
          <a:p>
            <a:pPr marL="342900" indent="-342900" eaLnBrk="0" hangingPunct="0">
              <a:spcBef>
                <a:spcPct val="20000"/>
              </a:spcBef>
              <a:buBlip>
                <a:blip r:embed="rId2"/>
              </a:buBlip>
              <a:defRPr/>
            </a:pPr>
            <a:endParaRPr lang="en-US" sz="2800" b="1" kern="0" dirty="0">
              <a:latin typeface="+mn-lt"/>
              <a:ea typeface="+mn-ea"/>
              <a:cs typeface="+mn-cs"/>
            </a:endParaRPr>
          </a:p>
          <a:p>
            <a:pPr marL="342900" indent="-342900" eaLnBrk="0" hangingPunct="0">
              <a:spcBef>
                <a:spcPct val="20000"/>
              </a:spcBef>
              <a:buBlip>
                <a:blip r:embed="rId2"/>
              </a:buBlip>
              <a:defRPr/>
            </a:pPr>
            <a:endParaRPr lang="en-US" sz="2800" b="1" kern="0" dirty="0">
              <a:latin typeface="+mn-lt"/>
              <a:ea typeface="+mn-ea"/>
              <a:cs typeface="+mn-cs"/>
            </a:endParaRPr>
          </a:p>
          <a:p>
            <a:pPr marL="342900" indent="-342900" eaLnBrk="0" hangingPunct="0">
              <a:spcBef>
                <a:spcPct val="20000"/>
              </a:spcBef>
              <a:buBlip>
                <a:blip r:embed="rId2"/>
              </a:buBlip>
              <a:defRPr/>
            </a:pPr>
            <a:endParaRPr lang="en-US" sz="2800" b="1" kern="0" dirty="0">
              <a:latin typeface="+mn-lt"/>
              <a:ea typeface="+mn-ea"/>
              <a:cs typeface="+mn-cs"/>
            </a:endParaRPr>
          </a:p>
          <a:p>
            <a:pPr marL="342900" indent="-342900" eaLnBrk="0" hangingPunct="0">
              <a:spcBef>
                <a:spcPct val="20000"/>
              </a:spcBef>
              <a:defRPr/>
            </a:pPr>
            <a:endParaRPr lang="en-US" sz="2800" kern="0" dirty="0">
              <a:latin typeface="+mn-lt"/>
              <a:ea typeface="+mn-ea"/>
              <a:cs typeface="+mn-cs"/>
            </a:endParaRPr>
          </a:p>
          <a:p>
            <a:pPr marL="342900" indent="-342900" eaLnBrk="0" hangingPunct="0">
              <a:spcBef>
                <a:spcPct val="20000"/>
              </a:spcBef>
              <a:buBlip>
                <a:blip r:embed="rId2"/>
              </a:buBlip>
              <a:defRPr/>
            </a:pPr>
            <a:endParaRPr lang="en-US" sz="2800" kern="0" dirty="0">
              <a:latin typeface="+mn-lt"/>
              <a:ea typeface="+mn-ea"/>
              <a:cs typeface="+mn-cs"/>
            </a:endParaRPr>
          </a:p>
        </p:txBody>
      </p:sp>
      <p:pic>
        <p:nvPicPr>
          <p:cNvPr id="788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626" y="1412876"/>
            <a:ext cx="8816975" cy="23034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8851"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8E126578-CFFA-AA42-9AE8-2A391BD3DBA7}" type="slidenum">
              <a:rPr lang="en-US" sz="1200">
                <a:solidFill>
                  <a:srgbClr val="898989"/>
                </a:solidFill>
                <a:cs typeface="Arial" charset="0"/>
              </a:rPr>
              <a:pPr eaLnBrk="1" hangingPunct="1"/>
              <a:t>56</a:t>
            </a:fld>
            <a:endParaRPr lang="en-US" sz="1200">
              <a:solidFill>
                <a:srgbClr val="898989"/>
              </a:solidFill>
              <a:cs typeface="Arial"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p:cNvSpPr>
            <a:spLocks noGrp="1"/>
          </p:cNvSpPr>
          <p:nvPr>
            <p:ph type="title"/>
          </p:nvPr>
        </p:nvSpPr>
        <p:spPr>
          <a:xfrm>
            <a:off x="3648076" y="274639"/>
            <a:ext cx="6562725" cy="777875"/>
          </a:xfrm>
        </p:spPr>
        <p:txBody>
          <a:bodyPr/>
          <a:lstStyle/>
          <a:p>
            <a:r>
              <a:rPr lang="en-US" sz="4400" b="1" dirty="0">
                <a:latin typeface="Calibri" charset="0"/>
              </a:rPr>
              <a:t>Example</a:t>
            </a:r>
          </a:p>
        </p:txBody>
      </p:sp>
      <p:sp>
        <p:nvSpPr>
          <p:cNvPr id="79874" name="Content Placeholder 2"/>
          <p:cNvSpPr>
            <a:spLocks noGrp="1"/>
          </p:cNvSpPr>
          <p:nvPr>
            <p:ph idx="1"/>
          </p:nvPr>
        </p:nvSpPr>
        <p:spPr>
          <a:xfrm>
            <a:off x="1703388" y="1125539"/>
            <a:ext cx="8640762" cy="5399087"/>
          </a:xfrm>
        </p:spPr>
        <p:txBody>
          <a:bodyPr/>
          <a:lstStyle/>
          <a:p>
            <a:pPr marL="0" indent="0" algn="just">
              <a:buNone/>
            </a:pPr>
            <a:r>
              <a:rPr lang="en-US" sz="2000" dirty="0">
                <a:latin typeface="Calibri" charset="0"/>
              </a:rPr>
              <a:t>The increased availability of light materials with high strength has revolutionized the design and manufacture of golf clubs, particularly drivers. Clubs with hollow heads and very thin faces can result in much longer tee shots, especially for players of modest skills. This is due partly to the “spring-like effect” that the thin face imparts to the ball. Firing a golf ball at the head of the club and measuring the ratio of the outgoing velocity of the ball to the incoming velocity can quantify this spring-like effect. The ratio of velocities is called the coefficient of restitution of the club. An experiment was performed in which </a:t>
            </a:r>
            <a:r>
              <a:rPr lang="en-US" sz="2000" dirty="0">
                <a:solidFill>
                  <a:srgbClr val="FF0000"/>
                </a:solidFill>
                <a:latin typeface="Calibri" charset="0"/>
              </a:rPr>
              <a:t>15 drivers </a:t>
            </a:r>
            <a:r>
              <a:rPr lang="en-US" sz="2000" dirty="0">
                <a:latin typeface="Calibri" charset="0"/>
              </a:rPr>
              <a:t>produced by a particular club maker were selected at random and their coefficients of restitution measured. In the experiment the golf balls were fired from an air cannon so that the incoming velocity and spin rate of the ball could be precisely controlled. </a:t>
            </a:r>
            <a:r>
              <a:rPr lang="en-US" sz="2000" dirty="0">
                <a:solidFill>
                  <a:srgbClr val="FF0000"/>
                </a:solidFill>
                <a:latin typeface="Calibri" charset="0"/>
              </a:rPr>
              <a:t>It is of interest to determine if there is evidence (with α= 0.05</a:t>
            </a:r>
            <a:r>
              <a:rPr lang="en-US" sz="2000" dirty="0">
                <a:latin typeface="Calibri" charset="0"/>
              </a:rPr>
              <a:t>) </a:t>
            </a:r>
            <a:r>
              <a:rPr lang="en-US" sz="2000" dirty="0">
                <a:solidFill>
                  <a:srgbClr val="FF0000"/>
                </a:solidFill>
                <a:latin typeface="Calibri" charset="0"/>
              </a:rPr>
              <a:t>to support a claim that the mean coefficient of restitution exceeds 0.82</a:t>
            </a:r>
            <a:r>
              <a:rPr lang="en-US" sz="2000" dirty="0">
                <a:latin typeface="Calibri" charset="0"/>
              </a:rPr>
              <a:t>. The observations follow:</a:t>
            </a:r>
          </a:p>
          <a:p>
            <a:pPr marL="0" indent="0">
              <a:buNone/>
            </a:pPr>
            <a:r>
              <a:rPr lang="en-US" sz="2000" dirty="0">
                <a:latin typeface="Calibri" charset="0"/>
              </a:rPr>
              <a:t>                </a:t>
            </a:r>
            <a:r>
              <a:rPr lang="en-US" sz="2000" b="1" dirty="0">
                <a:latin typeface="Calibri" charset="0"/>
              </a:rPr>
              <a:t>0.8411	0.8191 	0.8182 	0.8125 	0.8750   0.8580 	0.8532 	0.8483 	0.8276 	0.7983   0.8042 	0.8730 	0.8282 	0.8359 	0.8660</a:t>
            </a:r>
          </a:p>
          <a:p>
            <a:pPr marL="0" indent="0">
              <a:buNone/>
            </a:pPr>
            <a:endParaRPr lang="en-US" sz="2000" dirty="0">
              <a:latin typeface="Calibri" charset="0"/>
            </a:endParaRPr>
          </a:p>
          <a:p>
            <a:pPr marL="0" indent="0"/>
            <a:endParaRPr lang="en-US" sz="2000" dirty="0">
              <a:latin typeface="Calibri" charset="0"/>
            </a:endParaRPr>
          </a:p>
        </p:txBody>
      </p:sp>
      <p:sp>
        <p:nvSpPr>
          <p:cNvPr id="79875"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352F7371-BE17-E743-B78E-00EECFBFC179}" type="slidenum">
              <a:rPr lang="en-US" sz="1200">
                <a:solidFill>
                  <a:srgbClr val="898989"/>
                </a:solidFill>
                <a:cs typeface="Arial" charset="0"/>
              </a:rPr>
              <a:pPr eaLnBrk="1" hangingPunct="1"/>
              <a:t>57</a:t>
            </a:fld>
            <a:endParaRPr lang="en-US" sz="1200">
              <a:solidFill>
                <a:srgbClr val="898989"/>
              </a:solidFill>
              <a:cs typeface="Arial"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bwMode="auto">
          <a:xfrm>
            <a:off x="1631504" y="1196752"/>
            <a:ext cx="8642350" cy="4800600"/>
          </a:xfrm>
          <a:prstGeom prst="rect">
            <a:avLst/>
          </a:prstGeom>
          <a:noFill/>
          <a:ln w="9525">
            <a:noFill/>
            <a:miter lim="800000"/>
            <a:headEnd/>
            <a:tailEnd/>
          </a:ln>
          <a:effectLst/>
        </p:spPr>
        <p:txBody>
          <a:bodyPr/>
          <a:lstStyle/>
          <a:p>
            <a:pPr marL="514350" indent="-514350" algn="just" eaLnBrk="0" hangingPunct="0">
              <a:spcBef>
                <a:spcPct val="20000"/>
              </a:spcBef>
              <a:buBlip>
                <a:blip r:embed="rId2"/>
              </a:buBlip>
              <a:defRPr/>
            </a:pPr>
            <a:r>
              <a:rPr lang="en-US" sz="2800" kern="0" dirty="0">
                <a:latin typeface="+mn-lt"/>
                <a:ea typeface="+mn-ea"/>
                <a:cs typeface="Times New Roman"/>
              </a:rPr>
              <a:t>Hypothesis: </a:t>
            </a:r>
          </a:p>
          <a:p>
            <a:pPr marL="342900" indent="-342900" algn="just" eaLnBrk="0" hangingPunct="0">
              <a:spcBef>
                <a:spcPct val="20000"/>
              </a:spcBef>
              <a:defRPr/>
            </a:pPr>
            <a:r>
              <a:rPr lang="en-US" sz="2800" i="1" kern="0" dirty="0">
                <a:latin typeface="+mn-lt"/>
                <a:ea typeface="+mn-ea"/>
                <a:cs typeface="Times New Roman"/>
              </a:rPr>
              <a:t>		H</a:t>
            </a:r>
            <a:r>
              <a:rPr lang="en-US" sz="2800" kern="0" baseline="-25000" dirty="0">
                <a:latin typeface="+mn-lt"/>
                <a:ea typeface="+mn-ea"/>
                <a:cs typeface="Times New Roman"/>
              </a:rPr>
              <a:t>0</a:t>
            </a:r>
            <a:r>
              <a:rPr lang="en-US" sz="2800" kern="0" dirty="0">
                <a:latin typeface="+mn-lt"/>
                <a:ea typeface="+mn-ea"/>
                <a:cs typeface="Times New Roman"/>
              </a:rPr>
              <a:t>: µ = 0.82</a:t>
            </a:r>
          </a:p>
          <a:p>
            <a:pPr marL="342900" indent="-342900" algn="just" eaLnBrk="0" hangingPunct="0">
              <a:spcBef>
                <a:spcPct val="20000"/>
              </a:spcBef>
              <a:defRPr/>
            </a:pPr>
            <a:r>
              <a:rPr lang="en-US" sz="2800" i="1" kern="0" dirty="0">
                <a:latin typeface="+mn-lt"/>
                <a:ea typeface="+mn-ea"/>
                <a:cs typeface="Times New Roman"/>
              </a:rPr>
              <a:t>		H</a:t>
            </a:r>
            <a:r>
              <a:rPr lang="en-US" sz="2800" kern="0" baseline="-25000" dirty="0">
                <a:latin typeface="+mn-lt"/>
                <a:ea typeface="+mn-ea"/>
                <a:cs typeface="Times New Roman"/>
              </a:rPr>
              <a:t>1</a:t>
            </a:r>
            <a:r>
              <a:rPr lang="en-US" sz="2800" kern="0" dirty="0">
                <a:latin typeface="+mn-lt"/>
                <a:ea typeface="+mn-ea"/>
                <a:cs typeface="Times New Roman"/>
              </a:rPr>
              <a:t>: µ &gt; 0.82. </a:t>
            </a:r>
          </a:p>
          <a:p>
            <a:pPr marL="342900" indent="-342900" algn="just">
              <a:spcBef>
                <a:spcPct val="20000"/>
              </a:spcBef>
              <a:buBlip>
                <a:blip r:embed="rId2"/>
              </a:buBlip>
              <a:defRPr/>
            </a:pPr>
            <a:r>
              <a:rPr lang="en-US" sz="2800" dirty="0">
                <a:latin typeface="+mn-lt"/>
                <a:cs typeface="Times New Roman"/>
              </a:rPr>
              <a:t>α </a:t>
            </a:r>
            <a:r>
              <a:rPr lang="en-US" sz="2800" kern="0" dirty="0">
                <a:latin typeface="+mn-lt"/>
                <a:ea typeface="+mn-ea"/>
                <a:cs typeface="Times New Roman"/>
              </a:rPr>
              <a:t>= 0.05.</a:t>
            </a:r>
          </a:p>
          <a:p>
            <a:pPr marL="342900" indent="-342900" algn="just" eaLnBrk="0" hangingPunct="0">
              <a:spcBef>
                <a:spcPct val="20000"/>
              </a:spcBef>
              <a:buBlip>
                <a:blip r:embed="rId2"/>
              </a:buBlip>
              <a:defRPr/>
            </a:pPr>
            <a:r>
              <a:rPr lang="en-US" sz="2800" kern="0" dirty="0">
                <a:latin typeface="+mn-lt"/>
                <a:ea typeface="+mn-ea"/>
                <a:cs typeface="Times New Roman"/>
              </a:rPr>
              <a:t>The test statistic is:</a:t>
            </a:r>
          </a:p>
          <a:p>
            <a:pPr marL="342900" indent="-342900" algn="just" eaLnBrk="0" hangingPunct="0">
              <a:spcBef>
                <a:spcPct val="20000"/>
              </a:spcBef>
              <a:buBlip>
                <a:blip r:embed="rId2"/>
              </a:buBlip>
              <a:defRPr/>
            </a:pPr>
            <a:endParaRPr lang="en-US" sz="2800" kern="0" dirty="0">
              <a:latin typeface="+mn-lt"/>
              <a:ea typeface="+mn-ea"/>
              <a:cs typeface="Times New Roman"/>
            </a:endParaRPr>
          </a:p>
          <a:p>
            <a:pPr marL="342900" indent="-342900" algn="just" eaLnBrk="0" hangingPunct="0">
              <a:spcBef>
                <a:spcPct val="20000"/>
              </a:spcBef>
              <a:buBlip>
                <a:blip r:embed="rId2"/>
              </a:buBlip>
              <a:defRPr/>
            </a:pPr>
            <a:r>
              <a:rPr lang="en-US" sz="2800" dirty="0" err="1">
                <a:latin typeface="+mn-lt"/>
                <a:cs typeface="Times New Roman"/>
              </a:rPr>
              <a:t>c.v</a:t>
            </a:r>
            <a:r>
              <a:rPr lang="en-US" sz="2800" dirty="0">
                <a:latin typeface="+mn-lt"/>
                <a:cs typeface="Times New Roman"/>
              </a:rPr>
              <a:t>: </a:t>
            </a:r>
            <a:r>
              <a:rPr lang="en-US" sz="2800" i="1" dirty="0">
                <a:latin typeface="+mn-lt"/>
                <a:cs typeface="Times New Roman"/>
              </a:rPr>
              <a:t>t</a:t>
            </a:r>
            <a:r>
              <a:rPr lang="en-US" sz="2800" i="1" baseline="-25000" dirty="0">
                <a:latin typeface="+mn-lt"/>
                <a:cs typeface="Times New Roman"/>
              </a:rPr>
              <a:t>0.05</a:t>
            </a:r>
            <a:r>
              <a:rPr lang="en-US" sz="2800" baseline="-25000" dirty="0">
                <a:latin typeface="+mn-lt"/>
                <a:cs typeface="Times New Roman"/>
              </a:rPr>
              <a:t>,</a:t>
            </a:r>
            <a:r>
              <a:rPr lang="en-US" sz="2800" i="1" baseline="-25000" dirty="0">
                <a:latin typeface="+mn-lt"/>
                <a:cs typeface="Times New Roman"/>
              </a:rPr>
              <a:t>14 </a:t>
            </a:r>
            <a:r>
              <a:rPr lang="en-US" sz="2800" dirty="0">
                <a:latin typeface="+mn-lt"/>
                <a:cs typeface="Times New Roman"/>
              </a:rPr>
              <a:t>= 1.761. </a:t>
            </a:r>
          </a:p>
          <a:p>
            <a:pPr marL="342900" indent="-342900" algn="just" eaLnBrk="0" hangingPunct="0">
              <a:spcBef>
                <a:spcPct val="20000"/>
              </a:spcBef>
              <a:buBlip>
                <a:blip r:embed="rId2"/>
              </a:buBlip>
              <a:defRPr/>
            </a:pPr>
            <a:endParaRPr lang="en-US" sz="2800" dirty="0">
              <a:latin typeface="+mn-lt"/>
              <a:cs typeface="Times New Roman"/>
            </a:endParaRPr>
          </a:p>
          <a:p>
            <a:pPr marL="342900" indent="-342900" algn="just" eaLnBrk="0" hangingPunct="0">
              <a:spcBef>
                <a:spcPct val="20000"/>
              </a:spcBef>
              <a:buBlip>
                <a:blip r:embed="rId2"/>
              </a:buBlip>
              <a:defRPr/>
            </a:pPr>
            <a:r>
              <a:rPr lang="en-US" sz="2800" dirty="0">
                <a:latin typeface="+mn-lt"/>
                <a:cs typeface="Times New Roman"/>
              </a:rPr>
              <a:t>Conclusion: Reject </a:t>
            </a:r>
            <a:r>
              <a:rPr lang="en-US" sz="2800" i="1" dirty="0">
                <a:latin typeface="+mn-lt"/>
                <a:cs typeface="Times New Roman"/>
              </a:rPr>
              <a:t>H</a:t>
            </a:r>
            <a:r>
              <a:rPr lang="en-US" sz="2800" baseline="-25000" dirty="0">
                <a:latin typeface="+mn-lt"/>
                <a:cs typeface="Times New Roman"/>
              </a:rPr>
              <a:t>0</a:t>
            </a:r>
            <a:r>
              <a:rPr lang="en-US" sz="2800" dirty="0">
                <a:latin typeface="+mn-lt"/>
                <a:cs typeface="Times New Roman"/>
              </a:rPr>
              <a:t>; there is sufficient evidence that the mean coefficient of restitution exceeds 0.82. </a:t>
            </a:r>
          </a:p>
          <a:p>
            <a:pPr algn="just">
              <a:buFont typeface="Arial" charset="0"/>
              <a:buNone/>
              <a:defRPr/>
            </a:pPr>
            <a:r>
              <a:rPr lang="en-US" sz="2800" dirty="0">
                <a:latin typeface="+mn-lt"/>
                <a:cs typeface="Times New Roman"/>
              </a:rPr>
              <a:t> </a:t>
            </a:r>
          </a:p>
          <a:p>
            <a:pPr marL="342900" indent="-342900" algn="just" eaLnBrk="0" hangingPunct="0">
              <a:spcBef>
                <a:spcPct val="20000"/>
              </a:spcBef>
              <a:buBlip>
                <a:blip r:embed="rId2"/>
              </a:buBlip>
              <a:defRPr/>
            </a:pPr>
            <a:endParaRPr lang="en-US" sz="2800" kern="0" dirty="0">
              <a:latin typeface="+mn-lt"/>
              <a:ea typeface="+mn-ea"/>
              <a:cs typeface="Times New Roman"/>
            </a:endParaRPr>
          </a:p>
          <a:p>
            <a:pPr marL="342900" indent="-342900" algn="just" eaLnBrk="0" hangingPunct="0">
              <a:spcBef>
                <a:spcPct val="20000"/>
              </a:spcBef>
              <a:buBlip>
                <a:blip r:embed="rId2"/>
              </a:buBlip>
              <a:defRPr/>
            </a:pPr>
            <a:endParaRPr lang="en-US" sz="2800" kern="0" dirty="0">
              <a:latin typeface="+mn-lt"/>
              <a:ea typeface="+mn-ea"/>
              <a:cs typeface="Times New Roman"/>
            </a:endParaRPr>
          </a:p>
        </p:txBody>
      </p:sp>
      <p:sp>
        <p:nvSpPr>
          <p:cNvPr id="82947"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E7A0A937-E63C-FA4D-8BF9-1D0EBB247BFD}" type="slidenum">
              <a:rPr lang="en-US" sz="1200">
                <a:solidFill>
                  <a:srgbClr val="898989"/>
                </a:solidFill>
                <a:cs typeface="Arial" charset="0"/>
              </a:rPr>
              <a:pPr eaLnBrk="1" hangingPunct="1"/>
              <a:t>58</a:t>
            </a:fld>
            <a:endParaRPr lang="en-US" sz="1200">
              <a:solidFill>
                <a:srgbClr val="898989"/>
              </a:solidFill>
              <a:cs typeface="Arial" charset="0"/>
            </a:endParaRPr>
          </a:p>
        </p:txBody>
      </p:sp>
      <p:sp>
        <p:nvSpPr>
          <p:cNvPr id="2" name="TextBox 1"/>
          <p:cNvSpPr txBox="1"/>
          <p:nvPr/>
        </p:nvSpPr>
        <p:spPr>
          <a:xfrm>
            <a:off x="5159897" y="332657"/>
            <a:ext cx="4406143" cy="769441"/>
          </a:xfrm>
          <a:prstGeom prst="rect">
            <a:avLst/>
          </a:prstGeom>
          <a:noFill/>
        </p:spPr>
        <p:txBody>
          <a:bodyPr wrap="none" rtlCol="0">
            <a:spAutoFit/>
          </a:bodyPr>
          <a:lstStyle/>
          <a:p>
            <a:r>
              <a:rPr lang="en-US" sz="4400" b="1" dirty="0"/>
              <a:t>Example: Solution</a:t>
            </a:r>
          </a:p>
        </p:txBody>
      </p:sp>
      <p:graphicFrame>
        <p:nvGraphicFramePr>
          <p:cNvPr id="4" name="Object 3"/>
          <p:cNvGraphicFramePr>
            <a:graphicFrameLocks noChangeAspect="1"/>
          </p:cNvGraphicFramePr>
          <p:nvPr>
            <p:extLst>
              <p:ext uri="{D42A27DB-BD31-4B8C-83A1-F6EECF244321}">
                <p14:modId xmlns:p14="http://schemas.microsoft.com/office/powerpoint/2010/main" val="2846534373"/>
              </p:ext>
            </p:extLst>
          </p:nvPr>
        </p:nvGraphicFramePr>
        <p:xfrm>
          <a:off x="4871864" y="3105786"/>
          <a:ext cx="4608512" cy="1115302"/>
        </p:xfrm>
        <a:graphic>
          <a:graphicData uri="http://schemas.openxmlformats.org/presentationml/2006/ole">
            <mc:AlternateContent xmlns:mc="http://schemas.openxmlformats.org/markup-compatibility/2006">
              <mc:Choice xmlns:v="urn:schemas-microsoft-com:vml" Requires="v">
                <p:oleObj name="Equation" r:id="rId3" imgW="2770200" imgH="658080" progId="Equation.3">
                  <p:embed/>
                </p:oleObj>
              </mc:Choice>
              <mc:Fallback>
                <p:oleObj name="Equation" r:id="rId3" imgW="2770200" imgH="658080" progId="Equation.3">
                  <p:embed/>
                  <p:pic>
                    <p:nvPicPr>
                      <p:cNvPr id="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1864" y="3105786"/>
                        <a:ext cx="4608512" cy="11153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p:cNvSpPr>
            <a:spLocks noGrp="1"/>
          </p:cNvSpPr>
          <p:nvPr>
            <p:ph type="title"/>
          </p:nvPr>
        </p:nvSpPr>
        <p:spPr>
          <a:xfrm>
            <a:off x="3648076" y="274639"/>
            <a:ext cx="6562725" cy="777875"/>
          </a:xfrm>
        </p:spPr>
        <p:txBody>
          <a:bodyPr/>
          <a:lstStyle/>
          <a:p>
            <a:r>
              <a:rPr lang="en-US" sz="4400" b="1" dirty="0">
                <a:solidFill>
                  <a:srgbClr val="0000FF"/>
                </a:solidFill>
                <a:latin typeface="Calibri" charset="0"/>
              </a:rPr>
              <a:t>Exercise #4 </a:t>
            </a:r>
          </a:p>
        </p:txBody>
      </p:sp>
      <p:sp>
        <p:nvSpPr>
          <p:cNvPr id="84995"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5DDC1077-43DF-4244-8BAB-0D8C52A3ABA7}" type="slidenum">
              <a:rPr lang="en-US" sz="1200">
                <a:solidFill>
                  <a:srgbClr val="898989"/>
                </a:solidFill>
                <a:cs typeface="Arial" charset="0"/>
              </a:rPr>
              <a:pPr eaLnBrk="1" hangingPunct="1"/>
              <a:t>59</a:t>
            </a:fld>
            <a:endParaRPr lang="en-US" sz="1200">
              <a:solidFill>
                <a:srgbClr val="898989"/>
              </a:solidFill>
              <a:cs typeface="Arial" charset="0"/>
            </a:endParaRPr>
          </a:p>
        </p:txBody>
      </p:sp>
      <p:pic>
        <p:nvPicPr>
          <p:cNvPr id="4" name="Picture 3" descr="Screen Shot 2017-04-11 at 11.46.37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1132156"/>
            <a:ext cx="8229600" cy="5260156"/>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p:cNvSpPr>
          <p:nvPr>
            <p:ph type="title"/>
          </p:nvPr>
        </p:nvSpPr>
        <p:spPr>
          <a:xfrm>
            <a:off x="3648076" y="274638"/>
            <a:ext cx="6562725" cy="994122"/>
          </a:xfrm>
        </p:spPr>
        <p:txBody>
          <a:bodyPr/>
          <a:lstStyle/>
          <a:p>
            <a:r>
              <a:rPr lang="en-US" sz="4400" b="1" dirty="0"/>
              <a:t>Type of Hypothesis Test </a:t>
            </a:r>
            <a:r>
              <a:rPr lang="mr-IN" sz="4400" b="1" dirty="0"/>
              <a:t>–</a:t>
            </a:r>
            <a:r>
              <a:rPr lang="en-US" sz="4400" b="1" dirty="0"/>
              <a:t> Single Sample</a:t>
            </a:r>
          </a:p>
        </p:txBody>
      </p:sp>
      <p:graphicFrame>
        <p:nvGraphicFramePr>
          <p:cNvPr id="3" name="Content Placeholder 2">
            <a:extLst>
              <a:ext uri="{FF2B5EF4-FFF2-40B4-BE49-F238E27FC236}">
                <a16:creationId xmlns:a16="http://schemas.microsoft.com/office/drawing/2014/main" id="{5EC9F0F5-0155-0740-88D5-E8F010B7CAA0}"/>
              </a:ext>
            </a:extLst>
          </p:cNvPr>
          <p:cNvGraphicFramePr>
            <a:graphicFrameLocks noGrp="1"/>
          </p:cNvGraphicFramePr>
          <p:nvPr>
            <p:ph idx="1"/>
          </p:nvPr>
        </p:nvGraphicFramePr>
        <p:xfrm>
          <a:off x="1676400" y="1600201"/>
          <a:ext cx="89154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3491"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186087D1-4DC7-F04A-BDA0-D5B281E2568D}" type="slidenum">
              <a:rPr lang="en-US" sz="1200">
                <a:solidFill>
                  <a:srgbClr val="898989"/>
                </a:solidFill>
                <a:cs typeface="Arial" charset="0"/>
              </a:rPr>
              <a:pPr eaLnBrk="1" hangingPunct="1"/>
              <a:t>60</a:t>
            </a:fld>
            <a:endParaRPr lang="en-US" sz="1200">
              <a:solidFill>
                <a:srgbClr val="898989"/>
              </a:solidFill>
              <a:cs typeface="Arial" charset="0"/>
            </a:endParaRPr>
          </a:p>
        </p:txBody>
      </p:sp>
      <p:sp>
        <p:nvSpPr>
          <p:cNvPr id="7" name="TextBox 6">
            <a:extLst>
              <a:ext uri="{FF2B5EF4-FFF2-40B4-BE49-F238E27FC236}">
                <a16:creationId xmlns:a16="http://schemas.microsoft.com/office/drawing/2014/main" id="{B17ACE29-86A6-8B4C-9BB5-32053B276AB8}"/>
              </a:ext>
            </a:extLst>
          </p:cNvPr>
          <p:cNvSpPr txBox="1"/>
          <p:nvPr/>
        </p:nvSpPr>
        <p:spPr>
          <a:xfrm>
            <a:off x="3152775" y="3263017"/>
            <a:ext cx="990600" cy="1200329"/>
          </a:xfrm>
          <a:prstGeom prst="rect">
            <a:avLst/>
          </a:prstGeom>
          <a:noFill/>
        </p:spPr>
        <p:txBody>
          <a:bodyPr wrap="square" rtlCol="0">
            <a:spAutoFit/>
          </a:bodyPr>
          <a:lstStyle/>
          <a:p>
            <a:r>
              <a:rPr lang="en-US" sz="7200" dirty="0">
                <a:solidFill>
                  <a:srgbClr val="FF0000"/>
                </a:solidFill>
              </a:rPr>
              <a:t>X</a:t>
            </a:r>
          </a:p>
        </p:txBody>
      </p:sp>
      <p:sp>
        <p:nvSpPr>
          <p:cNvPr id="11" name="Rectangle 10">
            <a:extLst>
              <a:ext uri="{FF2B5EF4-FFF2-40B4-BE49-F238E27FC236}">
                <a16:creationId xmlns:a16="http://schemas.microsoft.com/office/drawing/2014/main" id="{BF85A11E-A1B5-A14A-BAD9-6A412B160225}"/>
              </a:ext>
            </a:extLst>
          </p:cNvPr>
          <p:cNvSpPr/>
          <p:nvPr/>
        </p:nvSpPr>
        <p:spPr>
          <a:xfrm>
            <a:off x="2271940" y="1447800"/>
            <a:ext cx="7927975" cy="312420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55600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Content Placeholder 2"/>
          <p:cNvSpPr>
            <a:spLocks noGrp="1"/>
          </p:cNvSpPr>
          <p:nvPr>
            <p:ph idx="1"/>
          </p:nvPr>
        </p:nvSpPr>
        <p:spPr>
          <a:xfrm>
            <a:off x="1774826" y="1196976"/>
            <a:ext cx="8435975" cy="4525963"/>
          </a:xfrm>
        </p:spPr>
        <p:txBody>
          <a:bodyPr/>
          <a:lstStyle/>
          <a:p>
            <a:r>
              <a:rPr lang="en-US" sz="2800" dirty="0">
                <a:latin typeface="Calibri" charset="0"/>
              </a:rPr>
              <a:t>Test statistic: Chi-Square Distribution</a:t>
            </a:r>
          </a:p>
        </p:txBody>
      </p:sp>
      <p:graphicFrame>
        <p:nvGraphicFramePr>
          <p:cNvPr id="87042" name="Object 3"/>
          <p:cNvGraphicFramePr>
            <a:graphicFrameLocks noChangeAspect="1"/>
          </p:cNvGraphicFramePr>
          <p:nvPr/>
        </p:nvGraphicFramePr>
        <p:xfrm>
          <a:off x="3821114" y="1844676"/>
          <a:ext cx="2490787" cy="1095375"/>
        </p:xfrm>
        <a:graphic>
          <a:graphicData uri="http://schemas.openxmlformats.org/presentationml/2006/ole">
            <mc:AlternateContent xmlns:mc="http://schemas.openxmlformats.org/markup-compatibility/2006">
              <mc:Choice xmlns:v="urn:schemas-microsoft-com:vml" Requires="v">
                <p:oleObj name="Equation" r:id="rId3" imgW="2006600" imgH="889000" progId="Equation.3">
                  <p:embed/>
                </p:oleObj>
              </mc:Choice>
              <mc:Fallback>
                <p:oleObj name="Equation" r:id="rId3" imgW="2006600" imgH="889000" progId="Equation.3">
                  <p:embed/>
                  <p:pic>
                    <p:nvPicPr>
                      <p:cNvPr id="0" name="Picture 9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1114" y="1844676"/>
                        <a:ext cx="2490787" cy="1095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7043" name="Picture 7" descr="Screen Shot 2015-04-15 at 3.50.24 PM.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930400" y="3003551"/>
            <a:ext cx="7405688" cy="35210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7044"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14B1C6FB-DEC9-1246-9427-76D02AB6995C}" type="slidenum">
              <a:rPr lang="en-US" sz="1200">
                <a:solidFill>
                  <a:srgbClr val="898989"/>
                </a:solidFill>
                <a:cs typeface="Arial" charset="0"/>
              </a:rPr>
              <a:pPr eaLnBrk="1" hangingPunct="1"/>
              <a:t>61</a:t>
            </a:fld>
            <a:endParaRPr lang="en-US" sz="1200">
              <a:solidFill>
                <a:srgbClr val="898989"/>
              </a:solidFill>
              <a:cs typeface="Arial" charset="0"/>
            </a:endParaRPr>
          </a:p>
        </p:txBody>
      </p:sp>
      <p:sp>
        <p:nvSpPr>
          <p:cNvPr id="7" name="Title 1"/>
          <p:cNvSpPr>
            <a:spLocks noGrp="1"/>
          </p:cNvSpPr>
          <p:nvPr>
            <p:ph type="title"/>
          </p:nvPr>
        </p:nvSpPr>
        <p:spPr>
          <a:xfrm>
            <a:off x="3565525" y="274639"/>
            <a:ext cx="6851650" cy="777875"/>
          </a:xfrm>
        </p:spPr>
        <p:txBody>
          <a:bodyPr/>
          <a:lstStyle/>
          <a:p>
            <a:r>
              <a:rPr lang="en-US" sz="3200" b="1" dirty="0">
                <a:solidFill>
                  <a:srgbClr val="0000FF"/>
                </a:solidFill>
                <a:latin typeface="Calibri" charset="0"/>
              </a:rPr>
              <a:t>Test on Variance / Standard Deviation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p:cNvSpPr>
            <a:spLocks noGrp="1"/>
          </p:cNvSpPr>
          <p:nvPr>
            <p:ph type="title"/>
          </p:nvPr>
        </p:nvSpPr>
        <p:spPr>
          <a:xfrm>
            <a:off x="3648076" y="188913"/>
            <a:ext cx="6562725" cy="849312"/>
          </a:xfrm>
        </p:spPr>
        <p:txBody>
          <a:bodyPr/>
          <a:lstStyle/>
          <a:p>
            <a:r>
              <a:rPr lang="en-US" sz="3200" b="1" dirty="0">
                <a:latin typeface="Calibri" charset="0"/>
              </a:rPr>
              <a:t>Properties of Chi-Square Distribution</a:t>
            </a:r>
          </a:p>
        </p:txBody>
      </p:sp>
      <p:sp>
        <p:nvSpPr>
          <p:cNvPr id="89090" name="Rectangle 40"/>
          <p:cNvSpPr>
            <a:spLocks noChangeArrowheads="1"/>
          </p:cNvSpPr>
          <p:nvPr/>
        </p:nvSpPr>
        <p:spPr bwMode="auto">
          <a:xfrm>
            <a:off x="1919289" y="1628775"/>
            <a:ext cx="3836987" cy="8284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spAutoFit/>
          </a:bodyPr>
          <a:lstStyle/>
          <a:p>
            <a:r>
              <a:rPr lang="en-US" sz="2400" b="1" dirty="0"/>
              <a:t>Properties of the Chi-Square Distribution</a:t>
            </a:r>
          </a:p>
        </p:txBody>
      </p:sp>
      <p:pic>
        <p:nvPicPr>
          <p:cNvPr id="89091" name="Picture 47" descr="7_1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120901" y="2941639"/>
            <a:ext cx="3692525" cy="2320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9092" name="Rectangle 39"/>
          <p:cNvSpPr>
            <a:spLocks noChangeArrowheads="1"/>
          </p:cNvSpPr>
          <p:nvPr/>
        </p:nvSpPr>
        <p:spPr bwMode="auto">
          <a:xfrm>
            <a:off x="6381750" y="5297488"/>
            <a:ext cx="4103688" cy="8284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spAutoFit/>
          </a:bodyPr>
          <a:lstStyle/>
          <a:p>
            <a:r>
              <a:rPr lang="en-US" sz="2400" b="1" dirty="0"/>
              <a:t>Different distribution for each number of </a:t>
            </a:r>
            <a:r>
              <a:rPr lang="en-US" sz="2400" b="1" i="1" dirty="0" err="1"/>
              <a:t>df</a:t>
            </a:r>
            <a:r>
              <a:rPr lang="en-US" sz="2400" b="1" dirty="0"/>
              <a:t>.</a:t>
            </a:r>
          </a:p>
        </p:txBody>
      </p:sp>
      <p:sp>
        <p:nvSpPr>
          <p:cNvPr id="89093" name="Rectangle 41"/>
          <p:cNvSpPr>
            <a:spLocks noChangeArrowheads="1"/>
          </p:cNvSpPr>
          <p:nvPr/>
        </p:nvSpPr>
        <p:spPr bwMode="auto">
          <a:xfrm>
            <a:off x="6421438" y="1624013"/>
            <a:ext cx="4011612" cy="8284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lIns="90488" tIns="44450" rIns="90488" bIns="44450">
            <a:spAutoFit/>
          </a:bodyPr>
          <a:lstStyle/>
          <a:p>
            <a:r>
              <a:rPr lang="en-US" sz="2400" b="1" dirty="0"/>
              <a:t>Chi-Square  Distribution for 10 and 20 </a:t>
            </a:r>
            <a:r>
              <a:rPr lang="en-US" sz="2400" b="1" i="1" dirty="0" err="1"/>
              <a:t>df</a:t>
            </a:r>
            <a:endParaRPr lang="en-US" sz="2400" b="1" i="1" dirty="0"/>
          </a:p>
        </p:txBody>
      </p:sp>
      <p:pic>
        <p:nvPicPr>
          <p:cNvPr id="89094" name="Picture 48" descr="7_13"/>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356350" y="2765425"/>
            <a:ext cx="3702050" cy="2497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9095"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515C9625-1539-6844-977C-4008016C3D60}" type="slidenum">
              <a:rPr lang="en-US" sz="1200">
                <a:solidFill>
                  <a:srgbClr val="898989"/>
                </a:solidFill>
                <a:cs typeface="Arial" charset="0"/>
              </a:rPr>
              <a:pPr eaLnBrk="1" hangingPunct="1"/>
              <a:t>62</a:t>
            </a:fld>
            <a:endParaRPr lang="en-US" sz="1200">
              <a:solidFill>
                <a:srgbClr val="898989"/>
              </a:solidFill>
              <a:cs typeface="Arial"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826" y="1752600"/>
            <a:ext cx="8816975" cy="2209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0114" name="Rectangle 5"/>
          <p:cNvSpPr>
            <a:spLocks noChangeArrowheads="1"/>
          </p:cNvSpPr>
          <p:nvPr/>
        </p:nvSpPr>
        <p:spPr bwMode="auto">
          <a:xfrm>
            <a:off x="1919289" y="3962400"/>
            <a:ext cx="8497887" cy="1816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gn="just"/>
            <a:r>
              <a:rPr lang="en-US" sz="2800" dirty="0"/>
              <a:t>The reference distribution for </a:t>
            </a:r>
            <a:r>
              <a:rPr lang="en-US" sz="2800" i="1" dirty="0"/>
              <a:t>H</a:t>
            </a:r>
            <a:r>
              <a:rPr lang="en-US" sz="2800" baseline="-25000" dirty="0"/>
              <a:t>0</a:t>
            </a:r>
            <a:r>
              <a:rPr lang="en-US" sz="2800" dirty="0"/>
              <a:t>: σ</a:t>
            </a:r>
            <a:r>
              <a:rPr lang="en-US" sz="2800" baseline="30000" dirty="0"/>
              <a:t>2</a:t>
            </a:r>
            <a:r>
              <a:rPr lang="en-US" sz="2800" dirty="0"/>
              <a:t> = σ</a:t>
            </a:r>
            <a:r>
              <a:rPr lang="en-US" sz="2800" baseline="-25000" dirty="0"/>
              <a:t>0</a:t>
            </a:r>
            <a:r>
              <a:rPr lang="en-US" sz="2800" baseline="30000" dirty="0"/>
              <a:t>2</a:t>
            </a:r>
            <a:r>
              <a:rPr lang="en-US" sz="2800" dirty="0"/>
              <a:t> with critical region for </a:t>
            </a:r>
            <a:r>
              <a:rPr lang="en-US" sz="2800" dirty="0">
                <a:solidFill>
                  <a:srgbClr val="FF0000"/>
                </a:solidFill>
              </a:rPr>
              <a:t>(a)  </a:t>
            </a:r>
            <a:r>
              <a:rPr lang="en-US" sz="2800" dirty="0"/>
              <a:t>the two-sided alternative </a:t>
            </a:r>
            <a:r>
              <a:rPr lang="en-US" sz="2800" i="1" dirty="0"/>
              <a:t>H</a:t>
            </a:r>
            <a:r>
              <a:rPr lang="en-US" sz="2800" baseline="-25000" dirty="0"/>
              <a:t>1</a:t>
            </a:r>
            <a:r>
              <a:rPr lang="en-US" sz="2800" dirty="0"/>
              <a:t>: µ≠ µ</a:t>
            </a:r>
            <a:r>
              <a:rPr lang="en-US" sz="2800" baseline="-25000" dirty="0"/>
              <a:t>0</a:t>
            </a:r>
            <a:r>
              <a:rPr lang="en-US" sz="2800" dirty="0"/>
              <a:t> </a:t>
            </a:r>
            <a:r>
              <a:rPr lang="en-US" sz="2800" dirty="0">
                <a:solidFill>
                  <a:srgbClr val="FF0000"/>
                </a:solidFill>
              </a:rPr>
              <a:t>(b) </a:t>
            </a:r>
            <a:r>
              <a:rPr lang="en-US" sz="2800" dirty="0"/>
              <a:t>the one-sided alternative </a:t>
            </a:r>
            <a:r>
              <a:rPr lang="en-US" sz="2800" i="1" dirty="0"/>
              <a:t>H</a:t>
            </a:r>
            <a:r>
              <a:rPr lang="en-US" sz="2800" baseline="-25000" dirty="0"/>
              <a:t>1</a:t>
            </a:r>
            <a:r>
              <a:rPr lang="en-US" sz="2800" dirty="0"/>
              <a:t>: µ&gt;µ</a:t>
            </a:r>
            <a:r>
              <a:rPr lang="en-US" sz="2800" baseline="-25000" dirty="0"/>
              <a:t>0</a:t>
            </a:r>
            <a:r>
              <a:rPr lang="en-US" sz="2800" dirty="0"/>
              <a:t> and </a:t>
            </a:r>
            <a:r>
              <a:rPr lang="en-US" sz="2800" dirty="0">
                <a:solidFill>
                  <a:srgbClr val="FF0000"/>
                </a:solidFill>
              </a:rPr>
              <a:t>(c) </a:t>
            </a:r>
            <a:r>
              <a:rPr lang="en-US" sz="2800" dirty="0"/>
              <a:t>the one-sided alternative </a:t>
            </a:r>
            <a:r>
              <a:rPr lang="en-US" sz="2800" i="1" dirty="0"/>
              <a:t>H</a:t>
            </a:r>
            <a:r>
              <a:rPr lang="en-US" sz="2800" baseline="-25000" dirty="0"/>
              <a:t>1</a:t>
            </a:r>
            <a:r>
              <a:rPr lang="en-US" sz="2800" dirty="0"/>
              <a:t>: µ&lt;µ</a:t>
            </a:r>
            <a:r>
              <a:rPr lang="en-US" sz="2800" baseline="-25000" dirty="0"/>
              <a:t>0</a:t>
            </a:r>
            <a:r>
              <a:rPr lang="en-US" sz="2800" dirty="0"/>
              <a:t>.</a:t>
            </a:r>
          </a:p>
        </p:txBody>
      </p:sp>
      <p:sp>
        <p:nvSpPr>
          <p:cNvPr id="90115"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4E4029E6-6713-2848-AA61-7BE981862BAC}" type="slidenum">
              <a:rPr lang="en-US" sz="1200">
                <a:solidFill>
                  <a:srgbClr val="898989"/>
                </a:solidFill>
                <a:cs typeface="Arial" charset="0"/>
              </a:rPr>
              <a:pPr eaLnBrk="1" hangingPunct="1"/>
              <a:t>63</a:t>
            </a:fld>
            <a:endParaRPr lang="en-US" sz="1200">
              <a:solidFill>
                <a:srgbClr val="898989"/>
              </a:solidFill>
              <a:cs typeface="Arial"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p:cNvSpPr>
            <a:spLocks noGrp="1"/>
          </p:cNvSpPr>
          <p:nvPr>
            <p:ph type="title"/>
          </p:nvPr>
        </p:nvSpPr>
        <p:spPr>
          <a:xfrm>
            <a:off x="3648076" y="274638"/>
            <a:ext cx="6562725" cy="633412"/>
          </a:xfrm>
        </p:spPr>
        <p:txBody>
          <a:bodyPr/>
          <a:lstStyle/>
          <a:p>
            <a:r>
              <a:rPr lang="en-US" sz="4400" b="1" dirty="0">
                <a:latin typeface="Calibri" charset="0"/>
              </a:rPr>
              <a:t>Example</a:t>
            </a:r>
          </a:p>
        </p:txBody>
      </p:sp>
      <p:sp>
        <p:nvSpPr>
          <p:cNvPr id="91138" name="Content Placeholder 2"/>
          <p:cNvSpPr>
            <a:spLocks noGrp="1"/>
          </p:cNvSpPr>
          <p:nvPr>
            <p:ph idx="1"/>
          </p:nvPr>
        </p:nvSpPr>
        <p:spPr>
          <a:xfrm>
            <a:off x="1774826" y="1600201"/>
            <a:ext cx="8435975" cy="4525963"/>
          </a:xfrm>
        </p:spPr>
        <p:txBody>
          <a:bodyPr/>
          <a:lstStyle/>
          <a:p>
            <a:pPr marL="0" indent="0" algn="just">
              <a:buNone/>
            </a:pPr>
            <a:r>
              <a:rPr lang="en-US" sz="2800" dirty="0">
                <a:cs typeface="Times New Roman"/>
              </a:rPr>
              <a:t>A police chief claims that the standard deviation in the length of response times is less than 3.7 minutes. A random sample of nine response times has a standard deviation of 3.0 minutes. </a:t>
            </a:r>
          </a:p>
          <a:p>
            <a:pPr marL="0" indent="0" algn="just">
              <a:buNone/>
            </a:pPr>
            <a:r>
              <a:rPr lang="en-US" sz="2800" dirty="0">
                <a:cs typeface="Times New Roman"/>
              </a:rPr>
              <a:t>At α = 0.05, is there are enough evidence to support the police chief’s claimed? Assume the population is normally distributed. </a:t>
            </a:r>
          </a:p>
        </p:txBody>
      </p:sp>
      <p:sp>
        <p:nvSpPr>
          <p:cNvPr id="91139"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B6920882-5477-C64B-B1EC-C722DE050197}" type="slidenum">
              <a:rPr lang="en-US" sz="1200">
                <a:solidFill>
                  <a:srgbClr val="898989"/>
                </a:solidFill>
                <a:cs typeface="Arial" charset="0"/>
              </a:rPr>
              <a:pPr eaLnBrk="1" hangingPunct="1"/>
              <a:t>64</a:t>
            </a:fld>
            <a:endParaRPr lang="en-US" sz="1200">
              <a:solidFill>
                <a:srgbClr val="898989"/>
              </a:solidFill>
              <a:cs typeface="Arial"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1703388" y="1268413"/>
            <a:ext cx="8641084" cy="4191000"/>
          </a:xfrm>
          <a:prstGeom prst="rect">
            <a:avLst/>
          </a:prstGeom>
          <a:noFill/>
          <a:ln w="9525">
            <a:noFill/>
            <a:miter lim="800000"/>
            <a:headEnd/>
            <a:tailEnd/>
          </a:ln>
          <a:effectLst/>
        </p:spPr>
        <p:txBody>
          <a:bodyPr>
            <a:normAutofit/>
          </a:bodyPr>
          <a:lstStyle/>
          <a:p>
            <a:pPr marL="342900" indent="-342900" eaLnBrk="0" hangingPunct="0">
              <a:spcBef>
                <a:spcPct val="20000"/>
              </a:spcBef>
              <a:buBlip>
                <a:blip r:embed="rId2"/>
              </a:buBlip>
              <a:defRPr/>
            </a:pPr>
            <a:r>
              <a:rPr lang="en-US" sz="3200" kern="0" dirty="0">
                <a:latin typeface="+mn-lt"/>
                <a:ea typeface="+mn-ea"/>
                <a:cs typeface="+mn-cs"/>
              </a:rPr>
              <a:t>Hypothesis statement:</a:t>
            </a:r>
          </a:p>
          <a:p>
            <a:pPr eaLnBrk="0" hangingPunct="0">
              <a:spcBef>
                <a:spcPct val="20000"/>
              </a:spcBef>
              <a:defRPr/>
            </a:pPr>
            <a:endParaRPr lang="en-US" sz="3200" kern="0" dirty="0">
              <a:latin typeface="+mn-lt"/>
              <a:ea typeface="+mn-ea"/>
              <a:cs typeface="+mn-cs"/>
            </a:endParaRPr>
          </a:p>
          <a:p>
            <a:pPr eaLnBrk="0" hangingPunct="0">
              <a:spcBef>
                <a:spcPct val="20000"/>
              </a:spcBef>
              <a:defRPr/>
            </a:pPr>
            <a:endParaRPr lang="en-US" sz="3200" kern="0" dirty="0">
              <a:latin typeface="+mn-lt"/>
              <a:ea typeface="+mn-ea"/>
              <a:cs typeface="+mn-cs"/>
            </a:endParaRPr>
          </a:p>
          <a:p>
            <a:pPr eaLnBrk="0" hangingPunct="0">
              <a:spcBef>
                <a:spcPct val="20000"/>
              </a:spcBef>
              <a:defRPr/>
            </a:pPr>
            <a:endParaRPr lang="en-US" sz="3200" kern="0" dirty="0">
              <a:latin typeface="+mn-lt"/>
              <a:ea typeface="+mn-ea"/>
              <a:cs typeface="+mn-cs"/>
            </a:endParaRPr>
          </a:p>
          <a:p>
            <a:pPr marL="342900" indent="-342900" eaLnBrk="0" hangingPunct="0">
              <a:spcBef>
                <a:spcPct val="20000"/>
              </a:spcBef>
              <a:buBlip>
                <a:blip r:embed="rId2"/>
              </a:buBlip>
              <a:defRPr/>
            </a:pPr>
            <a:r>
              <a:rPr lang="en-US" sz="3200" kern="0" dirty="0">
                <a:latin typeface="+mn-lt"/>
                <a:ea typeface="+mn-ea"/>
                <a:cs typeface="+mn-cs"/>
              </a:rPr>
              <a:t>Test statistic:</a:t>
            </a:r>
          </a:p>
          <a:p>
            <a:pPr marL="342900" indent="-342900" eaLnBrk="0" hangingPunct="0">
              <a:spcBef>
                <a:spcPct val="20000"/>
              </a:spcBef>
              <a:buBlip>
                <a:blip r:embed="rId2"/>
              </a:buBlip>
              <a:defRPr/>
            </a:pPr>
            <a:endParaRPr lang="en-US" sz="3200" kern="0" dirty="0">
              <a:latin typeface="+mn-lt"/>
              <a:ea typeface="+mn-ea"/>
              <a:cs typeface="+mn-cs"/>
            </a:endParaRPr>
          </a:p>
          <a:p>
            <a:pPr marL="342900" indent="-342900" eaLnBrk="0" hangingPunct="0">
              <a:spcBef>
                <a:spcPct val="20000"/>
              </a:spcBef>
              <a:buBlip>
                <a:blip r:embed="rId2"/>
              </a:buBlip>
              <a:defRPr/>
            </a:pPr>
            <a:endParaRPr lang="en-US" sz="3200" kern="0" dirty="0">
              <a:latin typeface="+mn-lt"/>
              <a:ea typeface="+mn-ea"/>
              <a:cs typeface="+mn-cs"/>
            </a:endParaRPr>
          </a:p>
          <a:p>
            <a:pPr eaLnBrk="0" hangingPunct="0">
              <a:spcBef>
                <a:spcPct val="20000"/>
              </a:spcBef>
              <a:defRPr/>
            </a:pPr>
            <a:endParaRPr lang="en-US" sz="3200" kern="0" dirty="0">
              <a:latin typeface="+mn-lt"/>
              <a:ea typeface="+mn-ea"/>
              <a:cs typeface="+mn-cs"/>
            </a:endParaRPr>
          </a:p>
        </p:txBody>
      </p:sp>
      <p:sp>
        <p:nvSpPr>
          <p:cNvPr id="94212"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E9462A6F-C83D-134B-A3ED-A47AE98CF563}" type="slidenum">
              <a:rPr lang="en-US" sz="1200">
                <a:solidFill>
                  <a:srgbClr val="898989"/>
                </a:solidFill>
                <a:cs typeface="Arial" charset="0"/>
              </a:rPr>
              <a:pPr eaLnBrk="1" hangingPunct="1"/>
              <a:t>65</a:t>
            </a:fld>
            <a:endParaRPr lang="en-US" sz="1200">
              <a:solidFill>
                <a:srgbClr val="898989"/>
              </a:solidFill>
              <a:cs typeface="Arial" charset="0"/>
            </a:endParaRPr>
          </a:p>
        </p:txBody>
      </p:sp>
      <p:sp>
        <p:nvSpPr>
          <p:cNvPr id="2" name="TextBox 1"/>
          <p:cNvSpPr txBox="1"/>
          <p:nvPr/>
        </p:nvSpPr>
        <p:spPr>
          <a:xfrm>
            <a:off x="5087889" y="260649"/>
            <a:ext cx="4406143" cy="769441"/>
          </a:xfrm>
          <a:prstGeom prst="rect">
            <a:avLst/>
          </a:prstGeom>
          <a:noFill/>
        </p:spPr>
        <p:txBody>
          <a:bodyPr wrap="none" rtlCol="0">
            <a:spAutoFit/>
          </a:bodyPr>
          <a:lstStyle/>
          <a:p>
            <a:r>
              <a:rPr lang="en-US" sz="4400" b="1" dirty="0"/>
              <a:t>Example: Solution</a:t>
            </a:r>
          </a:p>
        </p:txBody>
      </p:sp>
      <p:graphicFrame>
        <p:nvGraphicFramePr>
          <p:cNvPr id="3" name="Object 2"/>
          <p:cNvGraphicFramePr>
            <a:graphicFrameLocks noChangeAspect="1"/>
          </p:cNvGraphicFramePr>
          <p:nvPr>
            <p:extLst>
              <p:ext uri="{D42A27DB-BD31-4B8C-83A1-F6EECF244321}">
                <p14:modId xmlns:p14="http://schemas.microsoft.com/office/powerpoint/2010/main" val="2751505572"/>
              </p:ext>
            </p:extLst>
          </p:nvPr>
        </p:nvGraphicFramePr>
        <p:xfrm>
          <a:off x="2639616" y="1988840"/>
          <a:ext cx="2520280" cy="1080120"/>
        </p:xfrm>
        <a:graphic>
          <a:graphicData uri="http://schemas.openxmlformats.org/presentationml/2006/ole">
            <mc:AlternateContent xmlns:mc="http://schemas.openxmlformats.org/markup-compatibility/2006">
              <mc:Choice xmlns:v="urn:schemas-microsoft-com:vml" Requires="v">
                <p:oleObj name="Equation" r:id="rId3" imgW="1325520" imgH="557640" progId="Equation.3">
                  <p:embed/>
                </p:oleObj>
              </mc:Choice>
              <mc:Fallback>
                <p:oleObj name="Equation" r:id="rId3" imgW="1325520" imgH="557640" progId="Equation.3">
                  <p:embed/>
                  <p:pic>
                    <p:nvPicPr>
                      <p:cNvPr id="0"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9616" y="1988840"/>
                        <a:ext cx="2520280" cy="10801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2965200764"/>
              </p:ext>
            </p:extLst>
          </p:nvPr>
        </p:nvGraphicFramePr>
        <p:xfrm>
          <a:off x="2424113" y="4705350"/>
          <a:ext cx="4895850" cy="998538"/>
        </p:xfrm>
        <a:graphic>
          <a:graphicData uri="http://schemas.openxmlformats.org/presentationml/2006/ole">
            <mc:AlternateContent xmlns:mc="http://schemas.openxmlformats.org/markup-compatibility/2006">
              <mc:Choice xmlns:v="urn:schemas-microsoft-com:vml" Requires="v">
                <p:oleObj name="Equation" r:id="rId5" imgW="2733480" imgH="548280" progId="Equation.3">
                  <p:embed/>
                </p:oleObj>
              </mc:Choice>
              <mc:Fallback>
                <p:oleObj name="Equation" r:id="rId5" imgW="2733480" imgH="548280" progId="Equation.3">
                  <p:embed/>
                  <p:pic>
                    <p:nvPicPr>
                      <p:cNvPr id="0" name="Picture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4113" y="4705350"/>
                        <a:ext cx="4895850" cy="998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742274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5" name="Picture 4" descr="032409-1417-statisticsn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052736"/>
            <a:ext cx="9144000" cy="23510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Rectangle 6"/>
          <p:cNvSpPr>
            <a:spLocks noChangeArrowheads="1"/>
          </p:cNvSpPr>
          <p:nvPr/>
        </p:nvSpPr>
        <p:spPr bwMode="auto">
          <a:xfrm>
            <a:off x="1631950" y="3356993"/>
            <a:ext cx="8839200" cy="1384995"/>
          </a:xfrm>
          <a:prstGeom prst="rect">
            <a:avLst/>
          </a:prstGeom>
          <a:noFill/>
          <a:ln w="9525">
            <a:noFill/>
            <a:miter lim="800000"/>
            <a:headEnd/>
            <a:tailEnd/>
          </a:ln>
          <a:effectLst/>
        </p:spPr>
        <p:txBody>
          <a:bodyPr anchor="ctr">
            <a:spAutoFit/>
          </a:bodyPr>
          <a:lstStyle/>
          <a:p>
            <a:pPr algn="just">
              <a:defRPr/>
            </a:pPr>
            <a:r>
              <a:rPr lang="en-US" sz="2800" dirty="0">
                <a:solidFill>
                  <a:srgbClr val="0000FF"/>
                </a:solidFill>
                <a:latin typeface="+mn-lt"/>
                <a:cs typeface="Times New Roman"/>
              </a:rPr>
              <a:t>Why are we using right tail? </a:t>
            </a:r>
          </a:p>
          <a:p>
            <a:pPr algn="just">
              <a:defRPr/>
            </a:pPr>
            <a:r>
              <a:rPr lang="en-US" sz="2800" dirty="0">
                <a:latin typeface="+mn-lt"/>
                <a:cs typeface="Times New Roman"/>
              </a:rPr>
              <a:t>This is the way the chi-square table is designed. So if its left-tail 5%, use the number for right-tail 95% (i.e., 1-α). Thus, </a:t>
            </a:r>
          </a:p>
        </p:txBody>
      </p:sp>
      <p:sp>
        <p:nvSpPr>
          <p:cNvPr id="93187"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66F14CFB-41DE-2743-9245-C5F698EE37F6}" type="slidenum">
              <a:rPr lang="en-US" sz="1200">
                <a:solidFill>
                  <a:srgbClr val="898989"/>
                </a:solidFill>
                <a:cs typeface="Arial" charset="0"/>
              </a:rPr>
              <a:pPr eaLnBrk="1" hangingPunct="1"/>
              <a:t>66</a:t>
            </a:fld>
            <a:endParaRPr lang="en-US" sz="1200">
              <a:solidFill>
                <a:srgbClr val="898989"/>
              </a:solidFill>
              <a:cs typeface="Arial" charset="0"/>
            </a:endParaRPr>
          </a:p>
        </p:txBody>
      </p:sp>
      <p:sp>
        <p:nvSpPr>
          <p:cNvPr id="7" name="Rectangle 3"/>
          <p:cNvSpPr txBox="1">
            <a:spLocks noChangeArrowheads="1"/>
          </p:cNvSpPr>
          <p:nvPr/>
        </p:nvSpPr>
        <p:spPr bwMode="auto">
          <a:xfrm>
            <a:off x="1775520" y="5180510"/>
            <a:ext cx="8640960" cy="1296491"/>
          </a:xfrm>
          <a:prstGeom prst="rect">
            <a:avLst/>
          </a:prstGeom>
          <a:noFill/>
          <a:ln w="9525">
            <a:noFill/>
            <a:miter lim="800000"/>
            <a:headEnd/>
            <a:tailEnd/>
          </a:ln>
          <a:effectLst/>
        </p:spPr>
        <p:txBody>
          <a:bodyPr>
            <a:noAutofit/>
          </a:bodyPr>
          <a:lstStyle/>
          <a:p>
            <a:pPr marL="342900" indent="-342900" algn="just" eaLnBrk="0" hangingPunct="0">
              <a:spcBef>
                <a:spcPct val="20000"/>
              </a:spcBef>
              <a:buBlip>
                <a:blip r:embed="rId3"/>
              </a:buBlip>
              <a:defRPr/>
            </a:pPr>
            <a:r>
              <a:rPr lang="en-US" sz="3200" kern="0" dirty="0">
                <a:latin typeface="+mn-lt"/>
                <a:ea typeface="+mn-ea"/>
                <a:cs typeface="Times New Roman"/>
              </a:rPr>
              <a:t>Conclusion: </a:t>
            </a:r>
            <a:r>
              <a:rPr lang="en-US" sz="2800" kern="0" dirty="0">
                <a:latin typeface="+mn-lt"/>
                <a:ea typeface="+mn-ea"/>
                <a:cs typeface="Times New Roman"/>
              </a:rPr>
              <a:t>Since 2.733 &lt; 5.259, fail to reject H</a:t>
            </a:r>
            <a:r>
              <a:rPr lang="en-US" sz="2800" kern="0" baseline="-25000" dirty="0">
                <a:latin typeface="+mn-lt"/>
                <a:ea typeface="+mn-ea"/>
                <a:cs typeface="Times New Roman"/>
              </a:rPr>
              <a:t>0</a:t>
            </a:r>
            <a:r>
              <a:rPr lang="en-US" sz="2800" kern="0" dirty="0">
                <a:latin typeface="+mn-lt"/>
                <a:ea typeface="+mn-ea"/>
                <a:cs typeface="Times New Roman"/>
              </a:rPr>
              <a:t>. There</a:t>
            </a:r>
            <a:r>
              <a:rPr lang="en-US" sz="2800" kern="0" baseline="-25000" dirty="0">
                <a:latin typeface="+mn-lt"/>
                <a:ea typeface="+mn-ea"/>
                <a:cs typeface="Times New Roman"/>
              </a:rPr>
              <a:t> </a:t>
            </a:r>
            <a:r>
              <a:rPr lang="en-US" sz="2800" kern="0" dirty="0">
                <a:latin typeface="+mn-lt"/>
                <a:ea typeface="+mn-ea"/>
                <a:cs typeface="Times New Roman"/>
              </a:rPr>
              <a:t>is sufficient evidence that support the standard deviation </a:t>
            </a:r>
            <a:r>
              <a:rPr lang="en-US" sz="2800" dirty="0">
                <a:latin typeface="+mn-lt"/>
                <a:cs typeface="Times New Roman"/>
              </a:rPr>
              <a:t>in the length of response times is 3.7 minutes. </a:t>
            </a:r>
            <a:r>
              <a:rPr lang="en-US" sz="2800" kern="0" dirty="0">
                <a:latin typeface="+mn-lt"/>
                <a:ea typeface="+mn-ea"/>
                <a:cs typeface="Times New Roman"/>
              </a:rPr>
              <a:t>  </a:t>
            </a:r>
          </a:p>
          <a:p>
            <a:pPr marL="342900" indent="-342900" algn="just" eaLnBrk="0" hangingPunct="0">
              <a:spcBef>
                <a:spcPct val="20000"/>
              </a:spcBef>
              <a:buBlip>
                <a:blip r:embed="rId3"/>
              </a:buBlip>
              <a:defRPr/>
            </a:pPr>
            <a:endParaRPr lang="en-US" sz="2800" kern="0" dirty="0">
              <a:latin typeface="+mn-lt"/>
              <a:ea typeface="+mn-ea"/>
              <a:cs typeface="Times New Roman"/>
            </a:endParaRPr>
          </a:p>
          <a:p>
            <a:pPr marL="342900" indent="-342900" algn="just" eaLnBrk="0" hangingPunct="0">
              <a:spcBef>
                <a:spcPct val="20000"/>
              </a:spcBef>
              <a:buBlip>
                <a:blip r:embed="rId3"/>
              </a:buBlip>
              <a:defRPr/>
            </a:pPr>
            <a:endParaRPr lang="en-US" sz="3200" kern="0" dirty="0">
              <a:latin typeface="+mn-lt"/>
              <a:ea typeface="+mn-ea"/>
              <a:cs typeface="Times New Roman"/>
            </a:endParaRPr>
          </a:p>
          <a:p>
            <a:pPr algn="just" eaLnBrk="0" hangingPunct="0">
              <a:spcBef>
                <a:spcPct val="20000"/>
              </a:spcBef>
              <a:defRPr/>
            </a:pPr>
            <a:endParaRPr lang="en-US" sz="3200" kern="0" dirty="0">
              <a:latin typeface="+mn-lt"/>
              <a:ea typeface="+mn-ea"/>
              <a:cs typeface="Times New Roman"/>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1800068792"/>
              </p:ext>
            </p:extLst>
          </p:nvPr>
        </p:nvGraphicFramePr>
        <p:xfrm>
          <a:off x="4800599" y="4648200"/>
          <a:ext cx="2197768" cy="609600"/>
        </p:xfrm>
        <a:graphic>
          <a:graphicData uri="http://schemas.openxmlformats.org/presentationml/2006/ole">
            <mc:AlternateContent xmlns:mc="http://schemas.openxmlformats.org/markup-compatibility/2006">
              <mc:Choice xmlns:v="urn:schemas-microsoft-com:vml" Requires="v">
                <p:oleObj name="Equation" r:id="rId4" imgW="1133640" imgH="301680" progId="Equation.3">
                  <p:embed/>
                </p:oleObj>
              </mc:Choice>
              <mc:Fallback>
                <p:oleObj name="Equation" r:id="rId4" imgW="1133640" imgH="301680" progId="Equation.3">
                  <p:embed/>
                  <p:pic>
                    <p:nvPicPr>
                      <p:cNvPr id="0" name="Picture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599" y="4648200"/>
                        <a:ext cx="2197768"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nvPr>
        </p:nvSpPr>
        <p:spPr>
          <a:xfrm>
            <a:off x="3648076" y="274639"/>
            <a:ext cx="6562725" cy="706437"/>
          </a:xfrm>
        </p:spPr>
        <p:txBody>
          <a:bodyPr/>
          <a:lstStyle/>
          <a:p>
            <a:r>
              <a:rPr lang="en-US" sz="4400" b="1" dirty="0">
                <a:solidFill>
                  <a:srgbClr val="0000FF"/>
                </a:solidFill>
                <a:latin typeface="Calibri" charset="0"/>
              </a:rPr>
              <a:t>Exercise #5 </a:t>
            </a:r>
          </a:p>
        </p:txBody>
      </p:sp>
      <p:sp>
        <p:nvSpPr>
          <p:cNvPr id="95234" name="Content Placeholder 2"/>
          <p:cNvSpPr>
            <a:spLocks noGrp="1"/>
          </p:cNvSpPr>
          <p:nvPr>
            <p:ph idx="1"/>
          </p:nvPr>
        </p:nvSpPr>
        <p:spPr>
          <a:xfrm>
            <a:off x="1774826" y="1484314"/>
            <a:ext cx="8435975" cy="3312839"/>
          </a:xfrm>
        </p:spPr>
        <p:txBody>
          <a:bodyPr/>
          <a:lstStyle/>
          <a:p>
            <a:pPr marL="0" indent="0" algn="just">
              <a:buNone/>
            </a:pPr>
            <a:r>
              <a:rPr lang="en-US" sz="2800" dirty="0">
                <a:cs typeface="Times New Roman"/>
              </a:rPr>
              <a:t>A dairy processing company claims that the variance of the amount of fat in the whole milk processed by the company is no more than 0.25. You suspect this is wrong and find that a random sample of 41 milk containers has a variance of 0.27. At </a:t>
            </a:r>
            <a:r>
              <a:rPr lang="el-GR" sz="2800" dirty="0">
                <a:cs typeface="Times New Roman"/>
              </a:rPr>
              <a:t>α</a:t>
            </a:r>
            <a:r>
              <a:rPr lang="en-US" sz="2800" dirty="0">
                <a:cs typeface="Times New Roman"/>
              </a:rPr>
              <a:t> = 0.05, is there are enough evidence to reject the company’s claimed? Assume the population is normally distributed. </a:t>
            </a:r>
          </a:p>
        </p:txBody>
      </p:sp>
      <p:sp>
        <p:nvSpPr>
          <p:cNvPr id="95235" name="Slide Number Placeholder 1"/>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BCFC2987-1C8A-4546-8908-1D9A0FB3EBAB}" type="slidenum">
              <a:rPr lang="en-US" sz="1200">
                <a:solidFill>
                  <a:srgbClr val="898989"/>
                </a:solidFill>
                <a:cs typeface="Arial" charset="0"/>
              </a:rPr>
              <a:pPr eaLnBrk="1" hangingPunct="1"/>
              <a:t>67</a:t>
            </a:fld>
            <a:endParaRPr lang="en-US" sz="1200">
              <a:solidFill>
                <a:srgbClr val="898989"/>
              </a:solidFill>
              <a:cs typeface="Arial"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1175</TotalTime>
  <Words>3439</Words>
  <Application>Microsoft Office PowerPoint</Application>
  <PresentationFormat>Widescreen</PresentationFormat>
  <Paragraphs>393</Paragraphs>
  <Slides>67</Slides>
  <Notes>15</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67</vt:i4>
      </vt:variant>
    </vt:vector>
  </HeadingPairs>
  <TitlesOfParts>
    <vt:vector size="80" baseType="lpstr">
      <vt:lpstr>ＭＳ Ｐゴシック</vt:lpstr>
      <vt:lpstr>ヒラギノ角ゴ ProN W3</vt:lpstr>
      <vt:lpstr>Arial</vt:lpstr>
      <vt:lpstr>Britannic Bold</vt:lpstr>
      <vt:lpstr>Calibri</vt:lpstr>
      <vt:lpstr>Comic Sans MS</vt:lpstr>
      <vt:lpstr>Helvetica</vt:lpstr>
      <vt:lpstr>Poppins</vt:lpstr>
      <vt:lpstr>Symbol</vt:lpstr>
      <vt:lpstr>Times New Roman</vt:lpstr>
      <vt:lpstr>Wingdings</vt:lpstr>
      <vt:lpstr>Office Theme</vt:lpstr>
      <vt:lpstr>Equation</vt:lpstr>
      <vt:lpstr>PowerPoint Presentation</vt:lpstr>
      <vt:lpstr>Introduction</vt:lpstr>
      <vt:lpstr>Introduction</vt:lpstr>
      <vt:lpstr>PowerPoint Presentation</vt:lpstr>
      <vt:lpstr>Examples - Hypotheses that can be tested</vt:lpstr>
      <vt:lpstr>Examples - Hypotheses that can be tested</vt:lpstr>
      <vt:lpstr>1: Components of a Formal Hypothesis Test</vt:lpstr>
      <vt:lpstr>Null Hypothesis: H0</vt:lpstr>
      <vt:lpstr>Alternative Hypothesis: H1</vt:lpstr>
      <vt:lpstr>Types of Hypothesis Test:  Two-tailed, Left-tailed, Right-tailed</vt:lpstr>
      <vt:lpstr>Two-tailed Test</vt:lpstr>
      <vt:lpstr>Left-tailed Test</vt:lpstr>
      <vt:lpstr>Right-tailed Test</vt:lpstr>
      <vt:lpstr>Example #1 - Stating Hypothesis </vt:lpstr>
      <vt:lpstr>Example #2 - Stating Hypothesis</vt:lpstr>
      <vt:lpstr>Example #3 - Stating Hypothesis </vt:lpstr>
      <vt:lpstr>PowerPoint Presentation</vt:lpstr>
      <vt:lpstr>Exercise #2:  Identify H0 and H1</vt:lpstr>
      <vt:lpstr>PowerPoint Presentation</vt:lpstr>
      <vt:lpstr>PowerPoint Presentation</vt:lpstr>
      <vt:lpstr>PowerPoint Presentation</vt:lpstr>
      <vt:lpstr>Example</vt:lpstr>
      <vt:lpstr>Example - Solution</vt:lpstr>
      <vt:lpstr>PowerPoint Presentation</vt:lpstr>
      <vt:lpstr>3) Significance Level</vt:lpstr>
      <vt:lpstr>PowerPoint Presentation</vt:lpstr>
      <vt:lpstr>Decision Criterion</vt:lpstr>
      <vt:lpstr>1. P-Value</vt:lpstr>
      <vt:lpstr>Procedure for Finding P-Value</vt:lpstr>
      <vt:lpstr>2. Critical Region</vt:lpstr>
      <vt:lpstr>PowerPoint Presentation</vt:lpstr>
      <vt:lpstr>Example: Find P-value</vt:lpstr>
      <vt:lpstr>Example: Solution</vt:lpstr>
      <vt:lpstr>PowerPoint Presentation</vt:lpstr>
      <vt:lpstr>PowerPoint Presentation</vt:lpstr>
      <vt:lpstr>Example</vt:lpstr>
      <vt:lpstr>Solution</vt:lpstr>
      <vt:lpstr>PowerPoint Presentation</vt:lpstr>
      <vt:lpstr>Error of Decision</vt:lpstr>
      <vt:lpstr>Type I and Type II Errors</vt:lpstr>
      <vt:lpstr>Example</vt:lpstr>
      <vt:lpstr>Solution</vt:lpstr>
      <vt:lpstr>PowerPoint Presentation</vt:lpstr>
      <vt:lpstr>Review previous topic</vt:lpstr>
      <vt:lpstr>Type of Hypothesis Test – Single Sample</vt:lpstr>
      <vt:lpstr>Steps in Hypothesis Testing</vt:lpstr>
      <vt:lpstr>Type of Hypothesis Test – Single Sample</vt:lpstr>
      <vt:lpstr>Test on Mean, Variance Known</vt:lpstr>
      <vt:lpstr>PowerPoint Presentation</vt:lpstr>
      <vt:lpstr>PowerPoint Presentation</vt:lpstr>
      <vt:lpstr>Example</vt:lpstr>
      <vt:lpstr>Solution</vt:lpstr>
      <vt:lpstr>Exercise #3 </vt:lpstr>
      <vt:lpstr>Type of Hypothesis Test – Single Sample</vt:lpstr>
      <vt:lpstr>Test on Mean, Variance Unknown</vt:lpstr>
      <vt:lpstr>PowerPoint Presentation</vt:lpstr>
      <vt:lpstr>Example</vt:lpstr>
      <vt:lpstr>PowerPoint Presentation</vt:lpstr>
      <vt:lpstr>Exercise #4 </vt:lpstr>
      <vt:lpstr>Type of Hypothesis Test – Single Sample</vt:lpstr>
      <vt:lpstr>Test on Variance / Standard Deviation</vt:lpstr>
      <vt:lpstr>Properties of Chi-Square Distribution</vt:lpstr>
      <vt:lpstr>PowerPoint Presentation</vt:lpstr>
      <vt:lpstr>Example</vt:lpstr>
      <vt:lpstr>PowerPoint Presentation</vt:lpstr>
      <vt:lpstr>PowerPoint Presentation</vt:lpstr>
      <vt:lpstr>Exercise #5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feddy</dc:creator>
  <cp:lastModifiedBy>SEAH CHOON SEN 17182</cp:lastModifiedBy>
  <cp:revision>213</cp:revision>
  <cp:lastPrinted>2015-04-20T07:56:47Z</cp:lastPrinted>
  <dcterms:created xsi:type="dcterms:W3CDTF">2013-01-02T01:15:37Z</dcterms:created>
  <dcterms:modified xsi:type="dcterms:W3CDTF">2026-03-27T13:27:27Z</dcterms:modified>
</cp:coreProperties>
</file>